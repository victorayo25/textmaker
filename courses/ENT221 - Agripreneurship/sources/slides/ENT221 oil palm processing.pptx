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1" r:id="rId4"/>
    <p:sldId id="264" r:id="rId5"/>
    <p:sldId id="266" r:id="rId6"/>
    <p:sldId id="269" r:id="rId7"/>
    <p:sldId id="265" r:id="rId8"/>
    <p:sldId id="262" r:id="rId9"/>
    <p:sldId id="263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2E08"/>
    <a:srgbClr val="00B050"/>
    <a:srgbClr val="0C5D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694"/>
  </p:normalViewPr>
  <p:slideViewPr>
    <p:cSldViewPr snapToGrid="0">
      <p:cViewPr varScale="1">
        <p:scale>
          <a:sx n="67" d="100"/>
          <a:sy n="67" d="100"/>
        </p:scale>
        <p:origin x="8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C2D98-93E0-E941-9BF8-4C9EFEF75C98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217B5-B1EA-5949-9C40-B104F5A20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354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217B5-B1EA-5949-9C40-B104F5A2080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42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 Title Slide">
    <p:bg>
      <p:bgPr>
        <a:blipFill dpi="0" rotWithShape="1">
          <a:blip r:embed="rId2">
            <a:alphaModFix amt="5000"/>
            <a:lum/>
          </a:blip>
          <a:srcRect/>
          <a:tile tx="0" ty="2413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54A86B-E942-B9F7-D9BB-9E6D03481B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-7144"/>
            <a:ext cx="12211196" cy="6868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FA936-24B7-8705-4CBC-DAFFE26FDB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600" y="4175760"/>
            <a:ext cx="5181600" cy="329882"/>
          </a:xfrm>
        </p:spPr>
        <p:txBody>
          <a:bodyPr anchor="b">
            <a:normAutofit/>
          </a:bodyPr>
          <a:lstStyle>
            <a:lvl1pPr algn="l">
              <a:defRPr sz="1100" b="1" i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Full Names (Dr/Prof. </a:t>
            </a:r>
            <a:r>
              <a:rPr lang="en-GB" dirty="0" err="1"/>
              <a:t>Xxx</a:t>
            </a:r>
            <a:r>
              <a:rPr lang="en-GB" dirty="0"/>
              <a:t> </a:t>
            </a:r>
            <a:r>
              <a:rPr lang="en-GB" dirty="0" err="1"/>
              <a:t>Xxx</a:t>
            </a:r>
            <a:r>
              <a:rPr lang="en-GB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4F582-DACC-CFEF-7AB8-EEDA6A4D6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609600" y="4455344"/>
            <a:ext cx="5262880" cy="2487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 i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PhD. In </a:t>
            </a:r>
            <a:r>
              <a:rPr lang="en-GB" dirty="0" err="1"/>
              <a:t>Xxxx</a:t>
            </a:r>
            <a:r>
              <a:rPr lang="en-GB" dirty="0"/>
              <a:t> </a:t>
            </a:r>
            <a:r>
              <a:rPr lang="en-GB" dirty="0" err="1"/>
              <a:t>Xxxx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C5553-232D-AD79-227B-D537AC53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F10-8AD4-3346-BDCC-0C28058CF15B}" type="datetime2">
              <a:rPr lang="en-GB" smtClean="0"/>
              <a:t>Thursday, 21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40AF-33DC-E85E-C9AC-069570E8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F19F5-DA36-F1AD-D76F-D4A5144F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51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363B01-B82B-1051-7D2D-B4A6CE851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F81FC-E5BB-99B6-1D62-9CA3280D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838200" y="1877403"/>
            <a:ext cx="10515600" cy="1133475"/>
          </a:xfrm>
        </p:spPr>
        <p:txBody>
          <a:bodyPr anchor="b"/>
          <a:lstStyle>
            <a:lvl1pPr algn="ctr">
              <a:defRPr sz="6000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add: Module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FA8-EFAE-8F65-D8AA-48C4E46323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838200" y="3604603"/>
            <a:ext cx="10515600" cy="1311779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Unit One: &lt;Unit One’s Title&gt;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BC5F5-C6C5-402F-56D8-EF447A03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14A0-0995-4445-99D4-7DFD2AAA19A6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9D24-EB5E-BAE8-A434-FDD7793E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699F-F625-A400-48A8-086D15C5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99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. Learning Objectiv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Learning Outcome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86174-5757-3A42-9959-86F6ABB7977A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363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. Learning Outcom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6ACEE6-6622-EB19-1B71-27BD720449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Learning Outcome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4901-21E4-3444-A222-65C6CE2B01B8}" type="datetime2">
              <a:rPr lang="en-GB" smtClean="0"/>
              <a:t>Thursday, 21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463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. Introd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the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Introduction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11B6-DBCC-F440-9DC1-9DEB4E5CD1D9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68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11C5AD-5EA2-CF4B-7E39-F0C36A3FA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F81FC-E5BB-99B6-1D62-9CA3280D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39267" y="2862263"/>
            <a:ext cx="10713466" cy="1133475"/>
          </a:xfrm>
        </p:spPr>
        <p:txBody>
          <a:bodyPr anchor="b"/>
          <a:lstStyle>
            <a:lvl1pPr algn="ctr">
              <a:defRPr sz="6000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Sub-Unit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BC5F5-C6C5-402F-56D8-EF447A03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b="1">
                <a:latin typeface="Montserrat" panose="02000505000000020004" pitchFamily="2" charset="77"/>
              </a:defRPr>
            </a:lvl1pPr>
          </a:lstStyle>
          <a:p>
            <a:fld id="{90498037-4DEB-5849-A1C8-21C57CCD57E7}" type="datetime2">
              <a:rPr lang="en-GB" smtClean="0"/>
              <a:t>Thursday, 21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9D24-EB5E-BAE8-A434-FDD7793E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</a:lstStyle>
          <a:p>
            <a:r>
              <a:rPr lang="en-GB" dirty="0" err="1"/>
              <a:t>ccodel.covenantuniversity.edu.ng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699F-F625-A400-48A8-086D15C5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5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. Content 1 Slide -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AA4B-1E8D-6B43-AF58-4617CEC658B5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127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8. Conten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6FB3-761F-E89D-525B-9E8D7FCB36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5A19-0512-725B-CA28-38EC1F3894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99B5E-8AB0-DE15-C93C-98DFFC6579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1DCEA-48C3-5D00-2BAA-46B326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7B8F-4F15-4343-8145-CB61A0091A7B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2635F-73A0-FDA6-9415-BEAF0D6C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CB139-8AD7-5C4D-7E2C-A7F073B9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102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. Content 3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279D-3228-97B2-70E8-FAF71AB3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D1C3B-7838-502B-9790-FB74F915C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1F50B-03E4-5E11-F411-F44545437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90F7B-78BF-DE5B-BA03-2B2C46CE7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49446-F5C7-4824-F551-BD36C7ACD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34715-0A04-C11A-8846-A1C46369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86464-92D0-F241-8D03-0C13C7FB7D97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24315-4487-3A57-BC7D-EAE2B858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1CD1C-FE14-3FBF-5751-6C52AA1A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062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 Onl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C24541-271B-6874-FCCE-5631DF685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7D670-6A90-2E16-99C9-A97C7C3CCA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DCFF8-7493-3683-FB5B-063ABCEA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C54F-46CD-0D40-8AD8-B8BC7EB73F78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A1C53-5CE5-4807-650A-853667C8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ABE4D-25CA-3581-7E8F-63CDFD10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06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.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A4A1E-8077-246F-6DDC-D8CCEEA4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1AD3-F371-6B48-958F-BAC80E22E922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D725D-35CE-7D12-FEC5-FC714BAD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8CB75-2884-E619-F6CE-2E1E2018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702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2.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4DF2-2C3D-D27E-6897-8AFD7B242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F3F35-CF21-8F23-530F-AB5E1CFBC7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C03A8-89D4-1CC2-BBF8-16AB44984D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86032-D1F1-3BC7-A923-F3B4B78E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7BDD-61BF-FC40-BC48-5A4F76B73BE2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5D57D-082E-FE4A-65B2-9B3A49CD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7C229-52CB-F632-9D2D-BA992288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488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3.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EE3A-C216-3065-760E-F78A48EF6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E0551D-7C01-12E8-91C9-66A50E8F7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BCD5E-365C-7790-B6E9-676C849EC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18253-FBCA-B3E6-E158-B7451085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60D2-ABD1-284C-AF35-4CC04E8B4B15}" type="datetime2">
              <a:rPr lang="en-GB" smtClean="0"/>
              <a:t>Thursday, 21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C9DE-4525-648A-E7D4-3E6DE284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46645-D0FC-AAB4-E892-2BD2E738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77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5000"/>
            <a:lum/>
          </a:blip>
          <a:srcRect/>
          <a:tile tx="0" ty="1778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71BB7-C3BF-B7D9-13E3-1084B15CD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9B7C9-4B5F-C601-D7F0-360C6029670E}"/>
              </a:ext>
            </a:extLst>
          </p:cNvPr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01262-4A88-E579-CA6C-A38CF53E9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C321-9917-0B69-1CEC-9AFEBB9C9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fld id="{43DA6C6E-C52F-1C4D-9F96-201F365015FF}" type="datetime2">
              <a:rPr lang="en-GB" smtClean="0"/>
              <a:t>Thursday, 21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785D-A8FD-2289-9669-8C624CE3C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85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 err="1"/>
              <a:t>ccodel.covenantuniversity.edu.ng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F98C-F72B-8CFB-25E4-98C4C1A48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fld id="{E89F36F3-1658-ED4F-8598-A2C0B2600E57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2D5314-409F-DD0D-3E0D-6159A639385A}"/>
              </a:ext>
            </a:extLst>
          </p:cNvPr>
          <p:cNvGrpSpPr/>
          <p:nvPr userDrawn="1"/>
        </p:nvGrpSpPr>
        <p:grpSpPr>
          <a:xfrm>
            <a:off x="72530" y="83961"/>
            <a:ext cx="953033" cy="454520"/>
            <a:chOff x="72530" y="83961"/>
            <a:chExt cx="953033" cy="454520"/>
          </a:xfrm>
        </p:grpSpPr>
        <p:pic>
          <p:nvPicPr>
            <p:cNvPr id="9" name="Picture 8" descr="A blue logo with a black background&#10;&#10;Description automatically generated">
              <a:extLst>
                <a:ext uri="{FF2B5EF4-FFF2-40B4-BE49-F238E27FC236}">
                  <a16:creationId xmlns:a16="http://schemas.microsoft.com/office/drawing/2014/main" id="{DB257207-F0D3-DED6-9112-832CF204F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527911" y="127042"/>
              <a:ext cx="497652" cy="365125"/>
            </a:xfrm>
            <a:prstGeom prst="rect">
              <a:avLst/>
            </a:prstGeom>
          </p:spPr>
        </p:pic>
        <p:pic>
          <p:nvPicPr>
            <p:cNvPr id="8" name="Picture 7" descr="A logo of the earth&#10;&#10;Description automatically generated">
              <a:extLst>
                <a:ext uri="{FF2B5EF4-FFF2-40B4-BE49-F238E27FC236}">
                  <a16:creationId xmlns:a16="http://schemas.microsoft.com/office/drawing/2014/main" id="{5C55C339-8A76-8B23-7A21-8FE5596AC5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/>
            <a:stretch>
              <a:fillRect/>
            </a:stretch>
          </p:blipFill>
          <p:spPr>
            <a:xfrm>
              <a:off x="72530" y="83961"/>
              <a:ext cx="455381" cy="454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031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3" r:id="rId4"/>
    <p:sldLayoutId id="2147483650" r:id="rId5"/>
    <p:sldLayoutId id="2147483651" r:id="rId6"/>
    <p:sldLayoutId id="2147483662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030A0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A73049-2D87-42A3-42FE-028E86BD9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E28788-92F5-D932-02E5-6ACE5BF480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3120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BEE6A3-0E80-8A78-A576-C90FEF2F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8713"/>
            <a:ext cx="10734675" cy="3457575"/>
          </a:xfrm>
        </p:spPr>
        <p:txBody>
          <a:bodyPr>
            <a:normAutofit/>
          </a:bodyPr>
          <a:lstStyle/>
          <a:p>
            <a:r>
              <a:rPr lang="en-US" dirty="0"/>
              <a:t>MODULE 4: AGRIBUSINESS OPPORTUNITIES &amp; VALUE ADDITION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DC78837-170A-35CF-B8BA-E5DB33700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DE3D5DE-D58A-14B0-9F46-0ADCA403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F5BC746-00E2-21B1-EB74-B1637EF4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011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3B66-8183-49E5-2929-40E5FE76C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24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Agribusiness Opportunities            (Concept)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759C-2E91-2558-ED74-E1C4C365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63188" cy="327501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 profitable idea within the agricultural value chain</a:t>
            </a:r>
          </a:p>
          <a:p>
            <a:r>
              <a:rPr lang="en-US" dirty="0"/>
              <a:t>It Includes production, processing, marketing, services</a:t>
            </a:r>
          </a:p>
          <a:p>
            <a:r>
              <a:rPr lang="en-US" dirty="0"/>
              <a:t>It Requires market demand, scalability, compliance.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47F3-CCF5-F219-A6B5-7EB7C411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CF9E-0FC6-B961-FB02-C30B2610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28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0B1F82-E03D-9728-3800-E98C1F50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 for Evaluating Opportunities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EAFFDA-885A-1698-463E-BA236278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 demand</a:t>
            </a:r>
          </a:p>
          <a:p>
            <a:r>
              <a:rPr lang="en-US" dirty="0"/>
              <a:t>Cost of inputs</a:t>
            </a:r>
          </a:p>
          <a:p>
            <a:r>
              <a:rPr lang="en-US" dirty="0"/>
              <a:t>Profit margin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Environmental &amp; social impact</a:t>
            </a:r>
          </a:p>
          <a:p>
            <a:r>
              <a:rPr lang="en-US" dirty="0"/>
              <a:t>Policy compliance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6BDA7-FF27-991C-A760-8E2E1BD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3EE10-823C-C198-7436-727A4C81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949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706EB-B011-BB0A-350E-BEA2C6F3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Agricultural Value Chain (Flow)</a:t>
            </a:r>
          </a:p>
        </p:txBody>
      </p:sp>
      <p:pic>
        <p:nvPicPr>
          <p:cNvPr id="6" name="Content Placeholder 5" descr="Agricultural Value Chain | EdrawMax Online">
            <a:extLst>
              <a:ext uri="{FF2B5EF4-FFF2-40B4-BE49-F238E27FC236}">
                <a16:creationId xmlns:a16="http://schemas.microsoft.com/office/drawing/2014/main" id="{A836B101-3AF1-B3DB-8ABF-DF631C1EC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179250"/>
            <a:ext cx="10515600" cy="501253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FA514-C9E2-BE62-01FC-011D7263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BCBFD-5BC1-F440-B76B-82059AA8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28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BF6FEC-D96C-E364-0D8F-65B09109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Chain Input Supply Stage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98A7C9-D3F5-254E-F0DB-258A1E926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Seeds</a:t>
            </a:r>
          </a:p>
          <a:p>
            <a:r>
              <a:rPr lang="en-US" dirty="0"/>
              <a:t>Fertilizers</a:t>
            </a:r>
          </a:p>
          <a:p>
            <a:r>
              <a:rPr lang="en-US" dirty="0"/>
              <a:t>Machinery</a:t>
            </a:r>
          </a:p>
          <a:p>
            <a:r>
              <a:rPr lang="en-US" dirty="0"/>
              <a:t>Agrochemicals</a:t>
            </a:r>
          </a:p>
          <a:p>
            <a:r>
              <a:rPr lang="en-US" dirty="0"/>
              <a:t>Animal feed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59AC3-DB5A-FE30-6C33-507561E6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33316-703E-907C-FE93-27E678B9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638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47B3B5B-523B-CD84-EF5B-D6ED6CD4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Stage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1AD480-65BD-20E5-DA40-B592626F2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3" y="1485900"/>
            <a:ext cx="11082337" cy="4691063"/>
          </a:xfrm>
        </p:spPr>
        <p:txBody>
          <a:bodyPr>
            <a:normAutofit/>
          </a:bodyPr>
          <a:lstStyle/>
          <a:p>
            <a:r>
              <a:rPr lang="en-US" dirty="0"/>
              <a:t>Crop cultivation</a:t>
            </a:r>
          </a:p>
          <a:p>
            <a:r>
              <a:rPr lang="en-US" dirty="0"/>
              <a:t>Livestock production</a:t>
            </a:r>
          </a:p>
          <a:p>
            <a:r>
              <a:rPr lang="en-US" dirty="0"/>
              <a:t>Focus on yield &amp; sustainability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Processing &amp; Storage Stage</a:t>
            </a:r>
          </a:p>
          <a:p>
            <a:r>
              <a:rPr lang="en-US" dirty="0"/>
              <a:t>Sorting</a:t>
            </a:r>
          </a:p>
          <a:p>
            <a:r>
              <a:rPr lang="en-US" dirty="0"/>
              <a:t>Grading</a:t>
            </a:r>
          </a:p>
          <a:p>
            <a:r>
              <a:rPr lang="en-US" dirty="0"/>
              <a:t>Drying</a:t>
            </a:r>
          </a:p>
          <a:p>
            <a:r>
              <a:rPr lang="en-US" dirty="0"/>
              <a:t>Cold storage</a:t>
            </a:r>
          </a:p>
          <a:p>
            <a:r>
              <a:rPr lang="en-US" dirty="0"/>
              <a:t>Packaging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EA6B9-BC91-4E6C-1701-718C0A671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700A4-3539-51DE-D7B7-DD4B0EA2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89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FE73-F032-1580-ABE6-6E721147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365125"/>
            <a:ext cx="10696575" cy="963613"/>
          </a:xfrm>
        </p:spPr>
        <p:txBody>
          <a:bodyPr/>
          <a:lstStyle/>
          <a:p>
            <a:r>
              <a:rPr lang="en-US" dirty="0"/>
              <a:t>Transportation &amp;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1DC3-8560-1D4D-C60D-E0D580689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457325"/>
            <a:ext cx="10696575" cy="2200275"/>
          </a:xfrm>
        </p:spPr>
        <p:txBody>
          <a:bodyPr>
            <a:normAutofit/>
          </a:bodyPr>
          <a:lstStyle/>
          <a:p>
            <a:r>
              <a:rPr lang="en-US" dirty="0"/>
              <a:t>Distribution logistics</a:t>
            </a:r>
          </a:p>
          <a:p>
            <a:r>
              <a:rPr lang="en-US" dirty="0"/>
              <a:t>Wholesale &amp; retail</a:t>
            </a:r>
          </a:p>
          <a:p>
            <a:r>
              <a:rPr lang="en-US" dirty="0"/>
              <a:t>Branding &amp; pricing</a:t>
            </a:r>
          </a:p>
          <a:p>
            <a:r>
              <a:rPr lang="en-US" dirty="0"/>
              <a:t>Export opportunities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0526E-93D2-F780-423D-4A97F0F8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8756F-9E10-0561-358E-A38FAB2E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996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D4870A-183A-7BE9-9C4D-7911D839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Problems in Agriculture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DC48F3-7CBF-9FC6-3A81-20FF28D12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Limited market access</a:t>
            </a:r>
          </a:p>
          <a:p>
            <a:r>
              <a:rPr lang="en-US" dirty="0"/>
              <a:t>Post-harvest losses</a:t>
            </a:r>
          </a:p>
          <a:p>
            <a:r>
              <a:rPr lang="en-US" dirty="0"/>
              <a:t>Low productivity</a:t>
            </a:r>
          </a:p>
          <a:p>
            <a:r>
              <a:rPr lang="en-US" dirty="0"/>
              <a:t>Input supply challenges</a:t>
            </a:r>
          </a:p>
          <a:p>
            <a:r>
              <a:rPr lang="en-US" dirty="0"/>
              <a:t>Poor extension services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6247E-4246-F423-7B75-724FA911E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3781E-3CF5-FC3E-FE8A-74D1E966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00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1A75-05F3-469C-2E6F-9484EC05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Trends in Agriculture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7864-D020-1730-2D21-8ADE6F931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Organic foods demand</a:t>
            </a:r>
          </a:p>
          <a:p>
            <a:r>
              <a:rPr lang="en-US" dirty="0"/>
              <a:t>Traceability systems</a:t>
            </a:r>
          </a:p>
          <a:p>
            <a:r>
              <a:rPr lang="en-US" dirty="0"/>
              <a:t>Convenience foods</a:t>
            </a:r>
          </a:p>
          <a:p>
            <a:r>
              <a:rPr lang="en-US" dirty="0"/>
              <a:t>Plant-based proteins</a:t>
            </a:r>
          </a:p>
          <a:p>
            <a:r>
              <a:rPr lang="en-US" dirty="0"/>
              <a:t>Eco-friendly packaging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9D006-8299-2841-7E69-D5D78F23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83ACC-BD60-C01A-65F8-D6036B07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116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BD5793-CAE6-4AC6-6069-FEB9F0A1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Emerging Technologies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03F46C-E497-3D51-9E43-1C1822C8E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agriculture (GPS, drones)</a:t>
            </a:r>
          </a:p>
          <a:p>
            <a:r>
              <a:rPr lang="en-US" dirty="0"/>
              <a:t>Vertical farming</a:t>
            </a:r>
          </a:p>
          <a:p>
            <a:r>
              <a:rPr lang="en-US" dirty="0"/>
              <a:t>Smart irrigation</a:t>
            </a:r>
          </a:p>
          <a:p>
            <a:r>
              <a:rPr lang="en-US" dirty="0"/>
              <a:t>Data-driven farming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91820-2A5D-15A4-DADA-7653B72F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B4DEB-1BC9-FC1C-1A37-04E314A6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959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A89C-6625-9429-DFEA-6E536EC3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Addition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6E1CA-CC15-A46B-0966-8BC4BF4C8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371600"/>
            <a:ext cx="10853737" cy="48053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Transform raw products into higher-value goods</a:t>
            </a:r>
          </a:p>
          <a:p>
            <a:r>
              <a:rPr lang="en-US" dirty="0"/>
              <a:t>Example: maize → flour</a:t>
            </a:r>
          </a:p>
          <a:p>
            <a:r>
              <a:rPr lang="en-US" dirty="0"/>
              <a:t>milk → yogurt</a:t>
            </a:r>
          </a:p>
          <a:p>
            <a:r>
              <a:rPr lang="en-US" dirty="0"/>
              <a:t>cassava → </a:t>
            </a:r>
            <a:r>
              <a:rPr lang="en-US" dirty="0" err="1"/>
              <a:t>garri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Importance of Value Addition</a:t>
            </a:r>
          </a:p>
          <a:p>
            <a:r>
              <a:rPr lang="en-US" dirty="0"/>
              <a:t>Creates jobs</a:t>
            </a:r>
          </a:p>
          <a:p>
            <a:r>
              <a:rPr lang="en-US" dirty="0"/>
              <a:t>Reduces wastage</a:t>
            </a:r>
          </a:p>
          <a:p>
            <a:r>
              <a:rPr lang="en-US" dirty="0"/>
              <a:t>Allows off-season sales</a:t>
            </a:r>
          </a:p>
          <a:p>
            <a:r>
              <a:rPr lang="en-US" dirty="0"/>
              <a:t>Improves income stability</a:t>
            </a:r>
          </a:p>
          <a:p>
            <a:r>
              <a:rPr lang="en-US" dirty="0"/>
              <a:t>Access to premium markets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3C3C2-7796-AD99-4DAC-30D28EF9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CC200-DEFC-83F4-E93A-C315452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776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E38D-E019-05CE-4D24-3EB01B82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Value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1BDC-0846-8468-2070-F82DD4ED7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value</a:t>
            </a:r>
          </a:p>
          <a:p>
            <a:r>
              <a:rPr lang="en-US" dirty="0"/>
              <a:t>Place value</a:t>
            </a:r>
          </a:p>
          <a:p>
            <a:r>
              <a:rPr lang="en-US" dirty="0"/>
              <a:t>Time value</a:t>
            </a:r>
          </a:p>
          <a:p>
            <a:r>
              <a:rPr lang="en-US" dirty="0"/>
              <a:t>Convenience value</a:t>
            </a:r>
          </a:p>
          <a:p>
            <a:r>
              <a:rPr lang="en-US" dirty="0"/>
              <a:t>Packaging &amp; branding</a:t>
            </a:r>
          </a:p>
          <a:p>
            <a:r>
              <a:rPr lang="en-US" dirty="0"/>
              <a:t>Nutritional value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2511C-734E-843A-DE73-81378948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CEE3E-DB1B-2157-8CD2-8385A495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922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7619-FF24-E46D-A571-3F3D2A71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Value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173DA-E7BC-0ED0-36FA-D6C3F989A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Primary: sorting, grading</a:t>
            </a:r>
          </a:p>
          <a:p>
            <a:r>
              <a:rPr lang="en-US" dirty="0"/>
              <a:t>Secondary: drying, milling</a:t>
            </a:r>
          </a:p>
          <a:p>
            <a:r>
              <a:rPr lang="en-US" dirty="0"/>
              <a:t>Tertiary: branding, retail packaging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Value Addition Process Flow</a:t>
            </a:r>
          </a:p>
          <a:p>
            <a:pPr marL="0" indent="0">
              <a:buNone/>
            </a:pPr>
            <a:r>
              <a:rPr lang="en-US" dirty="0"/>
              <a:t>Production → Processing → Packaging → Branding → Distribution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50B88-B096-095D-E8B3-55C940C1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08D42-79B6-77AD-A34C-07B19212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300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8844-70ED-15E8-A948-61FEC472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Agribusiness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3C4E5-853E-301E-6ABC-E9B12CE81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9438"/>
          </a:xfrm>
        </p:spPr>
        <p:txBody>
          <a:bodyPr/>
          <a:lstStyle/>
          <a:p>
            <a:r>
              <a:rPr lang="en-US" dirty="0"/>
              <a:t>Application of new technologies</a:t>
            </a:r>
          </a:p>
          <a:p>
            <a:r>
              <a:rPr lang="en-US" dirty="0"/>
              <a:t>Improves efficiency &amp; competitiveness</a:t>
            </a:r>
          </a:p>
          <a:p>
            <a:r>
              <a:rPr lang="en-US" dirty="0"/>
              <a:t>Driven by policy, markets &amp; consumer demand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Types of Innovation</a:t>
            </a:r>
          </a:p>
          <a:p>
            <a:r>
              <a:rPr lang="en-US" dirty="0"/>
              <a:t>Product innovation</a:t>
            </a:r>
          </a:p>
          <a:p>
            <a:r>
              <a:rPr lang="en-US" dirty="0"/>
              <a:t>Process innovation</a:t>
            </a:r>
          </a:p>
          <a:p>
            <a:r>
              <a:rPr lang="en-US" dirty="0"/>
              <a:t>Marketing innovation</a:t>
            </a:r>
          </a:p>
          <a:p>
            <a:r>
              <a:rPr lang="en-US" dirty="0"/>
              <a:t>Organizational innovation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8165-1F49-21EB-DA37-6E08BB366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F3A78-D68D-84A3-1647-A9833A87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702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6917-EB7C-37BD-C65B-B212DE00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Value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55CC-1205-50A2-2457-5E400CA2A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446588"/>
          </a:xfrm>
        </p:spPr>
        <p:txBody>
          <a:bodyPr>
            <a:normAutofit/>
          </a:bodyPr>
          <a:lstStyle/>
          <a:p>
            <a:r>
              <a:rPr lang="en-US" dirty="0"/>
              <a:t>Limited processing technology</a:t>
            </a:r>
          </a:p>
          <a:p>
            <a:r>
              <a:rPr lang="en-US" dirty="0"/>
              <a:t>Poor infrastructure</a:t>
            </a:r>
          </a:p>
          <a:p>
            <a:r>
              <a:rPr lang="en-US" dirty="0"/>
              <a:t>Limited capital</a:t>
            </a:r>
          </a:p>
          <a:p>
            <a:r>
              <a:rPr lang="en-US" dirty="0"/>
              <a:t>Skills gap</a:t>
            </a:r>
          </a:p>
          <a:p>
            <a:r>
              <a:rPr lang="en-US" dirty="0"/>
              <a:t>Regulatory hurdles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Production &amp; Operations Management</a:t>
            </a:r>
          </a:p>
          <a:p>
            <a:r>
              <a:rPr lang="en-US" dirty="0"/>
              <a:t>Planning, organizing &amp; controlling agricultural production</a:t>
            </a:r>
          </a:p>
          <a:p>
            <a:r>
              <a:rPr lang="en-US" dirty="0"/>
              <a:t>Ensures efficiency &amp; sustainability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F8D2C-BAB2-9324-9903-0E3448ED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DF39B-227F-4208-ABF5-CFF0C640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127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5764-C539-6F9A-9E8F-55384BF4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Operations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7004-E44D-676D-48A0-2114545C2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Production planning</a:t>
            </a:r>
          </a:p>
          <a:p>
            <a:r>
              <a:rPr lang="en-US" dirty="0"/>
              <a:t>Scheduling</a:t>
            </a:r>
          </a:p>
          <a:p>
            <a:r>
              <a:rPr lang="en-US" dirty="0"/>
              <a:t>Supply chain logistics</a:t>
            </a:r>
          </a:p>
          <a:p>
            <a:r>
              <a:rPr lang="en-US" dirty="0"/>
              <a:t>Technology use</a:t>
            </a:r>
          </a:p>
          <a:p>
            <a:r>
              <a:rPr lang="en-US" dirty="0"/>
              <a:t>Cost control</a:t>
            </a:r>
          </a:p>
          <a:p>
            <a:r>
              <a:rPr lang="en-US" dirty="0"/>
              <a:t>Compliance standards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9AF33-EE3E-3B1B-059E-5FEA23E5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B0A4D-8C00-DFA0-ADA5-D8E9DA8A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16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126F-1530-9644-2457-13A66ED1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in Agribusiness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5DC84-C9CE-1AA3-AA96-AC815A120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Drones &amp; sensors</a:t>
            </a:r>
          </a:p>
          <a:p>
            <a:r>
              <a:rPr lang="en-US" dirty="0"/>
              <a:t>Farm management software</a:t>
            </a:r>
          </a:p>
          <a:p>
            <a:r>
              <a:rPr lang="en-US" dirty="0"/>
              <a:t>Smart irrigation</a:t>
            </a:r>
          </a:p>
          <a:p>
            <a:r>
              <a:rPr lang="en-US" dirty="0"/>
              <a:t>Automated machinery</a:t>
            </a:r>
          </a:p>
          <a:p>
            <a:r>
              <a:rPr lang="en-US" dirty="0"/>
              <a:t>Precision Agriculture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044AA-D5EA-5861-7F21-10CBEB94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AB60A-5999-3CA7-72D2-A46F7E84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238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4591-A260-34F7-FAD9-509AD1A0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Operations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10890-BF10-5B4B-6AFE-47663DB6C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Better quality output</a:t>
            </a:r>
          </a:p>
          <a:p>
            <a:r>
              <a:rPr lang="en-US" dirty="0"/>
              <a:t>Efficient resource use</a:t>
            </a:r>
          </a:p>
          <a:p>
            <a:r>
              <a:rPr lang="en-US" dirty="0"/>
              <a:t>Improved market response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11726-C1A0-94C6-78B4-E010A140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031CD-AB3D-8EBB-25B5-DD254A18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173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3507F-831E-AD4E-4902-24B16235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/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EDC31-EC2A-24E9-41B7-1505BE34F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Weather variability</a:t>
            </a:r>
          </a:p>
          <a:p>
            <a:r>
              <a:rPr lang="en-US" dirty="0"/>
              <a:t>Labor shortage</a:t>
            </a:r>
          </a:p>
          <a:p>
            <a:r>
              <a:rPr lang="en-US" dirty="0"/>
              <a:t>Input price fluctuation</a:t>
            </a:r>
          </a:p>
          <a:p>
            <a:r>
              <a:rPr lang="en-US" dirty="0"/>
              <a:t>Infrastructure gaps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92AFC-AA21-3054-8958-BEF1A29F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760DF-D0D9-FF8D-FBBF-0A8F8ABF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220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7808-5A9E-8190-3C0D-C447E76D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F9FAA-7C3E-72DC-5A9D-53833F92F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Agribusiness opportunities exist across value chains</a:t>
            </a:r>
          </a:p>
          <a:p>
            <a:r>
              <a:rPr lang="en-US" dirty="0"/>
              <a:t>Value addition increases income</a:t>
            </a:r>
          </a:p>
          <a:p>
            <a:r>
              <a:rPr lang="en-US" dirty="0"/>
              <a:t>Innovation improves competitiveness</a:t>
            </a:r>
          </a:p>
          <a:p>
            <a:r>
              <a:rPr lang="en-US" dirty="0"/>
              <a:t>Operations management ensures efficiency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D0F12-A6C7-C3DD-951F-0CB6D426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A06A5-ED45-EC6E-0DFF-6AA6A65E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230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CODe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10684</TotalTime>
  <Words>541</Words>
  <Application>Microsoft Office PowerPoint</Application>
  <PresentationFormat>Widescreen</PresentationFormat>
  <Paragraphs>164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Montserrat</vt:lpstr>
      <vt:lpstr>CCODeL Theme</vt:lpstr>
      <vt:lpstr>PowerPoint Presentation</vt:lpstr>
      <vt:lpstr>MODULE 4: AGRIBUSINESS OPPORTUNITIES &amp; VALUE ADDITION</vt:lpstr>
      <vt:lpstr>Agribusiness Opportunities            (Concept)</vt:lpstr>
      <vt:lpstr>Criteria for Evaluating Opportunities</vt:lpstr>
      <vt:lpstr>Agricultural Value Chain (Flow)</vt:lpstr>
      <vt:lpstr>Value Chain Input Supply Stage</vt:lpstr>
      <vt:lpstr>Production Stage</vt:lpstr>
      <vt:lpstr>Transportation &amp; Marketing</vt:lpstr>
      <vt:lpstr>Common Problems in Agriculture</vt:lpstr>
      <vt:lpstr>Market Trends in Agriculture</vt:lpstr>
      <vt:lpstr>Emerging Technologies</vt:lpstr>
      <vt:lpstr>Value Addition Concept</vt:lpstr>
      <vt:lpstr>Types of Value Addition</vt:lpstr>
      <vt:lpstr>Forms of Value Addition</vt:lpstr>
      <vt:lpstr>Agribusiness Innovation</vt:lpstr>
      <vt:lpstr>Challenges in Value Addition</vt:lpstr>
      <vt:lpstr>Components of Operations Management</vt:lpstr>
      <vt:lpstr>Technology in Agribusiness Operations</vt:lpstr>
      <vt:lpstr>Advantages of Operations Management</vt:lpstr>
      <vt:lpstr>Limitations / Challenges</vt:lpstr>
      <vt:lpstr>                       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Mayowa Agboola</dc:creator>
  <cp:lastModifiedBy>Dell</cp:lastModifiedBy>
  <cp:revision>22</cp:revision>
  <dcterms:created xsi:type="dcterms:W3CDTF">2023-12-11T12:53:11Z</dcterms:created>
  <dcterms:modified xsi:type="dcterms:W3CDTF">2026-05-21T20:28:12Z</dcterms:modified>
</cp:coreProperties>
</file>