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61" r:id="rId5"/>
    <p:sldId id="262" r:id="rId6"/>
    <p:sldId id="263" r:id="rId7"/>
    <p:sldId id="264" r:id="rId8"/>
    <p:sldId id="272" r:id="rId9"/>
    <p:sldId id="268" r:id="rId10"/>
    <p:sldId id="271" r:id="rId11"/>
    <p:sldId id="273" r:id="rId12"/>
    <p:sldId id="276" r:id="rId13"/>
    <p:sldId id="274" r:id="rId14"/>
    <p:sldId id="275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2E08"/>
    <a:srgbClr val="00B050"/>
    <a:srgbClr val="0C5D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94"/>
  </p:normalViewPr>
  <p:slideViewPr>
    <p:cSldViewPr snapToGrid="0">
      <p:cViewPr varScale="1">
        <p:scale>
          <a:sx n="67" d="100"/>
          <a:sy n="67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C2D98-93E0-E941-9BF8-4C9EFEF75C98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217B5-B1EA-5949-9C40-B104F5A2080F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. Title Slide">
    <p:bg>
      <p:bgPr>
        <a:blipFill dpi="0" rotWithShape="1">
          <a:blip r:embed="rId2">
            <a:alphaModFix amt="5000"/>
            <a:lum/>
          </a:blip>
          <a:srcRect/>
          <a:tile tx="0" ty="2413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0" y="-7144"/>
            <a:ext cx="12211196" cy="6868798"/>
          </a:xfrm>
          <a:prstGeom prst="rect">
            <a:avLst/>
          </a:prstGeom>
        </p:spPr>
      </p:pic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609600" y="4175760"/>
            <a:ext cx="5181600" cy="329882"/>
          </a:xfrm>
        </p:spPr>
        <p:txBody>
          <a:bodyPr anchor="b">
            <a:normAutofit/>
          </a:bodyPr>
          <a:lstStyle>
            <a:lvl1pPr algn="l">
              <a:defRPr sz="1100" b="1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Full Names (Dr/Prof. </a:t>
            </a:r>
            <a:r>
              <a:rPr lang="en-GB" dirty="0" err="1"/>
              <a:t>Xxx</a:t>
            </a:r>
            <a:r>
              <a:rPr lang="en-GB" dirty="0"/>
              <a:t> </a:t>
            </a:r>
            <a:r>
              <a:rPr lang="en-GB" dirty="0" err="1"/>
              <a:t>Xxx</a:t>
            </a:r>
            <a:r>
              <a:rPr lang="en-GB" dirty="0"/>
              <a:t>)</a:t>
            </a:r>
            <a:endParaRPr lang="en-GB" dirty="0"/>
          </a:p>
        </p:txBody>
      </p:sp>
      <p:sp>
        <p:nvSpPr>
          <p:cNvPr id="3" name="Subtitle 2"/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609600" y="4455344"/>
            <a:ext cx="5262880" cy="24873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00" b="0" i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PhD. In </a:t>
            </a:r>
            <a:r>
              <a:rPr lang="en-GB" dirty="0" err="1"/>
              <a:t>Xxxx</a:t>
            </a:r>
            <a:r>
              <a:rPr lang="en-GB" dirty="0"/>
              <a:t> </a:t>
            </a:r>
            <a:r>
              <a:rPr lang="en-GB" dirty="0" err="1"/>
              <a:t>Xxxx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79F10-8AD4-3346-BDCC-0C28058CF15B}" type="datetime2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838200" y="1877403"/>
            <a:ext cx="10515600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add: Module One</a:t>
            </a:r>
            <a:endParaRPr lang="en-GB" dirty="0"/>
          </a:p>
        </p:txBody>
      </p:sp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" hasCustomPrompt="1"/>
          </p:nvPr>
        </p:nvSpPr>
        <p:spPr>
          <a:xfrm>
            <a:off x="838200" y="3604603"/>
            <a:ext cx="10515600" cy="1311779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add Unit One: &lt;Unit One’s Title&gt;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114A0-0995-4445-99D4-7DFD2AAA19A6}" type="datetime2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. Learning Objectiv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86174-5757-3A42-9959-86F6ABB7977A}" type="datetime2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. Learning Outcom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Learning Outcomes</a:t>
            </a:r>
            <a:endParaRPr lang="en-GB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Learning Outcome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4901-21E4-3444-A222-65C6CE2B01B8}" type="datetime2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the 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Introduction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911B6-DBCC-F440-9DC1-9DEB4E5CD1D9}" type="datetime2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39267" y="2862263"/>
            <a:ext cx="10713466" cy="1133475"/>
          </a:xfrm>
        </p:spPr>
        <p:txBody>
          <a:bodyPr anchor="b"/>
          <a:lstStyle>
            <a:lvl1pPr algn="ctr">
              <a:defRPr sz="6000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Sub-Unit Title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 b="1">
                <a:latin typeface="Montserrat" panose="02000505000000020004" pitchFamily="2" charset="77"/>
              </a:defRPr>
            </a:lvl1pPr>
          </a:lstStyle>
          <a:p>
            <a:fld id="{90498037-4DEB-5849-A1C8-21C57CCD57E7}" type="datetime2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. Content 1 Slide -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1pPr>
            <a:lvl2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2pPr>
            <a:lvl3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3pPr>
            <a:lvl4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4pPr>
            <a:lvl5pPr>
              <a:defRPr>
                <a:solidFill>
                  <a:schemeClr val="tx1"/>
                </a:solidFill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AA4B-1E8D-6B43-AF58-4617CEC658B5}" type="datetime2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. Content 2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7030A0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 noRot="1" noMove="1" noResize="1" noEditPoints="1" noAdjustHandles="1" noChangeArrowheads="1" noChangeShapeType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2000505000000020004" pitchFamily="2" charset="77"/>
              </a:defRPr>
            </a:lvl1pPr>
            <a:lvl2pPr>
              <a:defRPr>
                <a:latin typeface="Montserrat" panose="02000505000000020004" pitchFamily="2" charset="77"/>
              </a:defRPr>
            </a:lvl2pPr>
            <a:lvl3pPr>
              <a:defRPr>
                <a:latin typeface="Montserrat" panose="02000505000000020004" pitchFamily="2" charset="77"/>
              </a:defRPr>
            </a:lvl3pPr>
            <a:lvl4pPr>
              <a:defRPr>
                <a:latin typeface="Montserrat" panose="02000505000000020004" pitchFamily="2" charset="77"/>
              </a:defRPr>
            </a:lvl4pPr>
            <a:lvl5pPr>
              <a:defRPr>
                <a:latin typeface="Montserrat" panose="02000505000000020004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7B8F-4F15-4343-8145-CB61A0091A7B}" type="datetime2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. Content 3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86464-92D0-F241-8D03-0C13C7FB7D97}" type="datetime2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. 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12192000" cy="6498589"/>
          </a:xfrm>
          <a:prstGeom prst="rect">
            <a:avLst/>
          </a:prstGeom>
          <a:solidFill>
            <a:srgbClr val="7030A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C54F-46CD-0D40-8AD8-B8BC7EB73F78}" type="datetime2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.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1AD3-F371-6B48-958F-BAC80E22E922}" type="datetime2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2.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57BDD-61BF-FC40-BC48-5A4F76B73BE2}" type="datetime2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3.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Rot="1" noMove="1" noResize="1" noEditPoints="1" noAdjustHandles="1" noChangeArrowheads="1" noChangeShapeType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 noRot="1" noMove="1" noResize="1" noEditPoints="1" noAdjustHandles="1" noChangeArrowheads="1" noChangeShapeType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760D2-ABD1-284C-AF35-4CC04E8B4B15}" type="datetime2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000"/>
            <a:lum/>
          </a:blip>
          <a:srcRect/>
          <a:tile tx="0" ty="177800" sx="39000" sy="39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6492874"/>
            <a:ext cx="12192000" cy="36512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43DA6C6E-C52F-1C4D-9F96-201F365015FF}" type="datetime2">
              <a:rPr lang="en-GB" smtClean="0"/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85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r>
              <a:rPr lang="en-GB" dirty="0" err="1"/>
              <a:t>ccodel.covenantuniversity.edu.ng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4985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Montserrat" panose="02000505000000020004" pitchFamily="2" charset="77"/>
              </a:defRPr>
            </a:lvl1pPr>
          </a:lstStyle>
          <a:p>
            <a:fld id="{E89F36F3-1658-ED4F-8598-A2C0B2600E57}" type="slidenum">
              <a:rPr lang="en-GB" smtClean="0"/>
            </a:fld>
            <a:endParaRPr lang="en-GB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72530" y="83961"/>
            <a:ext cx="953033" cy="454520"/>
            <a:chOff x="72530" y="83961"/>
            <a:chExt cx="953033" cy="454520"/>
          </a:xfrm>
        </p:grpSpPr>
        <p:pic>
          <p:nvPicPr>
            <p:cNvPr id="9" name="Picture 8" descr="A blue logo with a black background&#10;&#10;Description automatically generated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527911" y="127042"/>
              <a:ext cx="497652" cy="365125"/>
            </a:xfrm>
            <a:prstGeom prst="rect">
              <a:avLst/>
            </a:prstGeom>
          </p:spPr>
        </p:pic>
        <p:pic>
          <p:nvPicPr>
            <p:cNvPr id="8" name="Picture 7" descr="A logo of the earth&#10;&#10;Description automatically generated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72530" y="83961"/>
              <a:ext cx="455381" cy="45452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7030A0"/>
          </a:solidFill>
          <a:latin typeface="Montserrat" panose="02000505000000020004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https://www.youtube.com/watch?v=DBaQZjLOgWU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ubtitle 4"/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128713"/>
            <a:ext cx="10515600" cy="1882165"/>
          </a:xfrm>
        </p:spPr>
        <p:txBody>
          <a:bodyPr>
            <a:normAutofit/>
          </a:bodyPr>
          <a:lstStyle/>
          <a:p>
            <a:r>
              <a:rPr lang="en-US" dirty="0"/>
              <a:t>MODULE 1 UNIT 2: OIL PALM PROCESSING</a:t>
            </a:r>
            <a:endParaRPr lang="en-US" dirty="0"/>
          </a:p>
        </p:txBody>
      </p:sp>
      <p:sp>
        <p:nvSpPr>
          <p:cNvPr id="15" name="Text Placeholder 14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GB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Oil palm processing involves mechanical and chemical operations for extracting crude palm oil (CPO) and palm kernel oil (PKO).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14350" y="1343025"/>
            <a:ext cx="10839450" cy="3971925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Explain stages of processing</a:t>
            </a:r>
            <a:endParaRPr lang="en-US" sz="3200" dirty="0"/>
          </a:p>
          <a:p>
            <a:r>
              <a:rPr lang="en-US" sz="3200" dirty="0"/>
              <a:t>Importance of sterilization</a:t>
            </a:r>
            <a:endParaRPr lang="en-US" sz="3200" dirty="0"/>
          </a:p>
          <a:p>
            <a:r>
              <a:rPr lang="en-US" sz="3200" dirty="0"/>
              <a:t>Processes in kernel extraction</a:t>
            </a:r>
            <a:endParaRPr lang="en-US" sz="3200" dirty="0"/>
          </a:p>
          <a:p>
            <a:r>
              <a:rPr lang="en-US" sz="3200" dirty="0"/>
              <a:t>Factors affecting oil quality</a:t>
            </a:r>
            <a:endParaRPr lang="en-US" sz="3200" dirty="0"/>
          </a:p>
          <a:p>
            <a:r>
              <a:rPr lang="en-US" sz="3200" dirty="0"/>
              <a:t>Identify processing by‑products</a:t>
            </a:r>
            <a:endParaRPr lang="en-US" sz="3200" dirty="0"/>
          </a:p>
          <a:p>
            <a:pPr marL="0" indent="0">
              <a:buNone/>
            </a:pP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299211"/>
          </a:xfrm>
        </p:spPr>
        <p:txBody>
          <a:bodyPr/>
          <a:lstStyle/>
          <a:p>
            <a:r>
              <a:rPr lang="en-US" dirty="0"/>
              <a:t>Fresh Fruit Bunch (FFB) Processing Stages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64336"/>
            <a:ext cx="10896600" cy="451262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Sterilization</a:t>
            </a:r>
            <a:endParaRPr lang="en-US" dirty="0"/>
          </a:p>
          <a:p>
            <a:r>
              <a:rPr lang="en-US" dirty="0"/>
              <a:t>Threshing</a:t>
            </a:r>
            <a:endParaRPr lang="en-US" dirty="0"/>
          </a:p>
          <a:p>
            <a:r>
              <a:rPr lang="en-US" dirty="0"/>
              <a:t>Digesting</a:t>
            </a:r>
            <a:endParaRPr lang="en-US" dirty="0"/>
          </a:p>
          <a:p>
            <a:r>
              <a:rPr lang="en-US" dirty="0"/>
              <a:t>Pressing</a:t>
            </a:r>
            <a:endParaRPr lang="en-US" dirty="0"/>
          </a:p>
          <a:p>
            <a:r>
              <a:rPr lang="en-US" dirty="0"/>
              <a:t>Clarification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Sterilization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85775" y="957264"/>
            <a:ext cx="11101388" cy="5535609"/>
          </a:xfrm>
        </p:spPr>
        <p:txBody>
          <a:bodyPr/>
          <a:lstStyle/>
          <a:p>
            <a:r>
              <a:rPr lang="en-US" dirty="0"/>
              <a:t>Kills pathogens</a:t>
            </a:r>
            <a:endParaRPr lang="en-US" dirty="0"/>
          </a:p>
          <a:p>
            <a:r>
              <a:rPr lang="en-US" dirty="0"/>
              <a:t>Stops enzyme activity</a:t>
            </a:r>
            <a:endParaRPr lang="en-US" dirty="0"/>
          </a:p>
          <a:p>
            <a:r>
              <a:rPr lang="en-US" dirty="0"/>
              <a:t>Loosens fruits from bunch</a:t>
            </a:r>
            <a:endParaRPr lang="en-US" dirty="0"/>
          </a:p>
          <a:p>
            <a:r>
              <a:rPr lang="en-US" dirty="0"/>
              <a:t>Improves oil quality</a:t>
            </a:r>
            <a:endParaRPr lang="en-US" dirty="0"/>
          </a:p>
          <a:p>
            <a:r>
              <a:rPr lang="en-US" dirty="0"/>
              <a:t>Typical temp: 140–150°C for 60–90 minutes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0339" y="3529013"/>
            <a:ext cx="5453061" cy="2593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Threshing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42913" y="1257300"/>
            <a:ext cx="11444287" cy="5086350"/>
          </a:xfrm>
        </p:spPr>
        <p:txBody>
          <a:bodyPr/>
          <a:lstStyle/>
          <a:p>
            <a:r>
              <a:rPr lang="en-US" dirty="0"/>
              <a:t>Removes fruits from bunch stalks</a:t>
            </a:r>
            <a:endParaRPr lang="en-US" dirty="0"/>
          </a:p>
          <a:p>
            <a:r>
              <a:rPr lang="en-US" dirty="0"/>
              <a:t>Improves digestion efficiency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sz="2000" dirty="0"/>
              <a:t>Threshing drum image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451" y="2843214"/>
            <a:ext cx="6285874" cy="2995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Digesting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59556" y="1362076"/>
            <a:ext cx="10758487" cy="4676775"/>
          </a:xfrm>
        </p:spPr>
        <p:txBody>
          <a:bodyPr/>
          <a:lstStyle/>
          <a:p>
            <a:r>
              <a:rPr lang="en-US" dirty="0"/>
              <a:t>Breaks down mesocarp</a:t>
            </a:r>
            <a:endParaRPr lang="en-US" dirty="0"/>
          </a:p>
          <a:p>
            <a:r>
              <a:rPr lang="en-US" dirty="0"/>
              <a:t>Separates pulp from kernel</a:t>
            </a:r>
            <a:endParaRPr lang="en-US" dirty="0"/>
          </a:p>
          <a:p>
            <a:r>
              <a:rPr lang="en-US" dirty="0"/>
              <a:t>Improves oil extraction efficiency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see: </a:t>
            </a:r>
            <a:r>
              <a:rPr lang="en-US" dirty="0">
                <a:hlinkClick r:id="rId1"/>
              </a:rPr>
              <a:t>FINIC, Palm Fruit Digester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Pressing / Extraction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screw press or hydraulic press</a:t>
            </a:r>
            <a:endParaRPr lang="en-US" dirty="0"/>
          </a:p>
          <a:p>
            <a:r>
              <a:rPr lang="en-US" dirty="0"/>
              <a:t>Extracts crude palm oil (CPO)</a:t>
            </a:r>
            <a:endParaRPr lang="en-US" dirty="0"/>
          </a:p>
          <a:p>
            <a:pPr marL="0" indent="0" algn="l">
              <a:buNone/>
            </a:pPr>
            <a:r>
              <a:rPr lang="en-US" dirty="0"/>
              <a:t>                                    </a:t>
            </a:r>
            <a:r>
              <a:rPr lang="en-US" sz="1800" dirty="0"/>
              <a:t>Manual Press for oil extraction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240" y="3307080"/>
            <a:ext cx="2698750" cy="2870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Clarification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Separates </a:t>
            </a:r>
            <a:r>
              <a:rPr lang="en-US" dirty="0" err="1"/>
              <a:t>fibre</a:t>
            </a:r>
            <a:r>
              <a:rPr lang="en-US" dirty="0"/>
              <a:t> and sludge from oil</a:t>
            </a:r>
            <a:endParaRPr lang="en-US" dirty="0"/>
          </a:p>
          <a:p>
            <a:r>
              <a:rPr lang="en-US" dirty="0"/>
              <a:t>Uses water and heating</a:t>
            </a:r>
            <a:endParaRPr lang="en-US" dirty="0"/>
          </a:p>
          <a:p>
            <a:r>
              <a:rPr lang="en-US" dirty="0"/>
              <a:t>Stores clarified oil for packaging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Palm Kernel Processing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Fibre</a:t>
            </a:r>
            <a:r>
              <a:rPr lang="en-US" dirty="0"/>
              <a:t> separation</a:t>
            </a:r>
            <a:endParaRPr lang="en-US" dirty="0"/>
          </a:p>
          <a:p>
            <a:r>
              <a:rPr lang="en-US" dirty="0"/>
              <a:t>Nut Drying</a:t>
            </a:r>
            <a:endParaRPr lang="en-US" dirty="0"/>
          </a:p>
          <a:p>
            <a:r>
              <a:rPr lang="en-US" dirty="0"/>
              <a:t>Nut Cracking</a:t>
            </a:r>
            <a:endParaRPr lang="en-US" dirty="0"/>
          </a:p>
          <a:p>
            <a:r>
              <a:rPr lang="en-US" dirty="0"/>
              <a:t>Kernel Oil Extraction</a:t>
            </a:r>
            <a:endParaRPr lang="en-US" dirty="0"/>
          </a:p>
          <a:p>
            <a:r>
              <a:rPr lang="en-US" dirty="0"/>
              <a:t>Storage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Nut Drying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moisture content</a:t>
            </a:r>
            <a:endParaRPr lang="en-US" dirty="0"/>
          </a:p>
          <a:p>
            <a:r>
              <a:rPr lang="en-US" dirty="0"/>
              <a:t>Improves cracking efficiency</a:t>
            </a:r>
            <a:endParaRPr lang="en-US" dirty="0"/>
          </a:p>
          <a:p>
            <a:r>
              <a:rPr lang="en-US" dirty="0"/>
              <a:t>Methods: machine drying, hot platform, sun drying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Kernel Oil Extraction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Mechanical pressing</a:t>
            </a:r>
            <a:endParaRPr lang="en-US" dirty="0"/>
          </a:p>
          <a:p>
            <a:r>
              <a:rPr lang="en-US" dirty="0"/>
              <a:t>Chemical extraction methods</a:t>
            </a:r>
            <a:endParaRPr lang="en-US" dirty="0"/>
          </a:p>
          <a:p>
            <a:r>
              <a:rPr lang="en-US" dirty="0"/>
              <a:t>Oil stored in tanks</a:t>
            </a:r>
            <a:endParaRPr lang="en-US" dirty="0"/>
          </a:p>
          <a:p>
            <a:r>
              <a:rPr lang="en-US" dirty="0"/>
              <a:t>Nuts stored in jute bags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Oil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Fruit ripeness</a:t>
            </a:r>
            <a:endParaRPr lang="en-US" dirty="0"/>
          </a:p>
          <a:p>
            <a:r>
              <a:rPr lang="en-US" dirty="0"/>
              <a:t>Sterilization temperature/time</a:t>
            </a:r>
            <a:endParaRPr lang="en-US" dirty="0"/>
          </a:p>
          <a:p>
            <a:r>
              <a:rPr lang="en-US" dirty="0"/>
              <a:t>Pressing conditions</a:t>
            </a:r>
            <a:endParaRPr lang="en-US" dirty="0"/>
          </a:p>
          <a:p>
            <a:r>
              <a:rPr lang="en-US" dirty="0"/>
              <a:t>Storage and handling practices</a:t>
            </a:r>
            <a:endParaRPr lang="en-US" dirty="0"/>
          </a:p>
          <a:p>
            <a:r>
              <a:rPr lang="en-US" dirty="0">
                <a:solidFill>
                  <a:srgbClr val="7030A0"/>
                </a:solidFill>
              </a:rPr>
              <a:t>By‑products of Processing</a:t>
            </a:r>
            <a:endParaRPr lang="en-US" dirty="0">
              <a:solidFill>
                <a:srgbClr val="7030A0"/>
              </a:solidFill>
            </a:endParaRPr>
          </a:p>
          <a:p>
            <a:r>
              <a:rPr lang="en-US" dirty="0"/>
              <a:t>Empty Fruit Bunches (EFB)</a:t>
            </a:r>
            <a:endParaRPr lang="en-US" dirty="0"/>
          </a:p>
          <a:p>
            <a:r>
              <a:rPr lang="en-US" dirty="0"/>
              <a:t>Palm Kernel Cake (PKC)</a:t>
            </a:r>
            <a:endParaRPr lang="en-US" dirty="0"/>
          </a:p>
          <a:p>
            <a:r>
              <a:rPr lang="en-US" dirty="0"/>
              <a:t>Palm Oil Mill Effluent (POME)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Uses of By‑products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EFB: fertilizer &amp; bioenergy</a:t>
            </a:r>
            <a:endParaRPr lang="en-US" dirty="0"/>
          </a:p>
          <a:p>
            <a:r>
              <a:rPr lang="en-US" dirty="0"/>
              <a:t>PKC: animal feed</a:t>
            </a:r>
            <a:endParaRPr lang="en-US" dirty="0"/>
          </a:p>
          <a:p>
            <a:r>
              <a:rPr lang="en-US" dirty="0"/>
              <a:t>POME: requires treatment before disposal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Oil palm processing ensures production of edible oil, industrial raw materials, and valuable by‑products.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Self‑Assessment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threshing important?</a:t>
            </a:r>
            <a:endParaRPr lang="en-US" dirty="0"/>
          </a:p>
          <a:p>
            <a:r>
              <a:rPr lang="en-US" dirty="0"/>
              <a:t>Mention two drying methods</a:t>
            </a:r>
            <a:endParaRPr lang="en-US" dirty="0"/>
          </a:p>
          <a:p>
            <a:r>
              <a:rPr lang="en-US" dirty="0"/>
              <a:t>Effects of poor storage</a:t>
            </a:r>
            <a:endParaRPr lang="en-US" dirty="0"/>
          </a:p>
          <a:p>
            <a:r>
              <a:rPr lang="en-US" dirty="0"/>
              <a:t>What is POME?</a:t>
            </a:r>
            <a:endParaRPr lang="en-US" dirty="0"/>
          </a:p>
          <a:p>
            <a:r>
              <a:rPr lang="en-US" dirty="0"/>
              <a:t>Suggest sustainable practices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ccodel.covenantuniversity.edu.ng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36F3-1658-ED4F-8598-A2C0B2600E57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CODe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2461</Words>
  <Application>WPS Presentation</Application>
  <PresentationFormat>Widescreen</PresentationFormat>
  <Paragraphs>178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Montserrat</vt:lpstr>
      <vt:lpstr>Yu Gothic UI</vt:lpstr>
      <vt:lpstr>Calibri</vt:lpstr>
      <vt:lpstr>Microsoft YaHei</vt:lpstr>
      <vt:lpstr>Arial Unicode MS</vt:lpstr>
      <vt:lpstr>CCODeL Theme</vt:lpstr>
      <vt:lpstr>PowerPoint 演示文稿</vt:lpstr>
      <vt:lpstr>MODULE 1 UNIT 2: OIL PALM PROCESSING</vt:lpstr>
      <vt:lpstr>INTRODUCTION</vt:lpstr>
      <vt:lpstr>Learning Objectives</vt:lpstr>
      <vt:lpstr>Fresh Fruit Bunch (FFB) Processing Stages</vt:lpstr>
      <vt:lpstr>Sterilization</vt:lpstr>
      <vt:lpstr>Threshing</vt:lpstr>
      <vt:lpstr>Digesting</vt:lpstr>
      <vt:lpstr>Pressing / Extraction</vt:lpstr>
      <vt:lpstr>Clarification</vt:lpstr>
      <vt:lpstr>Palm Kernel Processing Stages</vt:lpstr>
      <vt:lpstr>Nut Drying</vt:lpstr>
      <vt:lpstr>Factors Affecting Oil Quality</vt:lpstr>
      <vt:lpstr>Uses of By‑products</vt:lpstr>
      <vt:lpstr>Conclusion</vt:lpstr>
      <vt:lpstr>Self‑Assessment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Mayowa Agboola</dc:creator>
  <cp:lastModifiedBy>Okwu Jerome</cp:lastModifiedBy>
  <cp:revision>23</cp:revision>
  <dcterms:created xsi:type="dcterms:W3CDTF">2023-12-11T12:53:00Z</dcterms:created>
  <dcterms:modified xsi:type="dcterms:W3CDTF">2026-05-18T10:05:46Z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7D872B61DD0A4F499B8D4708B27BE09A_12</vt:lpwstr>
  </property>
  <property fmtid="{D5CDD505-2E9C-101B-9397-08002B2CF9AE}" pid="3" name="KSOProductBuildVer">
    <vt:lpwstr>1033-12.1.0.26372</vt:lpwstr>
  </property>
</Properties>
</file>