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2E08"/>
    <a:srgbClr val="00B050"/>
    <a:srgbClr val="0C5D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6"/>
    <p:restoredTop sz="94694"/>
  </p:normalViewPr>
  <p:slideViewPr>
    <p:cSldViewPr snapToGrid="0">
      <p:cViewPr varScale="1">
        <p:scale>
          <a:sx n="67" d="100"/>
          <a:sy n="67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C2D98-93E0-E941-9BF8-4C9EFEF75C98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217B5-B1EA-5949-9C40-B104F5A20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354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 Title Slide">
    <p:bg>
      <p:bgPr>
        <a:blipFill dpi="0" rotWithShape="1">
          <a:blip r:embed="rId2">
            <a:alphaModFix amt="5000"/>
            <a:lum/>
          </a:blip>
          <a:srcRect/>
          <a:tile tx="0" ty="2413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54A86B-E942-B9F7-D9BB-9E6D03481B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-7144"/>
            <a:ext cx="12211196" cy="686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FA936-24B7-8705-4CBC-DAFFE26FDB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600" y="4175760"/>
            <a:ext cx="5181600" cy="329882"/>
          </a:xfrm>
        </p:spPr>
        <p:txBody>
          <a:bodyPr anchor="b">
            <a:normAutofit/>
          </a:bodyPr>
          <a:lstStyle>
            <a:lvl1pPr algn="l">
              <a:defRPr sz="1100" b="1" i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Full Names (Dr/Prof. </a:t>
            </a:r>
            <a:r>
              <a:rPr lang="en-GB" dirty="0" err="1"/>
              <a:t>Xxx</a:t>
            </a:r>
            <a:r>
              <a:rPr lang="en-GB" dirty="0"/>
              <a:t> </a:t>
            </a:r>
            <a:r>
              <a:rPr lang="en-GB" dirty="0" err="1"/>
              <a:t>Xxx</a:t>
            </a:r>
            <a:r>
              <a:rPr lang="en-GB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4F582-DACC-CFEF-7AB8-EEDA6A4D6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09600" y="4455344"/>
            <a:ext cx="5262880" cy="2487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 i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PhD. In </a:t>
            </a:r>
            <a:r>
              <a:rPr lang="en-GB" dirty="0" err="1"/>
              <a:t>Xxxx</a:t>
            </a:r>
            <a:r>
              <a:rPr lang="en-GB" dirty="0"/>
              <a:t> </a:t>
            </a:r>
            <a:r>
              <a:rPr lang="en-GB" dirty="0" err="1"/>
              <a:t>Xxxx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C5553-232D-AD79-227B-D537AC53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F10-8AD4-3346-BDCC-0C28058CF15B}" type="datetime2">
              <a:rPr lang="en-GB" smtClean="0"/>
              <a:t>Sunday, 10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40AF-33DC-E85E-C9AC-069570E8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F19F5-DA36-F1AD-D76F-D4A5144F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51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363B01-B82B-1051-7D2D-B4A6CE851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F81FC-E5BB-99B6-1D62-9CA3280D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838200" y="1877403"/>
            <a:ext cx="10515600" cy="1133475"/>
          </a:xfrm>
        </p:spPr>
        <p:txBody>
          <a:bodyPr anchor="b"/>
          <a:lstStyle>
            <a:lvl1pPr algn="ctr">
              <a:defRPr sz="6000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add: Module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FA8-EFAE-8F65-D8AA-48C4E46323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838200" y="3604603"/>
            <a:ext cx="10515600" cy="1311779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Unit One: &lt;Unit One’s Title&gt;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5F5-C6C5-402F-56D8-EF447A0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14A0-0995-4445-99D4-7DFD2AAA19A6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9D24-EB5E-BAE8-A434-FDD7793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99F-F625-A400-48A8-086D15C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99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. Learning Objectiv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Learning Outcome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86174-5757-3A42-9959-86F6ABB7977A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363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. Learning Outcom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6ACEE6-6622-EB19-1B71-27BD720449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Learning Outcome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4901-21E4-3444-A222-65C6CE2B01B8}" type="datetime2">
              <a:rPr lang="en-GB" smtClean="0"/>
              <a:t>Sunday, 10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463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. 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the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Introduction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11B6-DBCC-F440-9DC1-9DEB4E5CD1D9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68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11C5AD-5EA2-CF4B-7E39-F0C36A3FA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F81FC-E5BB-99B6-1D62-9CA3280D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39267" y="2862263"/>
            <a:ext cx="10713466" cy="1133475"/>
          </a:xfrm>
        </p:spPr>
        <p:txBody>
          <a:bodyPr anchor="b"/>
          <a:lstStyle>
            <a:lvl1pPr algn="ctr">
              <a:defRPr sz="6000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Sub-Unit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5F5-C6C5-402F-56D8-EF447A0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b="1">
                <a:latin typeface="Montserrat" panose="02000505000000020004" pitchFamily="2" charset="77"/>
              </a:defRPr>
            </a:lvl1pPr>
          </a:lstStyle>
          <a:p>
            <a:fld id="{90498037-4DEB-5849-A1C8-21C57CCD57E7}" type="datetime2">
              <a:rPr lang="en-GB" smtClean="0"/>
              <a:t>Sunday, 10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9D24-EB5E-BAE8-A434-FDD7793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</a:lstStyle>
          <a:p>
            <a:r>
              <a:rPr lang="en-GB" dirty="0" err="1"/>
              <a:t>ccodel.covenantuniversity.edu.ng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99F-F625-A400-48A8-086D15C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5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. Content 1 Slide -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AA4B-1E8D-6B43-AF58-4617CEC658B5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12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8. Conten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6FB3-761F-E89D-525B-9E8D7FCB36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5A19-0512-725B-CA28-38EC1F3894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99B5E-8AB0-DE15-C93C-98DFFC6579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1DCEA-48C3-5D00-2BAA-46B326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7B8F-4F15-4343-8145-CB61A0091A7B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2635F-73A0-FDA6-9415-BEAF0D6C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CB139-8AD7-5C4D-7E2C-A7F073B9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102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. Content 3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279D-3228-97B2-70E8-FAF71AB3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D1C3B-7838-502B-9790-FB74F915C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1F50B-03E4-5E11-F411-F44545437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90F7B-78BF-DE5B-BA03-2B2C46CE7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49446-F5C7-4824-F551-BD36C7ACD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34715-0A04-C11A-8846-A1C46369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86464-92D0-F241-8D03-0C13C7FB7D97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24315-4487-3A57-BC7D-EAE2B858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1CD1C-FE14-3FBF-5751-6C52AA1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062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 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C24541-271B-6874-FCCE-5631DF685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7D670-6A90-2E16-99C9-A97C7C3CCA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DCFF8-7493-3683-FB5B-063ABCEA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C54F-46CD-0D40-8AD8-B8BC7EB73F78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A1C53-5CE5-4807-650A-853667C8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ABE4D-25CA-3581-7E8F-63CDFD10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06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.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A4A1E-8077-246F-6DDC-D8CCEEA4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1AD3-F371-6B48-958F-BAC80E22E922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D725D-35CE-7D12-FEC5-FC714BAD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8CB75-2884-E619-F6CE-2E1E2018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702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2.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4DF2-2C3D-D27E-6897-8AFD7B242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F3F35-CF21-8F23-530F-AB5E1CFBC7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C03A8-89D4-1CC2-BBF8-16AB44984D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86032-D1F1-3BC7-A923-F3B4B78E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7BDD-61BF-FC40-BC48-5A4F76B73BE2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5D57D-082E-FE4A-65B2-9B3A49CD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7C229-52CB-F632-9D2D-BA992288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488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3.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EE3A-C216-3065-760E-F78A48EF6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0551D-7C01-12E8-91C9-66A50E8F7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BCD5E-365C-7790-B6E9-676C849EC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18253-FBCA-B3E6-E158-B7451085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60D2-ABD1-284C-AF35-4CC04E8B4B15}" type="datetime2">
              <a:rPr lang="en-GB" smtClean="0"/>
              <a:t>Sunday, 10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C9DE-4525-648A-E7D4-3E6DE284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46645-D0FC-AAB4-E892-2BD2E738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77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5000"/>
            <a:lum/>
          </a:blip>
          <a:srcRect/>
          <a:tile tx="0" ty="1778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71BB7-C3BF-B7D9-13E3-1084B15CD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9B7C9-4B5F-C601-D7F0-360C6029670E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01262-4A88-E579-CA6C-A38CF53E9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C321-9917-0B69-1CEC-9AFEBB9C9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fld id="{43DA6C6E-C52F-1C4D-9F96-201F365015FF}" type="datetime2">
              <a:rPr lang="en-GB" smtClean="0"/>
              <a:t>Sunday, 10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785D-A8FD-2289-9669-8C624CE3C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85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 err="1"/>
              <a:t>ccodel.covenantuniversity.edu.ng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F98C-F72B-8CFB-25E4-98C4C1A48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fld id="{E89F36F3-1658-ED4F-8598-A2C0B2600E57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2D5314-409F-DD0D-3E0D-6159A639385A}"/>
              </a:ext>
            </a:extLst>
          </p:cNvPr>
          <p:cNvGrpSpPr/>
          <p:nvPr userDrawn="1"/>
        </p:nvGrpSpPr>
        <p:grpSpPr>
          <a:xfrm>
            <a:off x="72530" y="83961"/>
            <a:ext cx="953033" cy="454520"/>
            <a:chOff x="72530" y="83961"/>
            <a:chExt cx="953033" cy="454520"/>
          </a:xfrm>
        </p:grpSpPr>
        <p:pic>
          <p:nvPicPr>
            <p:cNvPr id="9" name="Picture 8" descr="A blue logo with a black background&#10;&#10;Description automatically generated">
              <a:extLst>
                <a:ext uri="{FF2B5EF4-FFF2-40B4-BE49-F238E27FC236}">
                  <a16:creationId xmlns:a16="http://schemas.microsoft.com/office/drawing/2014/main" id="{DB257207-F0D3-DED6-9112-832CF204F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527911" y="127042"/>
              <a:ext cx="497652" cy="365125"/>
            </a:xfrm>
            <a:prstGeom prst="rect">
              <a:avLst/>
            </a:prstGeom>
          </p:spPr>
        </p:pic>
        <p:pic>
          <p:nvPicPr>
            <p:cNvPr id="8" name="Picture 7" descr="A logo of the earth&#10;&#10;Description automatically generated">
              <a:extLst>
                <a:ext uri="{FF2B5EF4-FFF2-40B4-BE49-F238E27FC236}">
                  <a16:creationId xmlns:a16="http://schemas.microsoft.com/office/drawing/2014/main" id="{5C55C339-8A76-8B23-7A21-8FE5596AC5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72530" y="83961"/>
              <a:ext cx="455381" cy="454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031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3" r:id="rId4"/>
    <p:sldLayoutId id="2147483650" r:id="rId5"/>
    <p:sldLayoutId id="2147483651" r:id="rId6"/>
    <p:sldLayoutId id="2147483662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030A0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A73049-2D87-42A3-42FE-028E86BD9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E28788-92F5-D932-02E5-6ACE5BF480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3120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F5CCBDE-D577-5E5E-F9AE-28C0D5C78B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Oil Palm Cultivation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DC78837-170A-35CF-B8BA-E5DB33700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Module 3: Introduction to Cultivation and Processing Management in Agribusiness</a:t>
            </a:r>
          </a:p>
          <a:p>
            <a:r>
              <a:rPr lang="en-US" dirty="0"/>
              <a:t>Unit 1: Oil Palm Cultivation</a:t>
            </a:r>
          </a:p>
          <a:p>
            <a:r>
              <a:rPr lang="en-US" dirty="0"/>
              <a:t>Botanical Name: Elaeis guineensis</a:t>
            </a:r>
          </a:p>
          <a:p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E3D5DE-D58A-14B0-9F46-0ADCA403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F5BC746-00E2-21B1-EB74-B1637EF4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011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A5AA-5DCC-A6A2-A7D8-417358B3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588CE-9225-4367-8629-BFA2F50C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environmental requirements</a:t>
            </a:r>
          </a:p>
          <a:p>
            <a:r>
              <a:rPr lang="en-US" dirty="0"/>
              <a:t>Describe propagation &amp; nursery management</a:t>
            </a:r>
          </a:p>
          <a:p>
            <a:r>
              <a:rPr lang="en-US" dirty="0"/>
              <a:t>Identify agronomic practices</a:t>
            </a:r>
          </a:p>
          <a:p>
            <a:r>
              <a:rPr lang="en-US" dirty="0"/>
              <a:t>Recognize fruit types and varieties</a:t>
            </a:r>
          </a:p>
          <a:p>
            <a:r>
              <a:rPr lang="en-US" dirty="0"/>
              <a:t>Explain harvesting process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92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FC8280-F53A-13CA-C606-CB9ABE2B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Requirements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87B019-E230-FEDB-CFE3-FFE5CD8D1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Temperature: 25–34°C</a:t>
            </a:r>
          </a:p>
          <a:p>
            <a:r>
              <a:rPr lang="en-US" dirty="0"/>
              <a:t>Rainfall: 2000–2500 mm annually</a:t>
            </a:r>
          </a:p>
          <a:p>
            <a:r>
              <a:rPr lang="en-US" dirty="0"/>
              <a:t>Soil pH: 5.0–6.0</a:t>
            </a:r>
          </a:p>
          <a:p>
            <a:r>
              <a:rPr lang="en-US" dirty="0"/>
              <a:t>Deep, fertile, well‑drained loamy soils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281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3B66-8183-49E5-2929-40E5FE76C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Cultivation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759C-2E91-2558-ED74-E1C4C3651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Propagation</a:t>
            </a:r>
          </a:p>
          <a:p>
            <a:r>
              <a:rPr lang="en-US" dirty="0"/>
              <a:t>Nursery Management</a:t>
            </a:r>
          </a:p>
          <a:p>
            <a:r>
              <a:rPr lang="en-US" dirty="0"/>
              <a:t>Field Establishment</a:t>
            </a:r>
          </a:p>
          <a:p>
            <a:r>
              <a:rPr lang="en-US" dirty="0"/>
              <a:t>Agronomic Practices</a:t>
            </a:r>
          </a:p>
          <a:p>
            <a:r>
              <a:rPr lang="en-US" dirty="0"/>
              <a:t>Harvesting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28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ADA766-1469-AC38-0BC5-58855DDB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Propagation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C2FC29-177C-6D4E-A702-24D7E0219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343025"/>
            <a:ext cx="10839450" cy="4833938"/>
          </a:xfrm>
        </p:spPr>
        <p:txBody>
          <a:bodyPr/>
          <a:lstStyle/>
          <a:p>
            <a:r>
              <a:rPr lang="en-US" dirty="0"/>
              <a:t>Oil palm propagated mainly by seeds</a:t>
            </a:r>
          </a:p>
          <a:p>
            <a:r>
              <a:rPr lang="en-US" dirty="0"/>
              <a:t>Dormancy broken at 40°C for 70–80 days</a:t>
            </a:r>
          </a:p>
          <a:p>
            <a:r>
              <a:rPr lang="en-US" dirty="0"/>
              <a:t>Hybrid Tenera (Dura × </a:t>
            </a:r>
            <a:r>
              <a:rPr lang="en-US" dirty="0" err="1"/>
              <a:t>Pisifera</a:t>
            </a:r>
            <a:r>
              <a:rPr lang="en-US" dirty="0"/>
              <a:t>) preferred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7030A0"/>
                </a:solidFill>
              </a:rPr>
              <a:t>                                Nursery Management</a:t>
            </a:r>
          </a:p>
          <a:p>
            <a:r>
              <a:rPr lang="en-US" sz="3200" dirty="0"/>
              <a:t>Seedlings raised 12–15 months</a:t>
            </a:r>
          </a:p>
          <a:p>
            <a:r>
              <a:rPr lang="en-US" sz="3200" dirty="0"/>
              <a:t>Use perforated black polythene bags</a:t>
            </a:r>
          </a:p>
          <a:p>
            <a:r>
              <a:rPr lang="en-US" sz="3200" dirty="0"/>
              <a:t>Apply fertilizer (56 g/seedling)</a:t>
            </a:r>
          </a:p>
          <a:p>
            <a:r>
              <a:rPr lang="en-US" sz="3200" dirty="0"/>
              <a:t>Mulching, shading, watering, pest control</a:t>
            </a:r>
          </a:p>
          <a:p>
            <a:pPr marL="0" indent="0">
              <a:buNone/>
            </a:pP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396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8E73-DCB4-95F9-CBC6-DA60B9093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Establishment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3D27-1EC0-738F-4CD9-938E1AECF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71588"/>
            <a:ext cx="10925175" cy="4905375"/>
          </a:xfrm>
        </p:spPr>
        <p:txBody>
          <a:bodyPr/>
          <a:lstStyle/>
          <a:p>
            <a:r>
              <a:rPr lang="en-US" dirty="0"/>
              <a:t>Clear vegetation and prepare land</a:t>
            </a:r>
          </a:p>
          <a:p>
            <a:r>
              <a:rPr lang="en-US" dirty="0"/>
              <a:t>Spacing: 9 m × 9 m triangular</a:t>
            </a:r>
          </a:p>
          <a:p>
            <a:r>
              <a:rPr lang="en-US" dirty="0"/>
              <a:t>Approx. 143 palms per hectare</a:t>
            </a:r>
          </a:p>
          <a:p>
            <a:r>
              <a:rPr lang="en-US" dirty="0"/>
              <a:t>Plant at beginning of rainy season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Agronomic Practices</a:t>
            </a:r>
          </a:p>
          <a:p>
            <a:r>
              <a:rPr lang="en-US" dirty="0"/>
              <a:t>Weeding</a:t>
            </a:r>
          </a:p>
          <a:p>
            <a:r>
              <a:rPr lang="en-US" dirty="0"/>
              <a:t>Fertilizer application (</a:t>
            </a:r>
            <a:r>
              <a:rPr lang="en-US" dirty="0" err="1"/>
              <a:t>NPKMg</a:t>
            </a:r>
            <a:r>
              <a:rPr lang="en-US" dirty="0"/>
              <a:t> 12:12:17:2)</a:t>
            </a:r>
          </a:p>
          <a:p>
            <a:r>
              <a:rPr lang="en-US" dirty="0"/>
              <a:t>Pruning</a:t>
            </a:r>
          </a:p>
          <a:p>
            <a:r>
              <a:rPr lang="en-US" dirty="0"/>
              <a:t>Pest and disease control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139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4E20C5-AF2E-DD84-3F0E-D16314E8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Pests and Diseases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E6D5A7-C1C1-5C44-5D4D-2BBB2A119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175125"/>
          </a:xfrm>
        </p:spPr>
        <p:txBody>
          <a:bodyPr/>
          <a:lstStyle/>
          <a:p>
            <a:r>
              <a:rPr lang="en-US" dirty="0"/>
              <a:t>Bagworms</a:t>
            </a:r>
          </a:p>
          <a:p>
            <a:r>
              <a:rPr lang="en-US" dirty="0"/>
              <a:t>Rhinoceros beetles</a:t>
            </a:r>
          </a:p>
          <a:p>
            <a:r>
              <a:rPr lang="en-US" dirty="0"/>
              <a:t>Red spider mites</a:t>
            </a:r>
          </a:p>
          <a:p>
            <a:r>
              <a:rPr lang="en-US" dirty="0"/>
              <a:t>Rodents</a:t>
            </a:r>
          </a:p>
          <a:p>
            <a:r>
              <a:rPr lang="en-US" dirty="0"/>
              <a:t>Freckle disease</a:t>
            </a:r>
          </a:p>
          <a:p>
            <a:r>
              <a:rPr lang="en-US" dirty="0"/>
              <a:t>Ganoderma trunk rot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19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C98B-AEC2-AA64-03D5-9E32A11C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Harvesting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57D064-D7BE-8645-46B2-D28A732DE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363" y="1471614"/>
            <a:ext cx="10739437" cy="4786312"/>
          </a:xfrm>
        </p:spPr>
        <p:txBody>
          <a:bodyPr/>
          <a:lstStyle/>
          <a:p>
            <a:r>
              <a:rPr lang="en-US" dirty="0"/>
              <a:t>Begins 3–4 years after planting</a:t>
            </a:r>
          </a:p>
          <a:p>
            <a:r>
              <a:rPr lang="en-US" dirty="0"/>
              <a:t>Loose fruits fall naturally</a:t>
            </a:r>
          </a:p>
          <a:p>
            <a:r>
              <a:rPr lang="en-US" dirty="0"/>
              <a:t>Fruit </a:t>
            </a:r>
            <a:r>
              <a:rPr lang="en-US" dirty="0" err="1"/>
              <a:t>colour</a:t>
            </a:r>
            <a:r>
              <a:rPr lang="en-US" dirty="0"/>
              <a:t> change</a:t>
            </a:r>
          </a:p>
          <a:p>
            <a:r>
              <a:rPr lang="en-US" dirty="0"/>
              <a:t>Fruit softening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                                  Harvesting Tools</a:t>
            </a:r>
          </a:p>
          <a:p>
            <a:r>
              <a:rPr lang="en-US" dirty="0"/>
              <a:t>Chisel</a:t>
            </a:r>
          </a:p>
          <a:p>
            <a:r>
              <a:rPr lang="en-US" dirty="0"/>
              <a:t>Harvesting hook</a:t>
            </a:r>
          </a:p>
          <a:p>
            <a:r>
              <a:rPr lang="en-US" dirty="0"/>
              <a:t>Climbing rope</a:t>
            </a:r>
          </a:p>
          <a:p>
            <a:r>
              <a:rPr lang="en-US" dirty="0"/>
              <a:t>Mechanical harvesters</a:t>
            </a:r>
          </a:p>
          <a:p>
            <a:pPr marL="0" indent="0">
              <a:buNone/>
            </a:pP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887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51329F-8746-4A27-0810-E669287A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Oil Palm Products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8596F3-59DA-B666-596D-1F98C6D8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2" y="1468437"/>
            <a:ext cx="10515600" cy="4351338"/>
          </a:xfrm>
        </p:spPr>
        <p:txBody>
          <a:bodyPr/>
          <a:lstStyle/>
          <a:p>
            <a:r>
              <a:rPr lang="en-US" dirty="0"/>
              <a:t>Palm oil – food &amp; cosmetics</a:t>
            </a:r>
          </a:p>
          <a:p>
            <a:r>
              <a:rPr lang="en-US" dirty="0"/>
              <a:t>Palm kernel oil – soap &amp; baking</a:t>
            </a:r>
          </a:p>
          <a:p>
            <a:r>
              <a:rPr lang="en-US" dirty="0"/>
              <a:t>Palm kernel cake – livestock feed</a:t>
            </a:r>
          </a:p>
          <a:p>
            <a:r>
              <a:rPr lang="en-US" dirty="0"/>
              <a:t>Palm pressed fiber – biomass energy</a:t>
            </a:r>
          </a:p>
          <a:p>
            <a:r>
              <a:rPr lang="en-US" dirty="0"/>
              <a:t>Empty fruit bunches – organic fertilizer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323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B530-183E-2F9C-C99A-F35DF258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Fruit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611C-31DB-D62A-FCBC-FE2F9127A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10515600" cy="4791075"/>
          </a:xfrm>
        </p:spPr>
        <p:txBody>
          <a:bodyPr/>
          <a:lstStyle/>
          <a:p>
            <a:r>
              <a:rPr lang="en-US" dirty="0"/>
              <a:t>Nigrescens</a:t>
            </a:r>
          </a:p>
          <a:p>
            <a:r>
              <a:rPr lang="en-US" dirty="0"/>
              <a:t>Virescens</a:t>
            </a:r>
          </a:p>
          <a:p>
            <a:r>
              <a:rPr lang="en-US" dirty="0"/>
              <a:t>Albescens</a:t>
            </a:r>
          </a:p>
          <a:p>
            <a:r>
              <a:rPr lang="en-US" dirty="0"/>
              <a:t>Mantled fruits</a:t>
            </a:r>
          </a:p>
          <a:p>
            <a:r>
              <a:rPr lang="en-US" dirty="0" err="1"/>
              <a:t>Parthenocarpic</a:t>
            </a:r>
            <a:r>
              <a:rPr lang="en-US" dirty="0"/>
              <a:t> fruits</a:t>
            </a:r>
          </a:p>
          <a:p>
            <a:pPr marL="0" indent="0">
              <a:buNone/>
            </a:pPr>
            <a:r>
              <a:rPr lang="en-US" dirty="0"/>
              <a:t>                                           </a:t>
            </a:r>
            <a:r>
              <a:rPr lang="en-US" dirty="0">
                <a:solidFill>
                  <a:srgbClr val="7030A0"/>
                </a:solidFill>
              </a:rPr>
              <a:t>Varieties (Species Types)</a:t>
            </a:r>
          </a:p>
          <a:p>
            <a:r>
              <a:rPr lang="en-US" dirty="0"/>
              <a:t>Dura – thick shell</a:t>
            </a:r>
          </a:p>
          <a:p>
            <a:r>
              <a:rPr lang="en-US" dirty="0" err="1"/>
              <a:t>Pisifera</a:t>
            </a:r>
            <a:r>
              <a:rPr lang="en-US" dirty="0"/>
              <a:t> – thin/no shell</a:t>
            </a:r>
          </a:p>
          <a:p>
            <a:r>
              <a:rPr lang="en-US" dirty="0"/>
              <a:t>Tenera – high oil yield (recommended)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906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3979F5-08DE-21DD-208B-2EE0B23F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Cropping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34B3FF-AD1B-F82C-DCB3-AAFCC15CD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Intercrop with cassava, maize, melon, sweet potato (first 4 years)</a:t>
            </a:r>
          </a:p>
          <a:p>
            <a:r>
              <a:rPr lang="en-US" dirty="0"/>
              <a:t>Improves income</a:t>
            </a:r>
          </a:p>
          <a:p>
            <a:r>
              <a:rPr lang="en-US" dirty="0"/>
              <a:t>Supports better farm management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71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85898D-1D37-4DCE-D077-22B724A5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99D5B5-CCAE-33FA-4CB0-7FED4C04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71F10-1337-8C08-0AC2-4050A41E4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456565"/>
            <a:ext cx="9791700" cy="604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18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5F3B-30B2-72EA-CA18-5741D373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95DB8-2A96-A008-C521-6D83674B6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Oil palm is a major tropical oil crop</a:t>
            </a:r>
          </a:p>
          <a:p>
            <a:r>
              <a:rPr lang="en-US" dirty="0"/>
              <a:t>Requires proper nursery &amp; field management</a:t>
            </a:r>
          </a:p>
          <a:p>
            <a:r>
              <a:rPr lang="en-US" dirty="0"/>
              <a:t>Timely harvesting improves yield</a:t>
            </a:r>
          </a:p>
          <a:p>
            <a:r>
              <a:rPr lang="en-US" dirty="0"/>
              <a:t>Produces valuable industrial by‑products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72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CODe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8773</TotalTime>
  <Words>440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Montserrat</vt:lpstr>
      <vt:lpstr>CCODeL Theme</vt:lpstr>
      <vt:lpstr>PowerPoint Presentation</vt:lpstr>
      <vt:lpstr>Oil Palm Cultivation</vt:lpstr>
      <vt:lpstr>Learning Objectives</vt:lpstr>
      <vt:lpstr>Environmental Requirements</vt:lpstr>
      <vt:lpstr>Stages of Cultivation</vt:lpstr>
      <vt:lpstr>                      Propagation</vt:lpstr>
      <vt:lpstr>Field Establishment</vt:lpstr>
      <vt:lpstr>Common Pests and Diseases</vt:lpstr>
      <vt:lpstr>                     Harvesting</vt:lpstr>
      <vt:lpstr>                Oil Palm Products</vt:lpstr>
      <vt:lpstr>                       Fruit Types</vt:lpstr>
      <vt:lpstr>Cropping System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Mayowa Agboola</dc:creator>
  <cp:lastModifiedBy>Dell</cp:lastModifiedBy>
  <cp:revision>17</cp:revision>
  <dcterms:created xsi:type="dcterms:W3CDTF">2023-12-11T12:53:11Z</dcterms:created>
  <dcterms:modified xsi:type="dcterms:W3CDTF">2026-05-10T22:13:53Z</dcterms:modified>
</cp:coreProperties>
</file>