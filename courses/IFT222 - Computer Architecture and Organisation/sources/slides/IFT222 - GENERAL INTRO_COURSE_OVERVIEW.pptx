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0"/>
  </p:notesMasterIdLst>
  <p:handoutMasterIdLst>
    <p:handoutMasterId r:id="rId61"/>
  </p:handoutMasterIdLst>
  <p:sldIdLst>
    <p:sldId id="313" r:id="rId3"/>
    <p:sldId id="323" r:id="rId4"/>
    <p:sldId id="387" r:id="rId5"/>
    <p:sldId id="325" r:id="rId6"/>
    <p:sldId id="389" r:id="rId7"/>
    <p:sldId id="390" r:id="rId8"/>
    <p:sldId id="391" r:id="rId9"/>
    <p:sldId id="384" r:id="rId10"/>
    <p:sldId id="388" r:id="rId11"/>
    <p:sldId id="393" r:id="rId12"/>
    <p:sldId id="392" r:id="rId13"/>
    <p:sldId id="394" r:id="rId14"/>
    <p:sldId id="395" r:id="rId15"/>
    <p:sldId id="396" r:id="rId16"/>
    <p:sldId id="426" r:id="rId17"/>
    <p:sldId id="397" r:id="rId18"/>
    <p:sldId id="398" r:id="rId19"/>
    <p:sldId id="399" r:id="rId20"/>
    <p:sldId id="400" r:id="rId21"/>
    <p:sldId id="401" r:id="rId22"/>
    <p:sldId id="402" r:id="rId23"/>
    <p:sldId id="403" r:id="rId24"/>
    <p:sldId id="404" r:id="rId25"/>
    <p:sldId id="405" r:id="rId26"/>
    <p:sldId id="406" r:id="rId27"/>
    <p:sldId id="407" r:id="rId28"/>
    <p:sldId id="408" r:id="rId29"/>
    <p:sldId id="409" r:id="rId30"/>
    <p:sldId id="410" r:id="rId31"/>
    <p:sldId id="411" r:id="rId32"/>
    <p:sldId id="412" r:id="rId33"/>
    <p:sldId id="413" r:id="rId34"/>
    <p:sldId id="414" r:id="rId35"/>
    <p:sldId id="415" r:id="rId36"/>
    <p:sldId id="416" r:id="rId37"/>
    <p:sldId id="417" r:id="rId38"/>
    <p:sldId id="418" r:id="rId39"/>
    <p:sldId id="419" r:id="rId40"/>
    <p:sldId id="420" r:id="rId41"/>
    <p:sldId id="421" r:id="rId42"/>
    <p:sldId id="422" r:id="rId43"/>
    <p:sldId id="423" r:id="rId44"/>
    <p:sldId id="424" r:id="rId45"/>
    <p:sldId id="425" r:id="rId46"/>
    <p:sldId id="427" r:id="rId47"/>
    <p:sldId id="428" r:id="rId48"/>
    <p:sldId id="429" r:id="rId49"/>
    <p:sldId id="430" r:id="rId50"/>
    <p:sldId id="431" r:id="rId51"/>
    <p:sldId id="432" r:id="rId52"/>
    <p:sldId id="433" r:id="rId53"/>
    <p:sldId id="434" r:id="rId54"/>
    <p:sldId id="435" r:id="rId55"/>
    <p:sldId id="436" r:id="rId56"/>
    <p:sldId id="437" r:id="rId57"/>
    <p:sldId id="438" r:id="rId58"/>
    <p:sldId id="377" r:id="rId59"/>
  </p:sldIdLst>
  <p:sldSz cx="12195175"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11ED"/>
    <a:srgbClr val="7A0000"/>
    <a:srgbClr val="003399"/>
    <a:srgbClr val="FFFFFF"/>
    <a:srgbClr val="DDDDDD"/>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3250" autoAdjust="0"/>
  </p:normalViewPr>
  <p:slideViewPr>
    <p:cSldViewPr>
      <p:cViewPr>
        <p:scale>
          <a:sx n="70" d="100"/>
          <a:sy n="70" d="100"/>
        </p:scale>
        <p:origin x="648" y="48"/>
      </p:cViewPr>
      <p:guideLst>
        <p:guide orient="horz" pos="2160"/>
        <p:guide pos="38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22F73B2-7CF1-4832-BF09-2E3D082F4856}" type="datetimeFigureOut">
              <a:rPr lang="en-US" smtClean="0"/>
              <a:pPr/>
              <a:t>5/29/2026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702B329-9B4F-43B9-920A-39268306AFA7}" type="slidenum">
              <a:rPr lang="en-US" smtClean="0"/>
              <a:pPr/>
              <a:t>‹#›</a:t>
            </a:fld>
            <a:endParaRPr lang="en-US"/>
          </a:p>
        </p:txBody>
      </p:sp>
    </p:spTree>
    <p:extLst>
      <p:ext uri="{BB962C8B-B14F-4D97-AF65-F5344CB8AC3E}">
        <p14:creationId xmlns:p14="http://schemas.microsoft.com/office/powerpoint/2010/main" val="1714263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GB"/>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EDA5C1-9818-47C9-A79E-B4D4158DD3E3}" type="datetimeFigureOut">
              <a:rPr lang="en-GB" smtClean="0"/>
              <a:pPr/>
              <a:t>29/05/2026</a:t>
            </a:fld>
            <a:endParaRPr lang="en-GB"/>
          </a:p>
        </p:txBody>
      </p:sp>
      <p:sp>
        <p:nvSpPr>
          <p:cNvPr id="4" name="Slide Image Placeholder 3"/>
          <p:cNvSpPr>
            <a:spLocks noGrp="1" noRot="1" noChangeAspect="1"/>
          </p:cNvSpPr>
          <p:nvPr>
            <p:ph type="sldImg" idx="2"/>
          </p:nvPr>
        </p:nvSpPr>
        <p:spPr>
          <a:xfrm>
            <a:off x="404813" y="696913"/>
            <a:ext cx="6200775" cy="3486150"/>
          </a:xfrm>
          <a:prstGeom prst="rect">
            <a:avLst/>
          </a:prstGeom>
          <a:noFill/>
          <a:ln w="12700">
            <a:solidFill>
              <a:prstClr val="black"/>
            </a:solidFill>
          </a:ln>
        </p:spPr>
        <p:txBody>
          <a:bodyPr vert="horz" lIns="93177" tIns="46589" rIns="93177" bIns="46589" rtlCol="0" anchor="ctr"/>
          <a:lstStyle/>
          <a:p>
            <a:endParaRPr lang="en-GB"/>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GB"/>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D498802-2017-4E9A-A8AF-781802F703C5}" type="slidenum">
              <a:rPr lang="en-GB" smtClean="0"/>
              <a:pPr/>
              <a:t>‹#›</a:t>
            </a:fld>
            <a:endParaRPr lang="en-GB"/>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45C4CCD0-7B21-4367-A13A-889F04172198}" type="slidenum">
              <a:rPr lang="en-US" smtClean="0">
                <a:latin typeface="Arial" pitchFamily="34" charset="0"/>
              </a:rPr>
              <a:pPr/>
              <a:t>1</a:t>
            </a:fld>
            <a:endParaRPr lang="en-US">
              <a:latin typeface="Arial"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D498802-2017-4E9A-A8AF-781802F703C5}" type="slidenum">
              <a:rPr lang="en-GB" smtClean="0"/>
              <a:pPr/>
              <a:t>46</a:t>
            </a:fld>
            <a:endParaRPr lang="en-GB"/>
          </a:p>
        </p:txBody>
      </p:sp>
    </p:spTree>
    <p:extLst>
      <p:ext uri="{BB962C8B-B14F-4D97-AF65-F5344CB8AC3E}">
        <p14:creationId xmlns:p14="http://schemas.microsoft.com/office/powerpoint/2010/main" val="32030943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841003" y="570166"/>
            <a:ext cx="743452" cy="792088"/>
          </a:xfrm>
          <a:prstGeom prst="rect">
            <a:avLst/>
          </a:prstGeom>
          <a:noFill/>
        </p:spPr>
      </p:pic>
      <p:sp>
        <p:nvSpPr>
          <p:cNvPr id="9" name="TextBox 8"/>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10" name="Picture 2" descr="C:\Users\Ours\Desktop\Picture3.png"/>
          <p:cNvPicPr>
            <a:picLocks noChangeAspect="1" noChangeArrowheads="1"/>
          </p:cNvPicPr>
          <p:nvPr userDrawn="1"/>
        </p:nvPicPr>
        <p:blipFill>
          <a:blip r:embed="rId4" cstate="print"/>
          <a:srcRect/>
          <a:stretch>
            <a:fillRect/>
          </a:stretch>
        </p:blipFill>
        <p:spPr bwMode="auto">
          <a:xfrm>
            <a:off x="1345059" y="570169"/>
            <a:ext cx="4608512" cy="743775"/>
          </a:xfrm>
          <a:prstGeom prst="rect">
            <a:avLst/>
          </a:prstGeom>
          <a:noFill/>
        </p:spPr>
      </p:pic>
      <p:sp>
        <p:nvSpPr>
          <p:cNvPr id="2" name="Title 1"/>
          <p:cNvSpPr>
            <a:spLocks noGrp="1"/>
          </p:cNvSpPr>
          <p:nvPr>
            <p:ph type="ctrTitle"/>
          </p:nvPr>
        </p:nvSpPr>
        <p:spPr>
          <a:xfrm>
            <a:off x="914403" y="1844828"/>
            <a:ext cx="10366375" cy="2448271"/>
          </a:xfrm>
          <a:solidFill>
            <a:srgbClr val="660033">
              <a:alpha val="61961"/>
            </a:srgbClr>
          </a:solidFill>
        </p:spPr>
        <p:txBody>
          <a:bodyPr>
            <a:noAutofit/>
          </a:bodyPr>
          <a:lstStyle>
            <a:lvl1pPr>
              <a:defRPr sz="5400" b="0">
                <a:solidFill>
                  <a:schemeClr val="bg1"/>
                </a:solidFill>
                <a:latin typeface="Rockwell" pitchFamily="18"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828800" y="4509120"/>
            <a:ext cx="8537575" cy="1752600"/>
          </a:xfrm>
          <a:solidFill>
            <a:srgbClr val="FFFFFF">
              <a:alpha val="74118"/>
            </a:srgbClr>
          </a:solidFill>
        </p:spPr>
        <p:txBody>
          <a:bodyPr>
            <a:normAutofit/>
          </a:bodyPr>
          <a:lstStyle>
            <a:lvl1pPr marL="0" indent="0" algn="ctr">
              <a:buNone/>
              <a:defRPr sz="3600">
                <a:solidFill>
                  <a:schemeClr val="tx1"/>
                </a:solidFill>
                <a:latin typeface="Rockwell"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11" name="TextBox 10"/>
          <p:cNvSpPr txBox="1"/>
          <p:nvPr userDrawn="1"/>
        </p:nvSpPr>
        <p:spPr>
          <a:xfrm>
            <a:off x="1633093" y="1074222"/>
            <a:ext cx="3220653" cy="338554"/>
          </a:xfrm>
          <a:prstGeom prst="rect">
            <a:avLst/>
          </a:prstGeom>
          <a:noFill/>
        </p:spPr>
        <p:txBody>
          <a:bodyPr wrap="none" rtlCol="0">
            <a:spAutoFit/>
          </a:bodyPr>
          <a:lstStyle/>
          <a:p>
            <a:r>
              <a:rPr lang="en-US" sz="1600" dirty="0">
                <a:solidFill>
                  <a:srgbClr val="662C5B"/>
                </a:solidFill>
              </a:rPr>
              <a:t>Raising a new Generation of Leaders</a:t>
            </a:r>
            <a:endParaRPr lang="en-GB" sz="1600" dirty="0">
              <a:solidFill>
                <a:srgbClr val="662C5B"/>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264941" y="548680"/>
            <a:ext cx="1216557" cy="1296144"/>
          </a:xfrm>
          <a:prstGeom prst="rect">
            <a:avLst/>
          </a:prstGeom>
          <a:noFill/>
        </p:spPr>
      </p:pic>
      <p:sp>
        <p:nvSpPr>
          <p:cNvPr id="10" name="Title 1"/>
          <p:cNvSpPr>
            <a:spLocks noGrp="1"/>
          </p:cNvSpPr>
          <p:nvPr userDrawn="1">
            <p:ph type="ctrTitle"/>
          </p:nvPr>
        </p:nvSpPr>
        <p:spPr>
          <a:xfrm>
            <a:off x="914638" y="2204865"/>
            <a:ext cx="10365899" cy="2520280"/>
          </a:xfrm>
          <a:solidFill>
            <a:srgbClr val="CC3399">
              <a:alpha val="83137"/>
            </a:srgbClr>
          </a:solidFill>
        </p:spPr>
        <p:txBody>
          <a:bodyPr>
            <a:normAutofit/>
          </a:bodyPr>
          <a:lstStyle/>
          <a:p>
            <a:endParaRPr lang="en-GB" sz="6600" b="1" dirty="0">
              <a:solidFill>
                <a:schemeClr val="bg1"/>
              </a:solidFill>
              <a:latin typeface="Rockwell" pitchFamily="18" charset="0"/>
            </a:endParaRPr>
          </a:p>
        </p:txBody>
      </p:sp>
      <p:sp>
        <p:nvSpPr>
          <p:cNvPr id="11" name="Subtitle 2"/>
          <p:cNvSpPr>
            <a:spLocks noGrp="1"/>
          </p:cNvSpPr>
          <p:nvPr userDrawn="1">
            <p:ph type="subTitle" idx="1"/>
          </p:nvPr>
        </p:nvSpPr>
        <p:spPr>
          <a:xfrm>
            <a:off x="1705101"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345059" y="1268760"/>
            <a:ext cx="3979650" cy="400110"/>
          </a:xfrm>
          <a:prstGeom prst="rect">
            <a:avLst/>
          </a:prstGeom>
          <a:noFill/>
        </p:spPr>
        <p:txBody>
          <a:bodyPr wrap="none" rtlCol="0">
            <a:spAutoFit/>
          </a:bodyPr>
          <a:lstStyle/>
          <a:p>
            <a:r>
              <a:rPr lang="en-US" sz="2000" dirty="0">
                <a:solidFill>
                  <a:srgbClr val="662C5B"/>
                </a:solidFill>
              </a:rPr>
              <a:t>Raising a new Generation of Leaders</a:t>
            </a:r>
            <a:endParaRPr lang="en-GB" sz="2000" dirty="0">
              <a:solidFill>
                <a:srgbClr val="662C5B"/>
              </a:solidFill>
            </a:endParaRPr>
          </a:p>
        </p:txBody>
      </p:sp>
      <p:sp>
        <p:nvSpPr>
          <p:cNvPr id="14" name="TextBox 13"/>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1129035" y="692700"/>
            <a:ext cx="5065714" cy="81756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963" y="153144"/>
            <a:ext cx="11714212" cy="1115616"/>
          </a:xfrm>
          <a:solidFill>
            <a:schemeClr val="bg1"/>
          </a:solidFill>
          <a:ln w="57150">
            <a:noFill/>
          </a:ln>
        </p:spPr>
        <p:txBody>
          <a:bodyPr>
            <a:normAutofit/>
          </a:bodyPr>
          <a:lstStyle>
            <a:lvl1pPr algn="ctr">
              <a:defRPr sz="4000" b="1">
                <a:solidFill>
                  <a:srgbClr val="FF0000"/>
                </a:solidFill>
                <a:latin typeface="Rockwell" pitchFamily="18" charset="0"/>
                <a:cs typeface="Times New Roman" pitchFamily="18" charset="0"/>
              </a:defRPr>
            </a:lvl1pPr>
          </a:lstStyle>
          <a:p>
            <a:r>
              <a:rPr lang="en-US" dirty="0"/>
              <a:t>Click to edit master title style</a:t>
            </a:r>
            <a:endParaRPr lang="en-GB" dirty="0"/>
          </a:p>
        </p:txBody>
      </p:sp>
      <p:sp>
        <p:nvSpPr>
          <p:cNvPr id="4" name="Date Placeholder 3"/>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2" y="6309320"/>
            <a:ext cx="12195173" cy="773752"/>
          </a:xfrm>
          <a:prstGeom prst="rect">
            <a:avLst/>
          </a:prstGeom>
          <a:noFill/>
        </p:spPr>
      </p:pic>
      <p:sp>
        <p:nvSpPr>
          <p:cNvPr id="8" name="Slide Number Placeholder 5"/>
          <p:cNvSpPr txBox="1">
            <a:spLocks/>
          </p:cNvSpPr>
          <p:nvPr userDrawn="1"/>
        </p:nvSpPr>
        <p:spPr>
          <a:xfrm>
            <a:off x="10778109" y="6336704"/>
            <a:ext cx="1045349" cy="548680"/>
          </a:xfrm>
          <a:prstGeom prst="rect">
            <a:avLst/>
          </a:prstGeom>
          <a:solidFill>
            <a:srgbClr val="F7F7F7">
              <a:alpha val="45098"/>
            </a:srgbClr>
          </a:solidFill>
        </p:spPr>
        <p:txBody>
          <a:bodyPr vert="horz" lIns="91440" tIns="45720" rIns="91440" bIns="45720" rtlCol="0" anchor="ctr"/>
          <a:lstStyle>
            <a:lvl1pPr>
              <a:defRPr sz="1400" b="1">
                <a:solidFill>
                  <a:schemeClr val="tx1">
                    <a:lumMod val="95000"/>
                    <a:lumOff val="5000"/>
                  </a:schemeClr>
                </a:solidFill>
                <a:latin typeface="Georgia"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800"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2800"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44016" y="6363534"/>
            <a:ext cx="624979" cy="665866"/>
          </a:xfrm>
          <a:prstGeom prst="rect">
            <a:avLst/>
          </a:prstGeom>
          <a:noFill/>
        </p:spPr>
      </p:pic>
      <p:sp>
        <p:nvSpPr>
          <p:cNvPr id="3" name="Content Placeholder 2"/>
          <p:cNvSpPr>
            <a:spLocks noGrp="1"/>
          </p:cNvSpPr>
          <p:nvPr>
            <p:ph idx="1"/>
          </p:nvPr>
        </p:nvSpPr>
        <p:spPr>
          <a:xfrm>
            <a:off x="239412" y="1412776"/>
            <a:ext cx="11716352" cy="4824536"/>
          </a:xfrm>
          <a:solidFill>
            <a:schemeClr val="bg1"/>
          </a:solidFill>
          <a:ln>
            <a:noFill/>
          </a:ln>
        </p:spPr>
        <p:txBody>
          <a:bodyPr>
            <a:normAutofit/>
          </a:bodyPr>
          <a:lstStyle>
            <a:lvl1pPr>
              <a:lnSpc>
                <a:spcPct val="100000"/>
              </a:lnSpc>
              <a:spcBef>
                <a:spcPts val="500"/>
              </a:spcBef>
              <a:spcAft>
                <a:spcPts val="500"/>
              </a:spcAft>
              <a:defRPr sz="2800">
                <a:solidFill>
                  <a:srgbClr val="003399"/>
                </a:solidFill>
                <a:latin typeface="Rockwell" pitchFamily="18" charset="0"/>
              </a:defRPr>
            </a:lvl1pPr>
            <a:lvl2pPr>
              <a:lnSpc>
                <a:spcPct val="100000"/>
              </a:lnSpc>
              <a:spcBef>
                <a:spcPts val="500"/>
              </a:spcBef>
              <a:spcAft>
                <a:spcPts val="500"/>
              </a:spcAft>
              <a:buFont typeface="Wingdings" pitchFamily="2" charset="2"/>
              <a:buChar char="§"/>
              <a:defRPr sz="2400">
                <a:solidFill>
                  <a:srgbClr val="7A0000"/>
                </a:solidFill>
                <a:latin typeface="Rockwell" pitchFamily="18" charset="0"/>
              </a:defRPr>
            </a:lvl2pPr>
            <a:lvl3pPr>
              <a:lnSpc>
                <a:spcPct val="100000"/>
              </a:lnSpc>
              <a:spcBef>
                <a:spcPts val="500"/>
              </a:spcBef>
              <a:spcAft>
                <a:spcPts val="500"/>
              </a:spcAft>
              <a:buFont typeface="Calibri" pitchFamily="34" charset="0"/>
              <a:buChar char="‒"/>
              <a:defRPr sz="2000">
                <a:solidFill>
                  <a:schemeClr val="accent4">
                    <a:lumMod val="50000"/>
                  </a:schemeClr>
                </a:solidFill>
                <a:latin typeface="Rockwell" pitchFamily="18" charset="0"/>
              </a:defRPr>
            </a:lvl3pPr>
            <a:lvl4pPr>
              <a:lnSpc>
                <a:spcPct val="100000"/>
              </a:lnSpc>
              <a:spcBef>
                <a:spcPts val="500"/>
              </a:spcBef>
              <a:spcAft>
                <a:spcPts val="500"/>
              </a:spcAft>
              <a:buFont typeface="Arial" pitchFamily="34" charset="0"/>
              <a:buChar char="•"/>
              <a:defRPr sz="2800">
                <a:latin typeface="Rockwell" pitchFamily="18" charset="0"/>
              </a:defRPr>
            </a:lvl4pPr>
            <a:lvl5pPr>
              <a:lnSpc>
                <a:spcPct val="100000"/>
              </a:lnSpc>
              <a:spcBef>
                <a:spcPts val="500"/>
              </a:spcBef>
              <a:spcAft>
                <a:spcPts val="500"/>
              </a:spcAft>
              <a:defRPr sz="2800">
                <a:latin typeface="Rockwell"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26" name="Picture 2" descr="C:\Users\Ours\Desktop\Picture1.png"/>
          <p:cNvPicPr>
            <a:picLocks noChangeAspect="1" noChangeArrowheads="1"/>
          </p:cNvPicPr>
          <p:nvPr userDrawn="1"/>
        </p:nvPicPr>
        <p:blipFill>
          <a:blip r:embed="rId4" cstate="print"/>
          <a:srcRect/>
          <a:stretch>
            <a:fillRect/>
          </a:stretch>
        </p:blipFill>
        <p:spPr bwMode="auto">
          <a:xfrm>
            <a:off x="552972" y="6317328"/>
            <a:ext cx="5976665" cy="640064"/>
          </a:xfrm>
          <a:prstGeom prst="rect">
            <a:avLst/>
          </a:prstGeom>
          <a:noFill/>
        </p:spPr>
      </p:pic>
      <p:sp>
        <p:nvSpPr>
          <p:cNvPr id="13" name="TextBox 12"/>
          <p:cNvSpPr txBox="1"/>
          <p:nvPr userDrawn="1"/>
        </p:nvSpPr>
        <p:spPr>
          <a:xfrm>
            <a:off x="724026" y="6707435"/>
            <a:ext cx="2215495" cy="276999"/>
          </a:xfrm>
          <a:prstGeom prst="rect">
            <a:avLst/>
          </a:prstGeom>
          <a:noFill/>
        </p:spPr>
        <p:txBody>
          <a:bodyPr wrap="none" rtlCol="0">
            <a:spAutoFit/>
          </a:bodyPr>
          <a:lstStyle/>
          <a:p>
            <a:r>
              <a:rPr lang="en-US" sz="1200" dirty="0"/>
              <a:t>www.covenantuniversity.edu.ng</a:t>
            </a:r>
            <a:endParaRPr lang="en-GB" sz="1200" dirty="0"/>
          </a:p>
        </p:txBody>
      </p:sp>
      <p:cxnSp>
        <p:nvCxnSpPr>
          <p:cNvPr id="19" name="Straight Connector 18"/>
          <p:cNvCxnSpPr/>
          <p:nvPr userDrawn="1"/>
        </p:nvCxnSpPr>
        <p:spPr>
          <a:xfrm flipV="1">
            <a:off x="8689876" y="1340768"/>
            <a:ext cx="1800001"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1" name="Straight Connector 20"/>
          <p:cNvCxnSpPr/>
          <p:nvPr userDrawn="1"/>
        </p:nvCxnSpPr>
        <p:spPr>
          <a:xfrm flipV="1">
            <a:off x="10526061" y="1340768"/>
            <a:ext cx="71999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userDrawn="1"/>
        </p:nvCxnSpPr>
        <p:spPr>
          <a:xfrm flipV="1">
            <a:off x="11282245" y="1340768"/>
            <a:ext cx="71999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6905"/>
            <a:ext cx="10365899"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336"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759"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214"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62" y="273050"/>
            <a:ext cx="4012129"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974" y="273055"/>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762" y="143510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0600"/>
            <a:ext cx="7317105"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341"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643"/>
            <a:ext cx="274391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759" y="274643"/>
            <a:ext cx="802849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462E69B-9B3B-437C-9ADF-D56F423A0581}"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3" y="2130429"/>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5" y="4406904"/>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5"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2"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4"/>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2"/>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2"/>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29/05/2026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759" y="1600205"/>
            <a:ext cx="1097565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760" y="6356355"/>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62E69B-9B3B-437C-9ADF-D56F423A0581}" type="datetimeFigureOut">
              <a:rPr lang="en-GB" smtClean="0"/>
              <a:pPr/>
              <a:t>29/05/2026</a:t>
            </a:fld>
            <a:endParaRPr lang="en-GB"/>
          </a:p>
        </p:txBody>
      </p:sp>
      <p:sp>
        <p:nvSpPr>
          <p:cNvPr id="5" name="Footer Placeholder 4"/>
          <p:cNvSpPr>
            <a:spLocks noGrp="1"/>
          </p:cNvSpPr>
          <p:nvPr>
            <p:ph type="ftr" sz="quarter" idx="3"/>
          </p:nvPr>
        </p:nvSpPr>
        <p:spPr>
          <a:xfrm>
            <a:off x="4166685" y="6356355"/>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875" y="6356355"/>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DFEC63-AC9E-491C-B008-E83D881192CD}"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2"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5975"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4"/>
            <a:ext cx="10975975"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2" y="6356354"/>
            <a:ext cx="284638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A4263-B01D-4F49-B558-EEB448DAF4C2}" type="datetimeFigureOut">
              <a:rPr lang="en-GB" smtClean="0"/>
              <a:pPr/>
              <a:t>29/05/2026</a:t>
            </a:fld>
            <a:endParaRPr lang="en-GB"/>
          </a:p>
        </p:txBody>
      </p:sp>
      <p:sp>
        <p:nvSpPr>
          <p:cNvPr id="5" name="Footer Placeholder 4"/>
          <p:cNvSpPr>
            <a:spLocks noGrp="1"/>
          </p:cNvSpPr>
          <p:nvPr>
            <p:ph type="ftr" sz="quarter" idx="3"/>
          </p:nvPr>
        </p:nvSpPr>
        <p:spPr>
          <a:xfrm>
            <a:off x="4167188" y="6356354"/>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189" y="6356354"/>
            <a:ext cx="28463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BBD965-F460-422A-A842-9BE9972FC43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ctrTitle" idx="4294967295"/>
          </p:nvPr>
        </p:nvSpPr>
        <p:spPr>
          <a:xfrm>
            <a:off x="687387" y="2438400"/>
            <a:ext cx="10820400" cy="1524000"/>
          </a:xfrm>
          <a:solidFill>
            <a:schemeClr val="accent5">
              <a:lumMod val="20000"/>
              <a:lumOff val="80000"/>
            </a:schemeClr>
          </a:solidFill>
        </p:spPr>
        <p:txBody>
          <a:bodyPr>
            <a:noAutofit/>
          </a:bodyPr>
          <a:lstStyle/>
          <a:p>
            <a:pPr algn="ctr">
              <a:defRPr/>
            </a:pPr>
            <a:r>
              <a:rPr lang="en-US" b="1" dirty="0"/>
              <a:t>IFT222</a:t>
            </a:r>
            <a:br>
              <a:rPr lang="en-US" b="1" dirty="0"/>
            </a:br>
            <a:r>
              <a:rPr lang="en-US" b="1" dirty="0"/>
              <a:t>Computer Architecture and Organization</a:t>
            </a:r>
            <a:endParaRPr lang="en-US" sz="5400" b="1" dirty="0"/>
          </a:p>
        </p:txBody>
      </p:sp>
      <p:sp>
        <p:nvSpPr>
          <p:cNvPr id="15363" name="Rectangle 7"/>
          <p:cNvSpPr>
            <a:spLocks noGrp="1" noChangeArrowheads="1"/>
          </p:cNvSpPr>
          <p:nvPr>
            <p:ph type="subTitle" idx="4294967295"/>
          </p:nvPr>
        </p:nvSpPr>
        <p:spPr>
          <a:xfrm>
            <a:off x="1068387" y="4343400"/>
            <a:ext cx="10058400" cy="1447800"/>
          </a:xfrm>
          <a:solidFill>
            <a:srgbClr val="92D050"/>
          </a:solidFill>
        </p:spPr>
        <p:txBody>
          <a:bodyPr>
            <a:noAutofit/>
          </a:bodyPr>
          <a:lstStyle/>
          <a:p>
            <a:pPr marL="0" indent="0" algn="ctr">
              <a:buFont typeface="Wingdings" pitchFamily="2" charset="2"/>
              <a:buNone/>
            </a:pPr>
            <a:r>
              <a:rPr lang="en-US" sz="4000" b="1" dirty="0"/>
              <a:t>COURSE OVERVIEW &amp; GENERAL INTRODUCTION</a:t>
            </a:r>
          </a:p>
        </p:txBody>
      </p:sp>
      <p:pic>
        <p:nvPicPr>
          <p:cNvPr id="15364" name="Picture 3" descr="C:\Users\AZUBUIKE-REBIRTH\Desktop\logo.png"/>
          <p:cNvPicPr>
            <a:picLocks noChangeAspect="1" noChangeArrowheads="1"/>
          </p:cNvPicPr>
          <p:nvPr/>
        </p:nvPicPr>
        <p:blipFill>
          <a:blip r:embed="rId3" cstate="print"/>
          <a:srcRect/>
          <a:stretch>
            <a:fillRect/>
          </a:stretch>
        </p:blipFill>
        <p:spPr bwMode="auto">
          <a:xfrm>
            <a:off x="4890774" y="304800"/>
            <a:ext cx="1909731" cy="1524000"/>
          </a:xfrm>
          <a:prstGeom prst="rect">
            <a:avLst/>
          </a:prstGeom>
          <a:noFill/>
          <a:ln w="9525">
            <a:noFill/>
            <a:miter lim="800000"/>
            <a:headEnd/>
            <a:tailEnd/>
          </a:ln>
        </p:spPr>
      </p:pic>
      <p:sp>
        <p:nvSpPr>
          <p:cNvPr id="5" name="Title 1"/>
          <p:cNvSpPr txBox="1">
            <a:spLocks/>
          </p:cNvSpPr>
          <p:nvPr/>
        </p:nvSpPr>
        <p:spPr>
          <a:xfrm>
            <a:off x="914638" y="1752600"/>
            <a:ext cx="10365899" cy="457200"/>
          </a:xfrm>
          <a:prstGeom prst="rect">
            <a:avLst/>
          </a:prstGeom>
        </p:spPr>
        <p:txBody>
          <a:bodyPr anchor="ctr">
            <a:normAutofit/>
          </a:bodyPr>
          <a:lstStyle>
            <a:lvl1pPr>
              <a:defRPr b="1"/>
            </a:lvl1pPr>
          </a:lstStyle>
          <a:p>
            <a:pPr algn="ctr" fontAlgn="auto">
              <a:spcAft>
                <a:spcPts val="0"/>
              </a:spcAft>
              <a:defRPr/>
            </a:pPr>
            <a:r>
              <a:rPr lang="en-US" sz="2400" i="1" dirty="0">
                <a:solidFill>
                  <a:srgbClr val="C00000"/>
                </a:solidFill>
                <a:latin typeface="Calibri"/>
                <a:ea typeface="+mj-ea"/>
                <a:cs typeface="+mj-cs"/>
              </a:rPr>
              <a:t>Department of Computer and Information Sciences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143159" y="1447800"/>
            <a:ext cx="9907428" cy="2514600"/>
          </a:xfrm>
        </p:spPr>
        <p:txBody>
          <a:bodyPr>
            <a:noAutofit/>
          </a:bodyPr>
          <a:lstStyle/>
          <a:p>
            <a:pPr algn="ctr">
              <a:buFont typeface="Wingdings" pitchFamily="2" charset="2"/>
              <a:buNone/>
            </a:pPr>
            <a:r>
              <a:rPr lang="en-US" sz="4400" b="1" dirty="0">
                <a:solidFill>
                  <a:srgbClr val="FF0000"/>
                </a:solidFill>
              </a:rPr>
              <a:t>Module1: </a:t>
            </a:r>
          </a:p>
          <a:p>
            <a:pPr algn="ctr">
              <a:buFont typeface="Wingdings" pitchFamily="2" charset="2"/>
              <a:buNone/>
            </a:pPr>
            <a:r>
              <a:rPr lang="en-US" sz="4400" b="1" dirty="0">
                <a:solidFill>
                  <a:srgbClr val="FF0000"/>
                </a:solidFill>
              </a:rPr>
              <a:t>Basic Concepts and Computer Evolution</a:t>
            </a:r>
          </a:p>
        </p:txBody>
      </p:sp>
      <p:sp>
        <p:nvSpPr>
          <p:cNvPr id="25603" name="Slide Number Placeholder 3"/>
          <p:cNvSpPr>
            <a:spLocks noGrp="1"/>
          </p:cNvSpPr>
          <p:nvPr>
            <p:ph type="sldNum" sz="quarter" idx="4294967295"/>
          </p:nvPr>
        </p:nvSpPr>
        <p:spPr>
          <a:xfrm>
            <a:off x="8739875" y="6248400"/>
            <a:ext cx="2845541" cy="457200"/>
          </a:xfrm>
          <a:prstGeom prst="rect">
            <a:avLst/>
          </a:prstGeom>
          <a:noFill/>
        </p:spPr>
        <p:txBody>
          <a:bodyPr/>
          <a:lstStyle/>
          <a:p>
            <a:fld id="{13DD4E31-292C-4F03-B517-C4A127A1654C}" type="slidenum">
              <a:rPr lang="en-US" smtClean="0">
                <a:latin typeface="Arial" pitchFamily="34" charset="0"/>
              </a:rPr>
              <a:pPr/>
              <a:t>2</a:t>
            </a:fld>
            <a:endParaRPr lang="en-US">
              <a:latin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143873" y="2514600"/>
            <a:ext cx="9907428" cy="838200"/>
          </a:xfrm>
        </p:spPr>
        <p:txBody>
          <a:bodyPr>
            <a:noAutofit/>
          </a:bodyPr>
          <a:lstStyle/>
          <a:p>
            <a:pPr algn="ctr">
              <a:buFont typeface="Wingdings" pitchFamily="2" charset="2"/>
              <a:buNone/>
            </a:pPr>
            <a:r>
              <a:rPr lang="en-US" sz="4400" b="1" dirty="0">
                <a:solidFill>
                  <a:srgbClr val="FF0000"/>
                </a:solidFill>
              </a:rPr>
              <a:t>Course Overview </a:t>
            </a:r>
          </a:p>
        </p:txBody>
      </p:sp>
      <p:sp>
        <p:nvSpPr>
          <p:cNvPr id="25603" name="Slide Number Placeholder 3"/>
          <p:cNvSpPr>
            <a:spLocks noGrp="1"/>
          </p:cNvSpPr>
          <p:nvPr>
            <p:ph type="sldNum" sz="quarter" idx="4294967295"/>
          </p:nvPr>
        </p:nvSpPr>
        <p:spPr>
          <a:xfrm>
            <a:off x="8739875" y="6248400"/>
            <a:ext cx="2845541" cy="457200"/>
          </a:xfrm>
          <a:prstGeom prst="rect">
            <a:avLst/>
          </a:prstGeom>
          <a:noFill/>
        </p:spPr>
        <p:txBody>
          <a:bodyPr/>
          <a:lstStyle/>
          <a:p>
            <a:fld id="{13DD4E31-292C-4F03-B517-C4A127A1654C}" type="slidenum">
              <a:rPr lang="en-US" smtClean="0">
                <a:latin typeface="Arial" pitchFamily="34" charset="0"/>
              </a:rPr>
              <a:pPr/>
              <a:t>3</a:t>
            </a:fld>
            <a:endParaRPr lang="en-US">
              <a:latin typeface="Arial" pitchFamily="34" charset="0"/>
            </a:endParaRPr>
          </a:p>
        </p:txBody>
      </p:sp>
    </p:spTree>
    <p:extLst>
      <p:ext uri="{BB962C8B-B14F-4D97-AF65-F5344CB8AC3E}">
        <p14:creationId xmlns:p14="http://schemas.microsoft.com/office/powerpoint/2010/main" val="2799086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7387" y="381000"/>
            <a:ext cx="10975658" cy="712788"/>
          </a:xfrm>
        </p:spPr>
        <p:txBody>
          <a:bodyPr>
            <a:normAutofit/>
          </a:bodyPr>
          <a:lstStyle/>
          <a:p>
            <a:pPr algn="ctr"/>
            <a:r>
              <a:rPr lang="en-US" sz="4000" b="1" dirty="0">
                <a:solidFill>
                  <a:srgbClr val="FF0000"/>
                </a:solidFill>
              </a:rPr>
              <a:t>Course Description</a:t>
            </a:r>
          </a:p>
        </p:txBody>
      </p:sp>
      <p:sp>
        <p:nvSpPr>
          <p:cNvPr id="27651" name="Content Placeholder 2"/>
          <p:cNvSpPr>
            <a:spLocks noGrp="1"/>
          </p:cNvSpPr>
          <p:nvPr>
            <p:ph idx="1"/>
          </p:nvPr>
        </p:nvSpPr>
        <p:spPr>
          <a:xfrm>
            <a:off x="382587" y="1219200"/>
            <a:ext cx="11430000" cy="4876800"/>
          </a:xfrm>
        </p:spPr>
        <p:txBody>
          <a:bodyPr>
            <a:noAutofit/>
          </a:bodyPr>
          <a:lstStyle/>
          <a:p>
            <a:pPr algn="just"/>
            <a:r>
              <a:rPr lang="en-GB" dirty="0">
                <a:solidFill>
                  <a:schemeClr val="tx1"/>
                </a:solidFill>
              </a:rPr>
              <a:t>This course introduces the fundamental principles and structure of modern computer systems. </a:t>
            </a:r>
          </a:p>
          <a:p>
            <a:pPr algn="just"/>
            <a:r>
              <a:rPr lang="en-GB" dirty="0">
                <a:solidFill>
                  <a:schemeClr val="tx1"/>
                </a:solidFill>
              </a:rPr>
              <a:t>It covers the relationship between hardware and software, the organization of the CPU, memory hierarchy, input/output mechanisms, instruction execution, and performance measurement. </a:t>
            </a:r>
          </a:p>
          <a:p>
            <a:pPr algn="just"/>
            <a:r>
              <a:rPr lang="en-GB" dirty="0">
                <a:solidFill>
                  <a:schemeClr val="tx1"/>
                </a:solidFill>
              </a:rPr>
              <a:t>Students will learn how computers are designed, how they execute programs, and how architectural choices affect system performance.</a:t>
            </a:r>
          </a:p>
          <a:p>
            <a:pPr algn="just"/>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a:t>
            </a:fld>
            <a:endParaRPr lang="en-US">
              <a:latin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5958" y="201612"/>
            <a:ext cx="10975658" cy="712788"/>
          </a:xfrm>
        </p:spPr>
        <p:txBody>
          <a:bodyPr>
            <a:normAutofit/>
          </a:bodyPr>
          <a:lstStyle/>
          <a:p>
            <a:pPr algn="ctr"/>
            <a:r>
              <a:rPr lang="en-US" sz="4000" b="1" dirty="0">
                <a:solidFill>
                  <a:srgbClr val="FF0000"/>
                </a:solidFill>
              </a:rPr>
              <a:t>Course Objectives</a:t>
            </a:r>
          </a:p>
        </p:txBody>
      </p:sp>
      <p:sp>
        <p:nvSpPr>
          <p:cNvPr id="27651" name="Content Placeholder 2"/>
          <p:cNvSpPr>
            <a:spLocks noGrp="1"/>
          </p:cNvSpPr>
          <p:nvPr>
            <p:ph idx="1"/>
          </p:nvPr>
        </p:nvSpPr>
        <p:spPr>
          <a:xfrm>
            <a:off x="306387" y="1066800"/>
            <a:ext cx="11506200" cy="5181600"/>
          </a:xfrm>
        </p:spPr>
        <p:txBody>
          <a:bodyPr>
            <a:noAutofit/>
          </a:bodyPr>
          <a:lstStyle/>
          <a:p>
            <a:pPr algn="just">
              <a:spcBef>
                <a:spcPts val="0"/>
              </a:spcBef>
              <a:spcAft>
                <a:spcPts val="0"/>
              </a:spcAft>
            </a:pPr>
            <a:r>
              <a:rPr lang="en-GB" sz="2400" b="1" dirty="0"/>
              <a:t>By the end of this course, students should be able to</a:t>
            </a:r>
            <a:r>
              <a:rPr lang="en-GB" sz="2400" b="1" dirty="0">
                <a:solidFill>
                  <a:schemeClr val="tx2">
                    <a:lumMod val="60000"/>
                    <a:lumOff val="40000"/>
                  </a:schemeClr>
                </a:solidFill>
              </a:rPr>
              <a:t>:</a:t>
            </a:r>
          </a:p>
          <a:p>
            <a:pPr algn="just">
              <a:spcBef>
                <a:spcPts val="0"/>
              </a:spcBef>
              <a:spcAft>
                <a:spcPts val="0"/>
              </a:spcAft>
            </a:pPr>
            <a:endParaRPr lang="en-GB" sz="1200" dirty="0">
              <a:solidFill>
                <a:schemeClr val="tx1"/>
              </a:solidFill>
            </a:endParaRPr>
          </a:p>
          <a:p>
            <a:pPr marL="514350" lvl="0" indent="-514350" algn="just">
              <a:spcBef>
                <a:spcPts val="0"/>
              </a:spcBef>
              <a:spcAft>
                <a:spcPts val="0"/>
              </a:spcAft>
              <a:buFont typeface="+mj-lt"/>
              <a:buAutoNum type="romanLcPeriod"/>
            </a:pPr>
            <a:r>
              <a:rPr lang="en-GB" sz="2400" b="1" dirty="0">
                <a:solidFill>
                  <a:schemeClr val="tx1"/>
                </a:solidFill>
              </a:rPr>
              <a:t>Explain the internal structure of modern computer systems</a:t>
            </a:r>
            <a:r>
              <a:rPr lang="en-GB" sz="2400" dirty="0">
                <a:solidFill>
                  <a:schemeClr val="tx1"/>
                </a:solidFill>
              </a:rPr>
              <a:t> and how components interact to execute programs.</a:t>
            </a:r>
          </a:p>
          <a:p>
            <a:pPr marL="514350" lvl="0" indent="-514350" algn="just">
              <a:spcBef>
                <a:spcPts val="0"/>
              </a:spcBef>
              <a:spcAft>
                <a:spcPts val="0"/>
              </a:spcAft>
              <a:buFont typeface="+mj-lt"/>
              <a:buAutoNum type="romanLcPeriod"/>
            </a:pPr>
            <a:r>
              <a:rPr lang="en-GB" sz="2400" b="1" dirty="0" err="1">
                <a:solidFill>
                  <a:schemeClr val="tx1"/>
                </a:solidFill>
              </a:rPr>
              <a:t>Analyze</a:t>
            </a:r>
            <a:r>
              <a:rPr lang="en-GB" sz="2400" b="1" dirty="0">
                <a:solidFill>
                  <a:schemeClr val="tx1"/>
                </a:solidFill>
              </a:rPr>
              <a:t> performance</a:t>
            </a:r>
            <a:r>
              <a:rPr lang="en-GB" sz="2400" dirty="0">
                <a:solidFill>
                  <a:schemeClr val="tx1"/>
                </a:solidFill>
              </a:rPr>
              <a:t> of computer systems using metrics like CPI, MIPS, and benchmarks.</a:t>
            </a:r>
          </a:p>
          <a:p>
            <a:pPr marL="514350" lvl="0" indent="-514350" algn="just">
              <a:spcBef>
                <a:spcPts val="0"/>
              </a:spcBef>
              <a:spcAft>
                <a:spcPts val="0"/>
              </a:spcAft>
              <a:buFont typeface="+mj-lt"/>
              <a:buAutoNum type="romanLcPeriod"/>
            </a:pPr>
            <a:r>
              <a:rPr lang="en-GB" sz="2400" b="1" dirty="0">
                <a:solidFill>
                  <a:schemeClr val="tx1"/>
                </a:solidFill>
              </a:rPr>
              <a:t>Design simple assembly-level programs</a:t>
            </a:r>
            <a:r>
              <a:rPr lang="en-GB" sz="2400" dirty="0">
                <a:solidFill>
                  <a:schemeClr val="tx1"/>
                </a:solidFill>
              </a:rPr>
              <a:t> and understand instruction set architecture.</a:t>
            </a:r>
          </a:p>
          <a:p>
            <a:pPr marL="514350" lvl="0" indent="-514350" algn="just">
              <a:spcBef>
                <a:spcPts val="0"/>
              </a:spcBef>
              <a:spcAft>
                <a:spcPts val="0"/>
              </a:spcAft>
              <a:buFont typeface="+mj-lt"/>
              <a:buAutoNum type="romanLcPeriod"/>
            </a:pPr>
            <a:r>
              <a:rPr lang="en-GB" sz="2400" b="1" dirty="0">
                <a:solidFill>
                  <a:schemeClr val="tx1"/>
                </a:solidFill>
              </a:rPr>
              <a:t>Understand memory hierarchy</a:t>
            </a:r>
            <a:r>
              <a:rPr lang="en-GB" sz="2400" dirty="0">
                <a:solidFill>
                  <a:schemeClr val="tx1"/>
                </a:solidFill>
              </a:rPr>
              <a:t> concepts, including cache, main memory, and virtual memory.</a:t>
            </a:r>
          </a:p>
          <a:p>
            <a:pPr marL="514350" lvl="0" indent="-514350" algn="just">
              <a:spcBef>
                <a:spcPts val="0"/>
              </a:spcBef>
              <a:spcAft>
                <a:spcPts val="0"/>
              </a:spcAft>
              <a:buFont typeface="+mj-lt"/>
              <a:buAutoNum type="romanLcPeriod"/>
            </a:pPr>
            <a:r>
              <a:rPr lang="en-GB" sz="2400" b="1" dirty="0">
                <a:solidFill>
                  <a:schemeClr val="tx1"/>
                </a:solidFill>
              </a:rPr>
              <a:t>Describe processor design</a:t>
            </a:r>
            <a:r>
              <a:rPr lang="en-GB" sz="2400" dirty="0">
                <a:solidFill>
                  <a:schemeClr val="tx1"/>
                </a:solidFill>
              </a:rPr>
              <a:t> techniques including pipelining and basic parallelism.</a:t>
            </a:r>
          </a:p>
          <a:p>
            <a:pPr marL="514350" lvl="0" indent="-514350" algn="just">
              <a:spcBef>
                <a:spcPts val="0"/>
              </a:spcBef>
              <a:spcAft>
                <a:spcPts val="0"/>
              </a:spcAft>
              <a:buFont typeface="+mj-lt"/>
              <a:buAutoNum type="romanLcPeriod"/>
            </a:pPr>
            <a:r>
              <a:rPr lang="en-GB" sz="2400" b="1" dirty="0">
                <a:solidFill>
                  <a:schemeClr val="tx1"/>
                </a:solidFill>
              </a:rPr>
              <a:t>Recognize I/O organization</a:t>
            </a:r>
            <a:r>
              <a:rPr lang="en-GB" sz="2400" dirty="0">
                <a:solidFill>
                  <a:schemeClr val="tx1"/>
                </a:solidFill>
              </a:rPr>
              <a:t> and fundamentals of storage and communication within computing systems.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a:t>
            </a:fld>
            <a:endParaRPr lang="en-US">
              <a:latin typeface="Arial" pitchFamily="34" charset="0"/>
            </a:endParaRPr>
          </a:p>
        </p:txBody>
      </p:sp>
    </p:spTree>
    <p:extLst>
      <p:ext uri="{BB962C8B-B14F-4D97-AF65-F5344CB8AC3E}">
        <p14:creationId xmlns:p14="http://schemas.microsoft.com/office/powerpoint/2010/main" val="3472834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5958" y="201612"/>
            <a:ext cx="10975658" cy="712788"/>
          </a:xfrm>
        </p:spPr>
        <p:txBody>
          <a:bodyPr>
            <a:normAutofit/>
          </a:bodyPr>
          <a:lstStyle/>
          <a:p>
            <a:pPr algn="ctr"/>
            <a:r>
              <a:rPr lang="en-US" sz="4000" b="1" dirty="0">
                <a:solidFill>
                  <a:srgbClr val="FF0000"/>
                </a:solidFill>
              </a:rPr>
              <a:t>Course Learning Outcomes</a:t>
            </a:r>
          </a:p>
        </p:txBody>
      </p:sp>
      <p:sp>
        <p:nvSpPr>
          <p:cNvPr id="27651" name="Content Placeholder 2"/>
          <p:cNvSpPr>
            <a:spLocks noGrp="1"/>
          </p:cNvSpPr>
          <p:nvPr>
            <p:ph idx="1"/>
          </p:nvPr>
        </p:nvSpPr>
        <p:spPr>
          <a:xfrm>
            <a:off x="382587" y="945776"/>
            <a:ext cx="11582400" cy="5302624"/>
          </a:xfrm>
        </p:spPr>
        <p:txBody>
          <a:bodyPr>
            <a:noAutofit/>
          </a:bodyPr>
          <a:lstStyle/>
          <a:p>
            <a:pPr>
              <a:spcBef>
                <a:spcPts val="0"/>
              </a:spcBef>
              <a:spcAft>
                <a:spcPts val="600"/>
              </a:spcAft>
            </a:pPr>
            <a:r>
              <a:rPr lang="en-GB" b="1" dirty="0"/>
              <a:t>By the end of this course, students will be able to:</a:t>
            </a:r>
          </a:p>
          <a:p>
            <a:pPr marL="571500" lvl="0" indent="-571500" algn="just">
              <a:spcBef>
                <a:spcPts val="0"/>
              </a:spcBef>
              <a:spcAft>
                <a:spcPts val="600"/>
              </a:spcAft>
              <a:buFont typeface="+mj-lt"/>
              <a:buAutoNum type="romanLcPeriod"/>
            </a:pPr>
            <a:r>
              <a:rPr lang="en-GB" sz="2600" b="1" dirty="0">
                <a:solidFill>
                  <a:schemeClr val="tx1"/>
                </a:solidFill>
              </a:rPr>
              <a:t>Describe</a:t>
            </a:r>
            <a:r>
              <a:rPr lang="en-GB" sz="2600" dirty="0">
                <a:solidFill>
                  <a:schemeClr val="tx1"/>
                </a:solidFill>
              </a:rPr>
              <a:t> the fundamental components of a computer system and their roles.</a:t>
            </a:r>
          </a:p>
          <a:p>
            <a:pPr marL="571500" lvl="0" indent="-571500" algn="just">
              <a:spcBef>
                <a:spcPts val="0"/>
              </a:spcBef>
              <a:spcAft>
                <a:spcPts val="600"/>
              </a:spcAft>
              <a:buFont typeface="+mj-lt"/>
              <a:buAutoNum type="romanLcPeriod"/>
            </a:pPr>
            <a:r>
              <a:rPr lang="en-GB" sz="2600" b="1" dirty="0">
                <a:solidFill>
                  <a:schemeClr val="tx1"/>
                </a:solidFill>
              </a:rPr>
              <a:t>Explain</a:t>
            </a:r>
            <a:r>
              <a:rPr lang="en-GB" sz="2600" dirty="0">
                <a:solidFill>
                  <a:schemeClr val="tx1"/>
                </a:solidFill>
              </a:rPr>
              <a:t> instruction set architecture and data representation techniques.</a:t>
            </a:r>
          </a:p>
          <a:p>
            <a:pPr marL="571500" lvl="0" indent="-571500" algn="just">
              <a:spcBef>
                <a:spcPts val="0"/>
              </a:spcBef>
              <a:spcAft>
                <a:spcPts val="600"/>
              </a:spcAft>
              <a:buFont typeface="+mj-lt"/>
              <a:buAutoNum type="romanLcPeriod"/>
            </a:pPr>
            <a:r>
              <a:rPr lang="en-GB" sz="2600" b="1" dirty="0" err="1">
                <a:solidFill>
                  <a:schemeClr val="tx1"/>
                </a:solidFill>
              </a:rPr>
              <a:t>Analyze</a:t>
            </a:r>
            <a:r>
              <a:rPr lang="en-GB" sz="2600" dirty="0">
                <a:solidFill>
                  <a:schemeClr val="tx1"/>
                </a:solidFill>
              </a:rPr>
              <a:t> CPU performance using standard metrics.</a:t>
            </a:r>
          </a:p>
          <a:p>
            <a:pPr marL="571500" lvl="0" indent="-571500" algn="just">
              <a:spcBef>
                <a:spcPts val="0"/>
              </a:spcBef>
              <a:spcAft>
                <a:spcPts val="600"/>
              </a:spcAft>
              <a:buFont typeface="+mj-lt"/>
              <a:buAutoNum type="romanLcPeriod"/>
            </a:pPr>
            <a:r>
              <a:rPr lang="en-GB" sz="2600" b="1" dirty="0">
                <a:solidFill>
                  <a:schemeClr val="tx1"/>
                </a:solidFill>
              </a:rPr>
              <a:t>Explain</a:t>
            </a:r>
            <a:r>
              <a:rPr lang="en-GB" sz="2600" dirty="0">
                <a:solidFill>
                  <a:schemeClr val="tx1"/>
                </a:solidFill>
              </a:rPr>
              <a:t> memory hierarchy and address translation mechanisms.</a:t>
            </a:r>
          </a:p>
          <a:p>
            <a:pPr marL="571500" lvl="0" indent="-571500" algn="just">
              <a:spcBef>
                <a:spcPts val="0"/>
              </a:spcBef>
              <a:spcAft>
                <a:spcPts val="600"/>
              </a:spcAft>
              <a:buFont typeface="+mj-lt"/>
              <a:buAutoNum type="romanLcPeriod"/>
            </a:pPr>
            <a:r>
              <a:rPr lang="en-GB" sz="2600" b="1" dirty="0">
                <a:solidFill>
                  <a:schemeClr val="tx1"/>
                </a:solidFill>
              </a:rPr>
              <a:t>Describe</a:t>
            </a:r>
            <a:r>
              <a:rPr lang="en-GB" sz="2600" dirty="0">
                <a:solidFill>
                  <a:schemeClr val="tx1"/>
                </a:solidFill>
              </a:rPr>
              <a:t> processor implementation including pipelining and hazards.</a:t>
            </a:r>
          </a:p>
          <a:p>
            <a:pPr marL="571500" lvl="0" indent="-571500" algn="just">
              <a:spcBef>
                <a:spcPts val="0"/>
              </a:spcBef>
              <a:spcAft>
                <a:spcPts val="600"/>
              </a:spcAft>
              <a:buFont typeface="+mj-lt"/>
              <a:buAutoNum type="romanLcPeriod"/>
            </a:pPr>
            <a:r>
              <a:rPr lang="en-GB" sz="2600" b="1" dirty="0">
                <a:solidFill>
                  <a:schemeClr val="tx1"/>
                </a:solidFill>
              </a:rPr>
              <a:t>Discuss </a:t>
            </a:r>
            <a:r>
              <a:rPr lang="en-GB" sz="2600" dirty="0">
                <a:solidFill>
                  <a:schemeClr val="tx1"/>
                </a:solidFill>
              </a:rPr>
              <a:t>I/O systems and peripheral communication techniques.</a:t>
            </a:r>
          </a:p>
          <a:p>
            <a:pPr marL="571500" lvl="0" indent="-571500" algn="just">
              <a:spcBef>
                <a:spcPts val="0"/>
              </a:spcBef>
              <a:spcAft>
                <a:spcPts val="600"/>
              </a:spcAft>
              <a:buFont typeface="+mj-lt"/>
              <a:buAutoNum type="romanLcPeriod"/>
            </a:pPr>
            <a:r>
              <a:rPr lang="en-GB" sz="2600" b="1" dirty="0">
                <a:solidFill>
                  <a:schemeClr val="tx1"/>
                </a:solidFill>
              </a:rPr>
              <a:t>Apply</a:t>
            </a:r>
            <a:r>
              <a:rPr lang="en-GB" sz="2600" dirty="0">
                <a:solidFill>
                  <a:schemeClr val="tx1"/>
                </a:solidFill>
              </a:rPr>
              <a:t> assembly programming concepts to simple coding problems.</a:t>
            </a:r>
          </a:p>
          <a:p>
            <a:pPr marL="571500" lvl="0" indent="-571500" algn="just">
              <a:spcBef>
                <a:spcPts val="0"/>
              </a:spcBef>
              <a:spcAft>
                <a:spcPts val="600"/>
              </a:spcAft>
              <a:buFont typeface="+mj-lt"/>
              <a:buAutoNum type="romanLcPeriod"/>
            </a:pPr>
            <a:r>
              <a:rPr lang="en-GB" sz="2600" b="1" dirty="0">
                <a:solidFill>
                  <a:schemeClr val="tx1"/>
                </a:solidFill>
              </a:rPr>
              <a:t>Evaluate</a:t>
            </a:r>
            <a:r>
              <a:rPr lang="en-GB" sz="2600" dirty="0">
                <a:solidFill>
                  <a:schemeClr val="tx1"/>
                </a:solidFill>
              </a:rPr>
              <a:t> architectural trade-offs for performance and cost.</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6</a:t>
            </a:fld>
            <a:endParaRPr lang="en-US">
              <a:latin typeface="Arial" pitchFamily="34" charset="0"/>
            </a:endParaRPr>
          </a:p>
        </p:txBody>
      </p:sp>
    </p:spTree>
    <p:extLst>
      <p:ext uri="{BB962C8B-B14F-4D97-AF65-F5344CB8AC3E}">
        <p14:creationId xmlns:p14="http://schemas.microsoft.com/office/powerpoint/2010/main" val="122299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5958" y="201612"/>
            <a:ext cx="10975658" cy="712788"/>
          </a:xfrm>
        </p:spPr>
        <p:txBody>
          <a:bodyPr>
            <a:normAutofit/>
          </a:bodyPr>
          <a:lstStyle/>
          <a:p>
            <a:pPr algn="ctr"/>
            <a:r>
              <a:rPr lang="en-US" sz="4000" b="1" dirty="0">
                <a:solidFill>
                  <a:srgbClr val="FF0000"/>
                </a:solidFill>
              </a:rPr>
              <a:t>Recommended Textbooks</a:t>
            </a:r>
          </a:p>
        </p:txBody>
      </p:sp>
      <p:sp>
        <p:nvSpPr>
          <p:cNvPr id="27651" name="Content Placeholder 2"/>
          <p:cNvSpPr>
            <a:spLocks noGrp="1"/>
          </p:cNvSpPr>
          <p:nvPr>
            <p:ph idx="1"/>
          </p:nvPr>
        </p:nvSpPr>
        <p:spPr>
          <a:xfrm>
            <a:off x="382587" y="945776"/>
            <a:ext cx="11582400" cy="5302624"/>
          </a:xfrm>
        </p:spPr>
        <p:txBody>
          <a:bodyPr>
            <a:noAutofit/>
          </a:bodyPr>
          <a:lstStyle/>
          <a:p>
            <a:pPr algn="just">
              <a:spcBef>
                <a:spcPts val="0"/>
              </a:spcBef>
              <a:spcAft>
                <a:spcPts val="0"/>
              </a:spcAft>
            </a:pPr>
            <a:r>
              <a:rPr lang="en-GB" sz="2400" b="1" dirty="0">
                <a:solidFill>
                  <a:schemeClr val="tx1"/>
                </a:solidFill>
              </a:rPr>
              <a:t>1. </a:t>
            </a:r>
            <a:r>
              <a:rPr lang="en-GB" sz="2400" b="1" i="1" dirty="0">
                <a:solidFill>
                  <a:schemeClr val="tx1"/>
                </a:solidFill>
              </a:rPr>
              <a:t>Computer Organization and Architecture</a:t>
            </a:r>
            <a:r>
              <a:rPr lang="en-GB" sz="2400" b="1" dirty="0">
                <a:solidFill>
                  <a:schemeClr val="tx1"/>
                </a:solidFill>
              </a:rPr>
              <a:t>, </a:t>
            </a:r>
            <a:r>
              <a:rPr lang="en-GB" sz="2400" dirty="0">
                <a:solidFill>
                  <a:schemeClr val="tx1"/>
                </a:solidFill>
              </a:rPr>
              <a:t>11</a:t>
            </a:r>
            <a:r>
              <a:rPr lang="en-GB" sz="2400" baseline="30000" dirty="0">
                <a:solidFill>
                  <a:schemeClr val="tx1"/>
                </a:solidFill>
              </a:rPr>
              <a:t>th</a:t>
            </a:r>
            <a:r>
              <a:rPr lang="en-GB" sz="2400" dirty="0">
                <a:solidFill>
                  <a:schemeClr val="tx1"/>
                </a:solidFill>
              </a:rPr>
              <a:t> Edition by William Stallings</a:t>
            </a:r>
            <a:r>
              <a:rPr lang="en-GB" sz="2400" b="1" dirty="0">
                <a:solidFill>
                  <a:schemeClr val="tx1"/>
                </a:solidFill>
              </a:rPr>
              <a:t>, </a:t>
            </a:r>
            <a:r>
              <a:rPr lang="en-GB" sz="2400" dirty="0">
                <a:solidFill>
                  <a:schemeClr val="tx1"/>
                </a:solidFill>
              </a:rPr>
              <a:t>Pearson Education, 2019, </a:t>
            </a:r>
            <a:r>
              <a:rPr lang="en-GB" sz="2400" b="1" dirty="0">
                <a:solidFill>
                  <a:schemeClr val="tx1"/>
                </a:solidFill>
              </a:rPr>
              <a:t>ISBN:</a:t>
            </a:r>
            <a:r>
              <a:rPr lang="en-GB" sz="2400" dirty="0">
                <a:solidFill>
                  <a:schemeClr val="tx1"/>
                </a:solidFill>
              </a:rPr>
              <a:t> 978-0134997193, </a:t>
            </a:r>
            <a:r>
              <a:rPr lang="en-GB" sz="2400" b="1" dirty="0">
                <a:solidFill>
                  <a:schemeClr val="tx1"/>
                </a:solidFill>
              </a:rPr>
              <a:t>Pages:</a:t>
            </a:r>
            <a:r>
              <a:rPr lang="en-GB" sz="2400" dirty="0">
                <a:solidFill>
                  <a:schemeClr val="tx1"/>
                </a:solidFill>
              </a:rPr>
              <a:t> ~1100 </a:t>
            </a:r>
          </a:p>
          <a:p>
            <a:pPr marL="0" indent="0" algn="just">
              <a:spcBef>
                <a:spcPts val="0"/>
              </a:spcBef>
              <a:spcAft>
                <a:spcPts val="0"/>
              </a:spcAft>
              <a:buNone/>
            </a:pPr>
            <a:r>
              <a:rPr lang="en-GB" sz="2400" dirty="0">
                <a:solidFill>
                  <a:schemeClr val="tx1"/>
                </a:solidFill>
              </a:rPr>
              <a:t>     (One of the most widely used undergraduate textbooks). </a:t>
            </a:r>
          </a:p>
          <a:p>
            <a:pPr algn="just">
              <a:spcBef>
                <a:spcPts val="0"/>
              </a:spcBef>
              <a:spcAft>
                <a:spcPts val="0"/>
              </a:spcAft>
            </a:pPr>
            <a:r>
              <a:rPr lang="en-GB" sz="2400" b="1" dirty="0">
                <a:solidFill>
                  <a:schemeClr val="tx1"/>
                </a:solidFill>
              </a:rPr>
              <a:t>2. </a:t>
            </a:r>
            <a:r>
              <a:rPr lang="en-GB" sz="2400" b="1" i="1" dirty="0">
                <a:solidFill>
                  <a:schemeClr val="tx1"/>
                </a:solidFill>
              </a:rPr>
              <a:t>Computer Organization and Design: The Hardware/Software Interface</a:t>
            </a:r>
            <a:r>
              <a:rPr lang="en-GB" sz="2400" b="1" dirty="0">
                <a:solidFill>
                  <a:schemeClr val="tx1"/>
                </a:solidFill>
              </a:rPr>
              <a:t> – David A. Patterson &amp; John L. Hennessy. </a:t>
            </a:r>
            <a:r>
              <a:rPr lang="en-GB" sz="2400" dirty="0">
                <a:solidFill>
                  <a:schemeClr val="tx1"/>
                </a:solidFill>
              </a:rPr>
              <a:t>5th/6th Edition (ARM or MIPS versions available) , Morgan Kaufmann, 2017+ (varies by edition), </a:t>
            </a:r>
            <a:r>
              <a:rPr lang="en-GB" sz="2400" b="1" dirty="0">
                <a:solidFill>
                  <a:schemeClr val="tx1"/>
                </a:solidFill>
              </a:rPr>
              <a:t>ISBN:</a:t>
            </a:r>
            <a:r>
              <a:rPr lang="en-GB" sz="2400" dirty="0">
                <a:solidFill>
                  <a:schemeClr val="tx1"/>
                </a:solidFill>
              </a:rPr>
              <a:t> 978-0128017333 (ARM edition) </a:t>
            </a:r>
          </a:p>
          <a:p>
            <a:pPr algn="just">
              <a:spcBef>
                <a:spcPts val="0"/>
              </a:spcBef>
              <a:spcAft>
                <a:spcPts val="0"/>
              </a:spcAft>
            </a:pPr>
            <a:r>
              <a:rPr lang="en-GB" sz="2400" b="1" dirty="0">
                <a:solidFill>
                  <a:schemeClr val="tx1"/>
                </a:solidFill>
              </a:rPr>
              <a:t>3. </a:t>
            </a:r>
            <a:r>
              <a:rPr lang="en-GB" sz="2400" b="1" i="1" dirty="0">
                <a:solidFill>
                  <a:schemeClr val="tx1"/>
                </a:solidFill>
              </a:rPr>
              <a:t>Structured Computer Organization</a:t>
            </a:r>
            <a:r>
              <a:rPr lang="en-GB" sz="2400" b="1" dirty="0">
                <a:solidFill>
                  <a:schemeClr val="tx1"/>
                </a:solidFill>
              </a:rPr>
              <a:t> – Andrew S. Tanenbaum, </a:t>
            </a:r>
            <a:r>
              <a:rPr lang="en-GB" sz="2400" dirty="0">
                <a:solidFill>
                  <a:schemeClr val="tx1"/>
                </a:solidFill>
              </a:rPr>
              <a:t>6th Edition, Pearson Education, 2013, </a:t>
            </a:r>
            <a:r>
              <a:rPr lang="en-GB" sz="2400" b="1" dirty="0">
                <a:solidFill>
                  <a:schemeClr val="tx1"/>
                </a:solidFill>
              </a:rPr>
              <a:t>ISBN:</a:t>
            </a:r>
            <a:r>
              <a:rPr lang="en-GB" sz="2400" dirty="0">
                <a:solidFill>
                  <a:schemeClr val="tx1"/>
                </a:solidFill>
              </a:rPr>
              <a:t> 978-0132916523 </a:t>
            </a:r>
          </a:p>
          <a:p>
            <a:pPr algn="just">
              <a:spcBef>
                <a:spcPts val="0"/>
              </a:spcBef>
              <a:spcAft>
                <a:spcPts val="0"/>
              </a:spcAft>
            </a:pPr>
            <a:r>
              <a:rPr lang="en-GB" sz="2400" b="1" dirty="0">
                <a:solidFill>
                  <a:schemeClr val="tx1"/>
                </a:solidFill>
              </a:rPr>
              <a:t>4. </a:t>
            </a:r>
            <a:r>
              <a:rPr lang="en-GB" sz="2400" b="1" i="1" dirty="0">
                <a:solidFill>
                  <a:schemeClr val="tx1"/>
                </a:solidFill>
              </a:rPr>
              <a:t>Essentials of Computer Organization and Architecture</a:t>
            </a:r>
            <a:r>
              <a:rPr lang="en-GB" sz="2400" b="1" dirty="0">
                <a:solidFill>
                  <a:schemeClr val="tx1"/>
                </a:solidFill>
              </a:rPr>
              <a:t> – Linda Null &amp; Julia </a:t>
            </a:r>
            <a:r>
              <a:rPr lang="en-GB" sz="2400" b="1" dirty="0" err="1">
                <a:solidFill>
                  <a:schemeClr val="tx1"/>
                </a:solidFill>
              </a:rPr>
              <a:t>Lobur</a:t>
            </a:r>
            <a:r>
              <a:rPr lang="en-GB" sz="2400" b="1" dirty="0">
                <a:solidFill>
                  <a:schemeClr val="tx1"/>
                </a:solidFill>
              </a:rPr>
              <a:t>,  </a:t>
            </a:r>
            <a:r>
              <a:rPr lang="en-GB" sz="2400" dirty="0">
                <a:solidFill>
                  <a:schemeClr val="tx1"/>
                </a:solidFill>
              </a:rPr>
              <a:t>5th/6th Edition, Jones &amp; Bartlett Learning, 2018+, </a:t>
            </a:r>
            <a:r>
              <a:rPr lang="en-GB" sz="2400" b="1" dirty="0">
                <a:solidFill>
                  <a:schemeClr val="tx1"/>
                </a:solidFill>
              </a:rPr>
              <a:t>ISBN:</a:t>
            </a:r>
            <a:r>
              <a:rPr lang="en-GB" sz="2400" dirty="0">
                <a:solidFill>
                  <a:schemeClr val="tx1"/>
                </a:solidFill>
              </a:rPr>
              <a:t> 978-1284123036 </a:t>
            </a:r>
          </a:p>
          <a:p>
            <a:pPr algn="just">
              <a:spcBef>
                <a:spcPts val="0"/>
              </a:spcBef>
              <a:spcAft>
                <a:spcPts val="0"/>
              </a:spcAft>
            </a:pPr>
            <a:r>
              <a:rPr lang="en-GB" sz="2400" b="1" dirty="0">
                <a:solidFill>
                  <a:schemeClr val="tx1"/>
                </a:solidFill>
              </a:rPr>
              <a:t>5. </a:t>
            </a:r>
            <a:r>
              <a:rPr lang="en-GB" sz="2400" b="1" i="1" dirty="0">
                <a:solidFill>
                  <a:schemeClr val="tx1"/>
                </a:solidFill>
              </a:rPr>
              <a:t>Computer Organization, Design, and Architecture</a:t>
            </a:r>
            <a:r>
              <a:rPr lang="en-GB" sz="2400" b="1" dirty="0">
                <a:solidFill>
                  <a:schemeClr val="tx1"/>
                </a:solidFill>
              </a:rPr>
              <a:t> – Sajjan G. Shiva, </a:t>
            </a:r>
            <a:r>
              <a:rPr lang="en-GB" sz="2400" dirty="0">
                <a:solidFill>
                  <a:schemeClr val="tx1"/>
                </a:solidFill>
              </a:rPr>
              <a:t>6th Edition, CRC Press, 2025, </a:t>
            </a:r>
            <a:r>
              <a:rPr lang="en-GB" sz="2400" b="1" dirty="0">
                <a:solidFill>
                  <a:schemeClr val="tx1"/>
                </a:solidFill>
              </a:rPr>
              <a:t>ISBN:</a:t>
            </a:r>
            <a:r>
              <a:rPr lang="en-GB" sz="2400" dirty="0">
                <a:solidFill>
                  <a:schemeClr val="tx1"/>
                </a:solidFill>
              </a:rPr>
              <a:t> 978-1032805146 </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7</a:t>
            </a:fld>
            <a:endParaRPr lang="en-US">
              <a:latin typeface="Arial" pitchFamily="34" charset="0"/>
            </a:endParaRPr>
          </a:p>
        </p:txBody>
      </p:sp>
    </p:spTree>
    <p:extLst>
      <p:ext uri="{BB962C8B-B14F-4D97-AF65-F5344CB8AC3E}">
        <p14:creationId xmlns:p14="http://schemas.microsoft.com/office/powerpoint/2010/main" val="3782128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143873" y="2057400"/>
            <a:ext cx="10211514" cy="1676400"/>
          </a:xfrm>
        </p:spPr>
        <p:txBody>
          <a:bodyPr>
            <a:noAutofit/>
          </a:bodyPr>
          <a:lstStyle/>
          <a:p>
            <a:pPr marL="0" indent="0" algn="ctr">
              <a:buNone/>
            </a:pPr>
            <a:r>
              <a:rPr lang="en-GB" sz="3200" b="1" dirty="0">
                <a:solidFill>
                  <a:srgbClr val="FF0000"/>
                </a:solidFill>
              </a:rPr>
              <a:t>UNIT 1: </a:t>
            </a:r>
          </a:p>
          <a:p>
            <a:pPr marL="0" indent="0" algn="ctr">
              <a:buNone/>
            </a:pPr>
            <a:r>
              <a:rPr lang="en-GB" sz="3200" b="1" dirty="0">
                <a:solidFill>
                  <a:srgbClr val="FF0000"/>
                </a:solidFill>
              </a:rPr>
              <a:t>FUNDAMENTALS OF COMPUTER ARCHITECTURE AND ORGANIZATION</a:t>
            </a:r>
            <a:endParaRPr lang="en-US" sz="4800" b="1" dirty="0">
              <a:solidFill>
                <a:srgbClr val="FF0000"/>
              </a:solidFill>
            </a:endParaRPr>
          </a:p>
        </p:txBody>
      </p:sp>
      <p:sp>
        <p:nvSpPr>
          <p:cNvPr id="25603" name="Slide Number Placeholder 3"/>
          <p:cNvSpPr>
            <a:spLocks noGrp="1"/>
          </p:cNvSpPr>
          <p:nvPr>
            <p:ph type="sldNum" sz="quarter" idx="4294967295"/>
          </p:nvPr>
        </p:nvSpPr>
        <p:spPr>
          <a:xfrm>
            <a:off x="8739875" y="6248400"/>
            <a:ext cx="2845541" cy="457200"/>
          </a:xfrm>
          <a:prstGeom prst="rect">
            <a:avLst/>
          </a:prstGeom>
          <a:noFill/>
        </p:spPr>
        <p:txBody>
          <a:bodyPr/>
          <a:lstStyle/>
          <a:p>
            <a:fld id="{13DD4E31-292C-4F03-B517-C4A127A1654C}" type="slidenum">
              <a:rPr lang="en-US" smtClean="0">
                <a:latin typeface="Arial" pitchFamily="34" charset="0"/>
              </a:rPr>
              <a:pPr/>
              <a:t>8</a:t>
            </a:fld>
            <a:endParaRPr lang="en-US">
              <a:latin typeface="Arial" pitchFamily="34" charset="0"/>
            </a:endParaRPr>
          </a:p>
        </p:txBody>
      </p:sp>
    </p:spTree>
    <p:extLst>
      <p:ext uri="{BB962C8B-B14F-4D97-AF65-F5344CB8AC3E}">
        <p14:creationId xmlns:p14="http://schemas.microsoft.com/office/powerpoint/2010/main" val="287287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7387" y="381000"/>
            <a:ext cx="10975658" cy="712788"/>
          </a:xfrm>
        </p:spPr>
        <p:txBody>
          <a:bodyPr>
            <a:normAutofit/>
          </a:bodyPr>
          <a:lstStyle/>
          <a:p>
            <a:pPr algn="ctr"/>
            <a:r>
              <a:rPr lang="en-US" sz="4000" b="1" dirty="0">
                <a:solidFill>
                  <a:srgbClr val="FF0000"/>
                </a:solidFill>
              </a:rPr>
              <a:t>Introduction</a:t>
            </a:r>
          </a:p>
        </p:txBody>
      </p:sp>
      <p:sp>
        <p:nvSpPr>
          <p:cNvPr id="27651" name="Content Placeholder 2"/>
          <p:cNvSpPr>
            <a:spLocks noGrp="1"/>
          </p:cNvSpPr>
          <p:nvPr>
            <p:ph idx="1"/>
          </p:nvPr>
        </p:nvSpPr>
        <p:spPr>
          <a:xfrm>
            <a:off x="382587" y="1219200"/>
            <a:ext cx="11582400" cy="4724400"/>
          </a:xfrm>
        </p:spPr>
        <p:txBody>
          <a:bodyPr>
            <a:noAutofit/>
          </a:bodyPr>
          <a:lstStyle/>
          <a:p>
            <a:pPr algn="just"/>
            <a:r>
              <a:rPr lang="en-GB" sz="2600" dirty="0">
                <a:solidFill>
                  <a:schemeClr val="tx1"/>
                </a:solidFill>
              </a:rPr>
              <a:t>Computers have had a huge impact on the manner in which society operates. </a:t>
            </a:r>
          </a:p>
          <a:p>
            <a:pPr algn="just"/>
            <a:r>
              <a:rPr lang="en-GB" sz="2600" dirty="0">
                <a:solidFill>
                  <a:schemeClr val="tx1"/>
                </a:solidFill>
              </a:rPr>
              <a:t>Increased efficiency, through automation and organization, only scratch the surface of what computing technology has afforded humanity. </a:t>
            </a:r>
          </a:p>
          <a:p>
            <a:pPr algn="just"/>
            <a:r>
              <a:rPr lang="en-GB" sz="2600" dirty="0">
                <a:solidFill>
                  <a:schemeClr val="tx1"/>
                </a:solidFill>
              </a:rPr>
              <a:t>In fact, the technology has progressed so much that people not utilizing computing technology in their businesses are at a disadvantage, as the computer today has an almost endless array of applications and functions. </a:t>
            </a:r>
          </a:p>
          <a:p>
            <a:pPr algn="just"/>
            <a:r>
              <a:rPr lang="en-GB" sz="2600" dirty="0">
                <a:solidFill>
                  <a:schemeClr val="tx1"/>
                </a:solidFill>
              </a:rPr>
              <a:t>This unit introduces the basic concepts of a computer generally in terms of what a computer is, parts of a computer and an overview of computer architecture and organization. </a:t>
            </a:r>
            <a:endParaRPr lang="en-US"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9</a:t>
            </a:fld>
            <a:endParaRPr lang="en-US">
              <a:latin typeface="Arial" pitchFamily="34" charset="0"/>
            </a:endParaRPr>
          </a:p>
        </p:txBody>
      </p:sp>
    </p:spTree>
    <p:extLst>
      <p:ext uri="{BB962C8B-B14F-4D97-AF65-F5344CB8AC3E}">
        <p14:creationId xmlns:p14="http://schemas.microsoft.com/office/powerpoint/2010/main" val="479841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5958" y="201612"/>
            <a:ext cx="10975658" cy="712788"/>
          </a:xfrm>
        </p:spPr>
        <p:txBody>
          <a:bodyPr>
            <a:normAutofit/>
          </a:bodyPr>
          <a:lstStyle/>
          <a:p>
            <a:pPr algn="ctr"/>
            <a:r>
              <a:rPr lang="en-US" sz="4000" b="1" dirty="0">
                <a:solidFill>
                  <a:srgbClr val="FF0000"/>
                </a:solidFill>
              </a:rPr>
              <a:t>Learning Outcomes</a:t>
            </a:r>
          </a:p>
        </p:txBody>
      </p:sp>
      <p:sp>
        <p:nvSpPr>
          <p:cNvPr id="27651" name="Content Placeholder 2"/>
          <p:cNvSpPr>
            <a:spLocks noGrp="1"/>
          </p:cNvSpPr>
          <p:nvPr>
            <p:ph idx="1"/>
          </p:nvPr>
        </p:nvSpPr>
        <p:spPr>
          <a:xfrm>
            <a:off x="382587" y="1066800"/>
            <a:ext cx="11430000" cy="5181600"/>
          </a:xfrm>
        </p:spPr>
        <p:txBody>
          <a:bodyPr>
            <a:noAutofit/>
          </a:bodyPr>
          <a:lstStyle/>
          <a:p>
            <a:pPr>
              <a:spcAft>
                <a:spcPts val="600"/>
              </a:spcAft>
            </a:pPr>
            <a:r>
              <a:rPr lang="en-GB" dirty="0">
                <a:solidFill>
                  <a:schemeClr val="tx1"/>
                </a:solidFill>
              </a:rPr>
              <a:t>At the end of this Unit, you should be able to:</a:t>
            </a:r>
          </a:p>
          <a:p>
            <a:pPr lvl="0">
              <a:spcAft>
                <a:spcPts val="600"/>
              </a:spcAft>
            </a:pPr>
            <a:r>
              <a:rPr lang="en-GB" dirty="0">
                <a:solidFill>
                  <a:schemeClr val="tx1"/>
                </a:solidFill>
              </a:rPr>
              <a:t>Describe a </a:t>
            </a:r>
            <a:r>
              <a:rPr lang="en-GB" b="1" dirty="0">
                <a:solidFill>
                  <a:schemeClr val="tx1"/>
                </a:solidFill>
              </a:rPr>
              <a:t>computer</a:t>
            </a:r>
          </a:p>
          <a:p>
            <a:pPr lvl="0">
              <a:spcAft>
                <a:spcPts val="600"/>
              </a:spcAft>
            </a:pPr>
            <a:r>
              <a:rPr lang="en-GB" dirty="0">
                <a:solidFill>
                  <a:schemeClr val="tx1"/>
                </a:solidFill>
              </a:rPr>
              <a:t>Define </a:t>
            </a:r>
            <a:r>
              <a:rPr lang="en-GB" b="1" dirty="0">
                <a:solidFill>
                  <a:schemeClr val="tx1"/>
                </a:solidFill>
              </a:rPr>
              <a:t>computer architecture</a:t>
            </a:r>
            <a:r>
              <a:rPr lang="en-GB" dirty="0">
                <a:solidFill>
                  <a:schemeClr val="tx1"/>
                </a:solidFill>
              </a:rPr>
              <a:t> and </a:t>
            </a:r>
            <a:r>
              <a:rPr lang="en-GB" b="1" dirty="0">
                <a:solidFill>
                  <a:schemeClr val="tx1"/>
                </a:solidFill>
              </a:rPr>
              <a:t>computer organization</a:t>
            </a:r>
            <a:r>
              <a:rPr lang="en-GB" dirty="0">
                <a:solidFill>
                  <a:schemeClr val="tx1"/>
                </a:solidFill>
              </a:rPr>
              <a:t>.</a:t>
            </a:r>
          </a:p>
          <a:p>
            <a:pPr lvl="0">
              <a:spcAft>
                <a:spcPts val="600"/>
              </a:spcAft>
            </a:pPr>
            <a:r>
              <a:rPr lang="en-GB" dirty="0">
                <a:solidFill>
                  <a:schemeClr val="tx1"/>
                </a:solidFill>
              </a:rPr>
              <a:t>Differentiate clearly between both concepts.</a:t>
            </a:r>
          </a:p>
          <a:p>
            <a:pPr lvl="0">
              <a:spcAft>
                <a:spcPts val="600"/>
              </a:spcAft>
            </a:pPr>
            <a:r>
              <a:rPr lang="en-GB" dirty="0">
                <a:solidFill>
                  <a:schemeClr val="tx1"/>
                </a:solidFill>
              </a:rPr>
              <a:t>Explain the relationship between architecture and organization.</a:t>
            </a:r>
          </a:p>
          <a:p>
            <a:pPr lvl="0">
              <a:spcAft>
                <a:spcPts val="600"/>
              </a:spcAft>
            </a:pPr>
            <a:r>
              <a:rPr lang="en-GB" dirty="0">
                <a:solidFill>
                  <a:schemeClr val="tx1"/>
                </a:solidFill>
              </a:rPr>
              <a:t>Identify components of each concept.</a:t>
            </a:r>
          </a:p>
          <a:p>
            <a:pPr lvl="0">
              <a:spcAft>
                <a:spcPts val="600"/>
              </a:spcAft>
            </a:pPr>
            <a:r>
              <a:rPr lang="en-GB" dirty="0">
                <a:solidFill>
                  <a:schemeClr val="tx1"/>
                </a:solidFill>
              </a:rPr>
              <a:t>Apply the distinction to real-world computing systems.</a:t>
            </a:r>
          </a:p>
          <a:p>
            <a:pPr lvl="0">
              <a:spcAft>
                <a:spcPts val="600"/>
              </a:spcAft>
            </a:pPr>
            <a:r>
              <a:rPr lang="en-GB" dirty="0" err="1">
                <a:solidFill>
                  <a:schemeClr val="tx1"/>
                </a:solidFill>
              </a:rPr>
              <a:t>Analyze</a:t>
            </a:r>
            <a:r>
              <a:rPr lang="en-GB" dirty="0">
                <a:solidFill>
                  <a:schemeClr val="tx1"/>
                </a:solidFill>
              </a:rPr>
              <a:t> how design decisions affect system performance.</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10</a:t>
            </a:fld>
            <a:endParaRPr lang="en-US">
              <a:latin typeface="Arial" pitchFamily="34" charset="0"/>
            </a:endParaRPr>
          </a:p>
        </p:txBody>
      </p:sp>
    </p:spTree>
    <p:extLst>
      <p:ext uri="{BB962C8B-B14F-4D97-AF65-F5344CB8AC3E}">
        <p14:creationId xmlns:p14="http://schemas.microsoft.com/office/powerpoint/2010/main" val="2068065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What is a Computer?</a:t>
            </a:r>
          </a:p>
        </p:txBody>
      </p:sp>
      <p:sp>
        <p:nvSpPr>
          <p:cNvPr id="27651" name="Content Placeholder 2"/>
          <p:cNvSpPr>
            <a:spLocks noGrp="1"/>
          </p:cNvSpPr>
          <p:nvPr>
            <p:ph idx="1"/>
          </p:nvPr>
        </p:nvSpPr>
        <p:spPr>
          <a:xfrm>
            <a:off x="382587" y="1219200"/>
            <a:ext cx="11582400" cy="5029200"/>
          </a:xfrm>
        </p:spPr>
        <p:txBody>
          <a:bodyPr>
            <a:noAutofit/>
          </a:bodyPr>
          <a:lstStyle/>
          <a:p>
            <a:pPr algn="just"/>
            <a:r>
              <a:rPr lang="en-US" sz="2600" dirty="0">
                <a:solidFill>
                  <a:schemeClr val="tx1"/>
                </a:solidFill>
              </a:rPr>
              <a:t>Many users of the computer know what the computer is used for as it applies to their field of endeavor. </a:t>
            </a:r>
          </a:p>
          <a:p>
            <a:pPr algn="just"/>
            <a:r>
              <a:rPr lang="en-US" sz="2600" dirty="0">
                <a:solidFill>
                  <a:schemeClr val="tx1"/>
                </a:solidFill>
              </a:rPr>
              <a:t>But not everyone is able to give a proper definition of a computer. </a:t>
            </a:r>
          </a:p>
          <a:p>
            <a:pPr algn="just"/>
            <a:r>
              <a:rPr lang="en-US" sz="2600" dirty="0">
                <a:solidFill>
                  <a:schemeClr val="tx1"/>
                </a:solidFill>
              </a:rPr>
              <a:t>The main subject of discussion in this course is the </a:t>
            </a:r>
            <a:r>
              <a:rPr lang="en-US" sz="2600" b="1" dirty="0">
                <a:solidFill>
                  <a:schemeClr val="tx1"/>
                </a:solidFill>
              </a:rPr>
              <a:t>computer. </a:t>
            </a:r>
          </a:p>
          <a:p>
            <a:pPr algn="just"/>
            <a:r>
              <a:rPr lang="en-US" sz="2600" dirty="0">
                <a:solidFill>
                  <a:schemeClr val="tx1"/>
                </a:solidFill>
              </a:rPr>
              <a:t>It is therefore important that we begin by providing a clear definition of this important tool. </a:t>
            </a:r>
          </a:p>
          <a:p>
            <a:pPr algn="just"/>
            <a:endParaRPr lang="en-GB" sz="1400" dirty="0">
              <a:solidFill>
                <a:schemeClr val="tx1"/>
              </a:solidFill>
            </a:endParaRPr>
          </a:p>
          <a:p>
            <a:r>
              <a:rPr lang="en-US" sz="2600" b="1" dirty="0">
                <a:solidFill>
                  <a:schemeClr val="tx1"/>
                </a:solidFill>
              </a:rPr>
              <a:t>Definition 1:  </a:t>
            </a:r>
            <a:endParaRPr lang="en-GB" sz="2600" dirty="0">
              <a:solidFill>
                <a:schemeClr val="tx1"/>
              </a:solidFill>
            </a:endParaRPr>
          </a:p>
          <a:p>
            <a:r>
              <a:rPr lang="en-GB" sz="2600" dirty="0">
                <a:solidFill>
                  <a:schemeClr val="tx1"/>
                </a:solidFill>
              </a:rPr>
              <a:t>A </a:t>
            </a:r>
            <a:r>
              <a:rPr lang="en-GB" sz="2600" b="1" dirty="0">
                <a:solidFill>
                  <a:schemeClr val="tx1"/>
                </a:solidFill>
              </a:rPr>
              <a:t>computer</a:t>
            </a:r>
            <a:r>
              <a:rPr lang="en-GB" sz="2600" dirty="0">
                <a:solidFill>
                  <a:schemeClr val="tx1"/>
                </a:solidFill>
              </a:rPr>
              <a:t> is a </a:t>
            </a:r>
            <a:r>
              <a:rPr lang="en-GB" sz="2600" b="1" dirty="0">
                <a:solidFill>
                  <a:schemeClr val="tx1"/>
                </a:solidFill>
              </a:rPr>
              <a:t>programmable</a:t>
            </a:r>
            <a:r>
              <a:rPr lang="en-GB" sz="2600" dirty="0">
                <a:solidFill>
                  <a:schemeClr val="tx1"/>
                </a:solidFill>
              </a:rPr>
              <a:t> device that stores, retrieves, and processes </a:t>
            </a:r>
            <a:r>
              <a:rPr lang="en-GB" sz="2600" b="1" dirty="0">
                <a:solidFill>
                  <a:schemeClr val="tx1"/>
                </a:solidFill>
              </a:rPr>
              <a:t>data</a:t>
            </a:r>
            <a:r>
              <a:rPr lang="en-GB" sz="2600" dirty="0">
                <a:solidFill>
                  <a:schemeClr val="tx1"/>
                </a:solidFill>
              </a:rPr>
              <a:t>. </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11</a:t>
            </a:fld>
            <a:endParaRPr lang="en-US">
              <a:latin typeface="Arial" pitchFamily="34" charset="0"/>
            </a:endParaRPr>
          </a:p>
        </p:txBody>
      </p:sp>
    </p:spTree>
    <p:extLst>
      <p:ext uri="{BB962C8B-B14F-4D97-AF65-F5344CB8AC3E}">
        <p14:creationId xmlns:p14="http://schemas.microsoft.com/office/powerpoint/2010/main" val="2137561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865188"/>
          </a:xfrm>
        </p:spPr>
        <p:txBody>
          <a:bodyPr>
            <a:normAutofit/>
          </a:bodyPr>
          <a:lstStyle/>
          <a:p>
            <a:pPr algn="ctr"/>
            <a:r>
              <a:rPr lang="en-US" sz="4000" b="1" dirty="0">
                <a:solidFill>
                  <a:srgbClr val="FF0000"/>
                </a:solidFill>
              </a:rPr>
              <a:t>What is a Computer?</a:t>
            </a:r>
          </a:p>
        </p:txBody>
      </p:sp>
      <p:sp>
        <p:nvSpPr>
          <p:cNvPr id="27651" name="Content Placeholder 2"/>
          <p:cNvSpPr>
            <a:spLocks noGrp="1"/>
          </p:cNvSpPr>
          <p:nvPr>
            <p:ph idx="1"/>
          </p:nvPr>
        </p:nvSpPr>
        <p:spPr>
          <a:xfrm>
            <a:off x="382587" y="1219200"/>
            <a:ext cx="11582400" cy="5029200"/>
          </a:xfrm>
        </p:spPr>
        <p:txBody>
          <a:bodyPr>
            <a:noAutofit/>
          </a:bodyPr>
          <a:lstStyle/>
          <a:p>
            <a:r>
              <a:rPr lang="en-US" sz="2600" b="1" dirty="0">
                <a:solidFill>
                  <a:schemeClr val="tx1"/>
                </a:solidFill>
              </a:rPr>
              <a:t>Definition 2:</a:t>
            </a:r>
            <a:endParaRPr lang="en-GB" sz="2600" dirty="0">
              <a:solidFill>
                <a:schemeClr val="tx1"/>
              </a:solidFill>
            </a:endParaRPr>
          </a:p>
          <a:p>
            <a:r>
              <a:rPr lang="en-US" sz="2600" dirty="0">
                <a:solidFill>
                  <a:schemeClr val="tx1"/>
                </a:solidFill>
              </a:rPr>
              <a:t>A </a:t>
            </a:r>
            <a:r>
              <a:rPr lang="en-US" sz="2600" b="1" dirty="0">
                <a:solidFill>
                  <a:schemeClr val="tx1"/>
                </a:solidFill>
              </a:rPr>
              <a:t>computer</a:t>
            </a:r>
            <a:r>
              <a:rPr lang="en-US" sz="2600" dirty="0">
                <a:solidFill>
                  <a:schemeClr val="tx1"/>
                </a:solidFill>
              </a:rPr>
              <a:t> is a machine or device that performs processes, calculations and operations based on instructions provided by a software or hardware program.</a:t>
            </a:r>
            <a:endParaRPr lang="en-GB" sz="2600" dirty="0">
              <a:solidFill>
                <a:schemeClr val="tx1"/>
              </a:solidFill>
            </a:endParaRPr>
          </a:p>
          <a:p>
            <a:endParaRPr lang="en-GB" sz="1200" dirty="0">
              <a:solidFill>
                <a:schemeClr val="tx1"/>
              </a:solidFill>
            </a:endParaRPr>
          </a:p>
          <a:p>
            <a:r>
              <a:rPr lang="en-US" sz="2600" b="1" dirty="0">
                <a:solidFill>
                  <a:schemeClr val="tx1"/>
                </a:solidFill>
              </a:rPr>
              <a:t>Definition 3: </a:t>
            </a:r>
            <a:endParaRPr lang="en-GB" sz="2600" dirty="0">
              <a:solidFill>
                <a:schemeClr val="tx1"/>
              </a:solidFill>
            </a:endParaRPr>
          </a:p>
          <a:p>
            <a:pPr algn="just"/>
            <a:r>
              <a:rPr lang="en-US" sz="2600" dirty="0">
                <a:solidFill>
                  <a:schemeClr val="tx1"/>
                </a:solidFill>
              </a:rPr>
              <a:t>A </a:t>
            </a:r>
            <a:r>
              <a:rPr lang="en-US" sz="2600" b="1" dirty="0">
                <a:solidFill>
                  <a:schemeClr val="tx1"/>
                </a:solidFill>
              </a:rPr>
              <a:t>computer</a:t>
            </a:r>
            <a:r>
              <a:rPr lang="en-US" sz="2600" dirty="0">
                <a:solidFill>
                  <a:schemeClr val="tx1"/>
                </a:solidFill>
              </a:rPr>
              <a:t> may be defined as a sophisticated electronic calculating machine that accepts data, processes the data according to a list of internally stored instructions and produces the resulting output information.</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12</a:t>
            </a:fld>
            <a:endParaRPr lang="en-US">
              <a:latin typeface="Arial" pitchFamily="34" charset="0"/>
            </a:endParaRPr>
          </a:p>
        </p:txBody>
      </p:sp>
    </p:spTree>
    <p:extLst>
      <p:ext uri="{BB962C8B-B14F-4D97-AF65-F5344CB8AC3E}">
        <p14:creationId xmlns:p14="http://schemas.microsoft.com/office/powerpoint/2010/main" val="3408108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Components of a Computer System</a:t>
            </a:r>
          </a:p>
        </p:txBody>
      </p:sp>
      <p:sp>
        <p:nvSpPr>
          <p:cNvPr id="27651" name="Content Placeholder 2"/>
          <p:cNvSpPr>
            <a:spLocks noGrp="1"/>
          </p:cNvSpPr>
          <p:nvPr>
            <p:ph idx="1"/>
          </p:nvPr>
        </p:nvSpPr>
        <p:spPr>
          <a:xfrm>
            <a:off x="306387" y="1066800"/>
            <a:ext cx="11582400" cy="5029200"/>
          </a:xfrm>
        </p:spPr>
        <p:txBody>
          <a:bodyPr>
            <a:noAutofit/>
          </a:bodyPr>
          <a:lstStyle/>
          <a:p>
            <a:r>
              <a:rPr lang="en-GB" dirty="0">
                <a:solidFill>
                  <a:schemeClr val="tx1"/>
                </a:solidFill>
              </a:rPr>
              <a:t>For the most part, all personal computers consist of the same basic components: </a:t>
            </a:r>
          </a:p>
          <a:p>
            <a:pPr marL="571500" indent="-571500">
              <a:buFont typeface="+mj-lt"/>
              <a:buAutoNum type="romanLcPeriod"/>
            </a:pPr>
            <a:r>
              <a:rPr lang="en-GB" b="1" dirty="0">
                <a:solidFill>
                  <a:schemeClr val="tx1"/>
                </a:solidFill>
              </a:rPr>
              <a:t>Central Processing Unit (CPU), </a:t>
            </a:r>
          </a:p>
          <a:p>
            <a:pPr marL="571500" indent="-571500">
              <a:buFont typeface="+mj-lt"/>
              <a:buAutoNum type="romanLcPeriod"/>
            </a:pPr>
            <a:r>
              <a:rPr lang="en-GB" b="1" dirty="0">
                <a:solidFill>
                  <a:schemeClr val="tx1"/>
                </a:solidFill>
              </a:rPr>
              <a:t>memory, </a:t>
            </a:r>
          </a:p>
          <a:p>
            <a:pPr marL="571500" indent="-571500">
              <a:buFont typeface="+mj-lt"/>
              <a:buAutoNum type="romanLcPeriod"/>
            </a:pPr>
            <a:r>
              <a:rPr lang="en-GB" b="1" dirty="0">
                <a:solidFill>
                  <a:schemeClr val="tx1"/>
                </a:solidFill>
              </a:rPr>
              <a:t>circuit board, </a:t>
            </a:r>
          </a:p>
          <a:p>
            <a:pPr marL="571500" indent="-571500">
              <a:buFont typeface="+mj-lt"/>
              <a:buAutoNum type="romanLcPeriod"/>
            </a:pPr>
            <a:r>
              <a:rPr lang="en-GB" b="1" dirty="0">
                <a:solidFill>
                  <a:schemeClr val="tx1"/>
                </a:solidFill>
              </a:rPr>
              <a:t>storage, and </a:t>
            </a:r>
          </a:p>
          <a:p>
            <a:pPr marL="571500" indent="-571500">
              <a:buFont typeface="+mj-lt"/>
              <a:buAutoNum type="romanLcPeriod"/>
            </a:pPr>
            <a:r>
              <a:rPr lang="en-GB" b="1" dirty="0">
                <a:solidFill>
                  <a:schemeClr val="tx1"/>
                </a:solidFill>
              </a:rPr>
              <a:t>input/output devices. </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13</a:t>
            </a:fld>
            <a:endParaRPr lang="en-US">
              <a:latin typeface="Arial" pitchFamily="34" charset="0"/>
            </a:endParaRPr>
          </a:p>
        </p:txBody>
      </p:sp>
    </p:spTree>
    <p:extLst>
      <p:ext uri="{BB962C8B-B14F-4D97-AF65-F5344CB8AC3E}">
        <p14:creationId xmlns:p14="http://schemas.microsoft.com/office/powerpoint/2010/main" val="3397428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Components of a Computer System</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14</a:t>
            </a:fld>
            <a:endParaRPr lang="en-US">
              <a:latin typeface="Arial" pitchFamily="34" charset="0"/>
            </a:endParaRPr>
          </a:p>
        </p:txBody>
      </p:sp>
      <p:pic>
        <p:nvPicPr>
          <p:cNvPr id="1026" name="Picture 3" descr="Description: Computer System">
            <a:extLst>
              <a:ext uri="{FF2B5EF4-FFF2-40B4-BE49-F238E27FC236}">
                <a16:creationId xmlns:a16="http://schemas.microsoft.com/office/drawing/2014/main" id="{9CC7409D-C0DD-4753-97E8-1915190F22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287" y="1121204"/>
            <a:ext cx="7848600" cy="51630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525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Components of a Computer System</a:t>
            </a:r>
          </a:p>
        </p:txBody>
      </p:sp>
      <p:sp>
        <p:nvSpPr>
          <p:cNvPr id="27651" name="Content Placeholder 2"/>
          <p:cNvSpPr>
            <a:spLocks noGrp="1"/>
          </p:cNvSpPr>
          <p:nvPr>
            <p:ph idx="1"/>
          </p:nvPr>
        </p:nvSpPr>
        <p:spPr>
          <a:xfrm>
            <a:off x="306387" y="1066800"/>
            <a:ext cx="11582400" cy="4724400"/>
          </a:xfrm>
        </p:spPr>
        <p:txBody>
          <a:bodyPr>
            <a:noAutofit/>
          </a:bodyPr>
          <a:lstStyle/>
          <a:p>
            <a:pPr algn="just">
              <a:spcAft>
                <a:spcPts val="2400"/>
              </a:spcAft>
            </a:pPr>
            <a:r>
              <a:rPr lang="en-GB" sz="2600" dirty="0">
                <a:solidFill>
                  <a:schemeClr val="tx1"/>
                </a:solidFill>
              </a:rPr>
              <a:t>All computer applications make use of these components in different ways and combinations. </a:t>
            </a:r>
          </a:p>
          <a:p>
            <a:pPr algn="just">
              <a:spcAft>
                <a:spcPts val="2400"/>
              </a:spcAft>
            </a:pPr>
            <a:r>
              <a:rPr lang="en-GB" sz="2600" dirty="0">
                <a:solidFill>
                  <a:schemeClr val="tx1"/>
                </a:solidFill>
              </a:rPr>
              <a:t>It also turns out that almost every digital device uses the same set of components, so examining the personal computer will give us insight into the structure of a variety of digital devices. </a:t>
            </a:r>
          </a:p>
          <a:p>
            <a:pPr algn="just">
              <a:spcAft>
                <a:spcPts val="2400"/>
              </a:spcAft>
            </a:pPr>
            <a:r>
              <a:rPr lang="en-GB" sz="2600" dirty="0">
                <a:solidFill>
                  <a:schemeClr val="tx1"/>
                </a:solidFill>
              </a:rPr>
              <a:t>Thinking about computers in terms of their basic components, and the functionality associated with each component, reveals the primary functions of the computer in general. </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15</a:t>
            </a:fld>
            <a:endParaRPr lang="en-US">
              <a:latin typeface="Arial" pitchFamily="34" charset="0"/>
            </a:endParaRPr>
          </a:p>
        </p:txBody>
      </p:sp>
    </p:spTree>
    <p:extLst>
      <p:ext uri="{BB962C8B-B14F-4D97-AF65-F5344CB8AC3E}">
        <p14:creationId xmlns:p14="http://schemas.microsoft.com/office/powerpoint/2010/main" val="4005872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29274" y="1981200"/>
            <a:ext cx="10975658" cy="1219200"/>
          </a:xfrm>
        </p:spPr>
        <p:txBody>
          <a:bodyPr>
            <a:normAutofit/>
          </a:bodyPr>
          <a:lstStyle/>
          <a:p>
            <a:pPr algn="ctr"/>
            <a:r>
              <a:rPr lang="en-US" sz="4800" b="1" dirty="0">
                <a:solidFill>
                  <a:srgbClr val="FF0000"/>
                </a:solidFill>
              </a:rPr>
              <a:t>Computer System Design</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16</a:t>
            </a:fld>
            <a:endParaRPr lang="en-US">
              <a:latin typeface="Arial" pitchFamily="34" charset="0"/>
            </a:endParaRPr>
          </a:p>
        </p:txBody>
      </p:sp>
    </p:spTree>
    <p:extLst>
      <p:ext uri="{BB962C8B-B14F-4D97-AF65-F5344CB8AC3E}">
        <p14:creationId xmlns:p14="http://schemas.microsoft.com/office/powerpoint/2010/main" val="2872416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Computer System Design</a:t>
            </a:r>
          </a:p>
        </p:txBody>
      </p:sp>
      <p:sp>
        <p:nvSpPr>
          <p:cNvPr id="27651" name="Content Placeholder 2"/>
          <p:cNvSpPr>
            <a:spLocks noGrp="1"/>
          </p:cNvSpPr>
          <p:nvPr>
            <p:ph idx="1"/>
          </p:nvPr>
        </p:nvSpPr>
        <p:spPr>
          <a:xfrm>
            <a:off x="306387" y="1066800"/>
            <a:ext cx="11582400" cy="4724400"/>
          </a:xfrm>
        </p:spPr>
        <p:txBody>
          <a:bodyPr>
            <a:noAutofit/>
          </a:bodyPr>
          <a:lstStyle/>
          <a:p>
            <a:pPr algn="just"/>
            <a:r>
              <a:rPr lang="en-US" dirty="0">
                <a:solidFill>
                  <a:schemeClr val="tx1"/>
                </a:solidFill>
              </a:rPr>
              <a:t>Computer systems are designed using two closely related but distinct concepts namely:</a:t>
            </a:r>
            <a:endParaRPr lang="en-GB" dirty="0">
              <a:solidFill>
                <a:schemeClr val="tx1"/>
              </a:solidFill>
            </a:endParaRPr>
          </a:p>
          <a:p>
            <a:pPr lvl="0" algn="just"/>
            <a:r>
              <a:rPr lang="en-US" b="1" dirty="0">
                <a:solidFill>
                  <a:schemeClr val="tx1"/>
                </a:solidFill>
              </a:rPr>
              <a:t>Computer Architecture</a:t>
            </a:r>
            <a:endParaRPr lang="en-GB" dirty="0">
              <a:solidFill>
                <a:schemeClr val="tx1"/>
              </a:solidFill>
            </a:endParaRPr>
          </a:p>
          <a:p>
            <a:pPr lvl="0" algn="just"/>
            <a:r>
              <a:rPr lang="en-US" b="1" dirty="0">
                <a:solidFill>
                  <a:schemeClr val="tx1"/>
                </a:solidFill>
              </a:rPr>
              <a:t>Computer Organization</a:t>
            </a:r>
            <a:endParaRPr lang="en-GB" dirty="0">
              <a:solidFill>
                <a:schemeClr val="tx1"/>
              </a:solidFill>
            </a:endParaRPr>
          </a:p>
          <a:p>
            <a:pPr algn="just"/>
            <a:r>
              <a:rPr lang="en-US" dirty="0">
                <a:solidFill>
                  <a:schemeClr val="tx1"/>
                </a:solidFill>
              </a:rPr>
              <a:t>These concepts define how a computer system </a:t>
            </a:r>
            <a:r>
              <a:rPr lang="en-US" b="1" dirty="0">
                <a:solidFill>
                  <a:schemeClr val="tx1"/>
                </a:solidFill>
              </a:rPr>
              <a:t>functions and operates internally</a:t>
            </a:r>
            <a:r>
              <a:rPr lang="en-US" dirty="0">
                <a:solidFill>
                  <a:schemeClr val="tx1"/>
                </a:solidFill>
              </a:rPr>
              <a:t>.</a:t>
            </a:r>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17</a:t>
            </a:fld>
            <a:endParaRPr lang="en-US">
              <a:latin typeface="Arial" pitchFamily="34" charset="0"/>
            </a:endParaRPr>
          </a:p>
        </p:txBody>
      </p:sp>
    </p:spTree>
    <p:extLst>
      <p:ext uri="{BB962C8B-B14F-4D97-AF65-F5344CB8AC3E}">
        <p14:creationId xmlns:p14="http://schemas.microsoft.com/office/powerpoint/2010/main" val="2866530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Computer Architecture</a:t>
            </a:r>
          </a:p>
        </p:txBody>
      </p:sp>
      <p:sp>
        <p:nvSpPr>
          <p:cNvPr id="27651" name="Content Placeholder 2"/>
          <p:cNvSpPr>
            <a:spLocks noGrp="1"/>
          </p:cNvSpPr>
          <p:nvPr>
            <p:ph idx="1"/>
          </p:nvPr>
        </p:nvSpPr>
        <p:spPr>
          <a:xfrm>
            <a:off x="306387" y="1066800"/>
            <a:ext cx="11582400" cy="4724400"/>
          </a:xfrm>
        </p:spPr>
        <p:txBody>
          <a:bodyPr>
            <a:noAutofit/>
          </a:bodyPr>
          <a:lstStyle/>
          <a:p>
            <a:pPr algn="just">
              <a:spcAft>
                <a:spcPts val="1800"/>
              </a:spcAft>
            </a:pPr>
            <a:r>
              <a:rPr lang="en-GB" sz="2600" dirty="0">
                <a:solidFill>
                  <a:schemeClr val="tx1"/>
                </a:solidFill>
              </a:rPr>
              <a:t>Computer architecture refers simply to the attributes of a computer visible to a programmer. </a:t>
            </a:r>
          </a:p>
          <a:p>
            <a:pPr algn="just">
              <a:spcAft>
                <a:spcPts val="1800"/>
              </a:spcAft>
            </a:pPr>
            <a:r>
              <a:rPr lang="en-GB" sz="2600" dirty="0">
                <a:solidFill>
                  <a:schemeClr val="tx1"/>
                </a:solidFill>
              </a:rPr>
              <a:t>That is, it refers to those attributes that have direct impact on the logical execution of a computer program. </a:t>
            </a:r>
          </a:p>
          <a:p>
            <a:pPr algn="just">
              <a:spcAft>
                <a:spcPts val="1800"/>
              </a:spcAft>
            </a:pPr>
            <a:r>
              <a:rPr lang="en-GB" sz="2600" dirty="0">
                <a:solidFill>
                  <a:schemeClr val="tx1"/>
                </a:solidFill>
              </a:rPr>
              <a:t>For example, it is an </a:t>
            </a:r>
            <a:r>
              <a:rPr lang="en-GB" sz="2600" b="1" u="sng" dirty="0">
                <a:solidFill>
                  <a:srgbClr val="FF0000"/>
                </a:solidFill>
              </a:rPr>
              <a:t>architectural design issue </a:t>
            </a:r>
            <a:r>
              <a:rPr lang="en-GB" sz="2600" dirty="0">
                <a:solidFill>
                  <a:schemeClr val="tx1"/>
                </a:solidFill>
              </a:rPr>
              <a:t>whether a computer will have a </a:t>
            </a:r>
            <a:r>
              <a:rPr lang="en-GB" sz="2600" b="1" dirty="0">
                <a:solidFill>
                  <a:schemeClr val="tx1"/>
                </a:solidFill>
              </a:rPr>
              <a:t>multiply instruction</a:t>
            </a:r>
            <a:r>
              <a:rPr lang="en-GB" sz="2600" dirty="0">
                <a:solidFill>
                  <a:schemeClr val="tx1"/>
                </a:solidFill>
              </a:rPr>
              <a:t>.  </a:t>
            </a:r>
            <a:r>
              <a:rPr lang="en-GB" sz="2600" dirty="0">
                <a:solidFill>
                  <a:srgbClr val="FF0000"/>
                </a:solidFill>
              </a:rPr>
              <a:t>(MULTIPLICATION UNIT)</a:t>
            </a:r>
          </a:p>
          <a:p>
            <a:pPr algn="just">
              <a:spcAft>
                <a:spcPts val="1800"/>
              </a:spcAft>
            </a:pPr>
            <a:r>
              <a:rPr lang="en-GB" sz="2600" dirty="0">
                <a:solidFill>
                  <a:schemeClr val="tx1"/>
                </a:solidFill>
              </a:rPr>
              <a:t>But It is an </a:t>
            </a:r>
            <a:r>
              <a:rPr lang="en-GB" sz="2600" b="1" u="sng" dirty="0">
                <a:solidFill>
                  <a:srgbClr val="FF0000"/>
                </a:solidFill>
              </a:rPr>
              <a:t>organizational issue </a:t>
            </a:r>
            <a:r>
              <a:rPr lang="en-GB" sz="2600" dirty="0">
                <a:solidFill>
                  <a:schemeClr val="tx1"/>
                </a:solidFill>
              </a:rPr>
              <a:t>whether that instruction will be implemented by a special multiply unit or by a mechanism that makes repeated use of the add unit of the system</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18</a:t>
            </a:fld>
            <a:endParaRPr lang="en-US">
              <a:latin typeface="Arial" pitchFamily="34" charset="0"/>
            </a:endParaRPr>
          </a:p>
        </p:txBody>
      </p:sp>
    </p:spTree>
    <p:extLst>
      <p:ext uri="{BB962C8B-B14F-4D97-AF65-F5344CB8AC3E}">
        <p14:creationId xmlns:p14="http://schemas.microsoft.com/office/powerpoint/2010/main" val="2955969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Computer Architecture</a:t>
            </a:r>
          </a:p>
        </p:txBody>
      </p:sp>
      <p:sp>
        <p:nvSpPr>
          <p:cNvPr id="27651" name="Content Placeholder 2"/>
          <p:cNvSpPr>
            <a:spLocks noGrp="1"/>
          </p:cNvSpPr>
          <p:nvPr>
            <p:ph idx="1"/>
          </p:nvPr>
        </p:nvSpPr>
        <p:spPr>
          <a:xfrm>
            <a:off x="306387" y="1066800"/>
            <a:ext cx="11582400" cy="4724400"/>
          </a:xfrm>
        </p:spPr>
        <p:txBody>
          <a:bodyPr>
            <a:noAutofit/>
          </a:bodyPr>
          <a:lstStyle/>
          <a:p>
            <a:pPr algn="just">
              <a:spcAft>
                <a:spcPts val="1800"/>
              </a:spcAft>
            </a:pPr>
            <a:r>
              <a:rPr lang="en-US" dirty="0">
                <a:solidFill>
                  <a:schemeClr val="tx1"/>
                </a:solidFill>
              </a:rPr>
              <a:t>Thus, computer architecture refers to the </a:t>
            </a:r>
            <a:r>
              <a:rPr lang="en-US" b="1" dirty="0">
                <a:solidFill>
                  <a:schemeClr val="tx1"/>
                </a:solidFill>
              </a:rPr>
              <a:t>functional design and logical structure</a:t>
            </a:r>
            <a:r>
              <a:rPr lang="en-US" dirty="0">
                <a:solidFill>
                  <a:schemeClr val="tx1"/>
                </a:solidFill>
              </a:rPr>
              <a:t> of a computer system. It describes the following aspects of a computer: </a:t>
            </a:r>
            <a:endParaRPr lang="en-GB" dirty="0">
              <a:solidFill>
                <a:schemeClr val="tx1"/>
              </a:solidFill>
            </a:endParaRPr>
          </a:p>
          <a:p>
            <a:pPr lvl="1" algn="just">
              <a:spcAft>
                <a:spcPts val="1800"/>
              </a:spcAft>
            </a:pPr>
            <a:r>
              <a:rPr lang="en-US" sz="2800" b="1" dirty="0">
                <a:solidFill>
                  <a:schemeClr val="tx1"/>
                </a:solidFill>
              </a:rPr>
              <a:t>Instruction set</a:t>
            </a:r>
            <a:endParaRPr lang="en-GB" sz="2800" b="1" dirty="0">
              <a:solidFill>
                <a:schemeClr val="tx1"/>
              </a:solidFill>
            </a:endParaRPr>
          </a:p>
          <a:p>
            <a:pPr lvl="1" algn="just">
              <a:spcAft>
                <a:spcPts val="1800"/>
              </a:spcAft>
            </a:pPr>
            <a:r>
              <a:rPr lang="en-US" sz="2800" b="1" dirty="0">
                <a:solidFill>
                  <a:schemeClr val="tx1"/>
                </a:solidFill>
              </a:rPr>
              <a:t>Data types</a:t>
            </a:r>
            <a:endParaRPr lang="en-GB" sz="2800" b="1" dirty="0">
              <a:solidFill>
                <a:schemeClr val="tx1"/>
              </a:solidFill>
            </a:endParaRPr>
          </a:p>
          <a:p>
            <a:pPr lvl="1" algn="just">
              <a:spcAft>
                <a:spcPts val="1800"/>
              </a:spcAft>
            </a:pPr>
            <a:r>
              <a:rPr lang="en-US" sz="2800" b="1" dirty="0">
                <a:solidFill>
                  <a:schemeClr val="tx1"/>
                </a:solidFill>
              </a:rPr>
              <a:t>Addressing modes</a:t>
            </a:r>
            <a:endParaRPr lang="en-GB" sz="2800" b="1" dirty="0">
              <a:solidFill>
                <a:schemeClr val="tx1"/>
              </a:solidFill>
            </a:endParaRPr>
          </a:p>
          <a:p>
            <a:pPr lvl="1" algn="just">
              <a:spcAft>
                <a:spcPts val="1800"/>
              </a:spcAft>
            </a:pPr>
            <a:r>
              <a:rPr lang="en-US" sz="2800" b="1" dirty="0">
                <a:solidFill>
                  <a:schemeClr val="tx1"/>
                </a:solidFill>
              </a:rPr>
              <a:t>Register organization</a:t>
            </a:r>
            <a:endParaRPr lang="en-GB" sz="2800"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19</a:t>
            </a:fld>
            <a:endParaRPr lang="en-US">
              <a:latin typeface="Arial" pitchFamily="34" charset="0"/>
            </a:endParaRPr>
          </a:p>
        </p:txBody>
      </p:sp>
    </p:spTree>
    <p:extLst>
      <p:ext uri="{BB962C8B-B14F-4D97-AF65-F5344CB8AC3E}">
        <p14:creationId xmlns:p14="http://schemas.microsoft.com/office/powerpoint/2010/main" val="2766955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Computer Architecture</a:t>
            </a:r>
          </a:p>
        </p:txBody>
      </p:sp>
      <p:sp>
        <p:nvSpPr>
          <p:cNvPr id="27651" name="Content Placeholder 2"/>
          <p:cNvSpPr>
            <a:spLocks noGrp="1"/>
          </p:cNvSpPr>
          <p:nvPr>
            <p:ph idx="1"/>
          </p:nvPr>
        </p:nvSpPr>
        <p:spPr>
          <a:xfrm>
            <a:off x="306387" y="1066800"/>
            <a:ext cx="11582400" cy="4724400"/>
          </a:xfrm>
        </p:spPr>
        <p:txBody>
          <a:bodyPr>
            <a:noAutofit/>
          </a:bodyPr>
          <a:lstStyle/>
          <a:p>
            <a:pPr algn="just">
              <a:spcAft>
                <a:spcPts val="2400"/>
              </a:spcAft>
            </a:pPr>
            <a:r>
              <a:rPr lang="en-US" dirty="0">
                <a:solidFill>
                  <a:schemeClr val="tx1"/>
                </a:solidFill>
              </a:rPr>
              <a:t>Computer Architecture also answers the question: </a:t>
            </a:r>
            <a:r>
              <a:rPr lang="en-US" i="1" dirty="0">
                <a:solidFill>
                  <a:schemeClr val="tx1"/>
                </a:solidFill>
              </a:rPr>
              <a:t>“What does the computer do?”. </a:t>
            </a:r>
          </a:p>
          <a:p>
            <a:pPr algn="just">
              <a:spcAft>
                <a:spcPts val="2400"/>
              </a:spcAft>
            </a:pPr>
            <a:r>
              <a:rPr lang="en-US" dirty="0">
                <a:solidFill>
                  <a:schemeClr val="tx1"/>
                </a:solidFill>
              </a:rPr>
              <a:t>It therefore</a:t>
            </a:r>
            <a:r>
              <a:rPr lang="en-US" i="1" dirty="0">
                <a:solidFill>
                  <a:schemeClr val="tx1"/>
                </a:solidFill>
              </a:rPr>
              <a:t> </a:t>
            </a:r>
            <a:r>
              <a:rPr lang="en-US" dirty="0">
                <a:solidFill>
                  <a:schemeClr val="tx1"/>
                </a:solidFill>
              </a:rPr>
              <a:t>serves as a blueprint for system design. </a:t>
            </a:r>
          </a:p>
          <a:p>
            <a:pPr algn="just">
              <a:spcAft>
                <a:spcPts val="2400"/>
              </a:spcAft>
            </a:pPr>
            <a:r>
              <a:rPr lang="en-US" dirty="0">
                <a:solidFill>
                  <a:schemeClr val="tx1"/>
                </a:solidFill>
              </a:rPr>
              <a:t>Examples of architectural attributes include the instruction set, the number of bits used to represent various data types (e.g., numbers, characters), I/O mechanisms, and techniques for addressing memory. </a:t>
            </a:r>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20</a:t>
            </a:fld>
            <a:endParaRPr lang="en-US">
              <a:latin typeface="Arial" pitchFamily="34" charset="0"/>
            </a:endParaRPr>
          </a:p>
        </p:txBody>
      </p:sp>
    </p:spTree>
    <p:extLst>
      <p:ext uri="{BB962C8B-B14F-4D97-AF65-F5344CB8AC3E}">
        <p14:creationId xmlns:p14="http://schemas.microsoft.com/office/powerpoint/2010/main" val="406763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201612"/>
            <a:ext cx="10975658" cy="712788"/>
          </a:xfrm>
        </p:spPr>
        <p:txBody>
          <a:bodyPr>
            <a:normAutofit/>
          </a:bodyPr>
          <a:lstStyle/>
          <a:p>
            <a:pPr algn="ctr"/>
            <a:r>
              <a:rPr lang="en-US" sz="4000" b="1" dirty="0">
                <a:solidFill>
                  <a:srgbClr val="FF0000"/>
                </a:solidFill>
              </a:rPr>
              <a:t>In-Class Question</a:t>
            </a:r>
          </a:p>
        </p:txBody>
      </p:sp>
      <p:sp>
        <p:nvSpPr>
          <p:cNvPr id="27651" name="Content Placeholder 2"/>
          <p:cNvSpPr>
            <a:spLocks noGrp="1"/>
          </p:cNvSpPr>
          <p:nvPr>
            <p:ph idx="1"/>
          </p:nvPr>
        </p:nvSpPr>
        <p:spPr>
          <a:xfrm>
            <a:off x="306387" y="2209706"/>
            <a:ext cx="11582400" cy="1524094"/>
          </a:xfrm>
        </p:spPr>
        <p:txBody>
          <a:bodyPr>
            <a:noAutofit/>
          </a:bodyPr>
          <a:lstStyle/>
          <a:p>
            <a:pPr marL="0" indent="0" algn="ctr">
              <a:buNone/>
            </a:pPr>
            <a:r>
              <a:rPr lang="en-US" sz="4000" b="1" dirty="0">
                <a:solidFill>
                  <a:schemeClr val="tx1"/>
                </a:solidFill>
              </a:rPr>
              <a:t>What is the primary focus of computer architecture?</a:t>
            </a:r>
            <a:endParaRPr lang="en-GB" sz="4000"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21</a:t>
            </a:fld>
            <a:endParaRPr lang="en-US">
              <a:latin typeface="Arial" pitchFamily="34" charset="0"/>
            </a:endParaRPr>
          </a:p>
        </p:txBody>
      </p:sp>
    </p:spTree>
    <p:extLst>
      <p:ext uri="{BB962C8B-B14F-4D97-AF65-F5344CB8AC3E}">
        <p14:creationId xmlns:p14="http://schemas.microsoft.com/office/powerpoint/2010/main" val="1197085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457200"/>
            <a:ext cx="10975658" cy="712788"/>
          </a:xfrm>
        </p:spPr>
        <p:txBody>
          <a:bodyPr>
            <a:normAutofit/>
          </a:bodyPr>
          <a:lstStyle/>
          <a:p>
            <a:pPr algn="ctr"/>
            <a:r>
              <a:rPr lang="en-US" sz="4000" b="1" dirty="0">
                <a:solidFill>
                  <a:srgbClr val="FF0000"/>
                </a:solidFill>
              </a:rPr>
              <a:t>Answer</a:t>
            </a:r>
          </a:p>
        </p:txBody>
      </p:sp>
      <p:sp>
        <p:nvSpPr>
          <p:cNvPr id="27651" name="Content Placeholder 2"/>
          <p:cNvSpPr>
            <a:spLocks noGrp="1"/>
          </p:cNvSpPr>
          <p:nvPr>
            <p:ph idx="1"/>
          </p:nvPr>
        </p:nvSpPr>
        <p:spPr>
          <a:xfrm>
            <a:off x="306387" y="1981200"/>
            <a:ext cx="11582400" cy="1447800"/>
          </a:xfrm>
        </p:spPr>
        <p:txBody>
          <a:bodyPr>
            <a:noAutofit/>
          </a:bodyPr>
          <a:lstStyle/>
          <a:p>
            <a:pPr marL="0" indent="0" algn="ctr">
              <a:buNone/>
            </a:pPr>
            <a:r>
              <a:rPr lang="en-US" sz="4000" b="1" dirty="0">
                <a:solidFill>
                  <a:schemeClr val="tx1"/>
                </a:solidFill>
              </a:rPr>
              <a:t>It focuses on the functional behavior and logical design of the computer system.</a:t>
            </a:r>
            <a:endParaRPr lang="en-GB" sz="4000"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22</a:t>
            </a:fld>
            <a:endParaRPr lang="en-US">
              <a:latin typeface="Arial" pitchFamily="34" charset="0"/>
            </a:endParaRPr>
          </a:p>
        </p:txBody>
      </p:sp>
    </p:spTree>
    <p:extLst>
      <p:ext uri="{BB962C8B-B14F-4D97-AF65-F5344CB8AC3E}">
        <p14:creationId xmlns:p14="http://schemas.microsoft.com/office/powerpoint/2010/main" val="2793133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152400"/>
            <a:ext cx="10975658" cy="712788"/>
          </a:xfrm>
        </p:spPr>
        <p:txBody>
          <a:bodyPr>
            <a:normAutofit/>
          </a:bodyPr>
          <a:lstStyle/>
          <a:p>
            <a:pPr algn="ctr"/>
            <a:r>
              <a:rPr lang="en-US" sz="4000" b="1" dirty="0">
                <a:solidFill>
                  <a:srgbClr val="FF0000"/>
                </a:solidFill>
              </a:rPr>
              <a:t>Computer Organization</a:t>
            </a:r>
          </a:p>
        </p:txBody>
      </p:sp>
      <p:sp>
        <p:nvSpPr>
          <p:cNvPr id="27651" name="Content Placeholder 2"/>
          <p:cNvSpPr>
            <a:spLocks noGrp="1"/>
          </p:cNvSpPr>
          <p:nvPr>
            <p:ph idx="1"/>
          </p:nvPr>
        </p:nvSpPr>
        <p:spPr>
          <a:xfrm>
            <a:off x="306387" y="990600"/>
            <a:ext cx="11582400" cy="5181600"/>
          </a:xfrm>
        </p:spPr>
        <p:txBody>
          <a:bodyPr>
            <a:noAutofit/>
          </a:bodyPr>
          <a:lstStyle/>
          <a:p>
            <a:pPr algn="just"/>
            <a:r>
              <a:rPr lang="en-US" sz="2600" dirty="0">
                <a:solidFill>
                  <a:schemeClr val="tx1"/>
                </a:solidFill>
              </a:rPr>
              <a:t>Computer organization refers to the operational units and their interconnections that realize the architectural specifications. </a:t>
            </a:r>
          </a:p>
          <a:p>
            <a:pPr algn="just"/>
            <a:r>
              <a:rPr lang="en-US" sz="2600" dirty="0">
                <a:solidFill>
                  <a:schemeClr val="tx1"/>
                </a:solidFill>
              </a:rPr>
              <a:t>Organizational attributes include those hardware details transparent to the programmer, such as control signals; interfaces between the computer and peripherals; and the memory technology used.</a:t>
            </a:r>
            <a:endParaRPr lang="en-GB" sz="2600" dirty="0">
              <a:solidFill>
                <a:schemeClr val="tx1"/>
              </a:solidFill>
            </a:endParaRPr>
          </a:p>
          <a:p>
            <a:pPr algn="just"/>
            <a:r>
              <a:rPr lang="en-US" sz="2600" dirty="0">
                <a:solidFill>
                  <a:schemeClr val="tx1"/>
                </a:solidFill>
              </a:rPr>
              <a:t>Computer organization refers to the </a:t>
            </a:r>
            <a:r>
              <a:rPr lang="en-US" sz="2600" b="1" dirty="0">
                <a:solidFill>
                  <a:schemeClr val="tx1"/>
                </a:solidFill>
              </a:rPr>
              <a:t>physical implementation</a:t>
            </a:r>
            <a:r>
              <a:rPr lang="en-US" sz="2600" dirty="0">
                <a:solidFill>
                  <a:schemeClr val="tx1"/>
                </a:solidFill>
              </a:rPr>
              <a:t> of the system, including:</a:t>
            </a:r>
            <a:endParaRPr lang="en-GB" sz="2600" dirty="0">
              <a:solidFill>
                <a:schemeClr val="tx1"/>
              </a:solidFill>
            </a:endParaRPr>
          </a:p>
          <a:p>
            <a:pPr lvl="1" algn="just"/>
            <a:r>
              <a:rPr lang="en-US" b="1" dirty="0">
                <a:solidFill>
                  <a:schemeClr val="tx1"/>
                </a:solidFill>
              </a:rPr>
              <a:t>Hardware components</a:t>
            </a:r>
            <a:endParaRPr lang="en-GB" b="1" dirty="0">
              <a:solidFill>
                <a:schemeClr val="tx1"/>
              </a:solidFill>
            </a:endParaRPr>
          </a:p>
          <a:p>
            <a:pPr lvl="1" algn="just"/>
            <a:r>
              <a:rPr lang="en-US" b="1" dirty="0">
                <a:solidFill>
                  <a:schemeClr val="tx1"/>
                </a:solidFill>
              </a:rPr>
              <a:t>Interconnections</a:t>
            </a:r>
            <a:endParaRPr lang="en-GB" b="1" dirty="0">
              <a:solidFill>
                <a:schemeClr val="tx1"/>
              </a:solidFill>
            </a:endParaRPr>
          </a:p>
          <a:p>
            <a:pPr lvl="1" algn="just"/>
            <a:r>
              <a:rPr lang="en-US" b="1" dirty="0">
                <a:solidFill>
                  <a:schemeClr val="tx1"/>
                </a:solidFill>
              </a:rPr>
              <a:t>Control signals</a:t>
            </a:r>
            <a:endParaRPr lang="en-GB" b="1" dirty="0">
              <a:solidFill>
                <a:schemeClr val="tx1"/>
              </a:solidFill>
            </a:endParaRPr>
          </a:p>
          <a:p>
            <a:pPr lvl="1" algn="just"/>
            <a:r>
              <a:rPr lang="en-US" b="1" dirty="0">
                <a:solidFill>
                  <a:schemeClr val="tx1"/>
                </a:solidFill>
              </a:rPr>
              <a:t>Memory structure</a:t>
            </a:r>
            <a:endParaRPr lang="en-GB"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23</a:t>
            </a:fld>
            <a:endParaRPr lang="en-US">
              <a:latin typeface="Arial" pitchFamily="34" charset="0"/>
            </a:endParaRPr>
          </a:p>
        </p:txBody>
      </p:sp>
    </p:spTree>
    <p:extLst>
      <p:ext uri="{BB962C8B-B14F-4D97-AF65-F5344CB8AC3E}">
        <p14:creationId xmlns:p14="http://schemas.microsoft.com/office/powerpoint/2010/main" val="4112215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152400"/>
            <a:ext cx="10975658" cy="712788"/>
          </a:xfrm>
        </p:spPr>
        <p:txBody>
          <a:bodyPr>
            <a:normAutofit/>
          </a:bodyPr>
          <a:lstStyle/>
          <a:p>
            <a:pPr algn="ctr"/>
            <a:r>
              <a:rPr lang="en-US" sz="4000" b="1" dirty="0">
                <a:solidFill>
                  <a:srgbClr val="FF0000"/>
                </a:solidFill>
              </a:rPr>
              <a:t>Computer Organization</a:t>
            </a:r>
          </a:p>
        </p:txBody>
      </p:sp>
      <p:sp>
        <p:nvSpPr>
          <p:cNvPr id="27651" name="Content Placeholder 2"/>
          <p:cNvSpPr>
            <a:spLocks noGrp="1"/>
          </p:cNvSpPr>
          <p:nvPr>
            <p:ph idx="1"/>
          </p:nvPr>
        </p:nvSpPr>
        <p:spPr>
          <a:xfrm>
            <a:off x="306387" y="1066800"/>
            <a:ext cx="11582400" cy="5181600"/>
          </a:xfrm>
        </p:spPr>
        <p:txBody>
          <a:bodyPr>
            <a:noAutofit/>
          </a:bodyPr>
          <a:lstStyle/>
          <a:p>
            <a:pPr algn="just">
              <a:spcAft>
                <a:spcPts val="3000"/>
              </a:spcAft>
            </a:pPr>
            <a:r>
              <a:rPr lang="en-US" dirty="0">
                <a:solidFill>
                  <a:schemeClr val="tx1"/>
                </a:solidFill>
              </a:rPr>
              <a:t>Thus, Computer Organization answers the question: </a:t>
            </a:r>
            <a:r>
              <a:rPr lang="en-US" i="1" dirty="0">
                <a:solidFill>
                  <a:schemeClr val="tx1"/>
                </a:solidFill>
              </a:rPr>
              <a:t>“</a:t>
            </a:r>
            <a:r>
              <a:rPr lang="en-US" dirty="0">
                <a:solidFill>
                  <a:schemeClr val="tx1"/>
                </a:solidFill>
              </a:rPr>
              <a:t>How</a:t>
            </a:r>
            <a:r>
              <a:rPr lang="en-US" i="1" dirty="0">
                <a:solidFill>
                  <a:schemeClr val="tx1"/>
                </a:solidFill>
              </a:rPr>
              <a:t> </a:t>
            </a:r>
            <a:r>
              <a:rPr lang="en-US" dirty="0">
                <a:solidFill>
                  <a:schemeClr val="tx1"/>
                </a:solidFill>
              </a:rPr>
              <a:t>does the computer do it?.</a:t>
            </a:r>
            <a:r>
              <a:rPr lang="en-US" i="1" dirty="0">
                <a:solidFill>
                  <a:schemeClr val="tx1"/>
                </a:solidFill>
              </a:rPr>
              <a:t> </a:t>
            </a:r>
            <a:r>
              <a:rPr lang="en-US" dirty="0">
                <a:solidFill>
                  <a:schemeClr val="tx1"/>
                </a:solidFill>
              </a:rPr>
              <a:t>It ensures the architecture is </a:t>
            </a:r>
            <a:r>
              <a:rPr lang="en-US" b="1" dirty="0">
                <a:solidFill>
                  <a:schemeClr val="tx1"/>
                </a:solidFill>
              </a:rPr>
              <a:t>translated into working hardware</a:t>
            </a:r>
            <a:r>
              <a:rPr lang="en-US" dirty="0">
                <a:solidFill>
                  <a:schemeClr val="tx1"/>
                </a:solidFill>
              </a:rPr>
              <a:t>. </a:t>
            </a:r>
          </a:p>
          <a:p>
            <a:pPr algn="just">
              <a:spcAft>
                <a:spcPts val="3000"/>
              </a:spcAft>
            </a:pPr>
            <a:r>
              <a:rPr lang="en-US" dirty="0">
                <a:solidFill>
                  <a:srgbClr val="FF0000"/>
                </a:solidFill>
              </a:rPr>
              <a:t>Computer architecture can be likened to a building design while computer organization may be likened to the actual construction or implementation of the building. </a:t>
            </a:r>
            <a:endParaRPr lang="en-GB" dirty="0">
              <a:solidFill>
                <a:srgbClr val="FF0000"/>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24</a:t>
            </a:fld>
            <a:endParaRPr lang="en-US">
              <a:latin typeface="Arial" pitchFamily="34" charset="0"/>
            </a:endParaRPr>
          </a:p>
        </p:txBody>
      </p:sp>
    </p:spTree>
    <p:extLst>
      <p:ext uri="{BB962C8B-B14F-4D97-AF65-F5344CB8AC3E}">
        <p14:creationId xmlns:p14="http://schemas.microsoft.com/office/powerpoint/2010/main" val="916104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88933" y="381000"/>
            <a:ext cx="10975658" cy="712788"/>
          </a:xfrm>
        </p:spPr>
        <p:txBody>
          <a:bodyPr>
            <a:normAutofit/>
          </a:bodyPr>
          <a:lstStyle/>
          <a:p>
            <a:pPr algn="ctr"/>
            <a:r>
              <a:rPr lang="en-US" sz="4000" b="1" dirty="0">
                <a:solidFill>
                  <a:srgbClr val="FF0000"/>
                </a:solidFill>
              </a:rPr>
              <a:t>In-Class Question</a:t>
            </a:r>
          </a:p>
        </p:txBody>
      </p:sp>
      <p:sp>
        <p:nvSpPr>
          <p:cNvPr id="27651" name="Content Placeholder 2"/>
          <p:cNvSpPr>
            <a:spLocks noGrp="1"/>
          </p:cNvSpPr>
          <p:nvPr>
            <p:ph idx="1"/>
          </p:nvPr>
        </p:nvSpPr>
        <p:spPr>
          <a:xfrm>
            <a:off x="306387" y="2209800"/>
            <a:ext cx="11582400" cy="838200"/>
          </a:xfrm>
        </p:spPr>
        <p:txBody>
          <a:bodyPr>
            <a:noAutofit/>
          </a:bodyPr>
          <a:lstStyle/>
          <a:p>
            <a:pPr marL="0" indent="0" algn="ctr">
              <a:buNone/>
            </a:pPr>
            <a:r>
              <a:rPr lang="en-US" sz="4000" b="1" dirty="0">
                <a:solidFill>
                  <a:schemeClr val="tx1"/>
                </a:solidFill>
              </a:rPr>
              <a:t>What does computer organization describe?</a:t>
            </a:r>
            <a:br>
              <a:rPr lang="en-US" sz="4000" b="1" dirty="0">
                <a:solidFill>
                  <a:schemeClr val="tx1"/>
                </a:solidFill>
              </a:rPr>
            </a:br>
            <a:endParaRPr lang="en-GB" sz="4000"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25</a:t>
            </a:fld>
            <a:endParaRPr lang="en-US">
              <a:latin typeface="Arial" pitchFamily="34" charset="0"/>
            </a:endParaRPr>
          </a:p>
        </p:txBody>
      </p:sp>
    </p:spTree>
    <p:extLst>
      <p:ext uri="{BB962C8B-B14F-4D97-AF65-F5344CB8AC3E}">
        <p14:creationId xmlns:p14="http://schemas.microsoft.com/office/powerpoint/2010/main" val="4239114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81000"/>
            <a:ext cx="10975658" cy="712788"/>
          </a:xfrm>
        </p:spPr>
        <p:txBody>
          <a:bodyPr>
            <a:normAutofit/>
          </a:bodyPr>
          <a:lstStyle/>
          <a:p>
            <a:pPr algn="ctr"/>
            <a:r>
              <a:rPr lang="en-US" sz="4000" b="1" dirty="0">
                <a:solidFill>
                  <a:srgbClr val="FF0000"/>
                </a:solidFill>
              </a:rPr>
              <a:t>Answer</a:t>
            </a:r>
          </a:p>
        </p:txBody>
      </p:sp>
      <p:sp>
        <p:nvSpPr>
          <p:cNvPr id="27651" name="Content Placeholder 2"/>
          <p:cNvSpPr>
            <a:spLocks noGrp="1"/>
          </p:cNvSpPr>
          <p:nvPr>
            <p:ph idx="1"/>
          </p:nvPr>
        </p:nvSpPr>
        <p:spPr>
          <a:xfrm>
            <a:off x="306387" y="1981200"/>
            <a:ext cx="11582400" cy="1447800"/>
          </a:xfrm>
        </p:spPr>
        <p:txBody>
          <a:bodyPr>
            <a:noAutofit/>
          </a:bodyPr>
          <a:lstStyle/>
          <a:p>
            <a:pPr marL="0" indent="0" algn="ctr">
              <a:buNone/>
            </a:pPr>
            <a:r>
              <a:rPr lang="en-US" sz="3600" b="1" dirty="0">
                <a:solidFill>
                  <a:schemeClr val="tx1"/>
                </a:solidFill>
              </a:rPr>
              <a:t>It describes the physical arrangement and implementation of hardware components.</a:t>
            </a:r>
            <a:endParaRPr lang="en-GB" sz="3600" b="1"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26</a:t>
            </a:fld>
            <a:endParaRPr lang="en-US">
              <a:latin typeface="Arial" pitchFamily="34" charset="0"/>
            </a:endParaRPr>
          </a:p>
        </p:txBody>
      </p:sp>
    </p:spTree>
    <p:extLst>
      <p:ext uri="{BB962C8B-B14F-4D97-AF65-F5344CB8AC3E}">
        <p14:creationId xmlns:p14="http://schemas.microsoft.com/office/powerpoint/2010/main" val="2549615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24792" y="1905000"/>
            <a:ext cx="10975658" cy="1371600"/>
          </a:xfrm>
        </p:spPr>
        <p:txBody>
          <a:bodyPr>
            <a:normAutofit/>
          </a:bodyPr>
          <a:lstStyle/>
          <a:p>
            <a:pPr algn="ctr"/>
            <a:r>
              <a:rPr lang="en-US" sz="3600" b="1" dirty="0">
                <a:solidFill>
                  <a:srgbClr val="FF0000"/>
                </a:solidFill>
              </a:rPr>
              <a:t>Components of Computer Architecture and Computer Organization</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27</a:t>
            </a:fld>
            <a:endParaRPr lang="en-US">
              <a:latin typeface="Arial" pitchFamily="34" charset="0"/>
            </a:endParaRPr>
          </a:p>
        </p:txBody>
      </p:sp>
    </p:spTree>
    <p:extLst>
      <p:ext uri="{BB962C8B-B14F-4D97-AF65-F5344CB8AC3E}">
        <p14:creationId xmlns:p14="http://schemas.microsoft.com/office/powerpoint/2010/main" val="1457703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1187" y="152400"/>
            <a:ext cx="10975658" cy="712788"/>
          </a:xfrm>
        </p:spPr>
        <p:txBody>
          <a:bodyPr>
            <a:normAutofit/>
          </a:bodyPr>
          <a:lstStyle/>
          <a:p>
            <a:pPr algn="ctr"/>
            <a:r>
              <a:rPr lang="en-US" sz="4000" b="1" dirty="0">
                <a:solidFill>
                  <a:srgbClr val="FF0000"/>
                </a:solidFill>
              </a:rPr>
              <a:t>Computer Organization</a:t>
            </a:r>
          </a:p>
        </p:txBody>
      </p:sp>
      <p:sp>
        <p:nvSpPr>
          <p:cNvPr id="27651" name="Content Placeholder 2"/>
          <p:cNvSpPr>
            <a:spLocks noGrp="1"/>
          </p:cNvSpPr>
          <p:nvPr>
            <p:ph idx="1"/>
          </p:nvPr>
        </p:nvSpPr>
        <p:spPr>
          <a:xfrm>
            <a:off x="306387" y="1219200"/>
            <a:ext cx="11506200" cy="4876800"/>
          </a:xfrm>
        </p:spPr>
        <p:txBody>
          <a:bodyPr>
            <a:noAutofit/>
          </a:bodyPr>
          <a:lstStyle/>
          <a:p>
            <a:pPr algn="just">
              <a:spcAft>
                <a:spcPts val="2400"/>
              </a:spcAft>
            </a:pPr>
            <a:r>
              <a:rPr lang="en-US" dirty="0">
                <a:solidFill>
                  <a:schemeClr val="tx1"/>
                </a:solidFill>
              </a:rPr>
              <a:t>A computer system is not just a collection of hardware parts; it is a carefully designed system governed by two fundamental concepts namely Computer Architecture and Computer Organization as discussed in previous section</a:t>
            </a:r>
            <a:endParaRPr lang="en-GB" dirty="0">
              <a:solidFill>
                <a:schemeClr val="tx1"/>
              </a:solidFill>
            </a:endParaRPr>
          </a:p>
          <a:p>
            <a:pPr algn="just">
              <a:spcAft>
                <a:spcPts val="2400"/>
              </a:spcAft>
            </a:pPr>
            <a:r>
              <a:rPr lang="en-US" dirty="0">
                <a:solidFill>
                  <a:schemeClr val="tx1"/>
                </a:solidFill>
              </a:rPr>
              <a:t>These two concepts work together to define what a computer system does and how efficiently it performs task. </a:t>
            </a:r>
          </a:p>
          <a:p>
            <a:pPr algn="just">
              <a:spcAft>
                <a:spcPts val="2400"/>
              </a:spcAft>
            </a:pPr>
            <a:r>
              <a:rPr lang="en-US" dirty="0">
                <a:solidFill>
                  <a:schemeClr val="tx1"/>
                </a:solidFill>
              </a:rPr>
              <a:t>Understanding the components of these two vital concepts is crucial for designing efficient hardware systems, writing optimized software and Improving system performance. </a:t>
            </a:r>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28</a:t>
            </a:fld>
            <a:endParaRPr lang="en-US">
              <a:latin typeface="Arial" pitchFamily="34" charset="0"/>
            </a:endParaRPr>
          </a:p>
        </p:txBody>
      </p:sp>
    </p:spTree>
    <p:extLst>
      <p:ext uri="{BB962C8B-B14F-4D97-AF65-F5344CB8AC3E}">
        <p14:creationId xmlns:p14="http://schemas.microsoft.com/office/powerpoint/2010/main" val="2655072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a:t>
            </a:r>
            <a:endParaRPr lang="en-GB" dirty="0"/>
          </a:p>
        </p:txBody>
      </p:sp>
      <p:sp>
        <p:nvSpPr>
          <p:cNvPr id="27651" name="Content Placeholder 2"/>
          <p:cNvSpPr>
            <a:spLocks noGrp="1"/>
          </p:cNvSpPr>
          <p:nvPr>
            <p:ph idx="1"/>
          </p:nvPr>
        </p:nvSpPr>
        <p:spPr>
          <a:xfrm>
            <a:off x="306387" y="1219200"/>
            <a:ext cx="11430000" cy="4419600"/>
          </a:xfrm>
        </p:spPr>
        <p:txBody>
          <a:bodyPr>
            <a:noAutofit/>
          </a:bodyPr>
          <a:lstStyle/>
          <a:p>
            <a:pPr algn="just">
              <a:spcAft>
                <a:spcPts val="3000"/>
              </a:spcAft>
            </a:pPr>
            <a:r>
              <a:rPr lang="en-US" dirty="0">
                <a:solidFill>
                  <a:schemeClr val="tx1"/>
                </a:solidFill>
              </a:rPr>
              <a:t>Computer architecture defines the </a:t>
            </a:r>
            <a:r>
              <a:rPr lang="en-US" b="1" dirty="0">
                <a:solidFill>
                  <a:schemeClr val="tx1"/>
                </a:solidFill>
              </a:rPr>
              <a:t>logical structure and functional behavior</a:t>
            </a:r>
            <a:r>
              <a:rPr lang="en-US" dirty="0">
                <a:solidFill>
                  <a:schemeClr val="tx1"/>
                </a:solidFill>
              </a:rPr>
              <a:t> of a computer system. </a:t>
            </a:r>
          </a:p>
          <a:p>
            <a:pPr algn="just">
              <a:spcAft>
                <a:spcPts val="3000"/>
              </a:spcAft>
            </a:pPr>
            <a:r>
              <a:rPr lang="en-US" dirty="0">
                <a:solidFill>
                  <a:schemeClr val="tx1"/>
                </a:solidFill>
              </a:rPr>
              <a:t>These components are typically </a:t>
            </a:r>
            <a:r>
              <a:rPr lang="en-US" b="1" dirty="0">
                <a:solidFill>
                  <a:schemeClr val="tx1"/>
                </a:solidFill>
              </a:rPr>
              <a:t>visible to programmers</a:t>
            </a:r>
            <a:r>
              <a:rPr lang="en-US" dirty="0">
                <a:solidFill>
                  <a:schemeClr val="tx1"/>
                </a:solidFill>
              </a:rPr>
              <a:t> and determine how software interacts with hardware.</a:t>
            </a:r>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29</a:t>
            </a:fld>
            <a:endParaRPr lang="en-US">
              <a:latin typeface="Arial" pitchFamily="34" charset="0"/>
            </a:endParaRPr>
          </a:p>
        </p:txBody>
      </p:sp>
    </p:spTree>
    <p:extLst>
      <p:ext uri="{BB962C8B-B14F-4D97-AF65-F5344CB8AC3E}">
        <p14:creationId xmlns:p14="http://schemas.microsoft.com/office/powerpoint/2010/main" val="1069100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Architecture - 1</a:t>
            </a:r>
            <a:endParaRPr lang="en-GB" dirty="0"/>
          </a:p>
        </p:txBody>
      </p:sp>
      <p:sp>
        <p:nvSpPr>
          <p:cNvPr id="27651" name="Content Placeholder 2"/>
          <p:cNvSpPr>
            <a:spLocks noGrp="1"/>
          </p:cNvSpPr>
          <p:nvPr>
            <p:ph idx="1"/>
          </p:nvPr>
        </p:nvSpPr>
        <p:spPr>
          <a:xfrm>
            <a:off x="306387" y="1066800"/>
            <a:ext cx="11506200" cy="5181600"/>
          </a:xfrm>
        </p:spPr>
        <p:txBody>
          <a:bodyPr>
            <a:noAutofit/>
          </a:bodyPr>
          <a:lstStyle/>
          <a:p>
            <a:pPr algn="just"/>
            <a:r>
              <a:rPr lang="en-US" sz="2700" b="1" dirty="0"/>
              <a:t>Instruction Set Architecture (ISA)</a:t>
            </a:r>
            <a:endParaRPr lang="en-GB" sz="2700" b="1" dirty="0"/>
          </a:p>
          <a:p>
            <a:pPr algn="just"/>
            <a:r>
              <a:rPr lang="en-US" sz="2700" dirty="0">
                <a:solidFill>
                  <a:schemeClr val="tx1"/>
                </a:solidFill>
              </a:rPr>
              <a:t>The </a:t>
            </a:r>
            <a:r>
              <a:rPr lang="en-US" sz="2700" b="1" dirty="0">
                <a:solidFill>
                  <a:schemeClr val="tx1"/>
                </a:solidFill>
              </a:rPr>
              <a:t>Instruction Set Architecture (ISA)</a:t>
            </a:r>
            <a:r>
              <a:rPr lang="en-US" sz="2700" dirty="0">
                <a:solidFill>
                  <a:schemeClr val="tx1"/>
                </a:solidFill>
              </a:rPr>
              <a:t> is the </a:t>
            </a:r>
            <a:r>
              <a:rPr lang="en-US" sz="2700" b="1" dirty="0">
                <a:solidFill>
                  <a:schemeClr val="tx1"/>
                </a:solidFill>
              </a:rPr>
              <a:t>core of computer architecture</a:t>
            </a:r>
            <a:r>
              <a:rPr lang="en-US" sz="2700" dirty="0">
                <a:solidFill>
                  <a:schemeClr val="tx1"/>
                </a:solidFill>
              </a:rPr>
              <a:t>. </a:t>
            </a:r>
          </a:p>
          <a:p>
            <a:pPr algn="just"/>
            <a:r>
              <a:rPr lang="en-US" sz="2700" dirty="0">
                <a:solidFill>
                  <a:schemeClr val="tx1"/>
                </a:solidFill>
              </a:rPr>
              <a:t>It acts as the interface between hardware and software and defines the following:</a:t>
            </a:r>
            <a:endParaRPr lang="en-GB" sz="2700" dirty="0">
              <a:solidFill>
                <a:schemeClr val="tx1"/>
              </a:solidFill>
            </a:endParaRPr>
          </a:p>
          <a:p>
            <a:pPr lvl="0" algn="just"/>
            <a:r>
              <a:rPr lang="en-US" sz="2700" dirty="0">
                <a:solidFill>
                  <a:schemeClr val="tx1"/>
                </a:solidFill>
              </a:rPr>
              <a:t>The set of instructions a processor can execute</a:t>
            </a:r>
            <a:endParaRPr lang="en-GB" sz="2700" dirty="0">
              <a:solidFill>
                <a:schemeClr val="tx1"/>
              </a:solidFill>
            </a:endParaRPr>
          </a:p>
          <a:p>
            <a:pPr lvl="1" algn="just"/>
            <a:r>
              <a:rPr lang="en-US" sz="2700" b="1" dirty="0">
                <a:solidFill>
                  <a:srgbClr val="003399"/>
                </a:solidFill>
              </a:rPr>
              <a:t>Instruction formats (e.g., ADD, LOAD, STORE)</a:t>
            </a:r>
            <a:endParaRPr lang="en-GB" sz="2700" b="1" dirty="0">
              <a:solidFill>
                <a:srgbClr val="003399"/>
              </a:solidFill>
            </a:endParaRPr>
          </a:p>
          <a:p>
            <a:pPr lvl="1" algn="just"/>
            <a:r>
              <a:rPr lang="en-US" sz="2700" b="1" dirty="0">
                <a:solidFill>
                  <a:srgbClr val="003399"/>
                </a:solidFill>
              </a:rPr>
              <a:t>Data types (integer, floating point)</a:t>
            </a:r>
            <a:endParaRPr lang="en-GB" sz="2700" b="1" dirty="0">
              <a:solidFill>
                <a:srgbClr val="003399"/>
              </a:solidFill>
            </a:endParaRPr>
          </a:p>
          <a:p>
            <a:pPr lvl="1" algn="just"/>
            <a:r>
              <a:rPr lang="en-US" sz="2700" b="1" dirty="0">
                <a:solidFill>
                  <a:srgbClr val="003399"/>
                </a:solidFill>
              </a:rPr>
              <a:t>Registers available</a:t>
            </a:r>
            <a:endParaRPr lang="en-GB" sz="2700" b="1" dirty="0">
              <a:solidFill>
                <a:srgbClr val="003399"/>
              </a:solidFill>
            </a:endParaRPr>
          </a:p>
          <a:p>
            <a:pPr lvl="1" algn="just"/>
            <a:r>
              <a:rPr lang="en-US" sz="2700" b="1" dirty="0">
                <a:solidFill>
                  <a:srgbClr val="003399"/>
                </a:solidFill>
              </a:rPr>
              <a:t>Addressing modes</a:t>
            </a:r>
            <a:endParaRPr lang="en-GB" sz="2700" b="1" dirty="0">
              <a:solidFill>
                <a:srgbClr val="003399"/>
              </a:solidFill>
            </a:endParaRPr>
          </a:p>
          <a:p>
            <a:pPr algn="just">
              <a:spcAft>
                <a:spcPts val="2400"/>
              </a:spcAft>
            </a:pPr>
            <a:endParaRPr lang="en-GB" sz="27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30</a:t>
            </a:fld>
            <a:endParaRPr lang="en-US">
              <a:latin typeface="Arial" pitchFamily="34" charset="0"/>
            </a:endParaRPr>
          </a:p>
        </p:txBody>
      </p:sp>
    </p:spTree>
    <p:extLst>
      <p:ext uri="{BB962C8B-B14F-4D97-AF65-F5344CB8AC3E}">
        <p14:creationId xmlns:p14="http://schemas.microsoft.com/office/powerpoint/2010/main" val="3742932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- 1</a:t>
            </a:r>
            <a:endParaRPr lang="en-GB" dirty="0"/>
          </a:p>
        </p:txBody>
      </p:sp>
      <p:sp>
        <p:nvSpPr>
          <p:cNvPr id="27651" name="Content Placeholder 2"/>
          <p:cNvSpPr>
            <a:spLocks noGrp="1"/>
          </p:cNvSpPr>
          <p:nvPr>
            <p:ph idx="1"/>
          </p:nvPr>
        </p:nvSpPr>
        <p:spPr>
          <a:xfrm>
            <a:off x="306387" y="1066800"/>
            <a:ext cx="11582400" cy="5029200"/>
          </a:xfrm>
        </p:spPr>
        <p:txBody>
          <a:bodyPr>
            <a:noAutofit/>
          </a:bodyPr>
          <a:lstStyle/>
          <a:p>
            <a:pPr lvl="0" algn="just">
              <a:spcBef>
                <a:spcPts val="0"/>
              </a:spcBef>
              <a:spcAft>
                <a:spcPts val="0"/>
              </a:spcAft>
            </a:pPr>
            <a:r>
              <a:rPr lang="en-US" sz="2400" b="1" dirty="0">
                <a:solidFill>
                  <a:schemeClr val="tx1"/>
                </a:solidFill>
              </a:rPr>
              <a:t>Real-Life Applications</a:t>
            </a:r>
          </a:p>
          <a:p>
            <a:pPr lvl="0" algn="just">
              <a:spcBef>
                <a:spcPts val="0"/>
              </a:spcBef>
              <a:spcAft>
                <a:spcPts val="0"/>
              </a:spcAft>
            </a:pPr>
            <a:endParaRPr lang="en-GB" sz="2400" dirty="0">
              <a:solidFill>
                <a:schemeClr val="tx1"/>
              </a:solidFill>
            </a:endParaRPr>
          </a:p>
          <a:p>
            <a:pPr lvl="0" algn="just">
              <a:spcBef>
                <a:spcPts val="0"/>
              </a:spcBef>
              <a:spcAft>
                <a:spcPts val="0"/>
              </a:spcAft>
            </a:pPr>
            <a:r>
              <a:rPr lang="en-US" sz="2400" b="1" dirty="0">
                <a:solidFill>
                  <a:schemeClr val="tx1"/>
                </a:solidFill>
              </a:rPr>
              <a:t>Software Compatibility</a:t>
            </a:r>
            <a:endParaRPr lang="en-GB" sz="2400" dirty="0">
              <a:solidFill>
                <a:schemeClr val="tx1"/>
              </a:solidFill>
            </a:endParaRPr>
          </a:p>
          <a:p>
            <a:pPr algn="just">
              <a:spcBef>
                <a:spcPts val="0"/>
              </a:spcBef>
              <a:spcAft>
                <a:spcPts val="0"/>
              </a:spcAft>
            </a:pPr>
            <a:r>
              <a:rPr lang="en-US" sz="2400" dirty="0">
                <a:solidFill>
                  <a:schemeClr val="tx1"/>
                </a:solidFill>
              </a:rPr>
              <a:t>Applications compiled for a specific ISA (e.g., x86 or ARM) will only run on processors supporting that ISA. Example: Mobile apps are built for ARM-based processors in smartphones.</a:t>
            </a:r>
          </a:p>
          <a:p>
            <a:pPr algn="just">
              <a:spcBef>
                <a:spcPts val="0"/>
              </a:spcBef>
              <a:spcAft>
                <a:spcPts val="0"/>
              </a:spcAft>
            </a:pPr>
            <a:endParaRPr lang="en-GB" sz="2400" dirty="0">
              <a:solidFill>
                <a:schemeClr val="tx1"/>
              </a:solidFill>
            </a:endParaRPr>
          </a:p>
          <a:p>
            <a:pPr lvl="0">
              <a:spcBef>
                <a:spcPts val="0"/>
              </a:spcBef>
              <a:spcAft>
                <a:spcPts val="0"/>
              </a:spcAft>
            </a:pPr>
            <a:r>
              <a:rPr lang="en-US" sz="2400" b="1" dirty="0">
                <a:solidFill>
                  <a:schemeClr val="tx1"/>
                </a:solidFill>
              </a:rPr>
              <a:t>Operating Systems</a:t>
            </a:r>
            <a:br>
              <a:rPr lang="en-US" sz="2400" dirty="0">
                <a:solidFill>
                  <a:schemeClr val="tx1"/>
                </a:solidFill>
              </a:rPr>
            </a:br>
            <a:r>
              <a:rPr lang="en-US" sz="2400" dirty="0">
                <a:solidFill>
                  <a:schemeClr val="tx1"/>
                </a:solidFill>
              </a:rPr>
              <a:t>An OS is designed for a specific ISA. </a:t>
            </a:r>
            <a:endParaRPr lang="en-GB" sz="2400" dirty="0">
              <a:solidFill>
                <a:schemeClr val="tx1"/>
              </a:solidFill>
            </a:endParaRPr>
          </a:p>
          <a:p>
            <a:pPr lvl="0" algn="just">
              <a:spcBef>
                <a:spcPts val="0"/>
              </a:spcBef>
              <a:spcAft>
                <a:spcPts val="0"/>
              </a:spcAft>
            </a:pPr>
            <a:r>
              <a:rPr lang="en-US" sz="2400" dirty="0">
                <a:solidFill>
                  <a:schemeClr val="tx1"/>
                </a:solidFill>
              </a:rPr>
              <a:t>Example: Windows OS is optimized for x86 architecture systems.</a:t>
            </a:r>
          </a:p>
          <a:p>
            <a:pPr lvl="0" algn="just">
              <a:spcBef>
                <a:spcPts val="0"/>
              </a:spcBef>
              <a:spcAft>
                <a:spcPts val="0"/>
              </a:spcAft>
            </a:pPr>
            <a:endParaRPr lang="en-GB" sz="2400" dirty="0">
              <a:solidFill>
                <a:schemeClr val="tx1"/>
              </a:solidFill>
            </a:endParaRPr>
          </a:p>
          <a:p>
            <a:pPr algn="just">
              <a:spcBef>
                <a:spcPts val="0"/>
              </a:spcBef>
              <a:spcAft>
                <a:spcPts val="0"/>
              </a:spcAft>
            </a:pPr>
            <a:r>
              <a:rPr lang="en-US" sz="2400" b="1" dirty="0">
                <a:solidFill>
                  <a:srgbClr val="002060"/>
                </a:solidFill>
              </a:rPr>
              <a:t>Different organizations (hardware implementations) can support the same ISA but vary in performance.</a:t>
            </a:r>
            <a:endParaRPr lang="en-GB" sz="2400" b="1" dirty="0">
              <a:solidFill>
                <a:srgbClr val="002060"/>
              </a:solidFill>
            </a:endParaRPr>
          </a:p>
          <a:p>
            <a:pPr algn="just">
              <a:spcBef>
                <a:spcPts val="0"/>
              </a:spcBef>
              <a:spcAft>
                <a:spcPts val="0"/>
              </a:spcAft>
            </a:pPr>
            <a:endParaRPr lang="en-GB" sz="24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31</a:t>
            </a:fld>
            <a:endParaRPr lang="en-US">
              <a:latin typeface="Arial" pitchFamily="34" charset="0"/>
            </a:endParaRPr>
          </a:p>
        </p:txBody>
      </p:sp>
    </p:spTree>
    <p:extLst>
      <p:ext uri="{BB962C8B-B14F-4D97-AF65-F5344CB8AC3E}">
        <p14:creationId xmlns:p14="http://schemas.microsoft.com/office/powerpoint/2010/main" val="4020594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-1</a:t>
            </a:r>
            <a:endParaRPr lang="en-GB" dirty="0"/>
          </a:p>
        </p:txBody>
      </p:sp>
      <p:sp>
        <p:nvSpPr>
          <p:cNvPr id="27651" name="Content Placeholder 2"/>
          <p:cNvSpPr>
            <a:spLocks noGrp="1"/>
          </p:cNvSpPr>
          <p:nvPr>
            <p:ph idx="1"/>
          </p:nvPr>
        </p:nvSpPr>
        <p:spPr>
          <a:xfrm>
            <a:off x="306387" y="1237129"/>
            <a:ext cx="11582400" cy="5029200"/>
          </a:xfrm>
        </p:spPr>
        <p:txBody>
          <a:bodyPr>
            <a:noAutofit/>
          </a:bodyPr>
          <a:lstStyle/>
          <a:p>
            <a:pPr lvl="0" algn="just">
              <a:spcBef>
                <a:spcPts val="0"/>
              </a:spcBef>
              <a:spcAft>
                <a:spcPts val="0"/>
              </a:spcAft>
            </a:pPr>
            <a:r>
              <a:rPr lang="en-US" sz="2400" b="1" dirty="0">
                <a:solidFill>
                  <a:schemeClr val="tx1"/>
                </a:solidFill>
              </a:rPr>
              <a:t>Real-Life Applications</a:t>
            </a:r>
          </a:p>
          <a:p>
            <a:pPr lvl="0" algn="just">
              <a:spcBef>
                <a:spcPts val="0"/>
              </a:spcBef>
              <a:spcAft>
                <a:spcPts val="0"/>
              </a:spcAft>
            </a:pPr>
            <a:endParaRPr lang="en-GB" sz="2400" dirty="0">
              <a:solidFill>
                <a:schemeClr val="tx1"/>
              </a:solidFill>
            </a:endParaRPr>
          </a:p>
          <a:p>
            <a:pPr lvl="0" algn="just">
              <a:spcBef>
                <a:spcPts val="0"/>
              </a:spcBef>
              <a:spcAft>
                <a:spcPts val="0"/>
              </a:spcAft>
            </a:pPr>
            <a:r>
              <a:rPr lang="en-US" sz="2400" b="1" dirty="0">
                <a:solidFill>
                  <a:schemeClr val="tx1"/>
                </a:solidFill>
              </a:rPr>
              <a:t>Software Compatibility</a:t>
            </a:r>
            <a:endParaRPr lang="en-GB" sz="2400" dirty="0">
              <a:solidFill>
                <a:schemeClr val="tx1"/>
              </a:solidFill>
            </a:endParaRPr>
          </a:p>
          <a:p>
            <a:pPr algn="just">
              <a:spcBef>
                <a:spcPts val="0"/>
              </a:spcBef>
              <a:spcAft>
                <a:spcPts val="0"/>
              </a:spcAft>
            </a:pPr>
            <a:r>
              <a:rPr lang="en-US" sz="2400" dirty="0">
                <a:solidFill>
                  <a:schemeClr val="tx1"/>
                </a:solidFill>
              </a:rPr>
              <a:t>Applications compiled for a specific ISA (e.g., x86 or ARM) will only run on processors supporting that ISA. Example: Mobile apps are built for ARM-based processors in smartphones.</a:t>
            </a:r>
          </a:p>
          <a:p>
            <a:pPr algn="just">
              <a:spcBef>
                <a:spcPts val="0"/>
              </a:spcBef>
              <a:spcAft>
                <a:spcPts val="0"/>
              </a:spcAft>
            </a:pPr>
            <a:endParaRPr lang="en-GB" sz="2400" dirty="0">
              <a:solidFill>
                <a:schemeClr val="tx1"/>
              </a:solidFill>
            </a:endParaRPr>
          </a:p>
          <a:p>
            <a:pPr lvl="0">
              <a:spcBef>
                <a:spcPts val="0"/>
              </a:spcBef>
              <a:spcAft>
                <a:spcPts val="0"/>
              </a:spcAft>
            </a:pPr>
            <a:r>
              <a:rPr lang="en-US" sz="2400" b="1" dirty="0">
                <a:solidFill>
                  <a:schemeClr val="tx1"/>
                </a:solidFill>
              </a:rPr>
              <a:t>Operating Systems</a:t>
            </a:r>
            <a:br>
              <a:rPr lang="en-US" sz="2400" dirty="0">
                <a:solidFill>
                  <a:schemeClr val="tx1"/>
                </a:solidFill>
              </a:rPr>
            </a:br>
            <a:r>
              <a:rPr lang="en-US" sz="2400" dirty="0">
                <a:solidFill>
                  <a:schemeClr val="tx1"/>
                </a:solidFill>
              </a:rPr>
              <a:t>An OS is designed for a specific ISA. </a:t>
            </a:r>
            <a:endParaRPr lang="en-GB" sz="2400" dirty="0">
              <a:solidFill>
                <a:schemeClr val="tx1"/>
              </a:solidFill>
            </a:endParaRPr>
          </a:p>
          <a:p>
            <a:pPr lvl="0" algn="just">
              <a:spcBef>
                <a:spcPts val="0"/>
              </a:spcBef>
              <a:spcAft>
                <a:spcPts val="0"/>
              </a:spcAft>
            </a:pPr>
            <a:r>
              <a:rPr lang="en-US" sz="2400" dirty="0">
                <a:solidFill>
                  <a:schemeClr val="tx1"/>
                </a:solidFill>
              </a:rPr>
              <a:t>Example: Windows OS is optimized for x86 architecture systems.</a:t>
            </a:r>
          </a:p>
          <a:p>
            <a:pPr lvl="0" algn="just">
              <a:spcBef>
                <a:spcPts val="0"/>
              </a:spcBef>
              <a:spcAft>
                <a:spcPts val="0"/>
              </a:spcAft>
            </a:pPr>
            <a:endParaRPr lang="en-GB" sz="2400" dirty="0">
              <a:solidFill>
                <a:schemeClr val="tx1"/>
              </a:solidFill>
            </a:endParaRPr>
          </a:p>
          <a:p>
            <a:pPr algn="just">
              <a:spcBef>
                <a:spcPts val="0"/>
              </a:spcBef>
              <a:spcAft>
                <a:spcPts val="0"/>
              </a:spcAft>
            </a:pPr>
            <a:r>
              <a:rPr lang="en-US" sz="2400" b="1" dirty="0">
                <a:solidFill>
                  <a:srgbClr val="002060"/>
                </a:solidFill>
              </a:rPr>
              <a:t>Different organizations (hardware implementations) can support the same ISA but vary in performance.</a:t>
            </a:r>
            <a:endParaRPr lang="en-GB" sz="2400" b="1" dirty="0">
              <a:solidFill>
                <a:srgbClr val="002060"/>
              </a:solidFill>
            </a:endParaRPr>
          </a:p>
          <a:p>
            <a:pPr algn="just">
              <a:spcBef>
                <a:spcPts val="0"/>
              </a:spcBef>
              <a:spcAft>
                <a:spcPts val="0"/>
              </a:spcAft>
            </a:pPr>
            <a:endParaRPr lang="en-GB" sz="24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32</a:t>
            </a:fld>
            <a:endParaRPr lang="en-US">
              <a:latin typeface="Arial" pitchFamily="34" charset="0"/>
            </a:endParaRPr>
          </a:p>
        </p:txBody>
      </p:sp>
    </p:spTree>
    <p:extLst>
      <p:ext uri="{BB962C8B-B14F-4D97-AF65-F5344CB8AC3E}">
        <p14:creationId xmlns:p14="http://schemas.microsoft.com/office/powerpoint/2010/main" val="4122494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33757" y="405606"/>
            <a:ext cx="10975658" cy="712788"/>
          </a:xfrm>
        </p:spPr>
        <p:txBody>
          <a:bodyPr>
            <a:normAutofit/>
          </a:bodyPr>
          <a:lstStyle/>
          <a:p>
            <a:r>
              <a:rPr lang="en-US" dirty="0"/>
              <a:t>Components of Computer Architecture - 2</a:t>
            </a:r>
            <a:endParaRPr lang="en-GB" dirty="0"/>
          </a:p>
        </p:txBody>
      </p:sp>
      <p:sp>
        <p:nvSpPr>
          <p:cNvPr id="27651" name="Content Placeholder 2"/>
          <p:cNvSpPr>
            <a:spLocks noGrp="1"/>
          </p:cNvSpPr>
          <p:nvPr>
            <p:ph idx="1"/>
          </p:nvPr>
        </p:nvSpPr>
        <p:spPr>
          <a:xfrm>
            <a:off x="382587" y="1371600"/>
            <a:ext cx="11353800" cy="4724400"/>
          </a:xfrm>
        </p:spPr>
        <p:txBody>
          <a:bodyPr>
            <a:noAutofit/>
          </a:bodyPr>
          <a:lstStyle/>
          <a:p>
            <a:pPr lvl="0">
              <a:spcAft>
                <a:spcPts val="1800"/>
              </a:spcAft>
            </a:pPr>
            <a:r>
              <a:rPr lang="en-US" sz="2600" b="1" dirty="0">
                <a:solidFill>
                  <a:srgbClr val="3B11ED"/>
                </a:solidFill>
              </a:rPr>
              <a:t>Data Types and Representation</a:t>
            </a:r>
            <a:endParaRPr lang="en-GB" sz="2600" b="1" dirty="0">
              <a:solidFill>
                <a:srgbClr val="3B11ED"/>
              </a:solidFill>
            </a:endParaRPr>
          </a:p>
          <a:p>
            <a:pPr>
              <a:spcAft>
                <a:spcPts val="1800"/>
              </a:spcAft>
            </a:pPr>
            <a:r>
              <a:rPr lang="en-US" sz="2600" dirty="0">
                <a:solidFill>
                  <a:schemeClr val="tx1"/>
                </a:solidFill>
              </a:rPr>
              <a:t>Defines how data is stored and interpreted:</a:t>
            </a:r>
            <a:endParaRPr lang="en-GB" sz="2600" dirty="0">
              <a:solidFill>
                <a:schemeClr val="tx1"/>
              </a:solidFill>
            </a:endParaRPr>
          </a:p>
          <a:p>
            <a:pPr lvl="0">
              <a:spcAft>
                <a:spcPts val="1800"/>
              </a:spcAft>
            </a:pPr>
            <a:r>
              <a:rPr lang="en-US" sz="2600" dirty="0">
                <a:solidFill>
                  <a:schemeClr val="tx1"/>
                </a:solidFill>
              </a:rPr>
              <a:t>Integer formats (signed/unsigned)</a:t>
            </a:r>
            <a:endParaRPr lang="en-GB" sz="2600" dirty="0">
              <a:solidFill>
                <a:schemeClr val="tx1"/>
              </a:solidFill>
            </a:endParaRPr>
          </a:p>
          <a:p>
            <a:pPr lvl="0">
              <a:spcAft>
                <a:spcPts val="1800"/>
              </a:spcAft>
            </a:pPr>
            <a:r>
              <a:rPr lang="en-US" sz="2600" dirty="0">
                <a:solidFill>
                  <a:schemeClr val="tx1"/>
                </a:solidFill>
              </a:rPr>
              <a:t>Floating-point representation</a:t>
            </a:r>
            <a:endParaRPr lang="en-GB" sz="2600" dirty="0">
              <a:solidFill>
                <a:schemeClr val="tx1"/>
              </a:solidFill>
            </a:endParaRPr>
          </a:p>
          <a:p>
            <a:pPr lvl="0">
              <a:spcAft>
                <a:spcPts val="1800"/>
              </a:spcAft>
            </a:pPr>
            <a:r>
              <a:rPr lang="en-US" sz="2600" dirty="0">
                <a:solidFill>
                  <a:schemeClr val="tx1"/>
                </a:solidFill>
              </a:rPr>
              <a:t>Character encoding (ASCII, Unicode)</a:t>
            </a:r>
            <a:endParaRPr lang="en-GB" sz="2600" dirty="0">
              <a:solidFill>
                <a:schemeClr val="tx1"/>
              </a:solidFill>
            </a:endParaRPr>
          </a:p>
          <a:p>
            <a:pPr algn="just">
              <a:spcBef>
                <a:spcPts val="0"/>
              </a:spcBef>
              <a:spcAft>
                <a:spcPts val="1800"/>
              </a:spcAft>
            </a:pP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33</a:t>
            </a:fld>
            <a:endParaRPr lang="en-US">
              <a:latin typeface="Arial" pitchFamily="34" charset="0"/>
            </a:endParaRPr>
          </a:p>
        </p:txBody>
      </p:sp>
    </p:spTree>
    <p:extLst>
      <p:ext uri="{BB962C8B-B14F-4D97-AF65-F5344CB8AC3E}">
        <p14:creationId xmlns:p14="http://schemas.microsoft.com/office/powerpoint/2010/main" val="896350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- 2</a:t>
            </a:r>
            <a:endParaRPr lang="en-GB" dirty="0"/>
          </a:p>
        </p:txBody>
      </p:sp>
      <p:sp>
        <p:nvSpPr>
          <p:cNvPr id="27651" name="Content Placeholder 2"/>
          <p:cNvSpPr>
            <a:spLocks noGrp="1"/>
          </p:cNvSpPr>
          <p:nvPr>
            <p:ph idx="1"/>
          </p:nvPr>
        </p:nvSpPr>
        <p:spPr>
          <a:xfrm>
            <a:off x="306387" y="1295400"/>
            <a:ext cx="11582400" cy="4495800"/>
          </a:xfrm>
        </p:spPr>
        <p:txBody>
          <a:bodyPr>
            <a:noAutofit/>
          </a:bodyPr>
          <a:lstStyle/>
          <a:p>
            <a:pPr>
              <a:spcAft>
                <a:spcPts val="2400"/>
              </a:spcAft>
            </a:pPr>
            <a:r>
              <a:rPr lang="en-GB" sz="2600" b="1" dirty="0">
                <a:solidFill>
                  <a:schemeClr val="tx1"/>
                </a:solidFill>
              </a:rPr>
              <a:t>Real-Life Applications</a:t>
            </a:r>
          </a:p>
          <a:p>
            <a:pPr lvl="0">
              <a:spcAft>
                <a:spcPts val="2400"/>
              </a:spcAft>
            </a:pPr>
            <a:r>
              <a:rPr lang="en-US" sz="2600" b="1" dirty="0">
                <a:solidFill>
                  <a:schemeClr val="tx1"/>
                </a:solidFill>
              </a:rPr>
              <a:t>Financial Systems</a:t>
            </a:r>
            <a:br>
              <a:rPr lang="en-US" sz="2600" dirty="0">
                <a:solidFill>
                  <a:schemeClr val="tx1"/>
                </a:solidFill>
              </a:rPr>
            </a:br>
            <a:r>
              <a:rPr lang="en-US" sz="2600" dirty="0">
                <a:solidFill>
                  <a:schemeClr val="tx1"/>
                </a:solidFill>
              </a:rPr>
              <a:t>Accurate floating-point representation is critical for banking software.</a:t>
            </a:r>
            <a:endParaRPr lang="en-GB" sz="2600" dirty="0">
              <a:solidFill>
                <a:schemeClr val="tx1"/>
              </a:solidFill>
            </a:endParaRPr>
          </a:p>
          <a:p>
            <a:pPr lvl="0">
              <a:spcAft>
                <a:spcPts val="2400"/>
              </a:spcAft>
            </a:pPr>
            <a:r>
              <a:rPr lang="en-US" sz="2600" b="1" dirty="0">
                <a:solidFill>
                  <a:schemeClr val="tx1"/>
                </a:solidFill>
              </a:rPr>
              <a:t>Multimedia Systems</a:t>
            </a:r>
            <a:br>
              <a:rPr lang="en-US" sz="2600" dirty="0">
                <a:solidFill>
                  <a:schemeClr val="tx1"/>
                </a:solidFill>
              </a:rPr>
            </a:br>
            <a:r>
              <a:rPr lang="en-US" sz="2600" dirty="0">
                <a:solidFill>
                  <a:schemeClr val="tx1"/>
                </a:solidFill>
              </a:rPr>
              <a:t>Video and image processing rely on data formats (e.g., RGB encoding).</a:t>
            </a:r>
            <a:endParaRPr lang="en-GB" sz="2600" dirty="0">
              <a:solidFill>
                <a:schemeClr val="tx1"/>
              </a:solidFill>
            </a:endParaRPr>
          </a:p>
          <a:p>
            <a:pPr lvl="0">
              <a:spcAft>
                <a:spcPts val="2400"/>
              </a:spcAft>
            </a:pPr>
            <a:r>
              <a:rPr lang="en-US" sz="2600" b="1" dirty="0">
                <a:solidFill>
                  <a:schemeClr val="tx1"/>
                </a:solidFill>
              </a:rPr>
              <a:t>Scientific Computing</a:t>
            </a:r>
            <a:br>
              <a:rPr lang="en-US" sz="2600" dirty="0">
                <a:solidFill>
                  <a:schemeClr val="tx1"/>
                </a:solidFill>
              </a:rPr>
            </a:br>
            <a:r>
              <a:rPr lang="en-US" sz="2600" dirty="0">
                <a:solidFill>
                  <a:schemeClr val="tx1"/>
                </a:solidFill>
              </a:rPr>
              <a:t>Precision in floating-point calculations is essential for simulations.</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34</a:t>
            </a:fld>
            <a:endParaRPr lang="en-US">
              <a:latin typeface="Arial" pitchFamily="34" charset="0"/>
            </a:endParaRPr>
          </a:p>
        </p:txBody>
      </p:sp>
    </p:spTree>
    <p:extLst>
      <p:ext uri="{BB962C8B-B14F-4D97-AF65-F5344CB8AC3E}">
        <p14:creationId xmlns:p14="http://schemas.microsoft.com/office/powerpoint/2010/main" val="2758283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- 3</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lvl="0">
              <a:spcAft>
                <a:spcPts val="1200"/>
              </a:spcAft>
            </a:pPr>
            <a:r>
              <a:rPr lang="en-US" sz="2600" b="1" dirty="0"/>
              <a:t>Addressing Modes</a:t>
            </a:r>
            <a:endParaRPr lang="en-GB" sz="2600" b="1" dirty="0"/>
          </a:p>
          <a:p>
            <a:pPr>
              <a:spcAft>
                <a:spcPts val="1200"/>
              </a:spcAft>
            </a:pPr>
            <a:r>
              <a:rPr lang="en-US" sz="2600" dirty="0">
                <a:solidFill>
                  <a:schemeClr val="tx1"/>
                </a:solidFill>
              </a:rPr>
              <a:t>Addressing modes determine </a:t>
            </a:r>
            <a:r>
              <a:rPr lang="en-US" sz="2600" b="1" dirty="0">
                <a:solidFill>
                  <a:schemeClr val="tx1"/>
                </a:solidFill>
              </a:rPr>
              <a:t>how operands are accessed</a:t>
            </a:r>
            <a:r>
              <a:rPr lang="en-US" sz="2600" dirty="0">
                <a:solidFill>
                  <a:schemeClr val="tx1"/>
                </a:solidFill>
              </a:rPr>
              <a:t> during instruction execution.</a:t>
            </a:r>
            <a:endParaRPr lang="en-GB" sz="2600" dirty="0">
              <a:solidFill>
                <a:schemeClr val="tx1"/>
              </a:solidFill>
            </a:endParaRPr>
          </a:p>
          <a:p>
            <a:pPr>
              <a:spcAft>
                <a:spcPts val="1200"/>
              </a:spcAft>
            </a:pPr>
            <a:r>
              <a:rPr lang="en-US" sz="2600" b="1" dirty="0">
                <a:solidFill>
                  <a:schemeClr val="tx1"/>
                </a:solidFill>
              </a:rPr>
              <a:t>Examples:</a:t>
            </a:r>
            <a:endParaRPr lang="en-GB" sz="2600" b="1" dirty="0">
              <a:solidFill>
                <a:schemeClr val="tx1"/>
              </a:solidFill>
            </a:endParaRPr>
          </a:p>
          <a:p>
            <a:pPr lvl="0">
              <a:spcAft>
                <a:spcPts val="1200"/>
              </a:spcAft>
            </a:pPr>
            <a:r>
              <a:rPr lang="en-US" sz="2600" dirty="0">
                <a:solidFill>
                  <a:schemeClr val="tx1"/>
                </a:solidFill>
              </a:rPr>
              <a:t>Immediate addressing</a:t>
            </a:r>
            <a:endParaRPr lang="en-GB" sz="2600" dirty="0">
              <a:solidFill>
                <a:schemeClr val="tx1"/>
              </a:solidFill>
            </a:endParaRPr>
          </a:p>
          <a:p>
            <a:pPr lvl="0">
              <a:spcAft>
                <a:spcPts val="1200"/>
              </a:spcAft>
            </a:pPr>
            <a:r>
              <a:rPr lang="en-US" sz="2600" dirty="0">
                <a:solidFill>
                  <a:schemeClr val="tx1"/>
                </a:solidFill>
              </a:rPr>
              <a:t>Direct addressing</a:t>
            </a:r>
            <a:endParaRPr lang="en-GB" sz="2600" dirty="0">
              <a:solidFill>
                <a:schemeClr val="tx1"/>
              </a:solidFill>
            </a:endParaRPr>
          </a:p>
          <a:p>
            <a:pPr lvl="0">
              <a:spcAft>
                <a:spcPts val="1200"/>
              </a:spcAft>
            </a:pPr>
            <a:r>
              <a:rPr lang="en-US" sz="2600" dirty="0">
                <a:solidFill>
                  <a:schemeClr val="tx1"/>
                </a:solidFill>
              </a:rPr>
              <a:t>Indirect addressing</a:t>
            </a:r>
            <a:endParaRPr lang="en-GB" sz="2600" dirty="0">
              <a:solidFill>
                <a:schemeClr val="tx1"/>
              </a:solidFill>
            </a:endParaRPr>
          </a:p>
          <a:p>
            <a:pPr lvl="0">
              <a:spcAft>
                <a:spcPts val="1200"/>
              </a:spcAft>
            </a:pPr>
            <a:r>
              <a:rPr lang="en-US" sz="2600" dirty="0">
                <a:solidFill>
                  <a:schemeClr val="tx1"/>
                </a:solidFill>
              </a:rPr>
              <a:t>Register addressing</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35</a:t>
            </a:fld>
            <a:endParaRPr lang="en-US">
              <a:latin typeface="Arial" pitchFamily="34" charset="0"/>
            </a:endParaRPr>
          </a:p>
        </p:txBody>
      </p:sp>
    </p:spTree>
    <p:extLst>
      <p:ext uri="{BB962C8B-B14F-4D97-AF65-F5344CB8AC3E}">
        <p14:creationId xmlns:p14="http://schemas.microsoft.com/office/powerpoint/2010/main" val="1886620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- 3</a:t>
            </a:r>
            <a:endParaRPr lang="en-GB" dirty="0"/>
          </a:p>
        </p:txBody>
      </p:sp>
      <p:sp>
        <p:nvSpPr>
          <p:cNvPr id="27651" name="Content Placeholder 2"/>
          <p:cNvSpPr>
            <a:spLocks noGrp="1"/>
          </p:cNvSpPr>
          <p:nvPr>
            <p:ph idx="1"/>
          </p:nvPr>
        </p:nvSpPr>
        <p:spPr>
          <a:xfrm>
            <a:off x="306387" y="1447800"/>
            <a:ext cx="11582400" cy="3962400"/>
          </a:xfrm>
        </p:spPr>
        <p:txBody>
          <a:bodyPr>
            <a:noAutofit/>
          </a:bodyPr>
          <a:lstStyle/>
          <a:p>
            <a:pPr marL="0" lvl="1" indent="0">
              <a:spcAft>
                <a:spcPts val="1800"/>
              </a:spcAft>
              <a:buNone/>
            </a:pPr>
            <a:r>
              <a:rPr lang="en-GB" sz="2600" b="1" dirty="0">
                <a:solidFill>
                  <a:srgbClr val="3B11ED"/>
                </a:solidFill>
              </a:rPr>
              <a:t>Real-Life Applications of Addressing Modes </a:t>
            </a:r>
          </a:p>
          <a:p>
            <a:pPr lvl="0">
              <a:spcAft>
                <a:spcPts val="1800"/>
              </a:spcAft>
            </a:pPr>
            <a:r>
              <a:rPr lang="en-US" sz="2600" b="1" dirty="0">
                <a:solidFill>
                  <a:srgbClr val="7A0000"/>
                </a:solidFill>
              </a:rPr>
              <a:t>Efficient Program Execution</a:t>
            </a:r>
            <a:br>
              <a:rPr lang="en-US" sz="2600" dirty="0">
                <a:solidFill>
                  <a:schemeClr val="tx1"/>
                </a:solidFill>
              </a:rPr>
            </a:br>
            <a:r>
              <a:rPr lang="en-US" sz="2600" dirty="0">
                <a:solidFill>
                  <a:schemeClr val="tx1"/>
                </a:solidFill>
              </a:rPr>
              <a:t>Compilers choose addressing modes to optimize speed.</a:t>
            </a:r>
            <a:endParaRPr lang="en-GB" sz="2600" dirty="0">
              <a:solidFill>
                <a:schemeClr val="tx1"/>
              </a:solidFill>
            </a:endParaRPr>
          </a:p>
          <a:p>
            <a:pPr lvl="0">
              <a:spcAft>
                <a:spcPts val="1800"/>
              </a:spcAft>
            </a:pPr>
            <a:r>
              <a:rPr lang="en-US" sz="2600" b="1" dirty="0">
                <a:solidFill>
                  <a:srgbClr val="7A0000"/>
                </a:solidFill>
              </a:rPr>
              <a:t>Embedded Systems</a:t>
            </a:r>
            <a:br>
              <a:rPr lang="en-US" sz="2600" dirty="0">
                <a:solidFill>
                  <a:schemeClr val="tx1"/>
                </a:solidFill>
              </a:rPr>
            </a:br>
            <a:r>
              <a:rPr lang="en-US" sz="2600" dirty="0">
                <a:solidFill>
                  <a:schemeClr val="tx1"/>
                </a:solidFill>
              </a:rPr>
              <a:t>Efficient memory access is crucial in devices with limited memory.</a:t>
            </a:r>
            <a:endParaRPr lang="en-GB" sz="2600" dirty="0">
              <a:solidFill>
                <a:schemeClr val="tx1"/>
              </a:solidFill>
            </a:endParaRPr>
          </a:p>
          <a:p>
            <a:pPr lvl="0">
              <a:spcAft>
                <a:spcPts val="1800"/>
              </a:spcAft>
            </a:pPr>
            <a:r>
              <a:rPr lang="en-US" sz="2600" b="1" dirty="0">
                <a:solidFill>
                  <a:srgbClr val="7A0000"/>
                </a:solidFill>
              </a:rPr>
              <a:t>Gaming Systems</a:t>
            </a:r>
            <a:br>
              <a:rPr lang="en-US" sz="2600" dirty="0">
                <a:solidFill>
                  <a:schemeClr val="tx1"/>
                </a:solidFill>
              </a:rPr>
            </a:br>
            <a:r>
              <a:rPr lang="en-US" sz="2600" dirty="0">
                <a:solidFill>
                  <a:schemeClr val="tx1"/>
                </a:solidFill>
              </a:rPr>
              <a:t>Fast memory access improves frame rates and responsiveness.</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36</a:t>
            </a:fld>
            <a:endParaRPr lang="en-US">
              <a:latin typeface="Arial" pitchFamily="34" charset="0"/>
            </a:endParaRPr>
          </a:p>
        </p:txBody>
      </p:sp>
    </p:spTree>
    <p:extLst>
      <p:ext uri="{BB962C8B-B14F-4D97-AF65-F5344CB8AC3E}">
        <p14:creationId xmlns:p14="http://schemas.microsoft.com/office/powerpoint/2010/main" val="718301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- 4</a:t>
            </a:r>
            <a:endParaRPr lang="en-GB" dirty="0"/>
          </a:p>
        </p:txBody>
      </p:sp>
      <p:sp>
        <p:nvSpPr>
          <p:cNvPr id="27651" name="Content Placeholder 2"/>
          <p:cNvSpPr>
            <a:spLocks noGrp="1"/>
          </p:cNvSpPr>
          <p:nvPr>
            <p:ph idx="1"/>
          </p:nvPr>
        </p:nvSpPr>
        <p:spPr>
          <a:xfrm>
            <a:off x="306387" y="1295400"/>
            <a:ext cx="11582400" cy="3657600"/>
          </a:xfrm>
        </p:spPr>
        <p:txBody>
          <a:bodyPr>
            <a:noAutofit/>
          </a:bodyPr>
          <a:lstStyle/>
          <a:p>
            <a:pPr lvl="0">
              <a:spcAft>
                <a:spcPts val="1800"/>
              </a:spcAft>
            </a:pPr>
            <a:r>
              <a:rPr lang="en-US" b="1" u="sng" dirty="0"/>
              <a:t>Register Set</a:t>
            </a:r>
            <a:endParaRPr lang="en-GB" b="1" u="sng" dirty="0"/>
          </a:p>
          <a:p>
            <a:pPr>
              <a:spcAft>
                <a:spcPts val="1800"/>
              </a:spcAft>
            </a:pPr>
            <a:r>
              <a:rPr lang="en-US" dirty="0">
                <a:solidFill>
                  <a:schemeClr val="tx1"/>
                </a:solidFill>
              </a:rPr>
              <a:t>Registers are </a:t>
            </a:r>
            <a:r>
              <a:rPr lang="en-US" b="1" dirty="0">
                <a:solidFill>
                  <a:schemeClr val="tx1"/>
                </a:solidFill>
              </a:rPr>
              <a:t>small, fast storage locations</a:t>
            </a:r>
            <a:r>
              <a:rPr lang="en-US" dirty="0">
                <a:solidFill>
                  <a:schemeClr val="tx1"/>
                </a:solidFill>
              </a:rPr>
              <a:t> inside the CPU.</a:t>
            </a:r>
            <a:endParaRPr lang="en-GB" sz="2400" dirty="0">
              <a:solidFill>
                <a:schemeClr val="tx1"/>
              </a:solidFill>
            </a:endParaRPr>
          </a:p>
          <a:p>
            <a:pPr>
              <a:spcAft>
                <a:spcPts val="1800"/>
              </a:spcAft>
            </a:pPr>
            <a:r>
              <a:rPr lang="en-US" dirty="0">
                <a:solidFill>
                  <a:schemeClr val="tx1"/>
                </a:solidFill>
              </a:rPr>
              <a:t>Types include:</a:t>
            </a:r>
            <a:endParaRPr lang="en-GB" sz="2400" dirty="0">
              <a:solidFill>
                <a:schemeClr val="tx1"/>
              </a:solidFill>
            </a:endParaRPr>
          </a:p>
          <a:p>
            <a:pPr lvl="0">
              <a:spcAft>
                <a:spcPts val="1800"/>
              </a:spcAft>
            </a:pPr>
            <a:r>
              <a:rPr lang="en-US" dirty="0">
                <a:solidFill>
                  <a:srgbClr val="7A0000"/>
                </a:solidFill>
              </a:rPr>
              <a:t>General-purpose registers</a:t>
            </a:r>
            <a:endParaRPr lang="en-GB" sz="2400" dirty="0">
              <a:solidFill>
                <a:srgbClr val="7A0000"/>
              </a:solidFill>
            </a:endParaRPr>
          </a:p>
          <a:p>
            <a:pPr lvl="0">
              <a:spcAft>
                <a:spcPts val="1800"/>
              </a:spcAft>
            </a:pPr>
            <a:r>
              <a:rPr lang="en-US" b="1" dirty="0">
                <a:solidFill>
                  <a:srgbClr val="7A0000"/>
                </a:solidFill>
              </a:rPr>
              <a:t>Special-purpose registers </a:t>
            </a:r>
            <a:r>
              <a:rPr lang="en-US" dirty="0">
                <a:solidFill>
                  <a:schemeClr val="tx1"/>
                </a:solidFill>
              </a:rPr>
              <a:t>(Program Counter, Stack Pointer)</a:t>
            </a:r>
            <a:endParaRPr lang="en-GB" sz="24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37</a:t>
            </a:fld>
            <a:endParaRPr lang="en-US">
              <a:latin typeface="Arial" pitchFamily="34" charset="0"/>
            </a:endParaRPr>
          </a:p>
        </p:txBody>
      </p:sp>
    </p:spTree>
    <p:extLst>
      <p:ext uri="{BB962C8B-B14F-4D97-AF65-F5344CB8AC3E}">
        <p14:creationId xmlns:p14="http://schemas.microsoft.com/office/powerpoint/2010/main" val="146267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- 4</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a:spcAft>
                <a:spcPts val="2400"/>
              </a:spcAft>
            </a:pPr>
            <a:r>
              <a:rPr lang="en-GB" sz="2600" b="1" dirty="0"/>
              <a:t>Real-Life Applications of Register Sets</a:t>
            </a:r>
          </a:p>
          <a:p>
            <a:pPr lvl="0">
              <a:spcAft>
                <a:spcPts val="2400"/>
              </a:spcAft>
            </a:pPr>
            <a:r>
              <a:rPr lang="en-US" sz="2600" b="1" dirty="0">
                <a:solidFill>
                  <a:srgbClr val="7A0000"/>
                </a:solidFill>
              </a:rPr>
              <a:t>High-Speed Computation</a:t>
            </a:r>
            <a:br>
              <a:rPr lang="en-US" sz="2600" dirty="0">
                <a:solidFill>
                  <a:schemeClr val="tx1"/>
                </a:solidFill>
              </a:rPr>
            </a:br>
            <a:r>
              <a:rPr lang="en-US" sz="2600" dirty="0">
                <a:solidFill>
                  <a:schemeClr val="tx1"/>
                </a:solidFill>
              </a:rPr>
              <a:t>Programs execute faster when data is stored in registers instead of memory.</a:t>
            </a:r>
            <a:endParaRPr lang="en-GB" sz="2600" dirty="0">
              <a:solidFill>
                <a:schemeClr val="tx1"/>
              </a:solidFill>
            </a:endParaRPr>
          </a:p>
          <a:p>
            <a:pPr lvl="0">
              <a:spcAft>
                <a:spcPts val="2400"/>
              </a:spcAft>
            </a:pPr>
            <a:r>
              <a:rPr lang="en-US" sz="2600" b="1" dirty="0">
                <a:solidFill>
                  <a:srgbClr val="7A0000"/>
                </a:solidFill>
              </a:rPr>
              <a:t>Real-Time Systems</a:t>
            </a:r>
            <a:br>
              <a:rPr lang="en-US" sz="2600" dirty="0">
                <a:solidFill>
                  <a:schemeClr val="tx1"/>
                </a:solidFill>
              </a:rPr>
            </a:br>
            <a:r>
              <a:rPr lang="en-US" sz="2600" dirty="0">
                <a:solidFill>
                  <a:schemeClr val="tx1"/>
                </a:solidFill>
              </a:rPr>
              <a:t>Critical systems (e.g., air traffic control) rely on fast register operations.</a:t>
            </a:r>
            <a:endParaRPr lang="en-GB" sz="2600" dirty="0">
              <a:solidFill>
                <a:schemeClr val="tx1"/>
              </a:solidFill>
            </a:endParaRPr>
          </a:p>
          <a:p>
            <a:pPr lvl="0">
              <a:spcAft>
                <a:spcPts val="2400"/>
              </a:spcAft>
            </a:pPr>
            <a:r>
              <a:rPr lang="en-US" sz="2600" b="1" dirty="0">
                <a:solidFill>
                  <a:srgbClr val="7A0000"/>
                </a:solidFill>
              </a:rPr>
              <a:t>Mobile Devices</a:t>
            </a:r>
            <a:br>
              <a:rPr lang="en-US" sz="2600" dirty="0">
                <a:solidFill>
                  <a:schemeClr val="tx1"/>
                </a:solidFill>
              </a:rPr>
            </a:br>
            <a:r>
              <a:rPr lang="en-US" sz="2600" dirty="0">
                <a:solidFill>
                  <a:schemeClr val="tx1"/>
                </a:solidFill>
              </a:rPr>
              <a:t>Efficient register usage improves battery life and performance.</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38</a:t>
            </a:fld>
            <a:endParaRPr lang="en-US">
              <a:latin typeface="Arial" pitchFamily="34" charset="0"/>
            </a:endParaRPr>
          </a:p>
        </p:txBody>
      </p:sp>
    </p:spTree>
    <p:extLst>
      <p:ext uri="{BB962C8B-B14F-4D97-AF65-F5344CB8AC3E}">
        <p14:creationId xmlns:p14="http://schemas.microsoft.com/office/powerpoint/2010/main" val="136073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06387" y="1447800"/>
            <a:ext cx="11582400" cy="3886200"/>
          </a:xfrm>
        </p:spPr>
        <p:txBody>
          <a:bodyPr>
            <a:noAutofit/>
          </a:bodyPr>
          <a:lstStyle/>
          <a:p>
            <a:pPr lvl="0">
              <a:spcAft>
                <a:spcPts val="1800"/>
              </a:spcAft>
            </a:pPr>
            <a:r>
              <a:rPr lang="en-GB" b="1" dirty="0"/>
              <a:t> System Design (e.g., Von Neumann vs Harvard)</a:t>
            </a:r>
            <a:endParaRPr lang="en-GB" dirty="0"/>
          </a:p>
          <a:p>
            <a:pPr>
              <a:spcAft>
                <a:spcPts val="1800"/>
              </a:spcAft>
            </a:pPr>
            <a:r>
              <a:rPr lang="en-US" dirty="0">
                <a:solidFill>
                  <a:schemeClr val="tx1"/>
                </a:solidFill>
              </a:rPr>
              <a:t>Defines how memory and processing units are structured.</a:t>
            </a:r>
            <a:endParaRPr lang="en-GB" dirty="0">
              <a:solidFill>
                <a:schemeClr val="tx1"/>
              </a:solidFill>
            </a:endParaRPr>
          </a:p>
          <a:p>
            <a:pPr>
              <a:spcAft>
                <a:spcPts val="1800"/>
              </a:spcAft>
            </a:pPr>
            <a:r>
              <a:rPr lang="en-US" b="1" dirty="0">
                <a:solidFill>
                  <a:schemeClr val="tx1"/>
                </a:solidFill>
              </a:rPr>
              <a:t>Von Neumann Architecture</a:t>
            </a:r>
            <a:r>
              <a:rPr lang="en-US" dirty="0">
                <a:solidFill>
                  <a:schemeClr val="tx1"/>
                </a:solidFill>
              </a:rPr>
              <a:t>: </a:t>
            </a:r>
            <a:r>
              <a:rPr lang="en-US" dirty="0"/>
              <a:t>Shared memory for data and instructions</a:t>
            </a:r>
          </a:p>
          <a:p>
            <a:pPr>
              <a:spcAft>
                <a:spcPts val="1800"/>
              </a:spcAft>
            </a:pPr>
            <a:r>
              <a:rPr lang="en-US" b="1" dirty="0">
                <a:solidFill>
                  <a:schemeClr val="tx1"/>
                </a:solidFill>
              </a:rPr>
              <a:t>Harvard Architecture</a:t>
            </a:r>
            <a:r>
              <a:rPr lang="en-US" dirty="0">
                <a:solidFill>
                  <a:schemeClr val="tx1"/>
                </a:solidFill>
              </a:rPr>
              <a:t>: </a:t>
            </a:r>
            <a:r>
              <a:rPr lang="en-US" dirty="0"/>
              <a:t>Separate memory for data and instructions</a:t>
            </a:r>
            <a:endParaRPr lang="en-GB" dirty="0"/>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39</a:t>
            </a:fld>
            <a:endParaRPr lang="en-US">
              <a:latin typeface="Arial" pitchFamily="34" charset="0"/>
            </a:endParaRPr>
          </a:p>
        </p:txBody>
      </p:sp>
    </p:spTree>
    <p:extLst>
      <p:ext uri="{BB962C8B-B14F-4D97-AF65-F5344CB8AC3E}">
        <p14:creationId xmlns:p14="http://schemas.microsoft.com/office/powerpoint/2010/main" val="3719737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algn="just">
              <a:spcAft>
                <a:spcPts val="2400"/>
              </a:spcAft>
            </a:pPr>
            <a:r>
              <a:rPr lang="en-US" b="1" dirty="0">
                <a:solidFill>
                  <a:schemeClr val="tx1"/>
                </a:solidFill>
              </a:rPr>
              <a:t>Von Neumann Architecture</a:t>
            </a:r>
            <a:r>
              <a:rPr lang="en-US" dirty="0">
                <a:solidFill>
                  <a:schemeClr val="tx1"/>
                </a:solidFill>
              </a:rPr>
              <a:t>: Shared memory for data and instructions</a:t>
            </a:r>
            <a:endParaRPr lang="en-GB" dirty="0">
              <a:solidFill>
                <a:schemeClr val="tx1"/>
              </a:solidFill>
            </a:endParaRPr>
          </a:p>
          <a:p>
            <a:pPr algn="just">
              <a:spcAft>
                <a:spcPts val="2400"/>
              </a:spcAft>
            </a:pPr>
            <a:r>
              <a:rPr lang="en-US" dirty="0">
                <a:solidFill>
                  <a:schemeClr val="tx1"/>
                </a:solidFill>
              </a:rPr>
              <a:t>This processor configuration consists of a control unit, an arithmetic logic unit, a register set, and a memory region containing program instructions and data. </a:t>
            </a:r>
          </a:p>
          <a:p>
            <a:pPr algn="just">
              <a:spcAft>
                <a:spcPts val="2400"/>
              </a:spcAft>
            </a:pPr>
            <a:r>
              <a:rPr lang="en-US" dirty="0">
                <a:solidFill>
                  <a:schemeClr val="tx1"/>
                </a:solidFill>
              </a:rPr>
              <a:t>The key feature distinguishing the von Neumann architecture from the Harvard architecture is the use of a single area of memory for program instructions and the data acted upon by those Instructions. </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40</a:t>
            </a:fld>
            <a:endParaRPr lang="en-US">
              <a:latin typeface="Arial" pitchFamily="34" charset="0"/>
            </a:endParaRPr>
          </a:p>
        </p:txBody>
      </p:sp>
    </p:spTree>
    <p:extLst>
      <p:ext uri="{BB962C8B-B14F-4D97-AF65-F5344CB8AC3E}">
        <p14:creationId xmlns:p14="http://schemas.microsoft.com/office/powerpoint/2010/main" val="3893896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01612"/>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06387" y="1295399"/>
            <a:ext cx="4876800" cy="4711633"/>
          </a:xfrm>
        </p:spPr>
        <p:txBody>
          <a:bodyPr>
            <a:noAutofit/>
          </a:bodyPr>
          <a:lstStyle/>
          <a:p>
            <a:pPr algn="just"/>
            <a:r>
              <a:rPr lang="en-US" sz="2600" dirty="0">
                <a:solidFill>
                  <a:schemeClr val="tx1"/>
                </a:solidFill>
              </a:rPr>
              <a:t>It is conceptually straightforward for programmers, and relatively easier for circuit designers, to locate all of the code and data a program requires in a single memory region.  Figure 1 shows the elements of Von Neumann architecture.</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41</a:t>
            </a:fld>
            <a:endParaRPr lang="en-US">
              <a:latin typeface="Arial" pitchFamily="34" charset="0"/>
            </a:endParaRPr>
          </a:p>
        </p:txBody>
      </p:sp>
      <p:pic>
        <p:nvPicPr>
          <p:cNvPr id="2" name="Picture 1">
            <a:extLst>
              <a:ext uri="{FF2B5EF4-FFF2-40B4-BE49-F238E27FC236}">
                <a16:creationId xmlns:a16="http://schemas.microsoft.com/office/drawing/2014/main" id="{C0FDA966-BE35-4FE5-A9D6-A8F2E4C19BFA}"/>
              </a:ext>
            </a:extLst>
          </p:cNvPr>
          <p:cNvPicPr>
            <a:picLocks noChangeAspect="1"/>
          </p:cNvPicPr>
          <p:nvPr/>
        </p:nvPicPr>
        <p:blipFill>
          <a:blip r:embed="rId2"/>
          <a:stretch>
            <a:fillRect/>
          </a:stretch>
        </p:blipFill>
        <p:spPr>
          <a:xfrm>
            <a:off x="5615675" y="1295400"/>
            <a:ext cx="6248400" cy="4711633"/>
          </a:xfrm>
          <a:prstGeom prst="rect">
            <a:avLst/>
          </a:prstGeom>
        </p:spPr>
      </p:pic>
      <p:sp>
        <p:nvSpPr>
          <p:cNvPr id="3" name="Oval 2">
            <a:extLst>
              <a:ext uri="{FF2B5EF4-FFF2-40B4-BE49-F238E27FC236}">
                <a16:creationId xmlns:a16="http://schemas.microsoft.com/office/drawing/2014/main" id="{EF6A5751-9747-4633-9CA2-9B9B21B60712}"/>
              </a:ext>
            </a:extLst>
          </p:cNvPr>
          <p:cNvSpPr/>
          <p:nvPr/>
        </p:nvSpPr>
        <p:spPr>
          <a:xfrm>
            <a:off x="8383587" y="4419600"/>
            <a:ext cx="685800" cy="609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1157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367459"/>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a:spcAft>
                <a:spcPts val="1200"/>
              </a:spcAft>
            </a:pPr>
            <a:r>
              <a:rPr lang="en-US" sz="2600" b="1" dirty="0"/>
              <a:t>Harvard Architecture</a:t>
            </a:r>
            <a:r>
              <a:rPr lang="en-US" sz="2600" dirty="0"/>
              <a:t>: Separate memory for data and instructions</a:t>
            </a:r>
            <a:endParaRPr lang="en-GB" sz="2600" dirty="0"/>
          </a:p>
          <a:p>
            <a:pPr algn="just">
              <a:spcAft>
                <a:spcPts val="1200"/>
              </a:spcAft>
            </a:pPr>
            <a:r>
              <a:rPr lang="en-US" sz="2600" dirty="0">
                <a:solidFill>
                  <a:schemeClr val="tx1"/>
                </a:solidFill>
              </a:rPr>
              <a:t>A strict Harvard architecture uses one address space and memory bus for program instructions and a separate address space and memory bus for data. </a:t>
            </a:r>
          </a:p>
          <a:p>
            <a:pPr algn="just">
              <a:spcAft>
                <a:spcPts val="1200"/>
              </a:spcAft>
            </a:pPr>
            <a:r>
              <a:rPr lang="en-US" sz="2600" dirty="0">
                <a:solidFill>
                  <a:schemeClr val="tx1"/>
                </a:solidFill>
              </a:rPr>
              <a:t>This configuration has the immediate benefit of enabling simultaneous access to instructions and data, thereby implementing a form of parallelism.  </a:t>
            </a:r>
          </a:p>
          <a:p>
            <a:pPr algn="just">
              <a:spcAft>
                <a:spcPts val="1200"/>
              </a:spcAft>
            </a:pPr>
            <a:r>
              <a:rPr lang="en-US" sz="2600" dirty="0">
                <a:solidFill>
                  <a:schemeClr val="tx1"/>
                </a:solidFill>
              </a:rPr>
              <a:t>This enhancement comes at the expense of essentially duplicating the number of address lines, data lines, and control signals that must be implemented by the processor to access both of the memory regions. </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42</a:t>
            </a:fld>
            <a:endParaRPr lang="en-US">
              <a:latin typeface="Arial" pitchFamily="34" charset="0"/>
            </a:endParaRPr>
          </a:p>
        </p:txBody>
      </p:sp>
    </p:spTree>
    <p:extLst>
      <p:ext uri="{BB962C8B-B14F-4D97-AF65-F5344CB8AC3E}">
        <p14:creationId xmlns:p14="http://schemas.microsoft.com/office/powerpoint/2010/main" val="3737702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01612"/>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19240" y="1600200"/>
            <a:ext cx="4419600" cy="3276600"/>
          </a:xfrm>
        </p:spPr>
        <p:txBody>
          <a:bodyPr>
            <a:noAutofit/>
          </a:bodyPr>
          <a:lstStyle/>
          <a:p>
            <a:pPr algn="just"/>
            <a:r>
              <a:rPr lang="en-US" sz="2600" dirty="0">
                <a:solidFill>
                  <a:schemeClr val="tx1"/>
                </a:solidFill>
              </a:rPr>
              <a:t>The following diagram shows the layout of a processor implementing the Harvard architecture. Figure 2 shows the diagram of Harvard architecture.</a:t>
            </a:r>
            <a:endParaRPr lang="en-GB" sz="2600"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43</a:t>
            </a:fld>
            <a:endParaRPr lang="en-US">
              <a:latin typeface="Arial" pitchFamily="34" charset="0"/>
            </a:endParaRPr>
          </a:p>
        </p:txBody>
      </p:sp>
      <p:pic>
        <p:nvPicPr>
          <p:cNvPr id="6" name="Picture 5">
            <a:extLst>
              <a:ext uri="{FF2B5EF4-FFF2-40B4-BE49-F238E27FC236}">
                <a16:creationId xmlns:a16="http://schemas.microsoft.com/office/drawing/2014/main" id="{0D0FB729-1C24-47A3-AE45-8A70BE3C7F2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183187" y="1219200"/>
            <a:ext cx="6553200" cy="4572000"/>
          </a:xfrm>
          <a:prstGeom prst="rect">
            <a:avLst/>
          </a:prstGeom>
          <a:noFill/>
          <a:ln>
            <a:noFill/>
          </a:ln>
        </p:spPr>
      </p:pic>
    </p:spTree>
    <p:extLst>
      <p:ext uri="{BB962C8B-B14F-4D97-AF65-F5344CB8AC3E}">
        <p14:creationId xmlns:p14="http://schemas.microsoft.com/office/powerpoint/2010/main" val="3116197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Architecture - 5</a:t>
            </a:r>
            <a:endParaRPr lang="en-GB" dirty="0"/>
          </a:p>
        </p:txBody>
      </p:sp>
      <p:sp>
        <p:nvSpPr>
          <p:cNvPr id="27651" name="Content Placeholder 2"/>
          <p:cNvSpPr>
            <a:spLocks noGrp="1"/>
          </p:cNvSpPr>
          <p:nvPr>
            <p:ph idx="1"/>
          </p:nvPr>
        </p:nvSpPr>
        <p:spPr>
          <a:xfrm>
            <a:off x="306387" y="1143000"/>
            <a:ext cx="11582400" cy="4419600"/>
          </a:xfrm>
        </p:spPr>
        <p:txBody>
          <a:bodyPr>
            <a:noAutofit/>
          </a:bodyPr>
          <a:lstStyle/>
          <a:p>
            <a:pPr lvl="0">
              <a:spcAft>
                <a:spcPts val="2400"/>
              </a:spcAft>
            </a:pPr>
            <a:r>
              <a:rPr lang="en-GB" b="1" dirty="0"/>
              <a:t>Real-Life Applications</a:t>
            </a:r>
          </a:p>
          <a:p>
            <a:pPr lvl="0">
              <a:spcAft>
                <a:spcPts val="2400"/>
              </a:spcAft>
            </a:pPr>
            <a:r>
              <a:rPr lang="en-US" b="1" dirty="0">
                <a:solidFill>
                  <a:srgbClr val="7A0000"/>
                </a:solidFill>
              </a:rPr>
              <a:t>Von Neumann Systems</a:t>
            </a:r>
            <a:br>
              <a:rPr lang="en-US" dirty="0">
                <a:solidFill>
                  <a:schemeClr val="tx1"/>
                </a:solidFill>
              </a:rPr>
            </a:br>
            <a:r>
              <a:rPr lang="en-US" dirty="0">
                <a:solidFill>
                  <a:schemeClr val="tx1"/>
                </a:solidFill>
              </a:rPr>
              <a:t>Used in general-purpose computers (laptops, desktops).</a:t>
            </a:r>
          </a:p>
          <a:p>
            <a:pPr lvl="0">
              <a:spcAft>
                <a:spcPts val="2400"/>
              </a:spcAft>
            </a:pPr>
            <a:r>
              <a:rPr lang="en-US" dirty="0">
                <a:solidFill>
                  <a:srgbClr val="3B11ED"/>
                </a:solidFill>
              </a:rPr>
              <a:t>Cache memory, introduction of DDR memories, Pre-</a:t>
            </a:r>
            <a:r>
              <a:rPr lang="en-US" dirty="0" err="1">
                <a:solidFill>
                  <a:srgbClr val="3B11ED"/>
                </a:solidFill>
              </a:rPr>
              <a:t>fectching</a:t>
            </a:r>
            <a:r>
              <a:rPr lang="en-US" dirty="0">
                <a:solidFill>
                  <a:srgbClr val="3B11ED"/>
                </a:solidFill>
              </a:rPr>
              <a:t>, PIM, </a:t>
            </a:r>
            <a:endParaRPr lang="en-GB" dirty="0">
              <a:solidFill>
                <a:srgbClr val="3B11ED"/>
              </a:solidFill>
            </a:endParaRPr>
          </a:p>
          <a:p>
            <a:pPr lvl="0">
              <a:spcAft>
                <a:spcPts val="2400"/>
              </a:spcAft>
            </a:pPr>
            <a:r>
              <a:rPr lang="en-US" b="1" dirty="0">
                <a:solidFill>
                  <a:srgbClr val="7A0000"/>
                </a:solidFill>
              </a:rPr>
              <a:t>Harvard Systems</a:t>
            </a:r>
            <a:br>
              <a:rPr lang="en-US" dirty="0">
                <a:solidFill>
                  <a:schemeClr val="tx1"/>
                </a:solidFill>
              </a:rPr>
            </a:br>
            <a:r>
              <a:rPr lang="en-US" dirty="0">
                <a:solidFill>
                  <a:schemeClr val="tx1"/>
                </a:solidFill>
              </a:rPr>
              <a:t>Used in microcontrollers and embedded systems for faster access.</a:t>
            </a:r>
            <a:endParaRPr lang="en-GB" dirty="0">
              <a:solidFill>
                <a:schemeClr val="tx1"/>
              </a:solidFill>
            </a:endParaRPr>
          </a:p>
          <a:p>
            <a:pPr algn="just">
              <a:spcAft>
                <a:spcPts val="2400"/>
              </a:spcAft>
            </a:pPr>
            <a:r>
              <a:rPr lang="en-US" b="1" dirty="0">
                <a:solidFill>
                  <a:schemeClr val="tx1"/>
                </a:solidFill>
              </a:rPr>
              <a:t>Example:</a:t>
            </a:r>
            <a:r>
              <a:rPr lang="en-US" dirty="0">
                <a:solidFill>
                  <a:schemeClr val="tx1"/>
                </a:solidFill>
              </a:rPr>
              <a:t> Microcontrollers in washing machines or cars use Harvard architecture.</a:t>
            </a:r>
            <a:endParaRPr lang="en-GB" dirty="0">
              <a:solidFill>
                <a:schemeClr val="tx1"/>
              </a:solidFill>
            </a:endParaRP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44</a:t>
            </a:fld>
            <a:endParaRPr lang="en-US">
              <a:latin typeface="Arial" pitchFamily="34" charset="0"/>
            </a:endParaRPr>
          </a:p>
        </p:txBody>
      </p:sp>
    </p:spTree>
    <p:extLst>
      <p:ext uri="{BB962C8B-B14F-4D97-AF65-F5344CB8AC3E}">
        <p14:creationId xmlns:p14="http://schemas.microsoft.com/office/powerpoint/2010/main" val="708517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906587" y="2133600"/>
            <a:ext cx="8534400" cy="1524000"/>
          </a:xfrm>
        </p:spPr>
        <p:txBody>
          <a:bodyPr>
            <a:normAutofit/>
          </a:bodyPr>
          <a:lstStyle/>
          <a:p>
            <a:r>
              <a:rPr lang="en-US" sz="4400" dirty="0"/>
              <a:t>Components of Computer Organization</a:t>
            </a:r>
            <a:endParaRPr lang="en-GB" sz="4400" dirty="0"/>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45</a:t>
            </a:fld>
            <a:endParaRPr lang="en-US">
              <a:latin typeface="Arial" pitchFamily="34" charset="0"/>
            </a:endParaRPr>
          </a:p>
        </p:txBody>
      </p:sp>
    </p:spTree>
    <p:extLst>
      <p:ext uri="{BB962C8B-B14F-4D97-AF65-F5344CB8AC3E}">
        <p14:creationId xmlns:p14="http://schemas.microsoft.com/office/powerpoint/2010/main" val="1044169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- 1</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lvl="0" algn="just">
              <a:spcBef>
                <a:spcPts val="0"/>
              </a:spcBef>
              <a:spcAft>
                <a:spcPts val="1800"/>
              </a:spcAft>
            </a:pPr>
            <a:r>
              <a:rPr lang="en-GB" dirty="0">
                <a:solidFill>
                  <a:schemeClr val="tx1"/>
                </a:solidFill>
              </a:rPr>
              <a:t>Computer organization deals with </a:t>
            </a:r>
            <a:r>
              <a:rPr lang="en-GB" b="1" dirty="0">
                <a:solidFill>
                  <a:schemeClr val="tx1"/>
                </a:solidFill>
              </a:rPr>
              <a:t>how architectural features are physically implemented</a:t>
            </a:r>
            <a:r>
              <a:rPr lang="en-GB" dirty="0">
                <a:solidFill>
                  <a:schemeClr val="tx1"/>
                </a:solidFill>
              </a:rPr>
              <a:t>.</a:t>
            </a:r>
            <a:endParaRPr lang="en-GB" b="1" dirty="0">
              <a:solidFill>
                <a:schemeClr val="tx1"/>
              </a:solidFill>
            </a:endParaRPr>
          </a:p>
          <a:p>
            <a:pPr marL="0" lvl="0" indent="0" algn="just">
              <a:spcBef>
                <a:spcPts val="0"/>
              </a:spcBef>
              <a:spcAft>
                <a:spcPts val="1800"/>
              </a:spcAft>
              <a:buNone/>
            </a:pPr>
            <a:r>
              <a:rPr lang="en-GB" b="1" dirty="0"/>
              <a:t>1. Control Unit</a:t>
            </a:r>
          </a:p>
          <a:p>
            <a:pPr lvl="0" algn="just">
              <a:spcBef>
                <a:spcPts val="0"/>
              </a:spcBef>
              <a:spcAft>
                <a:spcPts val="1800"/>
              </a:spcAft>
            </a:pPr>
            <a:r>
              <a:rPr lang="en-GB" b="1" dirty="0">
                <a:solidFill>
                  <a:schemeClr val="tx1"/>
                </a:solidFill>
              </a:rPr>
              <a:t>Explanation: The control unit coordinates all operations of the CPU by:</a:t>
            </a:r>
          </a:p>
          <a:p>
            <a:pPr lvl="1" algn="just">
              <a:spcBef>
                <a:spcPts val="0"/>
              </a:spcBef>
              <a:spcAft>
                <a:spcPts val="1800"/>
              </a:spcAft>
            </a:pPr>
            <a:r>
              <a:rPr lang="en-GB" sz="2800" b="1" dirty="0"/>
              <a:t>Fetching instructions</a:t>
            </a:r>
          </a:p>
          <a:p>
            <a:pPr lvl="1" algn="just">
              <a:spcBef>
                <a:spcPts val="0"/>
              </a:spcBef>
              <a:spcAft>
                <a:spcPts val="1800"/>
              </a:spcAft>
            </a:pPr>
            <a:r>
              <a:rPr lang="en-GB" sz="2800" b="1" dirty="0"/>
              <a:t>Decoding instructions</a:t>
            </a:r>
          </a:p>
          <a:p>
            <a:pPr lvl="1" algn="just">
              <a:spcBef>
                <a:spcPts val="0"/>
              </a:spcBef>
              <a:spcAft>
                <a:spcPts val="1800"/>
              </a:spcAft>
            </a:pPr>
            <a:r>
              <a:rPr lang="en-GB" sz="2800" b="1" dirty="0"/>
              <a:t>Generating control signals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46</a:t>
            </a:fld>
            <a:endParaRPr lang="en-US">
              <a:latin typeface="Arial" pitchFamily="34" charset="0"/>
            </a:endParaRPr>
          </a:p>
        </p:txBody>
      </p:sp>
    </p:spTree>
    <p:extLst>
      <p:ext uri="{BB962C8B-B14F-4D97-AF65-F5344CB8AC3E}">
        <p14:creationId xmlns:p14="http://schemas.microsoft.com/office/powerpoint/2010/main" val="2793663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- 1</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lvl="0" algn="just">
              <a:spcBef>
                <a:spcPts val="0"/>
              </a:spcBef>
              <a:spcAft>
                <a:spcPts val="1800"/>
              </a:spcAft>
            </a:pPr>
            <a:r>
              <a:rPr lang="en-GB" dirty="0">
                <a:solidFill>
                  <a:schemeClr val="tx1"/>
                </a:solidFill>
              </a:rPr>
              <a:t>Real-Life Applications</a:t>
            </a:r>
          </a:p>
          <a:p>
            <a:pPr lvl="1" algn="just">
              <a:spcBef>
                <a:spcPts val="0"/>
              </a:spcBef>
              <a:spcAft>
                <a:spcPts val="1800"/>
              </a:spcAft>
            </a:pPr>
            <a:r>
              <a:rPr lang="en-GB" sz="2800" b="1" dirty="0"/>
              <a:t>Processor Execution: </a:t>
            </a:r>
          </a:p>
          <a:p>
            <a:pPr lvl="0" algn="just">
              <a:spcBef>
                <a:spcPts val="0"/>
              </a:spcBef>
              <a:spcAft>
                <a:spcPts val="1800"/>
              </a:spcAft>
            </a:pPr>
            <a:r>
              <a:rPr lang="en-GB" dirty="0">
                <a:solidFill>
                  <a:schemeClr val="tx1"/>
                </a:solidFill>
              </a:rPr>
              <a:t>Every program relies on the control unit for execution.</a:t>
            </a:r>
          </a:p>
          <a:p>
            <a:pPr lvl="1" algn="just">
              <a:spcBef>
                <a:spcPts val="0"/>
              </a:spcBef>
              <a:spcAft>
                <a:spcPts val="1800"/>
              </a:spcAft>
            </a:pPr>
            <a:r>
              <a:rPr lang="en-GB" sz="2800" b="1" dirty="0"/>
              <a:t>Industrial Automation:</a:t>
            </a:r>
          </a:p>
          <a:p>
            <a:pPr lvl="0" algn="just">
              <a:spcBef>
                <a:spcPts val="0"/>
              </a:spcBef>
              <a:spcAft>
                <a:spcPts val="1800"/>
              </a:spcAft>
            </a:pPr>
            <a:r>
              <a:rPr lang="en-GB" dirty="0">
                <a:solidFill>
                  <a:schemeClr val="tx1"/>
                </a:solidFill>
              </a:rPr>
              <a:t>Machines operate based on control signals.</a:t>
            </a:r>
          </a:p>
          <a:p>
            <a:pPr lvl="1" algn="just">
              <a:spcBef>
                <a:spcPts val="0"/>
              </a:spcBef>
              <a:spcAft>
                <a:spcPts val="1800"/>
              </a:spcAft>
            </a:pPr>
            <a:r>
              <a:rPr lang="en-GB" sz="2800" b="1" dirty="0"/>
              <a:t>Robotics Systems: </a:t>
            </a:r>
          </a:p>
          <a:p>
            <a:pPr lvl="0" algn="just">
              <a:spcBef>
                <a:spcPts val="0"/>
              </a:spcBef>
              <a:spcAft>
                <a:spcPts val="1800"/>
              </a:spcAft>
            </a:pPr>
            <a:r>
              <a:rPr lang="en-GB" dirty="0">
                <a:solidFill>
                  <a:schemeClr val="tx1"/>
                </a:solidFill>
              </a:rPr>
              <a:t>Controls sensors and actuators.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47</a:t>
            </a:fld>
            <a:endParaRPr lang="en-US">
              <a:latin typeface="Arial" pitchFamily="34" charset="0"/>
            </a:endParaRPr>
          </a:p>
        </p:txBody>
      </p:sp>
    </p:spTree>
    <p:extLst>
      <p:ext uri="{BB962C8B-B14F-4D97-AF65-F5344CB8AC3E}">
        <p14:creationId xmlns:p14="http://schemas.microsoft.com/office/powerpoint/2010/main" val="35594158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- 2</a:t>
            </a:r>
            <a:endParaRPr lang="en-GB" dirty="0"/>
          </a:p>
        </p:txBody>
      </p:sp>
      <p:sp>
        <p:nvSpPr>
          <p:cNvPr id="27651" name="Content Placeholder 2"/>
          <p:cNvSpPr>
            <a:spLocks noGrp="1"/>
          </p:cNvSpPr>
          <p:nvPr>
            <p:ph idx="1"/>
          </p:nvPr>
        </p:nvSpPr>
        <p:spPr>
          <a:xfrm>
            <a:off x="306387" y="1066800"/>
            <a:ext cx="11582400" cy="5181600"/>
          </a:xfrm>
        </p:spPr>
        <p:txBody>
          <a:bodyPr>
            <a:noAutofit/>
          </a:bodyPr>
          <a:lstStyle/>
          <a:p>
            <a:pPr marL="0" lvl="0" indent="0" algn="just">
              <a:spcBef>
                <a:spcPts val="0"/>
              </a:spcBef>
              <a:spcAft>
                <a:spcPts val="1500"/>
              </a:spcAft>
              <a:buNone/>
            </a:pPr>
            <a:r>
              <a:rPr lang="en-GB" b="1" dirty="0"/>
              <a:t>2. Arithmetic Logic Unit (ALU)</a:t>
            </a:r>
          </a:p>
          <a:p>
            <a:pPr lvl="0" algn="just">
              <a:spcBef>
                <a:spcPts val="0"/>
              </a:spcBef>
              <a:spcAft>
                <a:spcPts val="1500"/>
              </a:spcAft>
            </a:pPr>
            <a:r>
              <a:rPr lang="en-GB" dirty="0">
                <a:solidFill>
                  <a:schemeClr val="tx1"/>
                </a:solidFill>
              </a:rPr>
              <a:t>The ALU performs:</a:t>
            </a:r>
          </a:p>
          <a:p>
            <a:pPr lvl="1" algn="just">
              <a:spcBef>
                <a:spcPts val="0"/>
              </a:spcBef>
              <a:spcAft>
                <a:spcPts val="1500"/>
              </a:spcAft>
            </a:pPr>
            <a:r>
              <a:rPr lang="en-GB" sz="2600" b="1" dirty="0"/>
              <a:t>Arithmetic operations (addition, subtraction)</a:t>
            </a:r>
          </a:p>
          <a:p>
            <a:pPr lvl="1" algn="just">
              <a:spcBef>
                <a:spcPts val="0"/>
              </a:spcBef>
              <a:spcAft>
                <a:spcPts val="1500"/>
              </a:spcAft>
            </a:pPr>
            <a:r>
              <a:rPr lang="en-GB" sz="2600" b="1" dirty="0"/>
              <a:t>Logical operations (AND, OR, NOT)</a:t>
            </a:r>
          </a:p>
          <a:p>
            <a:pPr lvl="0" algn="just">
              <a:spcBef>
                <a:spcPts val="0"/>
              </a:spcBef>
              <a:spcAft>
                <a:spcPts val="1500"/>
              </a:spcAft>
            </a:pPr>
            <a:r>
              <a:rPr lang="en-GB" dirty="0">
                <a:solidFill>
                  <a:schemeClr val="tx1"/>
                </a:solidFill>
              </a:rPr>
              <a:t>Real-Life Applications:</a:t>
            </a:r>
          </a:p>
          <a:p>
            <a:pPr lvl="1" algn="just">
              <a:spcBef>
                <a:spcPts val="0"/>
              </a:spcBef>
              <a:spcAft>
                <a:spcPts val="1500"/>
              </a:spcAft>
            </a:pPr>
            <a:r>
              <a:rPr lang="en-GB" sz="2600" b="1" dirty="0"/>
              <a:t>Digital Calculators: perform arithmetic operations.</a:t>
            </a:r>
          </a:p>
          <a:p>
            <a:pPr lvl="1" algn="just">
              <a:spcBef>
                <a:spcPts val="0"/>
              </a:spcBef>
              <a:spcAft>
                <a:spcPts val="1500"/>
              </a:spcAft>
            </a:pPr>
            <a:r>
              <a:rPr lang="en-GB" sz="2600" b="1" dirty="0"/>
              <a:t>Gaming Systems: physics calculations depend on ALU.</a:t>
            </a:r>
          </a:p>
          <a:p>
            <a:pPr lvl="1" algn="just">
              <a:spcBef>
                <a:spcPts val="0"/>
              </a:spcBef>
              <a:spcAft>
                <a:spcPts val="1500"/>
              </a:spcAft>
            </a:pPr>
            <a:r>
              <a:rPr lang="en-GB" sz="2600" b="1" dirty="0"/>
              <a:t>Artificial Intelligence Systems: neural network computations involve massive arithmetic operations.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48</a:t>
            </a:fld>
            <a:endParaRPr lang="en-US">
              <a:latin typeface="Arial" pitchFamily="34" charset="0"/>
            </a:endParaRPr>
          </a:p>
        </p:txBody>
      </p:sp>
    </p:spTree>
    <p:extLst>
      <p:ext uri="{BB962C8B-B14F-4D97-AF65-F5344CB8AC3E}">
        <p14:creationId xmlns:p14="http://schemas.microsoft.com/office/powerpoint/2010/main" val="2548241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- 3</a:t>
            </a:r>
            <a:endParaRPr lang="en-GB" dirty="0"/>
          </a:p>
        </p:txBody>
      </p:sp>
      <p:sp>
        <p:nvSpPr>
          <p:cNvPr id="27651" name="Content Placeholder 2"/>
          <p:cNvSpPr>
            <a:spLocks noGrp="1"/>
          </p:cNvSpPr>
          <p:nvPr>
            <p:ph idx="1"/>
          </p:nvPr>
        </p:nvSpPr>
        <p:spPr>
          <a:xfrm>
            <a:off x="306387" y="1066800"/>
            <a:ext cx="11582400" cy="5181600"/>
          </a:xfrm>
        </p:spPr>
        <p:txBody>
          <a:bodyPr>
            <a:noAutofit/>
          </a:bodyPr>
          <a:lstStyle/>
          <a:p>
            <a:pPr marL="0" lvl="0" indent="0" algn="just">
              <a:spcBef>
                <a:spcPts val="0"/>
              </a:spcBef>
              <a:spcAft>
                <a:spcPts val="1000"/>
              </a:spcAft>
              <a:buNone/>
            </a:pPr>
            <a:r>
              <a:rPr lang="en-GB" sz="2600" b="1" dirty="0"/>
              <a:t>3.Memory Organization</a:t>
            </a:r>
          </a:p>
          <a:p>
            <a:pPr marL="0" lvl="0" indent="0" algn="just">
              <a:spcBef>
                <a:spcPts val="0"/>
              </a:spcBef>
              <a:spcAft>
                <a:spcPts val="1000"/>
              </a:spcAft>
              <a:buNone/>
            </a:pPr>
            <a:r>
              <a:rPr lang="en-GB" sz="2600" b="1" dirty="0">
                <a:solidFill>
                  <a:schemeClr val="tx1"/>
                </a:solidFill>
              </a:rPr>
              <a:t>Memory is organized hierarchically:</a:t>
            </a:r>
          </a:p>
          <a:p>
            <a:pPr lvl="1" indent="-342900" algn="just">
              <a:spcBef>
                <a:spcPts val="0"/>
              </a:spcBef>
              <a:spcAft>
                <a:spcPts val="1000"/>
              </a:spcAft>
            </a:pPr>
            <a:r>
              <a:rPr lang="en-GB" b="1" dirty="0"/>
              <a:t>Cache (fastest)</a:t>
            </a:r>
          </a:p>
          <a:p>
            <a:pPr lvl="1" indent="-342900" algn="just">
              <a:spcBef>
                <a:spcPts val="0"/>
              </a:spcBef>
              <a:spcAft>
                <a:spcPts val="1000"/>
              </a:spcAft>
            </a:pPr>
            <a:r>
              <a:rPr lang="en-GB" b="1" dirty="0"/>
              <a:t>Main memory (RAM)</a:t>
            </a:r>
          </a:p>
          <a:p>
            <a:pPr lvl="1" indent="-342900" algn="just">
              <a:spcBef>
                <a:spcPts val="0"/>
              </a:spcBef>
              <a:spcAft>
                <a:spcPts val="1000"/>
              </a:spcAft>
            </a:pPr>
            <a:r>
              <a:rPr lang="en-GB" b="1" dirty="0"/>
              <a:t>Secondary storage</a:t>
            </a:r>
          </a:p>
          <a:p>
            <a:pPr marL="0" lvl="0" indent="0" algn="just">
              <a:spcBef>
                <a:spcPts val="0"/>
              </a:spcBef>
              <a:spcAft>
                <a:spcPts val="1000"/>
              </a:spcAft>
              <a:buNone/>
            </a:pPr>
            <a:r>
              <a:rPr lang="en-GB" sz="2600" b="1" dirty="0">
                <a:solidFill>
                  <a:schemeClr val="tx1"/>
                </a:solidFill>
              </a:rPr>
              <a:t>Real-Life Applications</a:t>
            </a:r>
          </a:p>
          <a:p>
            <a:pPr lvl="1" algn="just">
              <a:spcBef>
                <a:spcPts val="0"/>
              </a:spcBef>
              <a:spcAft>
                <a:spcPts val="1000"/>
              </a:spcAft>
            </a:pPr>
            <a:r>
              <a:rPr lang="en-GB" b="1" dirty="0"/>
              <a:t>Smartphones: faster app performance depends on efficient memory hierarchy.</a:t>
            </a:r>
          </a:p>
          <a:p>
            <a:pPr lvl="1" algn="just">
              <a:spcBef>
                <a:spcPts val="0"/>
              </a:spcBef>
              <a:spcAft>
                <a:spcPts val="1000"/>
              </a:spcAft>
            </a:pPr>
            <a:r>
              <a:rPr lang="en-GB" b="1" dirty="0"/>
              <a:t>Web Browsers: cache memory speeds up page loading.</a:t>
            </a:r>
          </a:p>
          <a:p>
            <a:pPr lvl="1" algn="just">
              <a:spcBef>
                <a:spcPts val="0"/>
              </a:spcBef>
              <a:spcAft>
                <a:spcPts val="1000"/>
              </a:spcAft>
            </a:pPr>
            <a:r>
              <a:rPr lang="en-GB" b="1" dirty="0"/>
              <a:t>Cloud Systems: efficient memory usage supports large-scale computing.</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49</a:t>
            </a:fld>
            <a:endParaRPr lang="en-US">
              <a:latin typeface="Arial" pitchFamily="34" charset="0"/>
            </a:endParaRPr>
          </a:p>
        </p:txBody>
      </p:sp>
    </p:spTree>
    <p:extLst>
      <p:ext uri="{BB962C8B-B14F-4D97-AF65-F5344CB8AC3E}">
        <p14:creationId xmlns:p14="http://schemas.microsoft.com/office/powerpoint/2010/main" val="5997278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- 4</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marL="0" lvl="0" indent="0" algn="just">
              <a:spcBef>
                <a:spcPts val="0"/>
              </a:spcBef>
              <a:spcAft>
                <a:spcPts val="1800"/>
              </a:spcAft>
              <a:buNone/>
            </a:pPr>
            <a:r>
              <a:rPr lang="en-GB" b="1" dirty="0"/>
              <a:t>4.  </a:t>
            </a:r>
            <a:r>
              <a:rPr lang="en-GB" b="1" dirty="0" err="1"/>
              <a:t>Input/Output</a:t>
            </a:r>
            <a:r>
              <a:rPr lang="en-GB" b="1" dirty="0"/>
              <a:t> (I/O) Systems</a:t>
            </a:r>
          </a:p>
          <a:p>
            <a:pPr marL="0" lvl="0" indent="0" algn="just">
              <a:spcBef>
                <a:spcPts val="0"/>
              </a:spcBef>
              <a:spcAft>
                <a:spcPts val="1800"/>
              </a:spcAft>
              <a:buNone/>
            </a:pPr>
            <a:r>
              <a:rPr lang="en-GB" b="1" dirty="0">
                <a:solidFill>
                  <a:schemeClr val="tx1"/>
                </a:solidFill>
              </a:rPr>
              <a:t>Handles communication between the computer and external devices.</a:t>
            </a:r>
          </a:p>
          <a:p>
            <a:pPr marL="0" lvl="0" indent="0" algn="just">
              <a:spcBef>
                <a:spcPts val="0"/>
              </a:spcBef>
              <a:spcAft>
                <a:spcPts val="1800"/>
              </a:spcAft>
              <a:buNone/>
            </a:pPr>
            <a:r>
              <a:rPr lang="en-GB" b="1" dirty="0">
                <a:solidFill>
                  <a:schemeClr val="tx1"/>
                </a:solidFill>
              </a:rPr>
              <a:t>Real-Life Applications</a:t>
            </a:r>
          </a:p>
          <a:p>
            <a:pPr lvl="1" algn="just">
              <a:spcBef>
                <a:spcPts val="0"/>
              </a:spcBef>
              <a:spcAft>
                <a:spcPts val="1800"/>
              </a:spcAft>
            </a:pPr>
            <a:r>
              <a:rPr lang="en-GB" sz="2600" b="1" dirty="0"/>
              <a:t>User Interaction: keyboard input and monitor output.</a:t>
            </a:r>
          </a:p>
          <a:p>
            <a:pPr lvl="1" algn="just">
              <a:spcBef>
                <a:spcPts val="0"/>
              </a:spcBef>
              <a:spcAft>
                <a:spcPts val="1800"/>
              </a:spcAft>
            </a:pPr>
            <a:r>
              <a:rPr lang="en-GB" sz="2600" b="1" dirty="0"/>
              <a:t>Medical Devices: sensors provide input, displays provide output.</a:t>
            </a:r>
          </a:p>
          <a:p>
            <a:pPr lvl="1" algn="just">
              <a:spcBef>
                <a:spcPts val="0"/>
              </a:spcBef>
              <a:spcAft>
                <a:spcPts val="1800"/>
              </a:spcAft>
            </a:pPr>
            <a:r>
              <a:rPr lang="en-GB" sz="2600" b="1" dirty="0"/>
              <a:t>Smart Homes: devices communicate with environmental sensors.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50</a:t>
            </a:fld>
            <a:endParaRPr lang="en-US">
              <a:latin typeface="Arial" pitchFamily="34" charset="0"/>
            </a:endParaRPr>
          </a:p>
        </p:txBody>
      </p:sp>
    </p:spTree>
    <p:extLst>
      <p:ext uri="{BB962C8B-B14F-4D97-AF65-F5344CB8AC3E}">
        <p14:creationId xmlns:p14="http://schemas.microsoft.com/office/powerpoint/2010/main" val="3221316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- 5</a:t>
            </a:r>
            <a:endParaRPr lang="en-GB" dirty="0"/>
          </a:p>
        </p:txBody>
      </p:sp>
      <p:sp>
        <p:nvSpPr>
          <p:cNvPr id="27651" name="Content Placeholder 2"/>
          <p:cNvSpPr>
            <a:spLocks noGrp="1"/>
          </p:cNvSpPr>
          <p:nvPr>
            <p:ph idx="1"/>
          </p:nvPr>
        </p:nvSpPr>
        <p:spPr>
          <a:xfrm>
            <a:off x="306387" y="1118394"/>
            <a:ext cx="11582400" cy="4953000"/>
          </a:xfrm>
        </p:spPr>
        <p:txBody>
          <a:bodyPr>
            <a:noAutofit/>
          </a:bodyPr>
          <a:lstStyle/>
          <a:p>
            <a:pPr marL="0" lvl="0" indent="0" algn="just">
              <a:spcBef>
                <a:spcPts val="0"/>
              </a:spcBef>
              <a:spcAft>
                <a:spcPts val="1200"/>
              </a:spcAft>
              <a:buNone/>
            </a:pPr>
            <a:r>
              <a:rPr lang="en-GB" b="1" dirty="0"/>
              <a:t>5. System Buses and Interconnections</a:t>
            </a:r>
          </a:p>
          <a:p>
            <a:pPr marL="857250" lvl="1" indent="-457200" algn="just">
              <a:spcBef>
                <a:spcPts val="0"/>
              </a:spcBef>
              <a:spcAft>
                <a:spcPts val="1200"/>
              </a:spcAft>
            </a:pPr>
            <a:r>
              <a:rPr lang="en-GB" sz="2800" b="1" dirty="0"/>
              <a:t>Buses transfer: </a:t>
            </a:r>
            <a:r>
              <a:rPr lang="en-GB" sz="2800" b="1" dirty="0">
                <a:solidFill>
                  <a:srgbClr val="3B11ED"/>
                </a:solidFill>
              </a:rPr>
              <a:t>Data Addresses and Control signals</a:t>
            </a:r>
          </a:p>
          <a:p>
            <a:pPr marL="0" lvl="0" indent="0" algn="just">
              <a:spcBef>
                <a:spcPts val="0"/>
              </a:spcBef>
              <a:spcAft>
                <a:spcPts val="1200"/>
              </a:spcAft>
              <a:buNone/>
            </a:pPr>
            <a:r>
              <a:rPr lang="en-GB" b="1" dirty="0">
                <a:solidFill>
                  <a:schemeClr val="tx1"/>
                </a:solidFill>
              </a:rPr>
              <a:t>Types: </a:t>
            </a:r>
          </a:p>
          <a:p>
            <a:pPr lvl="1" algn="just">
              <a:spcBef>
                <a:spcPts val="0"/>
              </a:spcBef>
              <a:spcAft>
                <a:spcPts val="1200"/>
              </a:spcAft>
            </a:pPr>
            <a:r>
              <a:rPr lang="en-GB" sz="2800" b="1" dirty="0"/>
              <a:t>Data bus</a:t>
            </a:r>
          </a:p>
          <a:p>
            <a:pPr lvl="1" algn="just">
              <a:spcBef>
                <a:spcPts val="0"/>
              </a:spcBef>
              <a:spcAft>
                <a:spcPts val="1200"/>
              </a:spcAft>
            </a:pPr>
            <a:r>
              <a:rPr lang="en-GB" sz="2800" b="1" dirty="0"/>
              <a:t>Address bus</a:t>
            </a:r>
          </a:p>
          <a:p>
            <a:pPr lvl="1" algn="just">
              <a:spcBef>
                <a:spcPts val="0"/>
              </a:spcBef>
              <a:spcAft>
                <a:spcPts val="1200"/>
              </a:spcAft>
            </a:pPr>
            <a:r>
              <a:rPr lang="en-GB" sz="2800" b="1" dirty="0"/>
              <a:t>Control bus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51</a:t>
            </a:fld>
            <a:endParaRPr lang="en-US">
              <a:latin typeface="Arial" pitchFamily="34" charset="0"/>
            </a:endParaRPr>
          </a:p>
        </p:txBody>
      </p:sp>
    </p:spTree>
    <p:extLst>
      <p:ext uri="{BB962C8B-B14F-4D97-AF65-F5344CB8AC3E}">
        <p14:creationId xmlns:p14="http://schemas.microsoft.com/office/powerpoint/2010/main" val="1240086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- 5</a:t>
            </a:r>
            <a:endParaRPr lang="en-GB" dirty="0"/>
          </a:p>
        </p:txBody>
      </p:sp>
      <p:sp>
        <p:nvSpPr>
          <p:cNvPr id="27651" name="Content Placeholder 2"/>
          <p:cNvSpPr>
            <a:spLocks noGrp="1"/>
          </p:cNvSpPr>
          <p:nvPr>
            <p:ph idx="1"/>
          </p:nvPr>
        </p:nvSpPr>
        <p:spPr>
          <a:xfrm>
            <a:off x="306387" y="1295400"/>
            <a:ext cx="11582400" cy="4953000"/>
          </a:xfrm>
        </p:spPr>
        <p:txBody>
          <a:bodyPr>
            <a:noAutofit/>
          </a:bodyPr>
          <a:lstStyle/>
          <a:p>
            <a:pPr marL="0" lvl="0" indent="0" algn="just">
              <a:spcBef>
                <a:spcPts val="0"/>
              </a:spcBef>
              <a:spcAft>
                <a:spcPts val="2400"/>
              </a:spcAft>
              <a:buNone/>
            </a:pPr>
            <a:r>
              <a:rPr lang="en-GB" b="1" dirty="0">
                <a:solidFill>
                  <a:schemeClr val="tx1"/>
                </a:solidFill>
              </a:rPr>
              <a:t>Real-Life Applications</a:t>
            </a:r>
          </a:p>
          <a:p>
            <a:pPr lvl="1" algn="just">
              <a:spcBef>
                <a:spcPts val="0"/>
              </a:spcBef>
              <a:spcAft>
                <a:spcPts val="2400"/>
              </a:spcAft>
            </a:pPr>
            <a:r>
              <a:rPr lang="en-GB" sz="2800" b="1" dirty="0"/>
              <a:t>Motherboard Communication: all components communicate via buses.</a:t>
            </a:r>
          </a:p>
          <a:p>
            <a:pPr lvl="1" algn="just">
              <a:spcBef>
                <a:spcPts val="0"/>
              </a:spcBef>
              <a:spcAft>
                <a:spcPts val="2400"/>
              </a:spcAft>
            </a:pPr>
            <a:r>
              <a:rPr lang="en-GB" sz="2800" b="1" dirty="0"/>
              <a:t>Gaming Computers: High-speed buses improve graphics performance.</a:t>
            </a:r>
          </a:p>
          <a:p>
            <a:pPr lvl="1" algn="just">
              <a:spcBef>
                <a:spcPts val="0"/>
              </a:spcBef>
              <a:spcAft>
                <a:spcPts val="2400"/>
              </a:spcAft>
            </a:pPr>
            <a:r>
              <a:rPr lang="en-GB" sz="2800" b="1" dirty="0"/>
              <a:t>Servers: efficient data transfer supports multiple users.</a:t>
            </a:r>
            <a:endParaRPr lang="en-GB" b="1" dirty="0"/>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52</a:t>
            </a:fld>
            <a:endParaRPr lang="en-US">
              <a:latin typeface="Arial" pitchFamily="34" charset="0"/>
            </a:endParaRPr>
          </a:p>
        </p:txBody>
      </p:sp>
    </p:spTree>
    <p:extLst>
      <p:ext uri="{BB962C8B-B14F-4D97-AF65-F5344CB8AC3E}">
        <p14:creationId xmlns:p14="http://schemas.microsoft.com/office/powerpoint/2010/main" val="33979312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09758" y="228600"/>
            <a:ext cx="10975658" cy="712788"/>
          </a:xfrm>
        </p:spPr>
        <p:txBody>
          <a:bodyPr>
            <a:normAutofit/>
          </a:bodyPr>
          <a:lstStyle/>
          <a:p>
            <a:r>
              <a:rPr lang="en-US" dirty="0"/>
              <a:t>Components of Computer Organization - 6</a:t>
            </a:r>
            <a:endParaRPr lang="en-GB" dirty="0"/>
          </a:p>
        </p:txBody>
      </p:sp>
      <p:sp>
        <p:nvSpPr>
          <p:cNvPr id="27651" name="Content Placeholder 2"/>
          <p:cNvSpPr>
            <a:spLocks noGrp="1"/>
          </p:cNvSpPr>
          <p:nvPr>
            <p:ph idx="1"/>
          </p:nvPr>
        </p:nvSpPr>
        <p:spPr>
          <a:xfrm>
            <a:off x="306387" y="1146468"/>
            <a:ext cx="11582400" cy="4953000"/>
          </a:xfrm>
        </p:spPr>
        <p:txBody>
          <a:bodyPr>
            <a:noAutofit/>
          </a:bodyPr>
          <a:lstStyle/>
          <a:p>
            <a:pPr marL="0" lvl="0" indent="0" algn="just">
              <a:spcBef>
                <a:spcPts val="0"/>
              </a:spcBef>
              <a:spcAft>
                <a:spcPts val="1200"/>
              </a:spcAft>
              <a:buNone/>
            </a:pPr>
            <a:r>
              <a:rPr lang="en-GB" b="1" dirty="0"/>
              <a:t>6. Pipelining and Parallelism</a:t>
            </a:r>
          </a:p>
          <a:p>
            <a:pPr algn="just">
              <a:spcBef>
                <a:spcPts val="0"/>
              </a:spcBef>
              <a:spcAft>
                <a:spcPts val="1200"/>
              </a:spcAft>
            </a:pPr>
            <a:r>
              <a:rPr lang="en-GB" b="1" dirty="0">
                <a:solidFill>
                  <a:schemeClr val="tx1"/>
                </a:solidFill>
              </a:rPr>
              <a:t>Pipelining: Overlapping instruction execution</a:t>
            </a:r>
          </a:p>
          <a:p>
            <a:pPr algn="just">
              <a:spcBef>
                <a:spcPts val="0"/>
              </a:spcBef>
              <a:spcAft>
                <a:spcPts val="1200"/>
              </a:spcAft>
            </a:pPr>
            <a:r>
              <a:rPr lang="en-GB" b="1" dirty="0">
                <a:solidFill>
                  <a:schemeClr val="tx1"/>
                </a:solidFill>
              </a:rPr>
              <a:t>Parallelism: Executing multiple tasks simultaneously</a:t>
            </a:r>
          </a:p>
          <a:p>
            <a:pPr marL="0" lvl="0" indent="0" algn="just">
              <a:spcBef>
                <a:spcPts val="0"/>
              </a:spcBef>
              <a:spcAft>
                <a:spcPts val="1200"/>
              </a:spcAft>
              <a:buNone/>
            </a:pPr>
            <a:r>
              <a:rPr lang="en-GB" b="1" dirty="0">
                <a:solidFill>
                  <a:schemeClr val="tx1"/>
                </a:solidFill>
              </a:rPr>
              <a:t>Real-Life Applications</a:t>
            </a:r>
          </a:p>
          <a:p>
            <a:pPr algn="just">
              <a:spcBef>
                <a:spcPts val="0"/>
              </a:spcBef>
              <a:spcAft>
                <a:spcPts val="1200"/>
              </a:spcAft>
            </a:pPr>
            <a:r>
              <a:rPr lang="en-GB" b="1" dirty="0">
                <a:solidFill>
                  <a:schemeClr val="tx1"/>
                </a:solidFill>
              </a:rPr>
              <a:t>Modern CPUs: execute multiple instructions at once.</a:t>
            </a:r>
          </a:p>
          <a:p>
            <a:pPr algn="just">
              <a:spcBef>
                <a:spcPts val="0"/>
              </a:spcBef>
              <a:spcAft>
                <a:spcPts val="1200"/>
              </a:spcAft>
            </a:pPr>
            <a:r>
              <a:rPr lang="en-GB" b="1" dirty="0">
                <a:solidFill>
                  <a:schemeClr val="tx1"/>
                </a:solidFill>
              </a:rPr>
              <a:t>Multicore Processors: enable multitasking.</a:t>
            </a:r>
          </a:p>
          <a:p>
            <a:pPr algn="just">
              <a:spcBef>
                <a:spcPts val="0"/>
              </a:spcBef>
              <a:spcAft>
                <a:spcPts val="1200"/>
              </a:spcAft>
            </a:pPr>
            <a:r>
              <a:rPr lang="en-GB" b="1" dirty="0">
                <a:solidFill>
                  <a:schemeClr val="tx1"/>
                </a:solidFill>
              </a:rPr>
              <a:t>AI and Big Data Systems: handle massive computations efficiently.</a:t>
            </a:r>
            <a:endParaRPr lang="en-GB" b="1" dirty="0"/>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53</a:t>
            </a:fld>
            <a:endParaRPr lang="en-US">
              <a:latin typeface="Arial" pitchFamily="34" charset="0"/>
            </a:endParaRPr>
          </a:p>
        </p:txBody>
      </p:sp>
    </p:spTree>
    <p:extLst>
      <p:ext uri="{BB962C8B-B14F-4D97-AF65-F5344CB8AC3E}">
        <p14:creationId xmlns:p14="http://schemas.microsoft.com/office/powerpoint/2010/main" val="25457452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 y="228600"/>
            <a:ext cx="12041186" cy="712788"/>
          </a:xfrm>
        </p:spPr>
        <p:txBody>
          <a:bodyPr>
            <a:noAutofit/>
          </a:bodyPr>
          <a:lstStyle/>
          <a:p>
            <a:r>
              <a:rPr lang="en-GB" sz="3000" dirty="0"/>
              <a:t>INTEGRATED VIEW: ARCHITECTURE VS ORGANIZATION - 1</a:t>
            </a:r>
          </a:p>
        </p:txBody>
      </p:sp>
      <p:sp>
        <p:nvSpPr>
          <p:cNvPr id="27651" name="Content Placeholder 2"/>
          <p:cNvSpPr>
            <a:spLocks noGrp="1"/>
          </p:cNvSpPr>
          <p:nvPr>
            <p:ph idx="1"/>
          </p:nvPr>
        </p:nvSpPr>
        <p:spPr>
          <a:xfrm>
            <a:off x="306387" y="1146468"/>
            <a:ext cx="11582400" cy="4953000"/>
          </a:xfrm>
        </p:spPr>
        <p:txBody>
          <a:bodyPr>
            <a:noAutofit/>
          </a:bodyPr>
          <a:lstStyle/>
          <a:p>
            <a:pPr marL="0" lvl="0" indent="0" algn="just">
              <a:spcBef>
                <a:spcPts val="0"/>
              </a:spcBef>
              <a:spcAft>
                <a:spcPts val="1200"/>
              </a:spcAft>
              <a:buNone/>
            </a:pPr>
            <a:r>
              <a:rPr lang="en-GB" sz="2600" b="1" dirty="0"/>
              <a:t>Real-Life Integrated </a:t>
            </a:r>
          </a:p>
          <a:p>
            <a:pPr marL="0" lvl="0" indent="0" algn="just">
              <a:spcBef>
                <a:spcPts val="0"/>
              </a:spcBef>
              <a:spcAft>
                <a:spcPts val="1200"/>
              </a:spcAft>
              <a:buNone/>
            </a:pPr>
            <a:r>
              <a:rPr lang="en-GB" sz="2600" b="1" dirty="0">
                <a:solidFill>
                  <a:schemeClr val="tx1"/>
                </a:solidFill>
              </a:rPr>
              <a:t>Example: Smartphone</a:t>
            </a:r>
          </a:p>
          <a:p>
            <a:pPr marL="0" lvl="0" indent="0" algn="just">
              <a:spcBef>
                <a:spcPts val="0"/>
              </a:spcBef>
              <a:spcAft>
                <a:spcPts val="1200"/>
              </a:spcAft>
              <a:buNone/>
            </a:pPr>
            <a:r>
              <a:rPr lang="en-GB" sz="2600" b="1" dirty="0">
                <a:solidFill>
                  <a:srgbClr val="7A0000"/>
                </a:solidFill>
              </a:rPr>
              <a:t>Architecture defines:</a:t>
            </a:r>
          </a:p>
          <a:p>
            <a:pPr algn="just">
              <a:spcBef>
                <a:spcPts val="0"/>
              </a:spcBef>
              <a:spcAft>
                <a:spcPts val="1200"/>
              </a:spcAft>
            </a:pPr>
            <a:r>
              <a:rPr lang="en-GB" sz="2600" b="1" dirty="0">
                <a:solidFill>
                  <a:schemeClr val="tx1"/>
                </a:solidFill>
              </a:rPr>
              <a:t>Instruction set</a:t>
            </a:r>
          </a:p>
          <a:p>
            <a:pPr algn="just">
              <a:spcBef>
                <a:spcPts val="0"/>
              </a:spcBef>
              <a:spcAft>
                <a:spcPts val="1200"/>
              </a:spcAft>
            </a:pPr>
            <a:r>
              <a:rPr lang="en-GB" sz="2600" b="1" dirty="0">
                <a:solidFill>
                  <a:schemeClr val="tx1"/>
                </a:solidFill>
              </a:rPr>
              <a:t>Data types</a:t>
            </a:r>
          </a:p>
          <a:p>
            <a:pPr marL="0" lvl="0" indent="0" algn="just">
              <a:spcBef>
                <a:spcPts val="0"/>
              </a:spcBef>
              <a:spcAft>
                <a:spcPts val="1200"/>
              </a:spcAft>
              <a:buNone/>
            </a:pPr>
            <a:r>
              <a:rPr lang="en-GB" sz="2600" b="1" dirty="0">
                <a:solidFill>
                  <a:srgbClr val="7A0000"/>
                </a:solidFill>
              </a:rPr>
              <a:t>Organization determines:</a:t>
            </a:r>
          </a:p>
          <a:p>
            <a:pPr algn="just">
              <a:spcBef>
                <a:spcPts val="0"/>
              </a:spcBef>
              <a:spcAft>
                <a:spcPts val="1200"/>
              </a:spcAft>
            </a:pPr>
            <a:r>
              <a:rPr lang="en-GB" sz="2600" b="1" dirty="0">
                <a:solidFill>
                  <a:schemeClr val="tx1"/>
                </a:solidFill>
              </a:rPr>
              <a:t>Speed</a:t>
            </a:r>
          </a:p>
          <a:p>
            <a:pPr algn="just">
              <a:spcBef>
                <a:spcPts val="0"/>
              </a:spcBef>
              <a:spcAft>
                <a:spcPts val="1200"/>
              </a:spcAft>
            </a:pPr>
            <a:r>
              <a:rPr lang="en-GB" sz="2600" b="1" dirty="0">
                <a:solidFill>
                  <a:schemeClr val="tx1"/>
                </a:solidFill>
              </a:rPr>
              <a:t>Battery life</a:t>
            </a:r>
          </a:p>
          <a:p>
            <a:pPr algn="just">
              <a:spcBef>
                <a:spcPts val="0"/>
              </a:spcBef>
              <a:spcAft>
                <a:spcPts val="1200"/>
              </a:spcAft>
            </a:pPr>
            <a:r>
              <a:rPr lang="en-GB" sz="2600" b="1" dirty="0">
                <a:solidFill>
                  <a:schemeClr val="tx1"/>
                </a:solidFill>
              </a:rPr>
              <a:t>Multitasking capability</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54</a:t>
            </a:fld>
            <a:endParaRPr lang="en-US">
              <a:latin typeface="Arial" pitchFamily="34" charset="0"/>
            </a:endParaRPr>
          </a:p>
        </p:txBody>
      </p:sp>
    </p:spTree>
    <p:extLst>
      <p:ext uri="{BB962C8B-B14F-4D97-AF65-F5344CB8AC3E}">
        <p14:creationId xmlns:p14="http://schemas.microsoft.com/office/powerpoint/2010/main" val="19398285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 y="228600"/>
            <a:ext cx="12041186" cy="712788"/>
          </a:xfrm>
        </p:spPr>
        <p:txBody>
          <a:bodyPr>
            <a:noAutofit/>
          </a:bodyPr>
          <a:lstStyle/>
          <a:p>
            <a:r>
              <a:rPr lang="en-GB" sz="3000" dirty="0"/>
              <a:t>INTEGRATED VIEW: ARCHITECTURE VS ORGANIZATION - 2</a:t>
            </a:r>
          </a:p>
        </p:txBody>
      </p:sp>
      <p:sp>
        <p:nvSpPr>
          <p:cNvPr id="27651" name="Content Placeholder 2"/>
          <p:cNvSpPr>
            <a:spLocks noGrp="1"/>
          </p:cNvSpPr>
          <p:nvPr>
            <p:ph idx="1"/>
          </p:nvPr>
        </p:nvSpPr>
        <p:spPr>
          <a:xfrm>
            <a:off x="306387" y="1146468"/>
            <a:ext cx="11582400" cy="4953000"/>
          </a:xfrm>
        </p:spPr>
        <p:txBody>
          <a:bodyPr>
            <a:noAutofit/>
          </a:bodyPr>
          <a:lstStyle/>
          <a:p>
            <a:pPr>
              <a:spcAft>
                <a:spcPts val="1200"/>
              </a:spcAft>
            </a:pPr>
            <a:r>
              <a:rPr lang="en-GB" b="1" dirty="0"/>
              <a:t>Laptops</a:t>
            </a:r>
          </a:p>
          <a:p>
            <a:pPr>
              <a:spcAft>
                <a:spcPts val="1200"/>
              </a:spcAft>
            </a:pPr>
            <a:r>
              <a:rPr lang="en-GB" b="1" dirty="0"/>
              <a:t>Same architecture (e.g., x86) </a:t>
            </a:r>
          </a:p>
          <a:p>
            <a:pPr>
              <a:spcAft>
                <a:spcPts val="1200"/>
              </a:spcAft>
            </a:pPr>
            <a:r>
              <a:rPr lang="en-GB" b="1" dirty="0"/>
              <a:t>Different organizations: </a:t>
            </a:r>
          </a:p>
          <a:p>
            <a:pPr lvl="1">
              <a:spcAft>
                <a:spcPts val="1200"/>
              </a:spcAft>
            </a:pPr>
            <a:r>
              <a:rPr lang="en-GB" sz="2800" dirty="0"/>
              <a:t>Cache size </a:t>
            </a:r>
          </a:p>
          <a:p>
            <a:pPr lvl="1">
              <a:spcAft>
                <a:spcPts val="1200"/>
              </a:spcAft>
            </a:pPr>
            <a:r>
              <a:rPr lang="en-GB" sz="2800" dirty="0"/>
              <a:t>RAM speed </a:t>
            </a:r>
          </a:p>
          <a:p>
            <a:pPr lvl="1">
              <a:spcAft>
                <a:spcPts val="1200"/>
              </a:spcAft>
            </a:pPr>
            <a:r>
              <a:rPr lang="en-GB" sz="2800" dirty="0"/>
              <a:t>CPU cores </a:t>
            </a:r>
          </a:p>
          <a:p>
            <a:pPr>
              <a:spcAft>
                <a:spcPts val="1200"/>
              </a:spcAft>
            </a:pPr>
            <a:r>
              <a:rPr lang="en-GB" b="1" dirty="0"/>
              <a:t>Result: Different performance levels.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55</a:t>
            </a:fld>
            <a:endParaRPr lang="en-US">
              <a:latin typeface="Arial" pitchFamily="34" charset="0"/>
            </a:endParaRPr>
          </a:p>
        </p:txBody>
      </p:sp>
    </p:spTree>
    <p:extLst>
      <p:ext uri="{BB962C8B-B14F-4D97-AF65-F5344CB8AC3E}">
        <p14:creationId xmlns:p14="http://schemas.microsoft.com/office/powerpoint/2010/main" val="23304541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0" y="356394"/>
            <a:ext cx="12041186" cy="712788"/>
          </a:xfrm>
        </p:spPr>
        <p:txBody>
          <a:bodyPr>
            <a:noAutofit/>
          </a:bodyPr>
          <a:lstStyle/>
          <a:p>
            <a:r>
              <a:rPr lang="en-GB" sz="3600" dirty="0"/>
              <a:t>CONCLUSION</a:t>
            </a:r>
          </a:p>
        </p:txBody>
      </p:sp>
      <p:sp>
        <p:nvSpPr>
          <p:cNvPr id="27651" name="Content Placeholder 2"/>
          <p:cNvSpPr>
            <a:spLocks noGrp="1"/>
          </p:cNvSpPr>
          <p:nvPr>
            <p:ph idx="1"/>
          </p:nvPr>
        </p:nvSpPr>
        <p:spPr>
          <a:xfrm>
            <a:off x="306387" y="1219200"/>
            <a:ext cx="11582400" cy="4926012"/>
          </a:xfrm>
        </p:spPr>
        <p:txBody>
          <a:bodyPr>
            <a:noAutofit/>
          </a:bodyPr>
          <a:lstStyle/>
          <a:p>
            <a:pPr algn="just">
              <a:spcAft>
                <a:spcPts val="1200"/>
              </a:spcAft>
            </a:pPr>
            <a:r>
              <a:rPr lang="en-GB" dirty="0">
                <a:solidFill>
                  <a:schemeClr val="tx1"/>
                </a:solidFill>
              </a:rPr>
              <a:t>The components of computer architecture and organization are deeply interconnected. </a:t>
            </a:r>
          </a:p>
          <a:p>
            <a:pPr algn="just">
              <a:spcAft>
                <a:spcPts val="1200"/>
              </a:spcAft>
            </a:pPr>
            <a:r>
              <a:rPr lang="en-GB" dirty="0">
                <a:solidFill>
                  <a:schemeClr val="tx1"/>
                </a:solidFill>
              </a:rPr>
              <a:t>While architecture provides the </a:t>
            </a:r>
            <a:r>
              <a:rPr lang="en-GB" b="1" dirty="0">
                <a:solidFill>
                  <a:srgbClr val="3B11ED"/>
                </a:solidFill>
              </a:rPr>
              <a:t>blueprint and capabilities</a:t>
            </a:r>
            <a:r>
              <a:rPr lang="en-GB" dirty="0">
                <a:solidFill>
                  <a:schemeClr val="tx1"/>
                </a:solidFill>
              </a:rPr>
              <a:t>, organization determines </a:t>
            </a:r>
            <a:r>
              <a:rPr lang="en-GB" b="1" dirty="0">
                <a:solidFill>
                  <a:srgbClr val="3B11ED"/>
                </a:solidFill>
              </a:rPr>
              <a:t>efficiency and performance</a:t>
            </a:r>
            <a:r>
              <a:rPr lang="en-GB" dirty="0">
                <a:solidFill>
                  <a:schemeClr val="tx1"/>
                </a:solidFill>
              </a:rPr>
              <a:t>.</a:t>
            </a:r>
          </a:p>
          <a:p>
            <a:pPr algn="just">
              <a:spcAft>
                <a:spcPts val="1200"/>
              </a:spcAft>
            </a:pPr>
            <a:r>
              <a:rPr lang="en-GB" dirty="0">
                <a:solidFill>
                  <a:schemeClr val="tx1"/>
                </a:solidFill>
              </a:rPr>
              <a:t>Understanding both allows: </a:t>
            </a:r>
          </a:p>
          <a:p>
            <a:pPr lvl="1" algn="just">
              <a:spcAft>
                <a:spcPts val="1200"/>
              </a:spcAft>
            </a:pPr>
            <a:r>
              <a:rPr lang="en-GB" sz="2600" b="1" dirty="0">
                <a:solidFill>
                  <a:schemeClr val="tx1"/>
                </a:solidFill>
              </a:rPr>
              <a:t>Engineers to design better systems</a:t>
            </a:r>
          </a:p>
          <a:p>
            <a:pPr lvl="1" algn="just">
              <a:spcAft>
                <a:spcPts val="1200"/>
              </a:spcAft>
            </a:pPr>
            <a:r>
              <a:rPr lang="en-GB" sz="2600" b="1" dirty="0">
                <a:solidFill>
                  <a:schemeClr val="tx1"/>
                </a:solidFill>
              </a:rPr>
              <a:t>Programmers to write optimized code</a:t>
            </a:r>
          </a:p>
          <a:p>
            <a:pPr lvl="1" algn="just">
              <a:spcAft>
                <a:spcPts val="1200"/>
              </a:spcAft>
            </a:pPr>
            <a:r>
              <a:rPr lang="en-GB" sz="2600" b="1" dirty="0">
                <a:solidFill>
                  <a:schemeClr val="tx1"/>
                </a:solidFill>
              </a:rPr>
              <a:t>Organizations to build high-performance computing solutions</a:t>
            </a:r>
          </a:p>
        </p:txBody>
      </p:sp>
      <p:sp>
        <p:nvSpPr>
          <p:cNvPr id="27652" name="Slide Number Placeholder 3"/>
          <p:cNvSpPr>
            <a:spLocks noGrp="1"/>
          </p:cNvSpPr>
          <p:nvPr>
            <p:ph type="sldNum" sz="quarter" idx="4294967295"/>
          </p:nvPr>
        </p:nvSpPr>
        <p:spPr>
          <a:xfrm>
            <a:off x="8739875" y="6248400"/>
            <a:ext cx="2845541" cy="457200"/>
          </a:xfrm>
          <a:prstGeom prst="rect">
            <a:avLst/>
          </a:prstGeom>
          <a:noFill/>
        </p:spPr>
        <p:txBody>
          <a:bodyPr/>
          <a:lstStyle/>
          <a:p>
            <a:fld id="{95196D46-B771-4AAD-B92B-20A558C9D24A}" type="slidenum">
              <a:rPr lang="en-US" smtClean="0">
                <a:latin typeface="Arial" pitchFamily="34" charset="0"/>
              </a:rPr>
              <a:pPr/>
              <a:t>56</a:t>
            </a:fld>
            <a:endParaRPr lang="en-US">
              <a:latin typeface="Arial" pitchFamily="34" charset="0"/>
            </a:endParaRPr>
          </a:p>
        </p:txBody>
      </p:sp>
    </p:spTree>
    <p:extLst>
      <p:ext uri="{BB962C8B-B14F-4D97-AF65-F5344CB8AC3E}">
        <p14:creationId xmlns:p14="http://schemas.microsoft.com/office/powerpoint/2010/main" val="3345206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Slide Number Placeholder 3"/>
          <p:cNvSpPr>
            <a:spLocks noGrp="1"/>
          </p:cNvSpPr>
          <p:nvPr>
            <p:ph type="sldNum" sz="quarter" idx="4294967295"/>
          </p:nvPr>
        </p:nvSpPr>
        <p:spPr>
          <a:xfrm>
            <a:off x="8739875" y="6248400"/>
            <a:ext cx="2845541" cy="457200"/>
          </a:xfrm>
          <a:prstGeom prst="rect">
            <a:avLst/>
          </a:prstGeom>
          <a:noFill/>
        </p:spPr>
        <p:txBody>
          <a:bodyPr/>
          <a:lstStyle/>
          <a:p>
            <a:fld id="{C66D85E7-11C7-4367-BA04-FB62879CB5E6}" type="slidenum">
              <a:rPr lang="en-US" smtClean="0">
                <a:latin typeface="Arial" pitchFamily="34" charset="0"/>
              </a:rPr>
              <a:pPr/>
              <a:t>57</a:t>
            </a:fld>
            <a:endParaRPr lang="en-US">
              <a:latin typeface="Arial" pitchFamily="34" charset="0"/>
            </a:endParaRPr>
          </a:p>
        </p:txBody>
      </p:sp>
      <p:sp>
        <p:nvSpPr>
          <p:cNvPr id="5" name="Rectangle 7"/>
          <p:cNvSpPr txBox="1">
            <a:spLocks noChangeArrowheads="1"/>
          </p:cNvSpPr>
          <p:nvPr/>
        </p:nvSpPr>
        <p:spPr>
          <a:xfrm>
            <a:off x="534987" y="2057400"/>
            <a:ext cx="11125200" cy="990600"/>
          </a:xfrm>
          <a:prstGeom prst="rect">
            <a:avLst/>
          </a:prstGeom>
          <a:solidFill>
            <a:srgbClr val="92D050"/>
          </a:solidFill>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pPr>
            <a:r>
              <a:rPr lang="en-US" sz="5400" b="1" dirty="0">
                <a:latin typeface="Rockwell" panose="02060603020205020403" pitchFamily="18" charset="0"/>
              </a:rPr>
              <a:t>End of Unit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1902621</TotalTime>
  <Words>2551</Words>
  <Application>Microsoft Office PowerPoint</Application>
  <PresentationFormat>Custom</PresentationFormat>
  <Paragraphs>360</Paragraphs>
  <Slides>57</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57</vt:i4>
      </vt:variant>
    </vt:vector>
  </HeadingPairs>
  <TitlesOfParts>
    <vt:vector size="65" baseType="lpstr">
      <vt:lpstr>Arial</vt:lpstr>
      <vt:lpstr>Calibri</vt:lpstr>
      <vt:lpstr>Georgia</vt:lpstr>
      <vt:lpstr>Rockwell</vt:lpstr>
      <vt:lpstr>Times New Roman</vt:lpstr>
      <vt:lpstr>Wingdings</vt:lpstr>
      <vt:lpstr>Office Theme</vt:lpstr>
      <vt:lpstr>Custom Design</vt:lpstr>
      <vt:lpstr>IFT222 Computer Architecture and Organization</vt:lpstr>
      <vt:lpstr>PowerPoint Presentation</vt:lpstr>
      <vt:lpstr>PowerPoint Presentation</vt:lpstr>
      <vt:lpstr>Course Description</vt:lpstr>
      <vt:lpstr>Course Objectives</vt:lpstr>
      <vt:lpstr>Course Learning Outcomes</vt:lpstr>
      <vt:lpstr>Recommended Textbooks</vt:lpstr>
      <vt:lpstr>PowerPoint Presentation</vt:lpstr>
      <vt:lpstr>Introduction</vt:lpstr>
      <vt:lpstr>Learning Outcomes</vt:lpstr>
      <vt:lpstr>What is a Computer?</vt:lpstr>
      <vt:lpstr>What is a Computer?</vt:lpstr>
      <vt:lpstr>Components of a Computer System</vt:lpstr>
      <vt:lpstr>Components of a Computer System</vt:lpstr>
      <vt:lpstr>Components of a Computer System</vt:lpstr>
      <vt:lpstr>Computer System Design</vt:lpstr>
      <vt:lpstr>Computer System Design</vt:lpstr>
      <vt:lpstr>Computer Architecture</vt:lpstr>
      <vt:lpstr>Computer Architecture</vt:lpstr>
      <vt:lpstr>Computer Architecture</vt:lpstr>
      <vt:lpstr>In-Class Question</vt:lpstr>
      <vt:lpstr>Answer</vt:lpstr>
      <vt:lpstr>Computer Organization</vt:lpstr>
      <vt:lpstr>Computer Organization</vt:lpstr>
      <vt:lpstr>In-Class Question</vt:lpstr>
      <vt:lpstr>Answer</vt:lpstr>
      <vt:lpstr>Components of Computer Architecture and Computer Organization</vt:lpstr>
      <vt:lpstr>Computer Organization</vt:lpstr>
      <vt:lpstr>Components of Computer Architecture</vt:lpstr>
      <vt:lpstr>Components of Computer Architecture - 1</vt:lpstr>
      <vt:lpstr>Components of Computer Architecture - 1</vt:lpstr>
      <vt:lpstr>Components of Computer Architecture -1</vt:lpstr>
      <vt:lpstr>Components of Computer Architecture - 2</vt:lpstr>
      <vt:lpstr>Components of Computer Architecture - 2</vt:lpstr>
      <vt:lpstr>Components of Computer Architecture - 3</vt:lpstr>
      <vt:lpstr>Components of Computer Architecture - 3</vt:lpstr>
      <vt:lpstr>Components of Computer Architecture - 4</vt:lpstr>
      <vt:lpstr>Components of Computer Architecture - 4</vt:lpstr>
      <vt:lpstr>Components of Computer Architecture - 5</vt:lpstr>
      <vt:lpstr>Components of Computer Architecture - 5</vt:lpstr>
      <vt:lpstr>Components of Computer Architecture - 5</vt:lpstr>
      <vt:lpstr>Components of Computer Architecture - 5</vt:lpstr>
      <vt:lpstr>Components of Computer Architecture - 5</vt:lpstr>
      <vt:lpstr>Components of Computer Architecture - 5</vt:lpstr>
      <vt:lpstr>Components of Computer Organization</vt:lpstr>
      <vt:lpstr>Components of Computer Organization - 1</vt:lpstr>
      <vt:lpstr>Components of Computer Organization - 1</vt:lpstr>
      <vt:lpstr>Components of Computer Organization - 2</vt:lpstr>
      <vt:lpstr>Components of Computer Organization - 3</vt:lpstr>
      <vt:lpstr>Components of Computer Organization - 4</vt:lpstr>
      <vt:lpstr>Components of Computer Organization - 5</vt:lpstr>
      <vt:lpstr>Components of Computer Organization - 5</vt:lpstr>
      <vt:lpstr>Components of Computer Organization - 6</vt:lpstr>
      <vt:lpstr>INTEGRATED VIEW: ARCHITECTURE VS ORGANIZATION - 1</vt:lpstr>
      <vt:lpstr>INTEGRATED VIEW: ARCHITECTURE VS ORGANIZATION - 2</vt:lpstr>
      <vt:lpstr>CONCLUSION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Micah Jonathan</cp:lastModifiedBy>
  <cp:revision>250</cp:revision>
  <cp:lastPrinted>2015-08-03T07:22:59Z</cp:lastPrinted>
  <dcterms:created xsi:type="dcterms:W3CDTF">2014-01-31T21:42:27Z</dcterms:created>
  <dcterms:modified xsi:type="dcterms:W3CDTF">2026-05-29T16:56:27Z</dcterms:modified>
</cp:coreProperties>
</file>