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6"/>
  </p:notesMasterIdLst>
  <p:handoutMasterIdLst>
    <p:handoutMasterId r:id="rId77"/>
  </p:handoutMasterIdLst>
  <p:sldIdLst>
    <p:sldId id="454" r:id="rId3"/>
    <p:sldId id="429" r:id="rId4"/>
    <p:sldId id="430" r:id="rId5"/>
    <p:sldId id="431" r:id="rId6"/>
    <p:sldId id="432" r:id="rId7"/>
    <p:sldId id="433" r:id="rId8"/>
    <p:sldId id="434" r:id="rId9"/>
    <p:sldId id="435" r:id="rId10"/>
    <p:sldId id="436" r:id="rId11"/>
    <p:sldId id="437" r:id="rId12"/>
    <p:sldId id="438" r:id="rId13"/>
    <p:sldId id="439" r:id="rId14"/>
    <p:sldId id="440" r:id="rId15"/>
    <p:sldId id="441" r:id="rId16"/>
    <p:sldId id="379" r:id="rId17"/>
    <p:sldId id="380" r:id="rId18"/>
    <p:sldId id="381"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450" r:id="rId34"/>
    <p:sldId id="451" r:id="rId35"/>
    <p:sldId id="396" r:id="rId36"/>
    <p:sldId id="397" r:id="rId37"/>
    <p:sldId id="448" r:id="rId38"/>
    <p:sldId id="449" r:id="rId39"/>
    <p:sldId id="444" r:id="rId40"/>
    <p:sldId id="445" r:id="rId41"/>
    <p:sldId id="447"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0" r:id="rId55"/>
    <p:sldId id="411" r:id="rId56"/>
    <p:sldId id="412" r:id="rId57"/>
    <p:sldId id="413" r:id="rId58"/>
    <p:sldId id="414" r:id="rId59"/>
    <p:sldId id="415" r:id="rId60"/>
    <p:sldId id="416" r:id="rId61"/>
    <p:sldId id="417" r:id="rId62"/>
    <p:sldId id="418" r:id="rId63"/>
    <p:sldId id="419" r:id="rId64"/>
    <p:sldId id="453" r:id="rId65"/>
    <p:sldId id="452" r:id="rId66"/>
    <p:sldId id="420" r:id="rId67"/>
    <p:sldId id="421" r:id="rId68"/>
    <p:sldId id="422" r:id="rId69"/>
    <p:sldId id="423" r:id="rId70"/>
    <p:sldId id="424" r:id="rId71"/>
    <p:sldId id="425" r:id="rId72"/>
    <p:sldId id="426" r:id="rId73"/>
    <p:sldId id="427" r:id="rId74"/>
    <p:sldId id="455" r:id="rId75"/>
  </p:sldIdLst>
  <p:sldSz cx="12195175" cy="6858000"/>
  <p:notesSz cx="7010400" cy="92964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99"/>
    <a:srgbClr val="7A0000"/>
    <a:srgbClr val="FFFFFF"/>
    <a:srgbClr val="DDDDDD"/>
    <a:srgbClr val="662C5B"/>
    <a:srgbClr val="000000"/>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3263" autoAdjust="0"/>
  </p:normalViewPr>
  <p:slideViewPr>
    <p:cSldViewPr>
      <p:cViewPr varScale="1">
        <p:scale>
          <a:sx n="64" d="100"/>
          <a:sy n="64" d="100"/>
        </p:scale>
        <p:origin x="888" y="48"/>
      </p:cViewPr>
      <p:guideLst>
        <p:guide orient="horz" pos="2160"/>
        <p:guide pos="384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83848B3-959C-42C6-81B8-84565E5808A9}"/>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AC61AD89-5361-422B-9772-B92162EA316E}"/>
              </a:ext>
            </a:extLst>
          </p:cNvPr>
          <p:cNvSpPr>
            <a:spLocks noGrp="1"/>
          </p:cNvSpPr>
          <p:nvPr>
            <p:ph type="dt" sz="quarter" idx="1"/>
          </p:nvPr>
        </p:nvSpPr>
        <p:spPr>
          <a:xfrm>
            <a:off x="3970338" y="0"/>
            <a:ext cx="3038475" cy="465138"/>
          </a:xfrm>
          <a:prstGeom prst="rect">
            <a:avLst/>
          </a:prstGeom>
        </p:spPr>
        <p:txBody>
          <a:bodyPr vert="horz" lIns="93177" tIns="46589" rIns="93177" bIns="46589" rtlCol="0"/>
          <a:lstStyle>
            <a:lvl1pPr algn="r" eaLnBrk="1" fontAlgn="auto" hangingPunct="1">
              <a:spcBef>
                <a:spcPts val="0"/>
              </a:spcBef>
              <a:spcAft>
                <a:spcPts val="0"/>
              </a:spcAft>
              <a:defRPr sz="1200">
                <a:latin typeface="+mn-lt"/>
                <a:cs typeface="+mn-cs"/>
              </a:defRPr>
            </a:lvl1pPr>
          </a:lstStyle>
          <a:p>
            <a:pPr>
              <a:defRPr/>
            </a:pPr>
            <a:fld id="{9A459895-3F7A-4DC8-B20C-E9B1D2980964}" type="datetimeFigureOut">
              <a:rPr lang="en-US"/>
              <a:pPr>
                <a:defRPr/>
              </a:pPr>
              <a:t>4/7/2026</a:t>
            </a:fld>
            <a:endParaRPr lang="en-US"/>
          </a:p>
        </p:txBody>
      </p:sp>
      <p:sp>
        <p:nvSpPr>
          <p:cNvPr id="4" name="Footer Placeholder 3">
            <a:extLst>
              <a:ext uri="{FF2B5EF4-FFF2-40B4-BE49-F238E27FC236}">
                <a16:creationId xmlns:a16="http://schemas.microsoft.com/office/drawing/2014/main" id="{82C169A7-076A-4B82-A90F-CFD0BF3859F2}"/>
              </a:ext>
            </a:extLst>
          </p:cNvPr>
          <p:cNvSpPr>
            <a:spLocks noGrp="1"/>
          </p:cNvSpPr>
          <p:nvPr>
            <p:ph type="ftr" sz="quarter" idx="2"/>
          </p:nvPr>
        </p:nvSpPr>
        <p:spPr>
          <a:xfrm>
            <a:off x="0" y="8829675"/>
            <a:ext cx="3038475" cy="465138"/>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7F0A14AC-9CC1-41D7-94FE-E4FB952CC285}"/>
              </a:ext>
            </a:extLst>
          </p:cNvPr>
          <p:cNvSpPr>
            <a:spLocks noGrp="1"/>
          </p:cNvSpPr>
          <p:nvPr>
            <p:ph type="sldNum" sz="quarter" idx="3"/>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1AB75574-7A55-4D7E-807F-1F9F52CAD96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B79F9D-5E37-4B50-838D-19BFBE9BC24B}"/>
              </a:ext>
            </a:extLst>
          </p:cNvPr>
          <p:cNvSpPr>
            <a:spLocks noGrp="1"/>
          </p:cNvSpPr>
          <p:nvPr>
            <p:ph type="hdr" sz="quarter"/>
          </p:nvPr>
        </p:nvSpPr>
        <p:spPr>
          <a:xfrm>
            <a:off x="0" y="0"/>
            <a:ext cx="3038475" cy="465138"/>
          </a:xfrm>
          <a:prstGeom prst="rect">
            <a:avLst/>
          </a:prstGeom>
        </p:spPr>
        <p:txBody>
          <a:bodyPr vert="horz" lIns="93177" tIns="46589" rIns="93177" bIns="46589" rtlCol="0"/>
          <a:lstStyle>
            <a:lvl1pPr algn="l" eaLnBrk="1" fontAlgn="auto" hangingPunct="1">
              <a:spcBef>
                <a:spcPts val="0"/>
              </a:spcBef>
              <a:spcAft>
                <a:spcPts val="0"/>
              </a:spcAft>
              <a:defRPr sz="1200">
                <a:latin typeface="+mn-lt"/>
                <a:cs typeface="+mn-cs"/>
              </a:defRPr>
            </a:lvl1pPr>
          </a:lstStyle>
          <a:p>
            <a:pPr>
              <a:defRPr/>
            </a:pPr>
            <a:endParaRPr lang="en-GB"/>
          </a:p>
        </p:txBody>
      </p:sp>
      <p:sp>
        <p:nvSpPr>
          <p:cNvPr id="3" name="Date Placeholder 2">
            <a:extLst>
              <a:ext uri="{FF2B5EF4-FFF2-40B4-BE49-F238E27FC236}">
                <a16:creationId xmlns:a16="http://schemas.microsoft.com/office/drawing/2014/main" id="{2317302B-743A-4EED-B8A8-E1433972BA11}"/>
              </a:ext>
            </a:extLst>
          </p:cNvPr>
          <p:cNvSpPr>
            <a:spLocks noGrp="1"/>
          </p:cNvSpPr>
          <p:nvPr>
            <p:ph type="dt" idx="1"/>
          </p:nvPr>
        </p:nvSpPr>
        <p:spPr>
          <a:xfrm>
            <a:off x="3970338" y="0"/>
            <a:ext cx="3038475" cy="465138"/>
          </a:xfrm>
          <a:prstGeom prst="rect">
            <a:avLst/>
          </a:prstGeom>
        </p:spPr>
        <p:txBody>
          <a:bodyPr vert="horz" lIns="93177" tIns="46589" rIns="93177" bIns="46589" rtlCol="0"/>
          <a:lstStyle>
            <a:lvl1pPr algn="r" eaLnBrk="1" fontAlgn="auto" hangingPunct="1">
              <a:spcBef>
                <a:spcPts val="0"/>
              </a:spcBef>
              <a:spcAft>
                <a:spcPts val="0"/>
              </a:spcAft>
              <a:defRPr sz="1200">
                <a:latin typeface="+mn-lt"/>
                <a:cs typeface="+mn-cs"/>
              </a:defRPr>
            </a:lvl1pPr>
          </a:lstStyle>
          <a:p>
            <a:pPr>
              <a:defRPr/>
            </a:pPr>
            <a:fld id="{B2993467-DB48-4CCC-88AA-E6973627A741}" type="datetimeFigureOut">
              <a:rPr lang="en-GB"/>
              <a:pPr>
                <a:defRPr/>
              </a:pPr>
              <a:t>07/04/2026</a:t>
            </a:fld>
            <a:endParaRPr lang="en-GB"/>
          </a:p>
        </p:txBody>
      </p:sp>
      <p:sp>
        <p:nvSpPr>
          <p:cNvPr id="4" name="Slide Image Placeholder 3">
            <a:extLst>
              <a:ext uri="{FF2B5EF4-FFF2-40B4-BE49-F238E27FC236}">
                <a16:creationId xmlns:a16="http://schemas.microsoft.com/office/drawing/2014/main" id="{FA98A7E8-10F2-482E-8C0B-25147F109C68}"/>
              </a:ext>
            </a:extLst>
          </p:cNvPr>
          <p:cNvSpPr>
            <a:spLocks noGrp="1" noRot="1" noChangeAspect="1"/>
          </p:cNvSpPr>
          <p:nvPr>
            <p:ph type="sldImg" idx="2"/>
          </p:nvPr>
        </p:nvSpPr>
        <p:spPr>
          <a:xfrm>
            <a:off x="404813" y="696913"/>
            <a:ext cx="6200775" cy="3486150"/>
          </a:xfrm>
          <a:prstGeom prst="rect">
            <a:avLst/>
          </a:prstGeom>
          <a:noFill/>
          <a:ln w="12700">
            <a:solidFill>
              <a:prstClr val="black"/>
            </a:solidFill>
          </a:ln>
        </p:spPr>
        <p:txBody>
          <a:bodyPr vert="horz" lIns="93177" tIns="46589" rIns="93177" bIns="46589" rtlCol="0" anchor="ctr"/>
          <a:lstStyle/>
          <a:p>
            <a:pPr lvl="0"/>
            <a:endParaRPr lang="en-GB" noProof="0"/>
          </a:p>
        </p:txBody>
      </p:sp>
      <p:sp>
        <p:nvSpPr>
          <p:cNvPr id="5" name="Notes Placeholder 4">
            <a:extLst>
              <a:ext uri="{FF2B5EF4-FFF2-40B4-BE49-F238E27FC236}">
                <a16:creationId xmlns:a16="http://schemas.microsoft.com/office/drawing/2014/main" id="{49D5FC26-E36A-4E2D-B57A-465C1891B1A4}"/>
              </a:ext>
            </a:extLst>
          </p:cNvPr>
          <p:cNvSpPr>
            <a:spLocks noGrp="1"/>
          </p:cNvSpPr>
          <p:nvPr>
            <p:ph type="body" sz="quarter" idx="3"/>
          </p:nvPr>
        </p:nvSpPr>
        <p:spPr>
          <a:xfrm>
            <a:off x="701675" y="4416425"/>
            <a:ext cx="5607050" cy="4183063"/>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FDDB8A25-BD73-442D-9E2D-155E010D7B99}"/>
              </a:ext>
            </a:extLst>
          </p:cNvPr>
          <p:cNvSpPr>
            <a:spLocks noGrp="1"/>
          </p:cNvSpPr>
          <p:nvPr>
            <p:ph type="ftr" sz="quarter" idx="4"/>
          </p:nvPr>
        </p:nvSpPr>
        <p:spPr>
          <a:xfrm>
            <a:off x="0" y="8829675"/>
            <a:ext cx="3038475" cy="465138"/>
          </a:xfrm>
          <a:prstGeom prst="rect">
            <a:avLst/>
          </a:prstGeom>
        </p:spPr>
        <p:txBody>
          <a:bodyPr vert="horz" lIns="93177" tIns="46589" rIns="93177" bIns="46589" rtlCol="0" anchor="b"/>
          <a:lstStyle>
            <a:lvl1pPr algn="l" eaLnBrk="1" fontAlgn="auto" hangingPunct="1">
              <a:spcBef>
                <a:spcPts val="0"/>
              </a:spcBef>
              <a:spcAft>
                <a:spcPts val="0"/>
              </a:spcAft>
              <a:defRPr sz="1200">
                <a:latin typeface="+mn-lt"/>
                <a:cs typeface="+mn-cs"/>
              </a:defRPr>
            </a:lvl1pPr>
          </a:lstStyle>
          <a:p>
            <a:pPr>
              <a:defRPr/>
            </a:pPr>
            <a:endParaRPr lang="en-GB"/>
          </a:p>
        </p:txBody>
      </p:sp>
      <p:sp>
        <p:nvSpPr>
          <p:cNvPr id="7" name="Slide Number Placeholder 6">
            <a:extLst>
              <a:ext uri="{FF2B5EF4-FFF2-40B4-BE49-F238E27FC236}">
                <a16:creationId xmlns:a16="http://schemas.microsoft.com/office/drawing/2014/main" id="{D43A429D-AE19-4D09-A8D4-6AC95713C8E9}"/>
              </a:ext>
            </a:extLst>
          </p:cNvPr>
          <p:cNvSpPr>
            <a:spLocks noGrp="1"/>
          </p:cNvSpPr>
          <p:nvPr>
            <p:ph type="sldNum" sz="quarter" idx="5"/>
          </p:nvPr>
        </p:nvSpPr>
        <p:spPr>
          <a:xfrm>
            <a:off x="3970338" y="8829675"/>
            <a:ext cx="3038475" cy="465138"/>
          </a:xfrm>
          <a:prstGeom prst="rect">
            <a:avLst/>
          </a:prstGeom>
        </p:spPr>
        <p:txBody>
          <a:bodyPr vert="horz" wrap="square" lIns="93177" tIns="46589" rIns="93177" bIns="46589" numCol="1" anchor="b" anchorCtr="0" compatLnSpc="1">
            <a:prstTxWarp prst="textNoShape">
              <a:avLst/>
            </a:prstTxWarp>
          </a:bodyPr>
          <a:lstStyle>
            <a:lvl1pPr algn="r" eaLnBrk="1" hangingPunct="1">
              <a:defRPr sz="1200"/>
            </a:lvl1pPr>
          </a:lstStyle>
          <a:p>
            <a:pPr>
              <a:defRPr/>
            </a:pPr>
            <a:fld id="{4771BDC6-600B-4E6E-A170-D0F9054E94E4}"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638AB95-D793-4466-8E69-1D774776B97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BB6B23C1-8260-45D6-AB19-083414547BC9}" type="slidenum">
              <a:rPr lang="en-US" altLang="en-US" smtClean="0">
                <a:latin typeface="Arial" panose="020B0604020202020204" pitchFamily="34" charset="0"/>
              </a:rPr>
              <a:pPr/>
              <a:t>1</a:t>
            </a:fld>
            <a:endParaRPr lang="en-US" altLang="en-US">
              <a:latin typeface="Arial" panose="020B0604020202020204" pitchFamily="34" charset="0"/>
            </a:endParaRPr>
          </a:p>
        </p:txBody>
      </p:sp>
      <p:sp>
        <p:nvSpPr>
          <p:cNvPr id="9219" name="Rectangle 2">
            <a:extLst>
              <a:ext uri="{FF2B5EF4-FFF2-40B4-BE49-F238E27FC236}">
                <a16:creationId xmlns:a16="http://schemas.microsoft.com/office/drawing/2014/main" id="{82840114-BC5F-4417-959C-5777720530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0" name="Rectangle 3">
            <a:extLst>
              <a:ext uri="{FF2B5EF4-FFF2-40B4-BE49-F238E27FC236}">
                <a16:creationId xmlns:a16="http://schemas.microsoft.com/office/drawing/2014/main" id="{23AB9EF9-8243-4577-A348-58CBCFFEB51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32B5794F-5B3B-47A8-9037-6C58037478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Notes Placeholder 2">
            <a:extLst>
              <a:ext uri="{FF2B5EF4-FFF2-40B4-BE49-F238E27FC236}">
                <a16:creationId xmlns:a16="http://schemas.microsoft.com/office/drawing/2014/main" id="{1361AB06-C787-457D-8CDD-58B4BC60F4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45060" name="Slide Number Placeholder 3">
            <a:extLst>
              <a:ext uri="{FF2B5EF4-FFF2-40B4-BE49-F238E27FC236}">
                <a16:creationId xmlns:a16="http://schemas.microsoft.com/office/drawing/2014/main" id="{3A49E261-AC2F-4A57-9478-45DA8022B02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49B2547-BCE4-4273-BD3D-73B16954441A}" type="slidenum">
              <a:rPr lang="en-GB" altLang="en-US" smtClean="0"/>
              <a:pPr>
                <a:spcBef>
                  <a:spcPct val="0"/>
                </a:spcBef>
              </a:pPr>
              <a:t>33</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0A7D89B1-BEA8-4840-B9F2-64B916447397}"/>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5" name="Picture 2" descr="C:\Users\Ours\Desktop\my stuffs\1 NTFS_000\LostFiles2\INSPIRATION\PROJECTS\MIND PROJECTS\cu_logo.png">
            <a:extLst>
              <a:ext uri="{FF2B5EF4-FFF2-40B4-BE49-F238E27FC236}">
                <a16:creationId xmlns:a16="http://schemas.microsoft.com/office/drawing/2014/main" id="{44775B3E-FA29-4A7E-933B-C9B2A376A5C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41375" y="569913"/>
            <a:ext cx="74295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40ACF20D-D775-4125-AA41-DB109F9ECEE9}"/>
              </a:ext>
            </a:extLst>
          </p:cNvPr>
          <p:cNvSpPr txBox="1">
            <a:spLocks noChangeArrowheads="1"/>
          </p:cNvSpPr>
          <p:nvPr userDrawn="1"/>
        </p:nvSpPr>
        <p:spPr bwMode="auto">
          <a:xfrm>
            <a:off x="9002713" y="0"/>
            <a:ext cx="3232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a:t>www.covenantuniversity.edu.ng</a:t>
            </a:r>
            <a:endParaRPr lang="en-GB"/>
          </a:p>
        </p:txBody>
      </p:sp>
      <p:pic>
        <p:nvPicPr>
          <p:cNvPr id="7" name="Picture 2" descr="C:\Users\Ours\Desktop\Picture3.png">
            <a:extLst>
              <a:ext uri="{FF2B5EF4-FFF2-40B4-BE49-F238E27FC236}">
                <a16:creationId xmlns:a16="http://schemas.microsoft.com/office/drawing/2014/main" id="{2C6A8274-48FD-4C8B-8762-CADA886040FC}"/>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344613" y="569913"/>
            <a:ext cx="4608512" cy="74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61C06D87-1A62-4868-9FF9-2A8ACBCF3A4A}"/>
              </a:ext>
            </a:extLst>
          </p:cNvPr>
          <p:cNvSpPr txBox="1">
            <a:spLocks noChangeArrowheads="1"/>
          </p:cNvSpPr>
          <p:nvPr userDrawn="1"/>
        </p:nvSpPr>
        <p:spPr bwMode="auto">
          <a:xfrm>
            <a:off x="1633538" y="1074738"/>
            <a:ext cx="32194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1600">
                <a:solidFill>
                  <a:srgbClr val="662C5B"/>
                </a:solidFill>
              </a:rPr>
              <a:t>Raising a new Generation of Leaders</a:t>
            </a:r>
            <a:endParaRPr lang="en-GB" sz="1600">
              <a:solidFill>
                <a:srgbClr val="662C5B"/>
              </a:solidFill>
            </a:endParaRPr>
          </a:p>
        </p:txBody>
      </p:sp>
      <p:sp>
        <p:nvSpPr>
          <p:cNvPr id="2" name="Title 1"/>
          <p:cNvSpPr>
            <a:spLocks noGrp="1"/>
          </p:cNvSpPr>
          <p:nvPr>
            <p:ph type="ctrTitle"/>
          </p:nvPr>
        </p:nvSpPr>
        <p:spPr>
          <a:xfrm>
            <a:off x="914403" y="1844828"/>
            <a:ext cx="10366375" cy="2448271"/>
          </a:xfrm>
          <a:solidFill>
            <a:srgbClr val="660033">
              <a:alpha val="61961"/>
            </a:srgbClr>
          </a:solidFill>
        </p:spPr>
        <p:txBody>
          <a:bodyPr>
            <a:noAutofit/>
          </a:bodyPr>
          <a:lstStyle>
            <a:lvl1pPr>
              <a:defRPr sz="5400" b="0">
                <a:solidFill>
                  <a:schemeClr val="bg1"/>
                </a:solidFill>
                <a:latin typeface="Rockwell" pitchFamily="18" charset="0"/>
              </a:defRPr>
            </a:lvl1pPr>
          </a:lstStyle>
          <a:p>
            <a:r>
              <a:rPr lang="en-US" dirty="0"/>
              <a:t>Click to edit Master title style</a:t>
            </a:r>
            <a:endParaRPr lang="en-GB" dirty="0"/>
          </a:p>
        </p:txBody>
      </p:sp>
      <p:sp>
        <p:nvSpPr>
          <p:cNvPr id="3" name="Subtitle 2"/>
          <p:cNvSpPr>
            <a:spLocks noGrp="1"/>
          </p:cNvSpPr>
          <p:nvPr>
            <p:ph type="subTitle" idx="1"/>
          </p:nvPr>
        </p:nvSpPr>
        <p:spPr>
          <a:xfrm>
            <a:off x="1828800" y="4509120"/>
            <a:ext cx="8537575" cy="1752600"/>
          </a:xfrm>
          <a:solidFill>
            <a:srgbClr val="FFFFFF">
              <a:alpha val="74118"/>
            </a:srgbClr>
          </a:solidFill>
        </p:spPr>
        <p:txBody>
          <a:bodyPr>
            <a:normAutofit/>
          </a:bodyPr>
          <a:lstStyle>
            <a:lvl1pPr marL="0" indent="0" algn="ctr">
              <a:buNone/>
              <a:defRPr sz="3600">
                <a:solidFill>
                  <a:schemeClr val="tx1"/>
                </a:solidFill>
                <a:latin typeface="Rockwell"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extLst>
      <p:ext uri="{BB962C8B-B14F-4D97-AF65-F5344CB8AC3E}">
        <p14:creationId xmlns:p14="http://schemas.microsoft.com/office/powerpoint/2010/main" val="2329828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A4B4A76A-055E-4F85-9FB3-2B3A23E6C6D3}"/>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2" y="-54768"/>
            <a:ext cx="12281948" cy="6912768"/>
          </a:xfrm>
          <a:prstGeom prst="rect">
            <a:avLst/>
          </a:prstGeom>
          <a:noFill/>
        </p:spPr>
      </p:pic>
      <p:pic>
        <p:nvPicPr>
          <p:cNvPr id="5" name="Picture 2" descr="C:\Users\Ours\Desktop\my stuffs\1 NTFS_000\LostFiles2\INSPIRATION\PROJECTS\MIND PROJECTS\cu_logo.png">
            <a:extLst>
              <a:ext uri="{FF2B5EF4-FFF2-40B4-BE49-F238E27FC236}">
                <a16:creationId xmlns:a16="http://schemas.microsoft.com/office/drawing/2014/main" id="{544A2C1E-57B2-4927-B9E0-00C7EE522E3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65113" y="549275"/>
            <a:ext cx="121602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A3ED459A-D781-4D1A-84EF-573C022D3102}"/>
              </a:ext>
            </a:extLst>
          </p:cNvPr>
          <p:cNvSpPr txBox="1">
            <a:spLocks noChangeArrowheads="1"/>
          </p:cNvSpPr>
          <p:nvPr userDrawn="1"/>
        </p:nvSpPr>
        <p:spPr bwMode="auto">
          <a:xfrm>
            <a:off x="1344613" y="1268413"/>
            <a:ext cx="3979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2000">
                <a:solidFill>
                  <a:srgbClr val="662C5B"/>
                </a:solidFill>
              </a:rPr>
              <a:t>Raising a new Generation of Leaders</a:t>
            </a:r>
            <a:endParaRPr lang="en-GB" sz="2000">
              <a:solidFill>
                <a:srgbClr val="662C5B"/>
              </a:solidFill>
            </a:endParaRPr>
          </a:p>
        </p:txBody>
      </p:sp>
      <p:sp>
        <p:nvSpPr>
          <p:cNvPr id="7" name="TextBox 6">
            <a:extLst>
              <a:ext uri="{FF2B5EF4-FFF2-40B4-BE49-F238E27FC236}">
                <a16:creationId xmlns:a16="http://schemas.microsoft.com/office/drawing/2014/main" id="{46FE72AC-3D37-4536-B7F2-4552B956D166}"/>
              </a:ext>
            </a:extLst>
          </p:cNvPr>
          <p:cNvSpPr txBox="1">
            <a:spLocks noChangeArrowheads="1"/>
          </p:cNvSpPr>
          <p:nvPr userDrawn="1"/>
        </p:nvSpPr>
        <p:spPr bwMode="auto">
          <a:xfrm>
            <a:off x="9002713" y="0"/>
            <a:ext cx="3232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a:t>www.covenantuniversity.edu.ng</a:t>
            </a:r>
            <a:endParaRPr lang="en-GB"/>
          </a:p>
        </p:txBody>
      </p:sp>
      <p:pic>
        <p:nvPicPr>
          <p:cNvPr id="8" name="Picture 2" descr="C:\Users\Ours\Desktop\Picture3.png">
            <a:extLst>
              <a:ext uri="{FF2B5EF4-FFF2-40B4-BE49-F238E27FC236}">
                <a16:creationId xmlns:a16="http://schemas.microsoft.com/office/drawing/2014/main" id="{A4BAFDBF-F1C0-4013-AE9B-2A049AC7C1BA}"/>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128713" y="692150"/>
            <a:ext cx="5065712"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ctrTitle"/>
          </p:nvPr>
        </p:nvSpPr>
        <p:spPr>
          <a:xfrm>
            <a:off x="914638" y="2204865"/>
            <a:ext cx="10365899" cy="2520280"/>
          </a:xfrm>
          <a:solidFill>
            <a:srgbClr val="CC3399">
              <a:alpha val="83137"/>
            </a:srgbClr>
          </a:solidFill>
        </p:spPr>
        <p:txBody>
          <a:bodyPr>
            <a:normAutofit/>
          </a:bodyPr>
          <a:lstStyle/>
          <a:p>
            <a:endParaRPr lang="en-GB" dirty="0"/>
          </a:p>
        </p:txBody>
      </p:sp>
      <p:sp>
        <p:nvSpPr>
          <p:cNvPr id="11" name="Subtitle 2"/>
          <p:cNvSpPr>
            <a:spLocks noGrp="1"/>
          </p:cNvSpPr>
          <p:nvPr>
            <p:ph type="subTitle" idx="1"/>
          </p:nvPr>
        </p:nvSpPr>
        <p:spPr>
          <a:xfrm>
            <a:off x="1705101" y="4869160"/>
            <a:ext cx="8536623" cy="1752600"/>
          </a:xfrm>
          <a:solidFill>
            <a:srgbClr val="FFFFFF">
              <a:alpha val="63137"/>
            </a:srgbClr>
          </a:solidFill>
        </p:spPr>
        <p:txBody>
          <a:bodyPr>
            <a:normAutofit/>
          </a:bodyPr>
          <a:lstStyle>
            <a:lvl1pPr algn="ctr">
              <a:buNone/>
              <a:defRPr sz="4000">
                <a:ln>
                  <a:noFill/>
                </a:ln>
                <a:solidFill>
                  <a:srgbClr val="002060"/>
                </a:solidFill>
              </a:defRPr>
            </a:lvl1pPr>
          </a:lstStyle>
          <a:p>
            <a:endParaRPr lang="en-GB" dirty="0"/>
          </a:p>
        </p:txBody>
      </p:sp>
    </p:spTree>
    <p:extLst>
      <p:ext uri="{BB962C8B-B14F-4D97-AF65-F5344CB8AC3E}">
        <p14:creationId xmlns:p14="http://schemas.microsoft.com/office/powerpoint/2010/main" val="218669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2" descr="C:\Users\Ours\Desktop\flash\c.u..jpg">
            <a:extLst>
              <a:ext uri="{FF2B5EF4-FFF2-40B4-BE49-F238E27FC236}">
                <a16:creationId xmlns:a16="http://schemas.microsoft.com/office/drawing/2014/main" id="{EB4647BC-0F7B-44AE-8F69-EF3DCC45F075}"/>
              </a:ext>
            </a:extLst>
          </p:cNvPr>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2" y="6309320"/>
            <a:ext cx="12281948" cy="773752"/>
          </a:xfrm>
          <a:prstGeom prst="rect">
            <a:avLst/>
          </a:prstGeom>
          <a:noFill/>
        </p:spPr>
      </p:pic>
      <p:sp>
        <p:nvSpPr>
          <p:cNvPr id="5" name="Slide Number Placeholder 5">
            <a:extLst>
              <a:ext uri="{FF2B5EF4-FFF2-40B4-BE49-F238E27FC236}">
                <a16:creationId xmlns:a16="http://schemas.microsoft.com/office/drawing/2014/main" id="{3AE913A6-68A6-40E5-9BA0-F19E207004F6}"/>
              </a:ext>
            </a:extLst>
          </p:cNvPr>
          <p:cNvSpPr txBox="1">
            <a:spLocks/>
          </p:cNvSpPr>
          <p:nvPr userDrawn="1"/>
        </p:nvSpPr>
        <p:spPr>
          <a:xfrm>
            <a:off x="10777538" y="6337300"/>
            <a:ext cx="1046162" cy="547688"/>
          </a:xfrm>
          <a:prstGeom prst="rect">
            <a:avLst/>
          </a:prstGeom>
          <a:solidFill>
            <a:srgbClr val="F7F7F7">
              <a:alpha val="45098"/>
            </a:srgbClr>
          </a:solidFill>
        </p:spPr>
        <p:txBody>
          <a:bodyPr anchor="ct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eaLnBrk="1" hangingPunct="1">
              <a:defRPr/>
            </a:pPr>
            <a:fld id="{793B32AC-026C-40E7-B915-E38B03E84EAC}" type="slidenum">
              <a:rPr lang="en-GB" altLang="en-US" sz="2800" b="1" smtClean="0">
                <a:solidFill>
                  <a:schemeClr val="bg1"/>
                </a:solidFill>
                <a:latin typeface="Georgia" panose="02040502050405020303" pitchFamily="18" charset="0"/>
              </a:rPr>
              <a:pPr algn="r" eaLnBrk="1" hangingPunct="1">
                <a:defRPr/>
              </a:pPr>
              <a:t>‹#›</a:t>
            </a:fld>
            <a:endParaRPr lang="en-GB" altLang="en-US" sz="2800" b="1">
              <a:solidFill>
                <a:schemeClr val="bg1"/>
              </a:solidFill>
              <a:latin typeface="Georgia" panose="02040502050405020303" pitchFamily="18" charset="0"/>
            </a:endParaRPr>
          </a:p>
        </p:txBody>
      </p:sp>
      <p:pic>
        <p:nvPicPr>
          <p:cNvPr id="6" name="Picture 2" descr="C:\Users\Ours\Desktop\my stuffs\1 NTFS_000\LostFiles2\INSPIRATION\PROJECTS\MIND PROJECTS\cu_logo.png">
            <a:extLst>
              <a:ext uri="{FF2B5EF4-FFF2-40B4-BE49-F238E27FC236}">
                <a16:creationId xmlns:a16="http://schemas.microsoft.com/office/drawing/2014/main" id="{D75095F6-4F4C-4323-AD4E-FADB37A809A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4463" y="6364288"/>
            <a:ext cx="623887" cy="665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C:\Users\Ours\Desktop\Picture1.png">
            <a:extLst>
              <a:ext uri="{FF2B5EF4-FFF2-40B4-BE49-F238E27FC236}">
                <a16:creationId xmlns:a16="http://schemas.microsoft.com/office/drawing/2014/main" id="{B5A37312-C4B3-44DF-872A-D4EA3DF1E518}"/>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552450" y="6316663"/>
            <a:ext cx="597693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7D5B8DC0-2D75-40CB-BC9F-167DF2162986}"/>
              </a:ext>
            </a:extLst>
          </p:cNvPr>
          <p:cNvSpPr txBox="1">
            <a:spLocks noChangeArrowheads="1"/>
          </p:cNvSpPr>
          <p:nvPr userDrawn="1"/>
        </p:nvSpPr>
        <p:spPr bwMode="auto">
          <a:xfrm>
            <a:off x="723900" y="6707188"/>
            <a:ext cx="2216150"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1" hangingPunct="1">
              <a:defRPr/>
            </a:pPr>
            <a:r>
              <a:rPr lang="en-US" sz="1200"/>
              <a:t>www.covenantuniversity.edu.ng</a:t>
            </a:r>
            <a:endParaRPr lang="en-GB" sz="1200"/>
          </a:p>
        </p:txBody>
      </p:sp>
      <p:cxnSp>
        <p:nvCxnSpPr>
          <p:cNvPr id="9" name="Straight Connector 8">
            <a:extLst>
              <a:ext uri="{FF2B5EF4-FFF2-40B4-BE49-F238E27FC236}">
                <a16:creationId xmlns:a16="http://schemas.microsoft.com/office/drawing/2014/main" id="{7019CEF6-8576-4CF7-B9BF-B55B80ADF7C0}"/>
              </a:ext>
            </a:extLst>
          </p:cNvPr>
          <p:cNvCxnSpPr/>
          <p:nvPr userDrawn="1"/>
        </p:nvCxnSpPr>
        <p:spPr>
          <a:xfrm flipV="1">
            <a:off x="8689975" y="1341438"/>
            <a:ext cx="1800225"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CE2BBDD-D75F-4991-B216-EDB8450DF7BF}"/>
              </a:ext>
            </a:extLst>
          </p:cNvPr>
          <p:cNvCxnSpPr/>
          <p:nvPr userDrawn="1"/>
        </p:nvCxnSpPr>
        <p:spPr>
          <a:xfrm flipV="1">
            <a:off x="10526713" y="1341438"/>
            <a:ext cx="719137"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18F5C1DF-75E5-4719-894F-E7B1A0C08E04}"/>
              </a:ext>
            </a:extLst>
          </p:cNvPr>
          <p:cNvCxnSpPr/>
          <p:nvPr userDrawn="1"/>
        </p:nvCxnSpPr>
        <p:spPr>
          <a:xfrm flipV="1">
            <a:off x="11282363" y="1341438"/>
            <a:ext cx="719137"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
        <p:nvSpPr>
          <p:cNvPr id="2" name="Title 1"/>
          <p:cNvSpPr>
            <a:spLocks noGrp="1"/>
          </p:cNvSpPr>
          <p:nvPr>
            <p:ph type="title"/>
          </p:nvPr>
        </p:nvSpPr>
        <p:spPr>
          <a:xfrm>
            <a:off x="480963" y="153144"/>
            <a:ext cx="11714212" cy="1115616"/>
          </a:xfrm>
          <a:solidFill>
            <a:schemeClr val="bg1"/>
          </a:solidFill>
          <a:ln w="57150">
            <a:noFill/>
          </a:ln>
        </p:spPr>
        <p:txBody>
          <a:bodyPr>
            <a:normAutofit/>
          </a:bodyPr>
          <a:lstStyle>
            <a:lvl1pPr algn="l">
              <a:defRPr sz="4000" b="1">
                <a:solidFill>
                  <a:srgbClr val="FF0000"/>
                </a:solidFill>
                <a:latin typeface="Rockwell Condensed" pitchFamily="18" charset="0"/>
                <a:cs typeface="Times New Roman" pitchFamily="18" charset="0"/>
              </a:defRPr>
            </a:lvl1pPr>
          </a:lstStyle>
          <a:p>
            <a:r>
              <a:rPr lang="en-US"/>
              <a:t>Click to edit Master title style</a:t>
            </a:r>
            <a:endParaRPr lang="en-GB" dirty="0"/>
          </a:p>
        </p:txBody>
      </p:sp>
      <p:sp>
        <p:nvSpPr>
          <p:cNvPr id="3" name="Content Placeholder 2"/>
          <p:cNvSpPr>
            <a:spLocks noGrp="1"/>
          </p:cNvSpPr>
          <p:nvPr>
            <p:ph idx="1"/>
          </p:nvPr>
        </p:nvSpPr>
        <p:spPr>
          <a:xfrm>
            <a:off x="239412" y="1412776"/>
            <a:ext cx="11716352" cy="4824536"/>
          </a:xfrm>
          <a:solidFill>
            <a:schemeClr val="accent5">
              <a:lumMod val="40000"/>
              <a:lumOff val="60000"/>
            </a:schemeClr>
          </a:solidFill>
          <a:ln>
            <a:noFill/>
          </a:ln>
        </p:spPr>
        <p:txBody>
          <a:bodyPr>
            <a:normAutofit/>
          </a:bodyPr>
          <a:lstStyle>
            <a:lvl1pPr>
              <a:lnSpc>
                <a:spcPct val="100000"/>
              </a:lnSpc>
              <a:spcBef>
                <a:spcPts val="500"/>
              </a:spcBef>
              <a:spcAft>
                <a:spcPts val="500"/>
              </a:spcAft>
              <a:defRPr sz="2800">
                <a:latin typeface="Rockwell" pitchFamily="18" charset="0"/>
              </a:defRPr>
            </a:lvl1pPr>
            <a:lvl2pPr>
              <a:lnSpc>
                <a:spcPct val="100000"/>
              </a:lnSpc>
              <a:spcBef>
                <a:spcPts val="500"/>
              </a:spcBef>
              <a:spcAft>
                <a:spcPts val="500"/>
              </a:spcAft>
              <a:buFont typeface="Wingdings" pitchFamily="2" charset="2"/>
              <a:buChar char="§"/>
              <a:defRPr sz="2400">
                <a:solidFill>
                  <a:srgbClr val="7A0000"/>
                </a:solidFill>
                <a:latin typeface="Rockwell" pitchFamily="18" charset="0"/>
              </a:defRPr>
            </a:lvl2pPr>
            <a:lvl3pPr>
              <a:lnSpc>
                <a:spcPct val="100000"/>
              </a:lnSpc>
              <a:spcBef>
                <a:spcPts val="500"/>
              </a:spcBef>
              <a:spcAft>
                <a:spcPts val="500"/>
              </a:spcAft>
              <a:buFont typeface="Calibri" pitchFamily="34" charset="0"/>
              <a:buChar char="‒"/>
              <a:defRPr sz="2200">
                <a:solidFill>
                  <a:schemeClr val="accent4">
                    <a:lumMod val="50000"/>
                  </a:schemeClr>
                </a:solidFill>
                <a:latin typeface="Rockwell" pitchFamily="18" charset="0"/>
              </a:defRPr>
            </a:lvl3pPr>
            <a:lvl4pPr>
              <a:lnSpc>
                <a:spcPct val="100000"/>
              </a:lnSpc>
              <a:spcBef>
                <a:spcPts val="500"/>
              </a:spcBef>
              <a:spcAft>
                <a:spcPts val="500"/>
              </a:spcAft>
              <a:buFont typeface="Arial" pitchFamily="34" charset="0"/>
              <a:buChar char="•"/>
              <a:defRPr sz="2800">
                <a:latin typeface="Rockwell" pitchFamily="18" charset="0"/>
              </a:defRPr>
            </a:lvl4pPr>
            <a:lvl5pPr>
              <a:lnSpc>
                <a:spcPct val="100000"/>
              </a:lnSpc>
              <a:spcBef>
                <a:spcPts val="500"/>
              </a:spcBef>
              <a:spcAft>
                <a:spcPts val="500"/>
              </a:spcAft>
              <a:defRPr sz="2800">
                <a:latin typeface="Rockwell"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Date Placeholder 3">
            <a:extLst>
              <a:ext uri="{FF2B5EF4-FFF2-40B4-BE49-F238E27FC236}">
                <a16:creationId xmlns:a16="http://schemas.microsoft.com/office/drawing/2014/main" id="{E8A78A31-D892-43AD-9770-E65E2A1F0C34}"/>
              </a:ext>
            </a:extLst>
          </p:cNvPr>
          <p:cNvSpPr>
            <a:spLocks noGrp="1"/>
          </p:cNvSpPr>
          <p:nvPr>
            <p:ph type="dt" sz="half" idx="10"/>
          </p:nvPr>
        </p:nvSpPr>
        <p:spPr/>
        <p:txBody>
          <a:bodyPr/>
          <a:lstStyle>
            <a:lvl1pPr>
              <a:defRPr/>
            </a:lvl1pPr>
          </a:lstStyle>
          <a:p>
            <a:pPr>
              <a:defRPr/>
            </a:pPr>
            <a:fld id="{AE914102-C8D9-4C30-AA19-7413A8BD1842}" type="datetimeFigureOut">
              <a:rPr lang="en-GB"/>
              <a:pPr>
                <a:defRPr/>
              </a:pPr>
              <a:t>07/04/2026</a:t>
            </a:fld>
            <a:endParaRPr lang="en-GB"/>
          </a:p>
        </p:txBody>
      </p:sp>
      <p:sp>
        <p:nvSpPr>
          <p:cNvPr id="13" name="Footer Placeholder 4">
            <a:extLst>
              <a:ext uri="{FF2B5EF4-FFF2-40B4-BE49-F238E27FC236}">
                <a16:creationId xmlns:a16="http://schemas.microsoft.com/office/drawing/2014/main" id="{24CFE6AC-1C45-4ADB-8E2D-773AC1A00384}"/>
              </a:ext>
            </a:extLst>
          </p:cNvPr>
          <p:cNvSpPr>
            <a:spLocks noGrp="1"/>
          </p:cNvSpPr>
          <p:nvPr>
            <p:ph type="ftr" sz="quarter" idx="11"/>
          </p:nvPr>
        </p:nvSpPr>
        <p:spPr/>
        <p:txBody>
          <a:bodyPr/>
          <a:lstStyle>
            <a:lvl1pPr>
              <a:defRPr/>
            </a:lvl1pPr>
          </a:lstStyle>
          <a:p>
            <a:pPr>
              <a:defRPr/>
            </a:pPr>
            <a:endParaRPr lang="en-GB"/>
          </a:p>
        </p:txBody>
      </p:sp>
    </p:spTree>
    <p:extLst>
      <p:ext uri="{BB962C8B-B14F-4D97-AF65-F5344CB8AC3E}">
        <p14:creationId xmlns:p14="http://schemas.microsoft.com/office/powerpoint/2010/main" val="1279059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336" y="4406905"/>
            <a:ext cx="10365899"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336"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30335C-88A8-4171-A4BF-C5B643CC8907}"/>
              </a:ext>
            </a:extLst>
          </p:cNvPr>
          <p:cNvSpPr>
            <a:spLocks noGrp="1"/>
          </p:cNvSpPr>
          <p:nvPr>
            <p:ph type="dt" sz="half" idx="10"/>
          </p:nvPr>
        </p:nvSpPr>
        <p:spPr/>
        <p:txBody>
          <a:bodyPr/>
          <a:lstStyle>
            <a:lvl1pPr>
              <a:defRPr/>
            </a:lvl1pPr>
          </a:lstStyle>
          <a:p>
            <a:pPr>
              <a:defRPr/>
            </a:pPr>
            <a:fld id="{F5438DEF-0817-4A1C-B13E-2058E5D09F62}" type="datetimeFigureOut">
              <a:rPr lang="en-GB"/>
              <a:pPr>
                <a:defRPr/>
              </a:pPr>
              <a:t>07/04/2026</a:t>
            </a:fld>
            <a:endParaRPr lang="en-GB"/>
          </a:p>
        </p:txBody>
      </p:sp>
      <p:sp>
        <p:nvSpPr>
          <p:cNvPr id="5" name="Footer Placeholder 4">
            <a:extLst>
              <a:ext uri="{FF2B5EF4-FFF2-40B4-BE49-F238E27FC236}">
                <a16:creationId xmlns:a16="http://schemas.microsoft.com/office/drawing/2014/main" id="{17CF78E6-FEE5-4652-8BC0-6E5DBDCF3B38}"/>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02E3F273-BD2D-446F-951B-159EC4EAF234}"/>
              </a:ext>
            </a:extLst>
          </p:cNvPr>
          <p:cNvSpPr>
            <a:spLocks noGrp="1"/>
          </p:cNvSpPr>
          <p:nvPr>
            <p:ph type="sldNum" sz="quarter" idx="12"/>
          </p:nvPr>
        </p:nvSpPr>
        <p:spPr/>
        <p:txBody>
          <a:bodyPr/>
          <a:lstStyle>
            <a:lvl1pPr>
              <a:defRPr/>
            </a:lvl1pPr>
          </a:lstStyle>
          <a:p>
            <a:pPr>
              <a:defRPr/>
            </a:pPr>
            <a:fld id="{13D70B2E-9981-4A15-B114-07532859454B}" type="slidenum">
              <a:rPr lang="en-GB" altLang="en-US"/>
              <a:pPr>
                <a:defRPr/>
              </a:pPr>
              <a:t>‹#›</a:t>
            </a:fld>
            <a:endParaRPr lang="en-GB" altLang="en-US"/>
          </a:p>
        </p:txBody>
      </p:sp>
    </p:spTree>
    <p:extLst>
      <p:ext uri="{BB962C8B-B14F-4D97-AF65-F5344CB8AC3E}">
        <p14:creationId xmlns:p14="http://schemas.microsoft.com/office/powerpoint/2010/main" val="650205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759"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9214" y="1600205"/>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A920FAC3-CFCA-4907-A7B0-0FDB1EC42655}"/>
              </a:ext>
            </a:extLst>
          </p:cNvPr>
          <p:cNvSpPr>
            <a:spLocks noGrp="1"/>
          </p:cNvSpPr>
          <p:nvPr>
            <p:ph type="dt" sz="half" idx="10"/>
          </p:nvPr>
        </p:nvSpPr>
        <p:spPr/>
        <p:txBody>
          <a:bodyPr/>
          <a:lstStyle>
            <a:lvl1pPr>
              <a:defRPr/>
            </a:lvl1pPr>
          </a:lstStyle>
          <a:p>
            <a:pPr>
              <a:defRPr/>
            </a:pPr>
            <a:fld id="{4B033C31-F621-490A-88C0-A94BC078C5E5}" type="datetimeFigureOut">
              <a:rPr lang="en-GB"/>
              <a:pPr>
                <a:defRPr/>
              </a:pPr>
              <a:t>07/04/2026</a:t>
            </a:fld>
            <a:endParaRPr lang="en-GB"/>
          </a:p>
        </p:txBody>
      </p:sp>
      <p:sp>
        <p:nvSpPr>
          <p:cNvPr id="6" name="Footer Placeholder 4">
            <a:extLst>
              <a:ext uri="{FF2B5EF4-FFF2-40B4-BE49-F238E27FC236}">
                <a16:creationId xmlns:a16="http://schemas.microsoft.com/office/drawing/2014/main" id="{136B4B02-E4E7-45AE-895D-CE7FE112117B}"/>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9B4A8BB8-070F-4145-A75D-0FDC073B80BC}"/>
              </a:ext>
            </a:extLst>
          </p:cNvPr>
          <p:cNvSpPr>
            <a:spLocks noGrp="1"/>
          </p:cNvSpPr>
          <p:nvPr>
            <p:ph type="sldNum" sz="quarter" idx="12"/>
          </p:nvPr>
        </p:nvSpPr>
        <p:spPr/>
        <p:txBody>
          <a:bodyPr/>
          <a:lstStyle>
            <a:lvl1pPr>
              <a:defRPr/>
            </a:lvl1pPr>
          </a:lstStyle>
          <a:p>
            <a:pPr>
              <a:defRPr/>
            </a:pPr>
            <a:fld id="{E77E19BA-0538-4EAC-AC33-6FDE76E40C66}" type="slidenum">
              <a:rPr lang="en-GB" altLang="en-US"/>
              <a:pPr>
                <a:defRPr/>
              </a:pPr>
              <a:t>‹#›</a:t>
            </a:fld>
            <a:endParaRPr lang="en-GB" altLang="en-US"/>
          </a:p>
        </p:txBody>
      </p:sp>
    </p:spTree>
    <p:extLst>
      <p:ext uri="{BB962C8B-B14F-4D97-AF65-F5344CB8AC3E}">
        <p14:creationId xmlns:p14="http://schemas.microsoft.com/office/powerpoint/2010/main" val="3660834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983"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983"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4A71E064-7D56-4084-B2F4-45F5A6BA7550}"/>
              </a:ext>
            </a:extLst>
          </p:cNvPr>
          <p:cNvSpPr>
            <a:spLocks noGrp="1"/>
          </p:cNvSpPr>
          <p:nvPr>
            <p:ph type="dt" sz="half" idx="10"/>
          </p:nvPr>
        </p:nvSpPr>
        <p:spPr/>
        <p:txBody>
          <a:bodyPr/>
          <a:lstStyle>
            <a:lvl1pPr>
              <a:defRPr/>
            </a:lvl1pPr>
          </a:lstStyle>
          <a:p>
            <a:pPr>
              <a:defRPr/>
            </a:pPr>
            <a:fld id="{18472427-427F-464C-8201-2BFAB000A3FE}" type="datetimeFigureOut">
              <a:rPr lang="en-GB"/>
              <a:pPr>
                <a:defRPr/>
              </a:pPr>
              <a:t>07/04/2026</a:t>
            </a:fld>
            <a:endParaRPr lang="en-GB"/>
          </a:p>
        </p:txBody>
      </p:sp>
      <p:sp>
        <p:nvSpPr>
          <p:cNvPr id="8" name="Footer Placeholder 4">
            <a:extLst>
              <a:ext uri="{FF2B5EF4-FFF2-40B4-BE49-F238E27FC236}">
                <a16:creationId xmlns:a16="http://schemas.microsoft.com/office/drawing/2014/main" id="{88887385-CC4F-40D4-BFE1-263C2BDF5247}"/>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1E17DA0C-9810-4462-8C11-5644F08F2DE4}"/>
              </a:ext>
            </a:extLst>
          </p:cNvPr>
          <p:cNvSpPr>
            <a:spLocks noGrp="1"/>
          </p:cNvSpPr>
          <p:nvPr>
            <p:ph type="sldNum" sz="quarter" idx="12"/>
          </p:nvPr>
        </p:nvSpPr>
        <p:spPr/>
        <p:txBody>
          <a:bodyPr/>
          <a:lstStyle>
            <a:lvl1pPr>
              <a:defRPr/>
            </a:lvl1pPr>
          </a:lstStyle>
          <a:p>
            <a:pPr>
              <a:defRPr/>
            </a:pPr>
            <a:fld id="{55BD50DC-ED78-44F2-9872-A50AA0064275}" type="slidenum">
              <a:rPr lang="en-GB" altLang="en-US"/>
              <a:pPr>
                <a:defRPr/>
              </a:pPr>
              <a:t>‹#›</a:t>
            </a:fld>
            <a:endParaRPr lang="en-GB" altLang="en-US"/>
          </a:p>
        </p:txBody>
      </p:sp>
    </p:spTree>
    <p:extLst>
      <p:ext uri="{BB962C8B-B14F-4D97-AF65-F5344CB8AC3E}">
        <p14:creationId xmlns:p14="http://schemas.microsoft.com/office/powerpoint/2010/main" val="2214902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FCFEE708-2F95-4267-BC9B-EAABC4B9B021}"/>
              </a:ext>
            </a:extLst>
          </p:cNvPr>
          <p:cNvSpPr>
            <a:spLocks noGrp="1"/>
          </p:cNvSpPr>
          <p:nvPr>
            <p:ph type="dt" sz="half" idx="10"/>
          </p:nvPr>
        </p:nvSpPr>
        <p:spPr/>
        <p:txBody>
          <a:bodyPr/>
          <a:lstStyle>
            <a:lvl1pPr>
              <a:defRPr/>
            </a:lvl1pPr>
          </a:lstStyle>
          <a:p>
            <a:pPr>
              <a:defRPr/>
            </a:pPr>
            <a:fld id="{4C0ED2B6-2B7C-4B79-A3E3-FEE32626B247}" type="datetimeFigureOut">
              <a:rPr lang="en-GB"/>
              <a:pPr>
                <a:defRPr/>
              </a:pPr>
              <a:t>07/04/2026</a:t>
            </a:fld>
            <a:endParaRPr lang="en-GB"/>
          </a:p>
        </p:txBody>
      </p:sp>
      <p:sp>
        <p:nvSpPr>
          <p:cNvPr id="4" name="Footer Placeholder 4">
            <a:extLst>
              <a:ext uri="{FF2B5EF4-FFF2-40B4-BE49-F238E27FC236}">
                <a16:creationId xmlns:a16="http://schemas.microsoft.com/office/drawing/2014/main" id="{F9B538C1-052F-4660-9843-C09EEEA21A3F}"/>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FCC7DDAD-291A-4F42-8C33-9F5667E547CF}"/>
              </a:ext>
            </a:extLst>
          </p:cNvPr>
          <p:cNvSpPr>
            <a:spLocks noGrp="1"/>
          </p:cNvSpPr>
          <p:nvPr>
            <p:ph type="sldNum" sz="quarter" idx="12"/>
          </p:nvPr>
        </p:nvSpPr>
        <p:spPr/>
        <p:txBody>
          <a:bodyPr/>
          <a:lstStyle>
            <a:lvl1pPr>
              <a:defRPr/>
            </a:lvl1pPr>
          </a:lstStyle>
          <a:p>
            <a:pPr>
              <a:defRPr/>
            </a:pPr>
            <a:fld id="{B0AD3781-89DE-4FE6-9A36-0099A432FAA6}" type="slidenum">
              <a:rPr lang="en-GB" altLang="en-US"/>
              <a:pPr>
                <a:defRPr/>
              </a:pPr>
              <a:t>‹#›</a:t>
            </a:fld>
            <a:endParaRPr lang="en-GB" altLang="en-US"/>
          </a:p>
        </p:txBody>
      </p:sp>
    </p:spTree>
    <p:extLst>
      <p:ext uri="{BB962C8B-B14F-4D97-AF65-F5344CB8AC3E}">
        <p14:creationId xmlns:p14="http://schemas.microsoft.com/office/powerpoint/2010/main" val="3894197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C9587AA-45F0-46E5-8E35-48277F1ADFE3}"/>
              </a:ext>
            </a:extLst>
          </p:cNvPr>
          <p:cNvSpPr>
            <a:spLocks noGrp="1"/>
          </p:cNvSpPr>
          <p:nvPr>
            <p:ph type="dt" sz="half" idx="10"/>
          </p:nvPr>
        </p:nvSpPr>
        <p:spPr/>
        <p:txBody>
          <a:bodyPr/>
          <a:lstStyle>
            <a:lvl1pPr>
              <a:defRPr/>
            </a:lvl1pPr>
          </a:lstStyle>
          <a:p>
            <a:pPr>
              <a:defRPr/>
            </a:pPr>
            <a:fld id="{7E5353B8-04E9-4BD1-AB9D-C774630A2A28}" type="datetimeFigureOut">
              <a:rPr lang="en-GB"/>
              <a:pPr>
                <a:defRPr/>
              </a:pPr>
              <a:t>07/04/2026</a:t>
            </a:fld>
            <a:endParaRPr lang="en-GB"/>
          </a:p>
        </p:txBody>
      </p:sp>
      <p:sp>
        <p:nvSpPr>
          <p:cNvPr id="3" name="Footer Placeholder 4">
            <a:extLst>
              <a:ext uri="{FF2B5EF4-FFF2-40B4-BE49-F238E27FC236}">
                <a16:creationId xmlns:a16="http://schemas.microsoft.com/office/drawing/2014/main" id="{5FD11269-A45A-4AC9-97B3-2A237A40F8EA}"/>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01876B9F-021C-4250-ADF0-587C9F4F26B4}"/>
              </a:ext>
            </a:extLst>
          </p:cNvPr>
          <p:cNvSpPr>
            <a:spLocks noGrp="1"/>
          </p:cNvSpPr>
          <p:nvPr>
            <p:ph type="sldNum" sz="quarter" idx="12"/>
          </p:nvPr>
        </p:nvSpPr>
        <p:spPr/>
        <p:txBody>
          <a:bodyPr/>
          <a:lstStyle>
            <a:lvl1pPr>
              <a:defRPr/>
            </a:lvl1pPr>
          </a:lstStyle>
          <a:p>
            <a:pPr>
              <a:defRPr/>
            </a:pPr>
            <a:fld id="{E12D388F-3B4F-482A-B54E-DF8538039E78}" type="slidenum">
              <a:rPr lang="en-GB" altLang="en-US"/>
              <a:pPr>
                <a:defRPr/>
              </a:pPr>
              <a:t>‹#›</a:t>
            </a:fld>
            <a:endParaRPr lang="en-GB" altLang="en-US"/>
          </a:p>
        </p:txBody>
      </p:sp>
    </p:spTree>
    <p:extLst>
      <p:ext uri="{BB962C8B-B14F-4D97-AF65-F5344CB8AC3E}">
        <p14:creationId xmlns:p14="http://schemas.microsoft.com/office/powerpoint/2010/main" val="2394329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762" y="273050"/>
            <a:ext cx="4012129"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974" y="273055"/>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762" y="1435103"/>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D5797FA7-8F9E-4791-8747-F4234E89303C}"/>
              </a:ext>
            </a:extLst>
          </p:cNvPr>
          <p:cNvSpPr>
            <a:spLocks noGrp="1"/>
          </p:cNvSpPr>
          <p:nvPr>
            <p:ph type="dt" sz="half" idx="10"/>
          </p:nvPr>
        </p:nvSpPr>
        <p:spPr/>
        <p:txBody>
          <a:bodyPr/>
          <a:lstStyle>
            <a:lvl1pPr>
              <a:defRPr/>
            </a:lvl1pPr>
          </a:lstStyle>
          <a:p>
            <a:pPr>
              <a:defRPr/>
            </a:pPr>
            <a:fld id="{9236E0FC-52AE-432E-8295-26FDC4505FE1}" type="datetimeFigureOut">
              <a:rPr lang="en-GB"/>
              <a:pPr>
                <a:defRPr/>
              </a:pPr>
              <a:t>07/04/2026</a:t>
            </a:fld>
            <a:endParaRPr lang="en-GB"/>
          </a:p>
        </p:txBody>
      </p:sp>
      <p:sp>
        <p:nvSpPr>
          <p:cNvPr id="6" name="Footer Placeholder 4">
            <a:extLst>
              <a:ext uri="{FF2B5EF4-FFF2-40B4-BE49-F238E27FC236}">
                <a16:creationId xmlns:a16="http://schemas.microsoft.com/office/drawing/2014/main" id="{386D8707-C15E-40CA-9909-64E637886547}"/>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36FF1DDD-6BE4-47B7-B0B1-E74E754C76B0}"/>
              </a:ext>
            </a:extLst>
          </p:cNvPr>
          <p:cNvSpPr>
            <a:spLocks noGrp="1"/>
          </p:cNvSpPr>
          <p:nvPr>
            <p:ph type="sldNum" sz="quarter" idx="12"/>
          </p:nvPr>
        </p:nvSpPr>
        <p:spPr/>
        <p:txBody>
          <a:bodyPr/>
          <a:lstStyle>
            <a:lvl1pPr>
              <a:defRPr/>
            </a:lvl1pPr>
          </a:lstStyle>
          <a:p>
            <a:pPr>
              <a:defRPr/>
            </a:pPr>
            <a:fld id="{E3F8E5E4-14BC-42F0-B2F5-95876CD5F456}" type="slidenum">
              <a:rPr lang="en-GB" altLang="en-US"/>
              <a:pPr>
                <a:defRPr/>
              </a:pPr>
              <a:t>‹#›</a:t>
            </a:fld>
            <a:endParaRPr lang="en-GB" altLang="en-US"/>
          </a:p>
        </p:txBody>
      </p:sp>
    </p:spTree>
    <p:extLst>
      <p:ext uri="{BB962C8B-B14F-4D97-AF65-F5344CB8AC3E}">
        <p14:creationId xmlns:p14="http://schemas.microsoft.com/office/powerpoint/2010/main" val="954259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341" y="4800600"/>
            <a:ext cx="7317105"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341" y="612775"/>
            <a:ext cx="7317105"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90341"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51E5F4E-B6D2-4303-B817-25F34597702E}"/>
              </a:ext>
            </a:extLst>
          </p:cNvPr>
          <p:cNvSpPr>
            <a:spLocks noGrp="1"/>
          </p:cNvSpPr>
          <p:nvPr>
            <p:ph type="dt" sz="half" idx="10"/>
          </p:nvPr>
        </p:nvSpPr>
        <p:spPr/>
        <p:txBody>
          <a:bodyPr/>
          <a:lstStyle>
            <a:lvl1pPr>
              <a:defRPr/>
            </a:lvl1pPr>
          </a:lstStyle>
          <a:p>
            <a:pPr>
              <a:defRPr/>
            </a:pPr>
            <a:fld id="{64D53ADB-16FA-4787-8125-E9AD458DDD4A}" type="datetimeFigureOut">
              <a:rPr lang="en-GB"/>
              <a:pPr>
                <a:defRPr/>
              </a:pPr>
              <a:t>07/04/2026</a:t>
            </a:fld>
            <a:endParaRPr lang="en-GB"/>
          </a:p>
        </p:txBody>
      </p:sp>
      <p:sp>
        <p:nvSpPr>
          <p:cNvPr id="6" name="Footer Placeholder 4">
            <a:extLst>
              <a:ext uri="{FF2B5EF4-FFF2-40B4-BE49-F238E27FC236}">
                <a16:creationId xmlns:a16="http://schemas.microsoft.com/office/drawing/2014/main" id="{390C8C55-0508-4E3A-B2C7-E9DB5CA5FA09}"/>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C7B09DE0-457C-4B5E-9647-94C568F4DD2C}"/>
              </a:ext>
            </a:extLst>
          </p:cNvPr>
          <p:cNvSpPr>
            <a:spLocks noGrp="1"/>
          </p:cNvSpPr>
          <p:nvPr>
            <p:ph type="sldNum" sz="quarter" idx="12"/>
          </p:nvPr>
        </p:nvSpPr>
        <p:spPr/>
        <p:txBody>
          <a:bodyPr/>
          <a:lstStyle>
            <a:lvl1pPr>
              <a:defRPr/>
            </a:lvl1pPr>
          </a:lstStyle>
          <a:p>
            <a:pPr>
              <a:defRPr/>
            </a:pPr>
            <a:fld id="{B1A0D46C-2653-4B71-B1D8-BE06B7D003FE}" type="slidenum">
              <a:rPr lang="en-GB" altLang="en-US"/>
              <a:pPr>
                <a:defRPr/>
              </a:pPr>
              <a:t>‹#›</a:t>
            </a:fld>
            <a:endParaRPr lang="en-GB" altLang="en-US"/>
          </a:p>
        </p:txBody>
      </p:sp>
    </p:spTree>
    <p:extLst>
      <p:ext uri="{BB962C8B-B14F-4D97-AF65-F5344CB8AC3E}">
        <p14:creationId xmlns:p14="http://schemas.microsoft.com/office/powerpoint/2010/main" val="819552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8CCBD61-C6D4-4496-9A24-159FFA5C0AFC}"/>
              </a:ext>
            </a:extLst>
          </p:cNvPr>
          <p:cNvSpPr>
            <a:spLocks noGrp="1"/>
          </p:cNvSpPr>
          <p:nvPr>
            <p:ph type="dt" sz="half" idx="10"/>
          </p:nvPr>
        </p:nvSpPr>
        <p:spPr/>
        <p:txBody>
          <a:bodyPr/>
          <a:lstStyle>
            <a:lvl1pPr>
              <a:defRPr/>
            </a:lvl1pPr>
          </a:lstStyle>
          <a:p>
            <a:pPr>
              <a:defRPr/>
            </a:pPr>
            <a:fld id="{4A875746-9FD2-4718-B3AB-31448F6AF0D0}" type="datetimeFigureOut">
              <a:rPr lang="en-GB"/>
              <a:pPr>
                <a:defRPr/>
              </a:pPr>
              <a:t>07/04/2026</a:t>
            </a:fld>
            <a:endParaRPr lang="en-GB"/>
          </a:p>
        </p:txBody>
      </p:sp>
      <p:sp>
        <p:nvSpPr>
          <p:cNvPr id="5" name="Footer Placeholder 4">
            <a:extLst>
              <a:ext uri="{FF2B5EF4-FFF2-40B4-BE49-F238E27FC236}">
                <a16:creationId xmlns:a16="http://schemas.microsoft.com/office/drawing/2014/main" id="{C893A024-3EF3-4848-B4BC-AA2A92CC88DF}"/>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63DCF7DF-E7AC-4A8A-AA99-6BB30C6F559D}"/>
              </a:ext>
            </a:extLst>
          </p:cNvPr>
          <p:cNvSpPr>
            <a:spLocks noGrp="1"/>
          </p:cNvSpPr>
          <p:nvPr>
            <p:ph type="sldNum" sz="quarter" idx="12"/>
          </p:nvPr>
        </p:nvSpPr>
        <p:spPr/>
        <p:txBody>
          <a:bodyPr/>
          <a:lstStyle>
            <a:lvl1pPr>
              <a:defRPr/>
            </a:lvl1pPr>
          </a:lstStyle>
          <a:p>
            <a:pPr>
              <a:defRPr/>
            </a:pPr>
            <a:fld id="{F3C77A56-FAD7-45AA-BBBC-F8E5C69D47D5}" type="slidenum">
              <a:rPr lang="en-GB" altLang="en-US"/>
              <a:pPr>
                <a:defRPr/>
              </a:pPr>
              <a:t>‹#›</a:t>
            </a:fld>
            <a:endParaRPr lang="en-GB" altLang="en-US"/>
          </a:p>
        </p:txBody>
      </p:sp>
    </p:spTree>
    <p:extLst>
      <p:ext uri="{BB962C8B-B14F-4D97-AF65-F5344CB8AC3E}">
        <p14:creationId xmlns:p14="http://schemas.microsoft.com/office/powerpoint/2010/main" val="2654094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1502" y="274643"/>
            <a:ext cx="274391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759" y="274643"/>
            <a:ext cx="802849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9870D5-2079-4EE5-8176-51FE90E486B1}"/>
              </a:ext>
            </a:extLst>
          </p:cNvPr>
          <p:cNvSpPr>
            <a:spLocks noGrp="1"/>
          </p:cNvSpPr>
          <p:nvPr>
            <p:ph type="dt" sz="half" idx="10"/>
          </p:nvPr>
        </p:nvSpPr>
        <p:spPr/>
        <p:txBody>
          <a:bodyPr/>
          <a:lstStyle>
            <a:lvl1pPr>
              <a:defRPr/>
            </a:lvl1pPr>
          </a:lstStyle>
          <a:p>
            <a:pPr>
              <a:defRPr/>
            </a:pPr>
            <a:fld id="{340B1653-2C78-4B6D-8A07-FA83C032F3AC}" type="datetimeFigureOut">
              <a:rPr lang="en-GB"/>
              <a:pPr>
                <a:defRPr/>
              </a:pPr>
              <a:t>07/04/2026</a:t>
            </a:fld>
            <a:endParaRPr lang="en-GB"/>
          </a:p>
        </p:txBody>
      </p:sp>
      <p:sp>
        <p:nvSpPr>
          <p:cNvPr id="5" name="Footer Placeholder 4">
            <a:extLst>
              <a:ext uri="{FF2B5EF4-FFF2-40B4-BE49-F238E27FC236}">
                <a16:creationId xmlns:a16="http://schemas.microsoft.com/office/drawing/2014/main" id="{22E43B92-54CA-482F-AAB5-2FA0D0DC307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08CE6196-C7FF-4162-8CD3-F82228E86416}"/>
              </a:ext>
            </a:extLst>
          </p:cNvPr>
          <p:cNvSpPr>
            <a:spLocks noGrp="1"/>
          </p:cNvSpPr>
          <p:nvPr>
            <p:ph type="sldNum" sz="quarter" idx="12"/>
          </p:nvPr>
        </p:nvSpPr>
        <p:spPr/>
        <p:txBody>
          <a:bodyPr/>
          <a:lstStyle>
            <a:lvl1pPr>
              <a:defRPr/>
            </a:lvl1pPr>
          </a:lstStyle>
          <a:p>
            <a:pPr>
              <a:defRPr/>
            </a:pPr>
            <a:fld id="{2628684F-91DB-43E5-85B6-8E40B5F639B8}" type="slidenum">
              <a:rPr lang="en-GB" altLang="en-US"/>
              <a:pPr>
                <a:defRPr/>
              </a:pPr>
              <a:t>‹#›</a:t>
            </a:fld>
            <a:endParaRPr lang="en-GB" altLang="en-US"/>
          </a:p>
        </p:txBody>
      </p:sp>
    </p:spTree>
    <p:extLst>
      <p:ext uri="{BB962C8B-B14F-4D97-AF65-F5344CB8AC3E}">
        <p14:creationId xmlns:p14="http://schemas.microsoft.com/office/powerpoint/2010/main" val="3730365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3" y="2130429"/>
            <a:ext cx="10366375"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7575"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57BC34B-7DE0-4260-8A9C-5DDF1F86C430}"/>
              </a:ext>
            </a:extLst>
          </p:cNvPr>
          <p:cNvSpPr>
            <a:spLocks noGrp="1"/>
          </p:cNvSpPr>
          <p:nvPr>
            <p:ph type="dt" sz="half" idx="10"/>
          </p:nvPr>
        </p:nvSpPr>
        <p:spPr/>
        <p:txBody>
          <a:bodyPr/>
          <a:lstStyle>
            <a:lvl1pPr>
              <a:defRPr/>
            </a:lvl1pPr>
          </a:lstStyle>
          <a:p>
            <a:pPr>
              <a:defRPr/>
            </a:pPr>
            <a:fld id="{4D96EDC3-BE9B-4E01-9A0E-2D495DEE6917}" type="datetimeFigureOut">
              <a:rPr lang="en-GB"/>
              <a:pPr>
                <a:defRPr/>
              </a:pPr>
              <a:t>07/04/2026</a:t>
            </a:fld>
            <a:endParaRPr lang="en-GB"/>
          </a:p>
        </p:txBody>
      </p:sp>
      <p:sp>
        <p:nvSpPr>
          <p:cNvPr id="5" name="Footer Placeholder 4">
            <a:extLst>
              <a:ext uri="{FF2B5EF4-FFF2-40B4-BE49-F238E27FC236}">
                <a16:creationId xmlns:a16="http://schemas.microsoft.com/office/drawing/2014/main" id="{81133185-B76E-4BE0-ABA6-9A7BAD9608FF}"/>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BFFAF8B5-32E4-4D21-A528-5E8C98347504}"/>
              </a:ext>
            </a:extLst>
          </p:cNvPr>
          <p:cNvSpPr>
            <a:spLocks noGrp="1"/>
          </p:cNvSpPr>
          <p:nvPr>
            <p:ph type="sldNum" sz="quarter" idx="12"/>
          </p:nvPr>
        </p:nvSpPr>
        <p:spPr/>
        <p:txBody>
          <a:bodyPr/>
          <a:lstStyle>
            <a:lvl1pPr>
              <a:defRPr/>
            </a:lvl1pPr>
          </a:lstStyle>
          <a:p>
            <a:pPr>
              <a:defRPr/>
            </a:pPr>
            <a:fld id="{DDF96956-F119-45B7-903D-E1A3A53B9663}" type="slidenum">
              <a:rPr lang="en-GB" altLang="en-US"/>
              <a:pPr>
                <a:defRPr/>
              </a:pPr>
              <a:t>‹#›</a:t>
            </a:fld>
            <a:endParaRPr lang="en-GB" altLang="en-US"/>
          </a:p>
        </p:txBody>
      </p:sp>
    </p:spTree>
    <p:extLst>
      <p:ext uri="{BB962C8B-B14F-4D97-AF65-F5344CB8AC3E}">
        <p14:creationId xmlns:p14="http://schemas.microsoft.com/office/powerpoint/2010/main" val="3023418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EAF3C45-9129-4837-A1B9-EA3EBAF51630}"/>
              </a:ext>
            </a:extLst>
          </p:cNvPr>
          <p:cNvSpPr>
            <a:spLocks noGrp="1"/>
          </p:cNvSpPr>
          <p:nvPr>
            <p:ph type="dt" sz="half" idx="10"/>
          </p:nvPr>
        </p:nvSpPr>
        <p:spPr/>
        <p:txBody>
          <a:bodyPr/>
          <a:lstStyle>
            <a:lvl1pPr>
              <a:defRPr/>
            </a:lvl1pPr>
          </a:lstStyle>
          <a:p>
            <a:pPr>
              <a:defRPr/>
            </a:pPr>
            <a:fld id="{0A533DFA-7723-4125-BC9B-91A259ED18E5}" type="datetimeFigureOut">
              <a:rPr lang="en-GB"/>
              <a:pPr>
                <a:defRPr/>
              </a:pPr>
              <a:t>07/04/2026</a:t>
            </a:fld>
            <a:endParaRPr lang="en-GB"/>
          </a:p>
        </p:txBody>
      </p:sp>
      <p:sp>
        <p:nvSpPr>
          <p:cNvPr id="5" name="Footer Placeholder 4">
            <a:extLst>
              <a:ext uri="{FF2B5EF4-FFF2-40B4-BE49-F238E27FC236}">
                <a16:creationId xmlns:a16="http://schemas.microsoft.com/office/drawing/2014/main" id="{47044F65-9029-413D-80F8-4B581D86C452}"/>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7B459E0C-726E-4B37-9FAB-C0223F470E85}"/>
              </a:ext>
            </a:extLst>
          </p:cNvPr>
          <p:cNvSpPr>
            <a:spLocks noGrp="1"/>
          </p:cNvSpPr>
          <p:nvPr>
            <p:ph type="sldNum" sz="quarter" idx="12"/>
          </p:nvPr>
        </p:nvSpPr>
        <p:spPr/>
        <p:txBody>
          <a:bodyPr/>
          <a:lstStyle>
            <a:lvl1pPr>
              <a:defRPr/>
            </a:lvl1pPr>
          </a:lstStyle>
          <a:p>
            <a:pPr>
              <a:defRPr/>
            </a:pPr>
            <a:fld id="{0FB2D538-4905-4715-B8C2-6B1EA5C82081}" type="slidenum">
              <a:rPr lang="en-GB" altLang="en-US"/>
              <a:pPr>
                <a:defRPr/>
              </a:pPr>
              <a:t>‹#›</a:t>
            </a:fld>
            <a:endParaRPr lang="en-GB" altLang="en-US"/>
          </a:p>
        </p:txBody>
      </p:sp>
    </p:spTree>
    <p:extLst>
      <p:ext uri="{BB962C8B-B14F-4D97-AF65-F5344CB8AC3E}">
        <p14:creationId xmlns:p14="http://schemas.microsoft.com/office/powerpoint/2010/main" val="345027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5" y="4406904"/>
            <a:ext cx="10366375"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615" y="2906713"/>
            <a:ext cx="1036637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08DAFB5-D3C3-496E-B203-A735A175376E}"/>
              </a:ext>
            </a:extLst>
          </p:cNvPr>
          <p:cNvSpPr>
            <a:spLocks noGrp="1"/>
          </p:cNvSpPr>
          <p:nvPr>
            <p:ph type="dt" sz="half" idx="10"/>
          </p:nvPr>
        </p:nvSpPr>
        <p:spPr/>
        <p:txBody>
          <a:bodyPr/>
          <a:lstStyle>
            <a:lvl1pPr>
              <a:defRPr/>
            </a:lvl1pPr>
          </a:lstStyle>
          <a:p>
            <a:pPr>
              <a:defRPr/>
            </a:pPr>
            <a:fld id="{D818C8A3-57F6-478C-BDDF-7BFD72185B7C}" type="datetimeFigureOut">
              <a:rPr lang="en-GB"/>
              <a:pPr>
                <a:defRPr/>
              </a:pPr>
              <a:t>07/04/2026</a:t>
            </a:fld>
            <a:endParaRPr lang="en-GB"/>
          </a:p>
        </p:txBody>
      </p:sp>
      <p:sp>
        <p:nvSpPr>
          <p:cNvPr id="5" name="Footer Placeholder 4">
            <a:extLst>
              <a:ext uri="{FF2B5EF4-FFF2-40B4-BE49-F238E27FC236}">
                <a16:creationId xmlns:a16="http://schemas.microsoft.com/office/drawing/2014/main" id="{989C515C-DAA7-4BDA-B788-2B684A467629}"/>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296F8899-B052-48B4-A5A5-42804E3255C7}"/>
              </a:ext>
            </a:extLst>
          </p:cNvPr>
          <p:cNvSpPr>
            <a:spLocks noGrp="1"/>
          </p:cNvSpPr>
          <p:nvPr>
            <p:ph type="sldNum" sz="quarter" idx="12"/>
          </p:nvPr>
        </p:nvSpPr>
        <p:spPr/>
        <p:txBody>
          <a:bodyPr/>
          <a:lstStyle>
            <a:lvl1pPr>
              <a:defRPr/>
            </a:lvl1pPr>
          </a:lstStyle>
          <a:p>
            <a:pPr>
              <a:defRPr/>
            </a:pPr>
            <a:fld id="{8F655999-D42A-487D-8EA2-FCE875D6F244}" type="slidenum">
              <a:rPr lang="en-GB" altLang="en-US"/>
              <a:pPr>
                <a:defRPr/>
              </a:pPr>
              <a:t>‹#›</a:t>
            </a:fld>
            <a:endParaRPr lang="en-GB" altLang="en-US"/>
          </a:p>
        </p:txBody>
      </p:sp>
    </p:spTree>
    <p:extLst>
      <p:ext uri="{BB962C8B-B14F-4D97-AF65-F5344CB8AC3E}">
        <p14:creationId xmlns:p14="http://schemas.microsoft.com/office/powerpoint/2010/main" val="12436666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3788" y="1600204"/>
            <a:ext cx="541178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C2D069B2-71A1-4CF4-8BBE-A6F3FA67F8E3}"/>
              </a:ext>
            </a:extLst>
          </p:cNvPr>
          <p:cNvSpPr>
            <a:spLocks noGrp="1"/>
          </p:cNvSpPr>
          <p:nvPr>
            <p:ph type="dt" sz="half" idx="10"/>
          </p:nvPr>
        </p:nvSpPr>
        <p:spPr/>
        <p:txBody>
          <a:bodyPr/>
          <a:lstStyle>
            <a:lvl1pPr>
              <a:defRPr/>
            </a:lvl1pPr>
          </a:lstStyle>
          <a:p>
            <a:pPr>
              <a:defRPr/>
            </a:pPr>
            <a:fld id="{1D93E340-E278-46BC-BF9F-42F599115826}" type="datetimeFigureOut">
              <a:rPr lang="en-GB"/>
              <a:pPr>
                <a:defRPr/>
              </a:pPr>
              <a:t>07/04/2026</a:t>
            </a:fld>
            <a:endParaRPr lang="en-GB"/>
          </a:p>
        </p:txBody>
      </p:sp>
      <p:sp>
        <p:nvSpPr>
          <p:cNvPr id="6" name="Footer Placeholder 4">
            <a:extLst>
              <a:ext uri="{FF2B5EF4-FFF2-40B4-BE49-F238E27FC236}">
                <a16:creationId xmlns:a16="http://schemas.microsoft.com/office/drawing/2014/main" id="{1CB5D117-3757-4DBE-BFCC-F263E47F6A79}"/>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8E13ED30-1A13-468A-8EA7-5424F36BA7BA}"/>
              </a:ext>
            </a:extLst>
          </p:cNvPr>
          <p:cNvSpPr>
            <a:spLocks noGrp="1"/>
          </p:cNvSpPr>
          <p:nvPr>
            <p:ph type="sldNum" sz="quarter" idx="12"/>
          </p:nvPr>
        </p:nvSpPr>
        <p:spPr/>
        <p:txBody>
          <a:bodyPr/>
          <a:lstStyle>
            <a:lvl1pPr>
              <a:defRPr/>
            </a:lvl1pPr>
          </a:lstStyle>
          <a:p>
            <a:pPr>
              <a:defRPr/>
            </a:pPr>
            <a:fld id="{0B90CF8C-9BFB-4874-ADE0-E72E0C982880}" type="slidenum">
              <a:rPr lang="en-GB" altLang="en-US"/>
              <a:pPr>
                <a:defRPr/>
              </a:pPr>
              <a:t>‹#›</a:t>
            </a:fld>
            <a:endParaRPr lang="en-GB" altLang="en-US"/>
          </a:p>
        </p:txBody>
      </p:sp>
    </p:spTree>
    <p:extLst>
      <p:ext uri="{BB962C8B-B14F-4D97-AF65-F5344CB8AC3E}">
        <p14:creationId xmlns:p14="http://schemas.microsoft.com/office/powerpoint/2010/main" val="34117582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2" y="1535113"/>
            <a:ext cx="53879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79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4425" y="1535113"/>
            <a:ext cx="539115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4425" y="2174875"/>
            <a:ext cx="539115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2F1B391B-5158-4B69-9D54-AB2DF6F3D631}"/>
              </a:ext>
            </a:extLst>
          </p:cNvPr>
          <p:cNvSpPr>
            <a:spLocks noGrp="1"/>
          </p:cNvSpPr>
          <p:nvPr>
            <p:ph type="dt" sz="half" idx="10"/>
          </p:nvPr>
        </p:nvSpPr>
        <p:spPr/>
        <p:txBody>
          <a:bodyPr/>
          <a:lstStyle>
            <a:lvl1pPr>
              <a:defRPr/>
            </a:lvl1pPr>
          </a:lstStyle>
          <a:p>
            <a:pPr>
              <a:defRPr/>
            </a:pPr>
            <a:fld id="{337B61D2-C7D8-44DD-8C97-4C3B278A1E65}" type="datetimeFigureOut">
              <a:rPr lang="en-GB"/>
              <a:pPr>
                <a:defRPr/>
              </a:pPr>
              <a:t>07/04/2026</a:t>
            </a:fld>
            <a:endParaRPr lang="en-GB"/>
          </a:p>
        </p:txBody>
      </p:sp>
      <p:sp>
        <p:nvSpPr>
          <p:cNvPr id="8" name="Footer Placeholder 4">
            <a:extLst>
              <a:ext uri="{FF2B5EF4-FFF2-40B4-BE49-F238E27FC236}">
                <a16:creationId xmlns:a16="http://schemas.microsoft.com/office/drawing/2014/main" id="{76354041-BE2C-4D07-ABB3-36BA56509B77}"/>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CFABEA6A-347B-423D-86B8-F5BB86C4EF94}"/>
              </a:ext>
            </a:extLst>
          </p:cNvPr>
          <p:cNvSpPr>
            <a:spLocks noGrp="1"/>
          </p:cNvSpPr>
          <p:nvPr>
            <p:ph type="sldNum" sz="quarter" idx="12"/>
          </p:nvPr>
        </p:nvSpPr>
        <p:spPr/>
        <p:txBody>
          <a:bodyPr/>
          <a:lstStyle>
            <a:lvl1pPr>
              <a:defRPr/>
            </a:lvl1pPr>
          </a:lstStyle>
          <a:p>
            <a:pPr>
              <a:defRPr/>
            </a:pPr>
            <a:fld id="{5163DB3C-F5BD-4776-AE89-8EECCD200366}" type="slidenum">
              <a:rPr lang="en-GB" altLang="en-US"/>
              <a:pPr>
                <a:defRPr/>
              </a:pPr>
              <a:t>‹#›</a:t>
            </a:fld>
            <a:endParaRPr lang="en-GB" altLang="en-US"/>
          </a:p>
        </p:txBody>
      </p:sp>
    </p:spTree>
    <p:extLst>
      <p:ext uri="{BB962C8B-B14F-4D97-AF65-F5344CB8AC3E}">
        <p14:creationId xmlns:p14="http://schemas.microsoft.com/office/powerpoint/2010/main" val="8795188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F1973CF6-6F11-46E9-9269-FAA2EE743D02}"/>
              </a:ext>
            </a:extLst>
          </p:cNvPr>
          <p:cNvSpPr>
            <a:spLocks noGrp="1"/>
          </p:cNvSpPr>
          <p:nvPr>
            <p:ph type="dt" sz="half" idx="10"/>
          </p:nvPr>
        </p:nvSpPr>
        <p:spPr/>
        <p:txBody>
          <a:bodyPr/>
          <a:lstStyle>
            <a:lvl1pPr>
              <a:defRPr/>
            </a:lvl1pPr>
          </a:lstStyle>
          <a:p>
            <a:pPr>
              <a:defRPr/>
            </a:pPr>
            <a:fld id="{84126AF3-AEDF-40E2-B01E-E7115286C042}" type="datetimeFigureOut">
              <a:rPr lang="en-GB"/>
              <a:pPr>
                <a:defRPr/>
              </a:pPr>
              <a:t>07/04/2026</a:t>
            </a:fld>
            <a:endParaRPr lang="en-GB"/>
          </a:p>
        </p:txBody>
      </p:sp>
      <p:sp>
        <p:nvSpPr>
          <p:cNvPr id="4" name="Footer Placeholder 4">
            <a:extLst>
              <a:ext uri="{FF2B5EF4-FFF2-40B4-BE49-F238E27FC236}">
                <a16:creationId xmlns:a16="http://schemas.microsoft.com/office/drawing/2014/main" id="{5967531A-9570-4727-BF5E-4CCF66403F66}"/>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E633EED0-5F91-4107-897E-53C3251E7436}"/>
              </a:ext>
            </a:extLst>
          </p:cNvPr>
          <p:cNvSpPr>
            <a:spLocks noGrp="1"/>
          </p:cNvSpPr>
          <p:nvPr>
            <p:ph type="sldNum" sz="quarter" idx="12"/>
          </p:nvPr>
        </p:nvSpPr>
        <p:spPr/>
        <p:txBody>
          <a:bodyPr/>
          <a:lstStyle>
            <a:lvl1pPr>
              <a:defRPr/>
            </a:lvl1pPr>
          </a:lstStyle>
          <a:p>
            <a:pPr>
              <a:defRPr/>
            </a:pPr>
            <a:fld id="{BD6B968E-E67D-4BD3-9A05-932A10D15313}" type="slidenum">
              <a:rPr lang="en-GB" altLang="en-US"/>
              <a:pPr>
                <a:defRPr/>
              </a:pPr>
              <a:t>‹#›</a:t>
            </a:fld>
            <a:endParaRPr lang="en-GB" altLang="en-US"/>
          </a:p>
        </p:txBody>
      </p:sp>
    </p:spTree>
    <p:extLst>
      <p:ext uri="{BB962C8B-B14F-4D97-AF65-F5344CB8AC3E}">
        <p14:creationId xmlns:p14="http://schemas.microsoft.com/office/powerpoint/2010/main" val="42143419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9C08203-B008-4AF7-B390-3A7066B5881B}"/>
              </a:ext>
            </a:extLst>
          </p:cNvPr>
          <p:cNvSpPr>
            <a:spLocks noGrp="1"/>
          </p:cNvSpPr>
          <p:nvPr>
            <p:ph type="dt" sz="half" idx="10"/>
          </p:nvPr>
        </p:nvSpPr>
        <p:spPr/>
        <p:txBody>
          <a:bodyPr/>
          <a:lstStyle>
            <a:lvl1pPr>
              <a:defRPr/>
            </a:lvl1pPr>
          </a:lstStyle>
          <a:p>
            <a:pPr>
              <a:defRPr/>
            </a:pPr>
            <a:fld id="{7D648932-48F8-45B8-8549-7E6979775DFA}" type="datetimeFigureOut">
              <a:rPr lang="en-GB"/>
              <a:pPr>
                <a:defRPr/>
              </a:pPr>
              <a:t>07/04/2026</a:t>
            </a:fld>
            <a:endParaRPr lang="en-GB"/>
          </a:p>
        </p:txBody>
      </p:sp>
      <p:sp>
        <p:nvSpPr>
          <p:cNvPr id="3" name="Footer Placeholder 4">
            <a:extLst>
              <a:ext uri="{FF2B5EF4-FFF2-40B4-BE49-F238E27FC236}">
                <a16:creationId xmlns:a16="http://schemas.microsoft.com/office/drawing/2014/main" id="{B05409F8-D734-4CF2-B997-F95684EA7C2B}"/>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BD6AD8AA-8280-4735-96E8-14E23F14C8E5}"/>
              </a:ext>
            </a:extLst>
          </p:cNvPr>
          <p:cNvSpPr>
            <a:spLocks noGrp="1"/>
          </p:cNvSpPr>
          <p:nvPr>
            <p:ph type="sldNum" sz="quarter" idx="12"/>
          </p:nvPr>
        </p:nvSpPr>
        <p:spPr/>
        <p:txBody>
          <a:bodyPr/>
          <a:lstStyle>
            <a:lvl1pPr>
              <a:defRPr/>
            </a:lvl1pPr>
          </a:lstStyle>
          <a:p>
            <a:pPr>
              <a:defRPr/>
            </a:pPr>
            <a:fld id="{22960EDB-36A0-424C-AA9A-9479433027E0}" type="slidenum">
              <a:rPr lang="en-GB" altLang="en-US"/>
              <a:pPr>
                <a:defRPr/>
              </a:pPr>
              <a:t>‹#›</a:t>
            </a:fld>
            <a:endParaRPr lang="en-GB" altLang="en-US"/>
          </a:p>
        </p:txBody>
      </p:sp>
    </p:spTree>
    <p:extLst>
      <p:ext uri="{BB962C8B-B14F-4D97-AF65-F5344CB8AC3E}">
        <p14:creationId xmlns:p14="http://schemas.microsoft.com/office/powerpoint/2010/main" val="3665894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612"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7263" y="273054"/>
            <a:ext cx="68183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2" y="1435103"/>
            <a:ext cx="401161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5B492770-4279-4C06-9047-CE168B8D7CC1}"/>
              </a:ext>
            </a:extLst>
          </p:cNvPr>
          <p:cNvSpPr>
            <a:spLocks noGrp="1"/>
          </p:cNvSpPr>
          <p:nvPr>
            <p:ph type="dt" sz="half" idx="10"/>
          </p:nvPr>
        </p:nvSpPr>
        <p:spPr/>
        <p:txBody>
          <a:bodyPr/>
          <a:lstStyle>
            <a:lvl1pPr>
              <a:defRPr/>
            </a:lvl1pPr>
          </a:lstStyle>
          <a:p>
            <a:pPr>
              <a:defRPr/>
            </a:pPr>
            <a:fld id="{F9F689BF-F0C6-4765-9845-529E3FE4CAB5}" type="datetimeFigureOut">
              <a:rPr lang="en-GB"/>
              <a:pPr>
                <a:defRPr/>
              </a:pPr>
              <a:t>07/04/2026</a:t>
            </a:fld>
            <a:endParaRPr lang="en-GB"/>
          </a:p>
        </p:txBody>
      </p:sp>
      <p:sp>
        <p:nvSpPr>
          <p:cNvPr id="6" name="Footer Placeholder 4">
            <a:extLst>
              <a:ext uri="{FF2B5EF4-FFF2-40B4-BE49-F238E27FC236}">
                <a16:creationId xmlns:a16="http://schemas.microsoft.com/office/drawing/2014/main" id="{655CF94F-E751-4F5C-9704-B7E1C2A9D61B}"/>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49190EFC-108F-4688-8E58-A8B4FDE6C515}"/>
              </a:ext>
            </a:extLst>
          </p:cNvPr>
          <p:cNvSpPr>
            <a:spLocks noGrp="1"/>
          </p:cNvSpPr>
          <p:nvPr>
            <p:ph type="sldNum" sz="quarter" idx="12"/>
          </p:nvPr>
        </p:nvSpPr>
        <p:spPr/>
        <p:txBody>
          <a:bodyPr/>
          <a:lstStyle>
            <a:lvl1pPr>
              <a:defRPr/>
            </a:lvl1pPr>
          </a:lstStyle>
          <a:p>
            <a:pPr>
              <a:defRPr/>
            </a:pPr>
            <a:fld id="{7A2148C5-60B6-403E-8385-7FD37748C461}" type="slidenum">
              <a:rPr lang="en-GB" altLang="en-US"/>
              <a:pPr>
                <a:defRPr/>
              </a:pPr>
              <a:t>‹#›</a:t>
            </a:fld>
            <a:endParaRPr lang="en-GB" altLang="en-US"/>
          </a:p>
        </p:txBody>
      </p:sp>
    </p:spTree>
    <p:extLst>
      <p:ext uri="{BB962C8B-B14F-4D97-AF65-F5344CB8AC3E}">
        <p14:creationId xmlns:p14="http://schemas.microsoft.com/office/powerpoint/2010/main" val="29849817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0776" y="4800600"/>
            <a:ext cx="7316788"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90776" y="612775"/>
            <a:ext cx="7316788"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90776" y="5367338"/>
            <a:ext cx="731678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682157C-1702-46FE-8854-DE88B7BCBF27}"/>
              </a:ext>
            </a:extLst>
          </p:cNvPr>
          <p:cNvSpPr>
            <a:spLocks noGrp="1"/>
          </p:cNvSpPr>
          <p:nvPr>
            <p:ph type="dt" sz="half" idx="10"/>
          </p:nvPr>
        </p:nvSpPr>
        <p:spPr/>
        <p:txBody>
          <a:bodyPr/>
          <a:lstStyle>
            <a:lvl1pPr>
              <a:defRPr/>
            </a:lvl1pPr>
          </a:lstStyle>
          <a:p>
            <a:pPr>
              <a:defRPr/>
            </a:pPr>
            <a:fld id="{FF9F61D9-3673-47C7-9911-9EC273F9D6E2}" type="datetimeFigureOut">
              <a:rPr lang="en-GB"/>
              <a:pPr>
                <a:defRPr/>
              </a:pPr>
              <a:t>07/04/2026</a:t>
            </a:fld>
            <a:endParaRPr lang="en-GB"/>
          </a:p>
        </p:txBody>
      </p:sp>
      <p:sp>
        <p:nvSpPr>
          <p:cNvPr id="6" name="Footer Placeholder 4">
            <a:extLst>
              <a:ext uri="{FF2B5EF4-FFF2-40B4-BE49-F238E27FC236}">
                <a16:creationId xmlns:a16="http://schemas.microsoft.com/office/drawing/2014/main" id="{C2FCDCCA-26B7-43BD-9BA9-5082085DAC64}"/>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B68E21B5-D24C-4C51-BF34-A9E52A7F9625}"/>
              </a:ext>
            </a:extLst>
          </p:cNvPr>
          <p:cNvSpPr>
            <a:spLocks noGrp="1"/>
          </p:cNvSpPr>
          <p:nvPr>
            <p:ph type="sldNum" sz="quarter" idx="12"/>
          </p:nvPr>
        </p:nvSpPr>
        <p:spPr/>
        <p:txBody>
          <a:bodyPr/>
          <a:lstStyle>
            <a:lvl1pPr>
              <a:defRPr/>
            </a:lvl1pPr>
          </a:lstStyle>
          <a:p>
            <a:pPr>
              <a:defRPr/>
            </a:pPr>
            <a:fld id="{01E42113-8805-42C5-82E9-FE9ECDCCE533}" type="slidenum">
              <a:rPr lang="en-GB" altLang="en-US"/>
              <a:pPr>
                <a:defRPr/>
              </a:pPr>
              <a:t>‹#›</a:t>
            </a:fld>
            <a:endParaRPr lang="en-GB" altLang="en-US"/>
          </a:p>
        </p:txBody>
      </p:sp>
    </p:spTree>
    <p:extLst>
      <p:ext uri="{BB962C8B-B14F-4D97-AF65-F5344CB8AC3E}">
        <p14:creationId xmlns:p14="http://schemas.microsoft.com/office/powerpoint/2010/main" val="6490874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54E5971-2ED0-4600-91E8-B340977BD1EA}"/>
              </a:ext>
            </a:extLst>
          </p:cNvPr>
          <p:cNvSpPr>
            <a:spLocks noGrp="1"/>
          </p:cNvSpPr>
          <p:nvPr>
            <p:ph type="dt" sz="half" idx="10"/>
          </p:nvPr>
        </p:nvSpPr>
        <p:spPr/>
        <p:txBody>
          <a:bodyPr/>
          <a:lstStyle>
            <a:lvl1pPr>
              <a:defRPr/>
            </a:lvl1pPr>
          </a:lstStyle>
          <a:p>
            <a:pPr>
              <a:defRPr/>
            </a:pPr>
            <a:fld id="{5744A75C-9B53-4F6C-A321-7E8D29AA3B52}" type="datetimeFigureOut">
              <a:rPr lang="en-GB"/>
              <a:pPr>
                <a:defRPr/>
              </a:pPr>
              <a:t>07/04/2026</a:t>
            </a:fld>
            <a:endParaRPr lang="en-GB"/>
          </a:p>
        </p:txBody>
      </p:sp>
      <p:sp>
        <p:nvSpPr>
          <p:cNvPr id="5" name="Footer Placeholder 4">
            <a:extLst>
              <a:ext uri="{FF2B5EF4-FFF2-40B4-BE49-F238E27FC236}">
                <a16:creationId xmlns:a16="http://schemas.microsoft.com/office/drawing/2014/main" id="{B565C6DC-1033-4A93-9A71-8080004095FA}"/>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35966C0C-2A5B-4D07-B7A4-502A4ED2BEC3}"/>
              </a:ext>
            </a:extLst>
          </p:cNvPr>
          <p:cNvSpPr>
            <a:spLocks noGrp="1"/>
          </p:cNvSpPr>
          <p:nvPr>
            <p:ph type="sldNum" sz="quarter" idx="12"/>
          </p:nvPr>
        </p:nvSpPr>
        <p:spPr/>
        <p:txBody>
          <a:bodyPr/>
          <a:lstStyle>
            <a:lvl1pPr>
              <a:defRPr/>
            </a:lvl1pPr>
          </a:lstStyle>
          <a:p>
            <a:pPr>
              <a:defRPr/>
            </a:pPr>
            <a:fld id="{7CE387C2-174B-424E-806A-B211EA8B17FE}" type="slidenum">
              <a:rPr lang="en-GB" altLang="en-US"/>
              <a:pPr>
                <a:defRPr/>
              </a:pPr>
              <a:t>‹#›</a:t>
            </a:fld>
            <a:endParaRPr lang="en-GB" altLang="en-US"/>
          </a:p>
        </p:txBody>
      </p:sp>
    </p:spTree>
    <p:extLst>
      <p:ext uri="{BB962C8B-B14F-4D97-AF65-F5344CB8AC3E}">
        <p14:creationId xmlns:p14="http://schemas.microsoft.com/office/powerpoint/2010/main" val="33337917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42375" y="274642"/>
            <a:ext cx="27432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09602" y="274642"/>
            <a:ext cx="8080374"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C2B9809-E259-4A67-9314-42BD2E9E1390}"/>
              </a:ext>
            </a:extLst>
          </p:cNvPr>
          <p:cNvSpPr>
            <a:spLocks noGrp="1"/>
          </p:cNvSpPr>
          <p:nvPr>
            <p:ph type="dt" sz="half" idx="10"/>
          </p:nvPr>
        </p:nvSpPr>
        <p:spPr/>
        <p:txBody>
          <a:bodyPr/>
          <a:lstStyle>
            <a:lvl1pPr>
              <a:defRPr/>
            </a:lvl1pPr>
          </a:lstStyle>
          <a:p>
            <a:pPr>
              <a:defRPr/>
            </a:pPr>
            <a:fld id="{AB0C0E11-3A95-4600-B832-519C7B51ABC4}" type="datetimeFigureOut">
              <a:rPr lang="en-GB"/>
              <a:pPr>
                <a:defRPr/>
              </a:pPr>
              <a:t>07/04/2026</a:t>
            </a:fld>
            <a:endParaRPr lang="en-GB"/>
          </a:p>
        </p:txBody>
      </p:sp>
      <p:sp>
        <p:nvSpPr>
          <p:cNvPr id="5" name="Footer Placeholder 4">
            <a:extLst>
              <a:ext uri="{FF2B5EF4-FFF2-40B4-BE49-F238E27FC236}">
                <a16:creationId xmlns:a16="http://schemas.microsoft.com/office/drawing/2014/main" id="{ADD8FCBA-BA99-4C32-997E-96BF6C7A9B73}"/>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80C91BD6-E371-4F5C-B8A3-89CAFF557466}"/>
              </a:ext>
            </a:extLst>
          </p:cNvPr>
          <p:cNvSpPr>
            <a:spLocks noGrp="1"/>
          </p:cNvSpPr>
          <p:nvPr>
            <p:ph type="sldNum" sz="quarter" idx="12"/>
          </p:nvPr>
        </p:nvSpPr>
        <p:spPr/>
        <p:txBody>
          <a:bodyPr/>
          <a:lstStyle>
            <a:lvl1pPr>
              <a:defRPr/>
            </a:lvl1pPr>
          </a:lstStyle>
          <a:p>
            <a:pPr>
              <a:defRPr/>
            </a:pPr>
            <a:fld id="{015EA5CF-B806-49EF-A94B-37FDCB233A99}" type="slidenum">
              <a:rPr lang="en-GB" altLang="en-US"/>
              <a:pPr>
                <a:defRPr/>
              </a:pPr>
              <a:t>‹#›</a:t>
            </a:fld>
            <a:endParaRPr lang="en-GB" altLang="en-US"/>
          </a:p>
        </p:txBody>
      </p:sp>
    </p:spTree>
    <p:extLst>
      <p:ext uri="{BB962C8B-B14F-4D97-AF65-F5344CB8AC3E}">
        <p14:creationId xmlns:p14="http://schemas.microsoft.com/office/powerpoint/2010/main" val="301846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A0C994E-D1D9-4237-9368-FBE4E1BEF6EA}"/>
              </a:ext>
            </a:extLst>
          </p:cNvPr>
          <p:cNvSpPr>
            <a:spLocks noGrp="1"/>
          </p:cNvSpPr>
          <p:nvPr>
            <p:ph type="title"/>
          </p:nvPr>
        </p:nvSpPr>
        <p:spPr bwMode="auto">
          <a:xfrm>
            <a:off x="609600" y="274638"/>
            <a:ext cx="1097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105B6FD5-1A01-47F3-B607-632369B4AFBA}"/>
              </a:ext>
            </a:extLst>
          </p:cNvPr>
          <p:cNvSpPr>
            <a:spLocks noGrp="1"/>
          </p:cNvSpPr>
          <p:nvPr>
            <p:ph type="body" idx="1"/>
          </p:nvPr>
        </p:nvSpPr>
        <p:spPr bwMode="auto">
          <a:xfrm>
            <a:off x="609600" y="1600200"/>
            <a:ext cx="1097597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135BA835-5EB1-4BBD-8A86-2AA152197A8D}"/>
              </a:ext>
            </a:extLst>
          </p:cNvPr>
          <p:cNvSpPr>
            <a:spLocks noGrp="1"/>
          </p:cNvSpPr>
          <p:nvPr>
            <p:ph type="dt" sz="half" idx="2"/>
          </p:nvPr>
        </p:nvSpPr>
        <p:spPr>
          <a:xfrm>
            <a:off x="609600" y="6356350"/>
            <a:ext cx="2846388"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6759C01-2805-4879-8750-3BE03797AE50}" type="datetimeFigureOut">
              <a:rPr lang="en-GB"/>
              <a:pPr>
                <a:defRPr/>
              </a:pPr>
              <a:t>07/04/2026</a:t>
            </a:fld>
            <a:endParaRPr lang="en-GB"/>
          </a:p>
        </p:txBody>
      </p:sp>
      <p:sp>
        <p:nvSpPr>
          <p:cNvPr id="5" name="Footer Placeholder 4">
            <a:extLst>
              <a:ext uri="{FF2B5EF4-FFF2-40B4-BE49-F238E27FC236}">
                <a16:creationId xmlns:a16="http://schemas.microsoft.com/office/drawing/2014/main" id="{19902214-EF32-4A22-9032-B4135CB0A0A4}"/>
              </a:ext>
            </a:extLst>
          </p:cNvPr>
          <p:cNvSpPr>
            <a:spLocks noGrp="1"/>
          </p:cNvSpPr>
          <p:nvPr>
            <p:ph type="ftr" sz="quarter" idx="3"/>
          </p:nvPr>
        </p:nvSpPr>
        <p:spPr>
          <a:xfrm>
            <a:off x="4167188"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a:extLst>
              <a:ext uri="{FF2B5EF4-FFF2-40B4-BE49-F238E27FC236}">
                <a16:creationId xmlns:a16="http://schemas.microsoft.com/office/drawing/2014/main" id="{DFECCDF1-8646-4021-B123-6BF24BE9B467}"/>
              </a:ext>
            </a:extLst>
          </p:cNvPr>
          <p:cNvSpPr>
            <a:spLocks noGrp="1"/>
          </p:cNvSpPr>
          <p:nvPr>
            <p:ph type="sldNum" sz="quarter" idx="4"/>
          </p:nvPr>
        </p:nvSpPr>
        <p:spPr>
          <a:xfrm>
            <a:off x="8739188" y="6356350"/>
            <a:ext cx="2846387"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614933A7-0C32-43BE-8C48-E01004CD8A01}"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58" r:id="rId4"/>
    <p:sldLayoutId id="2147483859" r:id="rId5"/>
    <p:sldLayoutId id="2147483860" r:id="rId6"/>
    <p:sldLayoutId id="2147483861" r:id="rId7"/>
    <p:sldLayoutId id="2147483862" r:id="rId8"/>
    <p:sldLayoutId id="2147483863" r:id="rId9"/>
    <p:sldLayoutId id="2147483864" r:id="rId10"/>
    <p:sldLayoutId id="2147483865" r:id="rId11"/>
    <p:sldLayoutId id="2147483866"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C77B4AC6-32F7-4F7F-9A7E-B1A7F63A09B0}"/>
              </a:ext>
            </a:extLst>
          </p:cNvPr>
          <p:cNvSpPr>
            <a:spLocks noGrp="1"/>
          </p:cNvSpPr>
          <p:nvPr>
            <p:ph type="title"/>
          </p:nvPr>
        </p:nvSpPr>
        <p:spPr bwMode="auto">
          <a:xfrm>
            <a:off x="609600" y="274638"/>
            <a:ext cx="10975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1" name="Text Placeholder 2">
            <a:extLst>
              <a:ext uri="{FF2B5EF4-FFF2-40B4-BE49-F238E27FC236}">
                <a16:creationId xmlns:a16="http://schemas.microsoft.com/office/drawing/2014/main" id="{AEB24093-B66F-404E-A41F-BAC421FCA142}"/>
              </a:ext>
            </a:extLst>
          </p:cNvPr>
          <p:cNvSpPr>
            <a:spLocks noGrp="1"/>
          </p:cNvSpPr>
          <p:nvPr>
            <p:ph type="body" idx="1"/>
          </p:nvPr>
        </p:nvSpPr>
        <p:spPr bwMode="auto">
          <a:xfrm>
            <a:off x="609600" y="1600200"/>
            <a:ext cx="10975975"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1AA6ECD8-BCA9-4379-8D24-016974818912}"/>
              </a:ext>
            </a:extLst>
          </p:cNvPr>
          <p:cNvSpPr>
            <a:spLocks noGrp="1"/>
          </p:cNvSpPr>
          <p:nvPr>
            <p:ph type="dt" sz="half" idx="2"/>
          </p:nvPr>
        </p:nvSpPr>
        <p:spPr>
          <a:xfrm>
            <a:off x="609600" y="6356350"/>
            <a:ext cx="2846388"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E33EDE73-2753-47A4-B01C-5D03CBA91948}" type="datetimeFigureOut">
              <a:rPr lang="en-GB"/>
              <a:pPr>
                <a:defRPr/>
              </a:pPr>
              <a:t>07/04/2026</a:t>
            </a:fld>
            <a:endParaRPr lang="en-GB"/>
          </a:p>
        </p:txBody>
      </p:sp>
      <p:sp>
        <p:nvSpPr>
          <p:cNvPr id="5" name="Footer Placeholder 4">
            <a:extLst>
              <a:ext uri="{FF2B5EF4-FFF2-40B4-BE49-F238E27FC236}">
                <a16:creationId xmlns:a16="http://schemas.microsoft.com/office/drawing/2014/main" id="{D3E844ED-A7A7-45B7-B348-A725C2E881F7}"/>
              </a:ext>
            </a:extLst>
          </p:cNvPr>
          <p:cNvSpPr>
            <a:spLocks noGrp="1"/>
          </p:cNvSpPr>
          <p:nvPr>
            <p:ph type="ftr" sz="quarter" idx="3"/>
          </p:nvPr>
        </p:nvSpPr>
        <p:spPr>
          <a:xfrm>
            <a:off x="4167188" y="6356350"/>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GB"/>
          </a:p>
        </p:txBody>
      </p:sp>
      <p:sp>
        <p:nvSpPr>
          <p:cNvPr id="6" name="Slide Number Placeholder 5">
            <a:extLst>
              <a:ext uri="{FF2B5EF4-FFF2-40B4-BE49-F238E27FC236}">
                <a16:creationId xmlns:a16="http://schemas.microsoft.com/office/drawing/2014/main" id="{2CA4BBC9-E485-4367-9282-56468F214C8A}"/>
              </a:ext>
            </a:extLst>
          </p:cNvPr>
          <p:cNvSpPr>
            <a:spLocks noGrp="1"/>
          </p:cNvSpPr>
          <p:nvPr>
            <p:ph type="sldNum" sz="quarter" idx="4"/>
          </p:nvPr>
        </p:nvSpPr>
        <p:spPr>
          <a:xfrm>
            <a:off x="8739188" y="6356350"/>
            <a:ext cx="2846387"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F21F485B-A124-4981-B3A5-DB3BF1D38767}"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en.wikipedia.org/wiki/Carry_flag"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en.wikipedia.org/wiki/CDC_160_series" TargetMode="External"/><Relationship Id="rId2" Type="http://schemas.openxmlformats.org/officeDocument/2006/relationships/hyperlink" Target="http://en.wikipedia.org/wiki/PDP-1" TargetMode="External"/><Relationship Id="rId1" Type="http://schemas.openxmlformats.org/officeDocument/2006/relationships/slideLayout" Target="../slideLayouts/slideLayout3.xml"/><Relationship Id="rId4" Type="http://schemas.openxmlformats.org/officeDocument/2006/relationships/hyperlink" Target="http://en.wikipedia.org/wiki/UNIVAC_1100/2200_series"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hyperlink" Target="http://en.wikipedia.org/wiki/Bitwise_NOT"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ecomputernotes.com/images/BCD-Codes.jpg" TargetMode="Externa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BAC919D8-A155-451D-83FD-028ABFBC537D}"/>
              </a:ext>
            </a:extLst>
          </p:cNvPr>
          <p:cNvSpPr>
            <a:spLocks noGrp="1" noChangeArrowheads="1"/>
          </p:cNvSpPr>
          <p:nvPr>
            <p:ph type="ctrTitle" idx="4294967295"/>
          </p:nvPr>
        </p:nvSpPr>
        <p:spPr>
          <a:xfrm>
            <a:off x="687388" y="2438400"/>
            <a:ext cx="10820400" cy="1524000"/>
          </a:xfrm>
          <a:solidFill>
            <a:schemeClr val="accent5">
              <a:lumMod val="20000"/>
              <a:lumOff val="80000"/>
            </a:schemeClr>
          </a:solidFill>
        </p:spPr>
        <p:txBody>
          <a:bodyPr>
            <a:noAutofit/>
          </a:bodyPr>
          <a:lstStyle/>
          <a:p>
            <a:pPr>
              <a:defRPr/>
            </a:pPr>
            <a:r>
              <a:rPr lang="en-US" b="1" dirty="0"/>
              <a:t>IFT222</a:t>
            </a:r>
            <a:br>
              <a:rPr lang="en-US" b="1" dirty="0"/>
            </a:br>
            <a:r>
              <a:rPr lang="en-US" b="1" dirty="0"/>
              <a:t>Computer Architecture and Organization</a:t>
            </a:r>
            <a:endParaRPr lang="en-US" sz="5400" b="1" dirty="0"/>
          </a:p>
        </p:txBody>
      </p:sp>
      <p:sp>
        <p:nvSpPr>
          <p:cNvPr id="8195" name="Rectangle 7">
            <a:extLst>
              <a:ext uri="{FF2B5EF4-FFF2-40B4-BE49-F238E27FC236}">
                <a16:creationId xmlns:a16="http://schemas.microsoft.com/office/drawing/2014/main" id="{80080B2D-9103-4663-85FB-C00548674746}"/>
              </a:ext>
            </a:extLst>
          </p:cNvPr>
          <p:cNvSpPr>
            <a:spLocks noGrp="1"/>
          </p:cNvSpPr>
          <p:nvPr>
            <p:ph type="subTitle" idx="4294967295"/>
          </p:nvPr>
        </p:nvSpPr>
        <p:spPr>
          <a:xfrm>
            <a:off x="1373188" y="4419600"/>
            <a:ext cx="9144000" cy="838200"/>
          </a:xfrm>
          <a:solidFill>
            <a:srgbClr val="92D050"/>
          </a:solidFill>
        </p:spPr>
        <p:txBody>
          <a:bodyPr/>
          <a:lstStyle/>
          <a:p>
            <a:pPr marL="0" indent="0" algn="ctr">
              <a:buFont typeface="Wingdings" panose="05000000000000000000" pitchFamily="2" charset="2"/>
              <a:buNone/>
            </a:pPr>
            <a:r>
              <a:rPr lang="en-US" altLang="en-US" sz="4400" b="1" dirty="0"/>
              <a:t>DATA REPRESENTATION</a:t>
            </a:r>
          </a:p>
        </p:txBody>
      </p:sp>
      <p:pic>
        <p:nvPicPr>
          <p:cNvPr id="8196" name="Picture 3" descr="C:\Users\AZUBUIKE-REBIRTH\Desktop\logo.png">
            <a:extLst>
              <a:ext uri="{FF2B5EF4-FFF2-40B4-BE49-F238E27FC236}">
                <a16:creationId xmlns:a16="http://schemas.microsoft.com/office/drawing/2014/main" id="{64037EF5-9655-42FA-8D49-8944198E8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088" y="304800"/>
            <a:ext cx="1909762"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B21BF767-6075-4BF3-BC6A-4E91D5CA9E56}"/>
              </a:ext>
            </a:extLst>
          </p:cNvPr>
          <p:cNvSpPr txBox="1">
            <a:spLocks/>
          </p:cNvSpPr>
          <p:nvPr/>
        </p:nvSpPr>
        <p:spPr>
          <a:xfrm>
            <a:off x="914400" y="1752600"/>
            <a:ext cx="10366375" cy="457200"/>
          </a:xfrm>
          <a:prstGeom prst="rect">
            <a:avLst/>
          </a:prstGeom>
        </p:spPr>
        <p:txBody>
          <a:bodyPr anchor="ctr">
            <a:normAutofit/>
          </a:bodyPr>
          <a:lstStyle>
            <a:lvl1pPr>
              <a:defRPr b="1"/>
            </a:lvl1pPr>
          </a:lstStyle>
          <a:p>
            <a:pPr algn="ctr" fontAlgn="auto">
              <a:spcAft>
                <a:spcPts val="0"/>
              </a:spcAft>
              <a:defRPr/>
            </a:pPr>
            <a:r>
              <a:rPr lang="en-US" sz="2400" i="1" dirty="0">
                <a:solidFill>
                  <a:srgbClr val="C00000"/>
                </a:solidFill>
                <a:latin typeface="Calibri"/>
                <a:ea typeface="+mj-ea"/>
                <a:cs typeface="+mj-cs"/>
              </a:rPr>
              <a:t>Department of Computer and Information Sciences</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6E4F7A79-13A6-42CE-B7F6-79FA3E0BEEA4}"/>
              </a:ext>
            </a:extLst>
          </p:cNvPr>
          <p:cNvSpPr>
            <a:spLocks noGrp="1"/>
          </p:cNvSpPr>
          <p:nvPr>
            <p:ph type="title"/>
          </p:nvPr>
        </p:nvSpPr>
        <p:spPr>
          <a:xfrm>
            <a:off x="609600" y="582613"/>
            <a:ext cx="10975975" cy="7889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Introduction</a:t>
            </a:r>
          </a:p>
        </p:txBody>
      </p:sp>
      <p:sp>
        <p:nvSpPr>
          <p:cNvPr id="69635" name="Content Placeholder 2">
            <a:extLst>
              <a:ext uri="{FF2B5EF4-FFF2-40B4-BE49-F238E27FC236}">
                <a16:creationId xmlns:a16="http://schemas.microsoft.com/office/drawing/2014/main" id="{4FD06301-B4FC-416A-B655-A0D6B8C2739C}"/>
              </a:ext>
            </a:extLst>
          </p:cNvPr>
          <p:cNvSpPr>
            <a:spLocks noGrp="1"/>
          </p:cNvSpPr>
          <p:nvPr>
            <p:ph idx="1"/>
          </p:nvPr>
        </p:nvSpPr>
        <p:spPr>
          <a:xfrm>
            <a:off x="230188" y="1524000"/>
            <a:ext cx="11660187" cy="4530725"/>
          </a:xfrm>
        </p:spPr>
        <p:txBody>
          <a:bodyPr rtlCol="0">
            <a:noAutofit/>
          </a:bodyPr>
          <a:lstStyle/>
          <a:p>
            <a:pPr algn="just" eaLnBrk="1" fontAlgn="auto" hangingPunct="1">
              <a:defRPr/>
            </a:pPr>
            <a:r>
              <a:rPr lang="en-US" dirty="0"/>
              <a:t>Computers are built of electronic circuitry. Information is represented by currents, voltage differences, or (for permanent storage) orientation of magnetic material. A single electronic circuit or piece of magnetic material is often regarded as being in one of two states, so can be used to represent a binary digit. Thus numbers are usually represented within a computer in base 2.</a:t>
            </a:r>
          </a:p>
        </p:txBody>
      </p:sp>
      <p:sp>
        <p:nvSpPr>
          <p:cNvPr id="12292" name="Slide Number Placeholder 3">
            <a:extLst>
              <a:ext uri="{FF2B5EF4-FFF2-40B4-BE49-F238E27FC236}">
                <a16:creationId xmlns:a16="http://schemas.microsoft.com/office/drawing/2014/main" id="{8560B5FA-F288-44DE-B740-658CE316E20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1ACB5EE-86EF-45DC-8412-F85559026E07}" type="slidenum">
              <a:rPr lang="en-US" altLang="en-US" sz="1800" smtClean="0">
                <a:solidFill>
                  <a:srgbClr val="898989"/>
                </a:solidFill>
                <a:latin typeface="Arial" panose="020B0604020202020204" pitchFamily="34" charset="0"/>
              </a:rPr>
              <a:pPr algn="l" eaLnBrk="0" hangingPunct="0">
                <a:spcBef>
                  <a:spcPct val="0"/>
                </a:spcBef>
                <a:buFontTx/>
                <a:buNone/>
              </a:pPr>
              <a:t>2</a:t>
            </a:fld>
            <a:endParaRPr lang="en-US" altLang="en-US" sz="1800">
              <a:solidFill>
                <a:srgbClr val="89898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C3FFAA78-CB84-4870-B363-F21CC100A550}"/>
              </a:ext>
            </a:extLst>
          </p:cNvPr>
          <p:cNvSpPr>
            <a:spLocks noGrp="1"/>
          </p:cNvSpPr>
          <p:nvPr>
            <p:ph idx="1"/>
          </p:nvPr>
        </p:nvSpPr>
        <p:spPr>
          <a:xfrm>
            <a:off x="382588" y="838200"/>
            <a:ext cx="11382375" cy="5181600"/>
          </a:xfrm>
        </p:spPr>
        <p:txBody>
          <a:bodyPr rtlCol="0">
            <a:noAutofit/>
          </a:bodyPr>
          <a:lstStyle/>
          <a:p>
            <a:pPr algn="just" eaLnBrk="1" fontAlgn="auto" hangingPunct="1">
              <a:defRPr/>
            </a:pPr>
            <a:r>
              <a:rPr lang="en-US" dirty="0"/>
              <a:t>It is possible to represent an integer in any base. A digit sequence </a:t>
            </a:r>
            <a:r>
              <a:rPr lang="en-US" b="1" dirty="0"/>
              <a:t>a</a:t>
            </a:r>
            <a:r>
              <a:rPr lang="en-US" b="1" baseline="-25000" dirty="0"/>
              <a:t>n-1</a:t>
            </a:r>
            <a:r>
              <a:rPr lang="en-US" b="1" dirty="0"/>
              <a:t> a</a:t>
            </a:r>
            <a:r>
              <a:rPr lang="en-US" b="1" baseline="-25000" dirty="0"/>
              <a:t>n-2</a:t>
            </a:r>
            <a:r>
              <a:rPr lang="en-US" b="1" dirty="0"/>
              <a:t> …….... a</a:t>
            </a:r>
            <a:r>
              <a:rPr lang="en-US" b="1" baseline="-25000" dirty="0"/>
              <a:t>2</a:t>
            </a:r>
            <a:r>
              <a:rPr lang="en-US" b="1" dirty="0"/>
              <a:t> a</a:t>
            </a:r>
            <a:r>
              <a:rPr lang="en-US" b="1" baseline="-25000" dirty="0"/>
              <a:t>1</a:t>
            </a:r>
            <a:r>
              <a:rPr lang="en-US" b="1" dirty="0"/>
              <a:t> a</a:t>
            </a:r>
            <a:r>
              <a:rPr lang="en-US" b="1" baseline="-25000" dirty="0"/>
              <a:t>0</a:t>
            </a:r>
            <a:endParaRPr lang="en-US" dirty="0"/>
          </a:p>
          <a:p>
            <a:pPr algn="just" eaLnBrk="1" fontAlgn="auto" hangingPunct="1">
              <a:buFont typeface="Wingdings" pitchFamily="2" charset="2"/>
              <a:buNone/>
              <a:defRPr/>
            </a:pPr>
            <a:r>
              <a:rPr lang="en-US" dirty="0"/>
              <a:t>	represents the integer </a:t>
            </a:r>
          </a:p>
          <a:p>
            <a:pPr algn="just" eaLnBrk="1" fontAlgn="auto" hangingPunct="1">
              <a:buFont typeface="Wingdings" pitchFamily="2" charset="2"/>
              <a:buNone/>
              <a:defRPr/>
            </a:pPr>
            <a:r>
              <a:rPr lang="en-US" b="1" dirty="0"/>
              <a:t>	a</a:t>
            </a:r>
            <a:r>
              <a:rPr lang="en-US" b="1" baseline="-25000" dirty="0"/>
              <a:t>n-1</a:t>
            </a:r>
            <a:r>
              <a:rPr lang="en-US" b="1" dirty="0"/>
              <a:t> * base</a:t>
            </a:r>
            <a:r>
              <a:rPr lang="en-US" b="1" baseline="30000" dirty="0"/>
              <a:t>n-1</a:t>
            </a:r>
            <a:r>
              <a:rPr lang="en-US" b="1" dirty="0"/>
              <a:t> +a</a:t>
            </a:r>
            <a:r>
              <a:rPr lang="en-US" b="1" baseline="-25000" dirty="0"/>
              <a:t>n-2</a:t>
            </a:r>
            <a:r>
              <a:rPr lang="en-US" b="1" dirty="0"/>
              <a:t> * base</a:t>
            </a:r>
            <a:r>
              <a:rPr lang="en-US" b="1" baseline="30000" dirty="0"/>
              <a:t>n-2</a:t>
            </a:r>
            <a:r>
              <a:rPr lang="en-US" b="1" dirty="0"/>
              <a:t> + ... + a</a:t>
            </a:r>
            <a:r>
              <a:rPr lang="en-US" b="1" baseline="-25000" dirty="0"/>
              <a:t>2</a:t>
            </a:r>
            <a:r>
              <a:rPr lang="en-US" b="1" dirty="0"/>
              <a:t> * base</a:t>
            </a:r>
            <a:r>
              <a:rPr lang="en-US" b="1" baseline="30000" dirty="0"/>
              <a:t>2</a:t>
            </a:r>
            <a:r>
              <a:rPr lang="en-US" b="1" dirty="0"/>
              <a:t>+ a</a:t>
            </a:r>
            <a:r>
              <a:rPr lang="en-US" b="1" baseline="-25000" dirty="0"/>
              <a:t>1</a:t>
            </a:r>
            <a:r>
              <a:rPr lang="en-US" b="1" dirty="0"/>
              <a:t> * base</a:t>
            </a:r>
            <a:r>
              <a:rPr lang="en-US" b="1" baseline="30000" dirty="0"/>
              <a:t>1</a:t>
            </a:r>
            <a:r>
              <a:rPr lang="en-US" b="1" dirty="0"/>
              <a:t> + a</a:t>
            </a:r>
            <a:r>
              <a:rPr lang="en-US" b="1" baseline="-25000" dirty="0"/>
              <a:t>0</a:t>
            </a:r>
            <a:r>
              <a:rPr lang="en-US" b="1" dirty="0"/>
              <a:t> * base</a:t>
            </a:r>
            <a:r>
              <a:rPr lang="en-US" b="1" baseline="30000" dirty="0"/>
              <a:t>0</a:t>
            </a:r>
          </a:p>
          <a:p>
            <a:pPr algn="just" eaLnBrk="1" fontAlgn="auto" hangingPunct="1">
              <a:defRPr/>
            </a:pPr>
            <a:r>
              <a:rPr lang="en-US" dirty="0"/>
              <a:t>Although data is stored within the computer in binary, it is often convenient to display the information in hexadecimal (base 16), because it takes up less space on the page, and is easier to remember.</a:t>
            </a:r>
          </a:p>
        </p:txBody>
      </p:sp>
      <p:sp>
        <p:nvSpPr>
          <p:cNvPr id="13315" name="Slide Number Placeholder 3">
            <a:extLst>
              <a:ext uri="{FF2B5EF4-FFF2-40B4-BE49-F238E27FC236}">
                <a16:creationId xmlns:a16="http://schemas.microsoft.com/office/drawing/2014/main" id="{8DF5B56C-EF2F-493E-8951-F5B0726990B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D2D69C-933E-45A0-8B60-25A4969AE6E9}" type="slidenum">
              <a:rPr lang="en-US" altLang="en-US" sz="1800" smtClean="0">
                <a:solidFill>
                  <a:srgbClr val="898989"/>
                </a:solidFill>
                <a:latin typeface="Arial" panose="020B0604020202020204" pitchFamily="34" charset="0"/>
              </a:rPr>
              <a:pPr algn="l" eaLnBrk="0" hangingPunct="0">
                <a:spcBef>
                  <a:spcPct val="0"/>
                </a:spcBef>
                <a:buFontTx/>
                <a:buNone/>
              </a:pPr>
              <a:t>3</a:t>
            </a:fld>
            <a:endParaRPr lang="en-US" altLang="en-US" sz="1800">
              <a:solidFill>
                <a:srgbClr val="89898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1136FD9D-5738-40DE-BEFB-041C6F7903D4}"/>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E8F0686-DCBB-4A1B-A175-B7C72261245D}" type="slidenum">
              <a:rPr lang="en-US" altLang="en-US" sz="1800" smtClean="0">
                <a:solidFill>
                  <a:srgbClr val="898989"/>
                </a:solidFill>
                <a:latin typeface="Arial" panose="020B0604020202020204" pitchFamily="34" charset="0"/>
              </a:rPr>
              <a:pPr algn="l" eaLnBrk="0" hangingPunct="0">
                <a:spcBef>
                  <a:spcPct val="0"/>
                </a:spcBef>
                <a:buFontTx/>
                <a:buNone/>
              </a:pPr>
              <a:t>4</a:t>
            </a:fld>
            <a:endParaRPr lang="en-US" altLang="en-US" sz="1800">
              <a:solidFill>
                <a:srgbClr val="898989"/>
              </a:solidFill>
              <a:latin typeface="Arial" panose="020B0604020202020204" pitchFamily="34" charset="0"/>
            </a:endParaRPr>
          </a:p>
        </p:txBody>
      </p:sp>
      <p:pic>
        <p:nvPicPr>
          <p:cNvPr id="14339" name="Picture 4">
            <a:extLst>
              <a:ext uri="{FF2B5EF4-FFF2-40B4-BE49-F238E27FC236}">
                <a16:creationId xmlns:a16="http://schemas.microsoft.com/office/drawing/2014/main" id="{46F55B18-59CF-43C8-885B-7BAE64079C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621" t="12534" r="24130" b="17134"/>
          <a:stretch>
            <a:fillRect/>
          </a:stretch>
        </p:blipFill>
        <p:spPr bwMode="auto">
          <a:xfrm>
            <a:off x="306388" y="685800"/>
            <a:ext cx="11734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5F64A898-103E-44AC-A3CA-EFE711597AD6}"/>
              </a:ext>
            </a:extLst>
          </p:cNvPr>
          <p:cNvSpPr>
            <a:spLocks noGrp="1"/>
          </p:cNvSpPr>
          <p:nvPr>
            <p:ph type="title"/>
          </p:nvPr>
        </p:nvSpPr>
        <p:spPr>
          <a:xfrm>
            <a:off x="382588" y="658813"/>
            <a:ext cx="11430000" cy="7127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600"/>
              <a:t>Base Conversion</a:t>
            </a:r>
          </a:p>
        </p:txBody>
      </p:sp>
      <p:sp>
        <p:nvSpPr>
          <p:cNvPr id="72707" name="Content Placeholder 2">
            <a:extLst>
              <a:ext uri="{FF2B5EF4-FFF2-40B4-BE49-F238E27FC236}">
                <a16:creationId xmlns:a16="http://schemas.microsoft.com/office/drawing/2014/main" id="{7D86F251-A80E-4509-B1DF-0EA8E2E2BBC7}"/>
              </a:ext>
            </a:extLst>
          </p:cNvPr>
          <p:cNvSpPr>
            <a:spLocks noGrp="1"/>
          </p:cNvSpPr>
          <p:nvPr>
            <p:ph idx="1"/>
          </p:nvPr>
        </p:nvSpPr>
        <p:spPr>
          <a:xfrm>
            <a:off x="239713" y="1447800"/>
            <a:ext cx="11715750" cy="4633913"/>
          </a:xfrm>
        </p:spPr>
        <p:txBody>
          <a:bodyPr rtlCol="0"/>
          <a:lstStyle/>
          <a:p>
            <a:pPr algn="just" eaLnBrk="1" fontAlgn="auto" hangingPunct="1">
              <a:defRPr/>
            </a:pPr>
            <a:r>
              <a:rPr lang="en-US" b="1" dirty="0">
                <a:solidFill>
                  <a:srgbClr val="0000FF"/>
                </a:solidFill>
              </a:rPr>
              <a:t>Conversion from decimal to any base</a:t>
            </a:r>
            <a:endParaRPr lang="en-US" dirty="0">
              <a:solidFill>
                <a:srgbClr val="0000FF"/>
              </a:solidFill>
            </a:endParaRPr>
          </a:p>
          <a:p>
            <a:pPr algn="just" eaLnBrk="1" fontAlgn="auto" hangingPunct="1">
              <a:buFont typeface="Wingdings" pitchFamily="2" charset="2"/>
              <a:buNone/>
              <a:defRPr/>
            </a:pPr>
            <a:r>
              <a:rPr lang="en-US" dirty="0"/>
              <a:t>	To convert an integer into a digit string in a base, we repeatedly divide the number by the base. The digits correspond to the remainders of these divisions, and are generated from right to left.</a:t>
            </a:r>
          </a:p>
          <a:p>
            <a:pPr algn="just" eaLnBrk="1" fontAlgn="auto" hangingPunct="1">
              <a:defRPr/>
            </a:pPr>
            <a:r>
              <a:rPr lang="en-US" dirty="0"/>
              <a:t>The following program sequence can be used to achieve this (next slide).</a:t>
            </a:r>
          </a:p>
        </p:txBody>
      </p:sp>
      <p:sp>
        <p:nvSpPr>
          <p:cNvPr id="15364" name="Slide Number Placeholder 3">
            <a:extLst>
              <a:ext uri="{FF2B5EF4-FFF2-40B4-BE49-F238E27FC236}">
                <a16:creationId xmlns:a16="http://schemas.microsoft.com/office/drawing/2014/main" id="{E4123E90-8B98-4072-ADE0-0B5E309068E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03C5D152-6ECD-4B4B-8324-D8BE2648D27E}" type="slidenum">
              <a:rPr lang="en-US" altLang="en-US" sz="1800" smtClean="0">
                <a:solidFill>
                  <a:srgbClr val="898989"/>
                </a:solidFill>
                <a:latin typeface="Arial" panose="020B0604020202020204" pitchFamily="34" charset="0"/>
              </a:rPr>
              <a:pPr algn="l" eaLnBrk="0" hangingPunct="0">
                <a:spcBef>
                  <a:spcPct val="0"/>
                </a:spcBef>
                <a:buFontTx/>
                <a:buNone/>
              </a:pPr>
              <a:t>5</a:t>
            </a:fld>
            <a:endParaRPr lang="en-US" altLang="en-US" sz="1800">
              <a:solidFill>
                <a:srgbClr val="898989"/>
              </a:solidFill>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C1D498-96C0-4F30-8DD0-F5350B4841CD}"/>
              </a:ext>
            </a:extLst>
          </p:cNvPr>
          <p:cNvSpPr>
            <a:spLocks noGrp="1"/>
          </p:cNvSpPr>
          <p:nvPr>
            <p:ph idx="1"/>
          </p:nvPr>
        </p:nvSpPr>
        <p:spPr>
          <a:xfrm>
            <a:off x="230188" y="381000"/>
            <a:ext cx="11811000" cy="5791200"/>
          </a:xfrm>
        </p:spPr>
        <p:txBody>
          <a:bodyPr rtlCol="0">
            <a:normAutofit fontScale="85000" lnSpcReduction="20000"/>
          </a:bodyPr>
          <a:lstStyle/>
          <a:p>
            <a:pPr eaLnBrk="1" fontAlgn="auto" hangingPunct="1">
              <a:spcBef>
                <a:spcPts val="0"/>
              </a:spcBef>
              <a:defRPr/>
            </a:pPr>
            <a:r>
              <a:rPr lang="en-US" b="1" dirty="0"/>
              <a:t>static char </a:t>
            </a:r>
            <a:r>
              <a:rPr lang="en-US" b="1" dirty="0" err="1"/>
              <a:t>toDigit</a:t>
            </a:r>
            <a:r>
              <a:rPr lang="en-US" b="1" dirty="0"/>
              <a:t>( </a:t>
            </a:r>
            <a:r>
              <a:rPr lang="en-US" b="1" dirty="0" err="1"/>
              <a:t>int</a:t>
            </a:r>
            <a:r>
              <a:rPr lang="en-US" b="1" dirty="0"/>
              <a:t> n ) {</a:t>
            </a:r>
          </a:p>
          <a:p>
            <a:pPr lvl="1" eaLnBrk="1" fontAlgn="auto" hangingPunct="1">
              <a:spcBef>
                <a:spcPts val="0"/>
              </a:spcBef>
              <a:buFont typeface="Wingdings" pitchFamily="2" charset="2"/>
              <a:buNone/>
              <a:defRPr/>
            </a:pPr>
            <a:r>
              <a:rPr lang="en-US" sz="2000" b="1" dirty="0"/>
              <a:t>	if ( n &lt; 10 )</a:t>
            </a:r>
          </a:p>
          <a:p>
            <a:pPr lvl="2" eaLnBrk="1" fontAlgn="auto" hangingPunct="1">
              <a:spcBef>
                <a:spcPts val="0"/>
              </a:spcBef>
              <a:defRPr/>
            </a:pPr>
            <a:r>
              <a:rPr lang="en-US" sz="1600" b="1" dirty="0"/>
              <a:t>return ( char ) ( n + '0' );</a:t>
            </a:r>
          </a:p>
          <a:p>
            <a:pPr lvl="1" eaLnBrk="1" fontAlgn="auto" hangingPunct="1">
              <a:spcBef>
                <a:spcPts val="0"/>
              </a:spcBef>
              <a:buFont typeface="Wingdings" pitchFamily="2" charset="2"/>
              <a:buNone/>
              <a:defRPr/>
            </a:pPr>
            <a:r>
              <a:rPr lang="en-US" sz="2000" b="1" dirty="0"/>
              <a:t>	else</a:t>
            </a:r>
          </a:p>
          <a:p>
            <a:pPr lvl="2" eaLnBrk="1" fontAlgn="auto" hangingPunct="1">
              <a:spcBef>
                <a:spcPts val="0"/>
              </a:spcBef>
              <a:defRPr/>
            </a:pPr>
            <a:r>
              <a:rPr lang="en-US" sz="1600" b="1" dirty="0"/>
              <a:t>return ( char ) ( n + 'a' - 10 );</a:t>
            </a:r>
          </a:p>
          <a:p>
            <a:pPr lvl="1" eaLnBrk="1" fontAlgn="auto" hangingPunct="1">
              <a:spcBef>
                <a:spcPts val="0"/>
              </a:spcBef>
              <a:buFont typeface="Wingdings" pitchFamily="2" charset="2"/>
              <a:buNone/>
              <a:defRPr/>
            </a:pPr>
            <a:r>
              <a:rPr lang="en-US" sz="2000" b="1" dirty="0"/>
              <a:t>	}</a:t>
            </a:r>
          </a:p>
          <a:p>
            <a:pPr eaLnBrk="1" fontAlgn="auto" hangingPunct="1">
              <a:spcBef>
                <a:spcPts val="0"/>
              </a:spcBef>
              <a:defRPr/>
            </a:pPr>
            <a:r>
              <a:rPr lang="en-US" b="1" dirty="0"/>
              <a:t>static String </a:t>
            </a:r>
            <a:r>
              <a:rPr lang="en-US" b="1" dirty="0" err="1"/>
              <a:t>toBase</a:t>
            </a:r>
            <a:r>
              <a:rPr lang="en-US" b="1" dirty="0"/>
              <a:t>( </a:t>
            </a:r>
            <a:r>
              <a:rPr lang="en-US" b="1" dirty="0" err="1"/>
              <a:t>int</a:t>
            </a:r>
            <a:r>
              <a:rPr lang="en-US" b="1" dirty="0"/>
              <a:t> n, </a:t>
            </a:r>
            <a:r>
              <a:rPr lang="en-US" b="1" dirty="0" err="1"/>
              <a:t>int</a:t>
            </a:r>
            <a:r>
              <a:rPr lang="en-US" b="1" dirty="0"/>
              <a:t> base ) {</a:t>
            </a:r>
          </a:p>
          <a:p>
            <a:pPr lvl="1" eaLnBrk="1" fontAlgn="auto" hangingPunct="1">
              <a:spcBef>
                <a:spcPts val="0"/>
              </a:spcBef>
              <a:buFont typeface="Wingdings" pitchFamily="2" charset="2"/>
              <a:buNone/>
              <a:defRPr/>
            </a:pPr>
            <a:r>
              <a:rPr lang="en-US" sz="2000" b="1" dirty="0"/>
              <a:t>	if ( n == 0 )</a:t>
            </a:r>
          </a:p>
          <a:p>
            <a:pPr lvl="2" eaLnBrk="1" fontAlgn="auto" hangingPunct="1">
              <a:spcBef>
                <a:spcPts val="0"/>
              </a:spcBef>
              <a:defRPr/>
            </a:pPr>
            <a:r>
              <a:rPr lang="en-US" sz="1600" b="1" dirty="0"/>
              <a:t>return "0";</a:t>
            </a:r>
          </a:p>
          <a:p>
            <a:pPr lvl="1" eaLnBrk="1" fontAlgn="auto" hangingPunct="1">
              <a:spcBef>
                <a:spcPts val="0"/>
              </a:spcBef>
              <a:buFont typeface="Wingdings" pitchFamily="2" charset="2"/>
              <a:buNone/>
              <a:defRPr/>
            </a:pPr>
            <a:r>
              <a:rPr lang="en-US" sz="2000" b="1" dirty="0"/>
              <a:t>	else if ( n &lt; 0 )</a:t>
            </a:r>
          </a:p>
          <a:p>
            <a:pPr lvl="2" eaLnBrk="1" fontAlgn="auto" hangingPunct="1">
              <a:spcBef>
                <a:spcPts val="0"/>
              </a:spcBef>
              <a:defRPr/>
            </a:pPr>
            <a:r>
              <a:rPr lang="en-US" sz="1600" b="1" dirty="0"/>
              <a:t>return "-" + </a:t>
            </a:r>
            <a:r>
              <a:rPr lang="en-US" sz="1600" b="1" dirty="0" err="1"/>
              <a:t>toBase</a:t>
            </a:r>
            <a:r>
              <a:rPr lang="en-US" sz="1600" b="1" dirty="0"/>
              <a:t>( - n, base );</a:t>
            </a:r>
          </a:p>
          <a:p>
            <a:pPr lvl="1" eaLnBrk="1" fontAlgn="auto" hangingPunct="1">
              <a:spcBef>
                <a:spcPts val="0"/>
              </a:spcBef>
              <a:buFont typeface="Wingdings" pitchFamily="2" charset="2"/>
              <a:buNone/>
              <a:defRPr/>
            </a:pPr>
            <a:r>
              <a:rPr lang="en-US" sz="2000" b="1" dirty="0"/>
              <a:t>	else {</a:t>
            </a:r>
          </a:p>
          <a:p>
            <a:pPr lvl="2" eaLnBrk="1" fontAlgn="auto" hangingPunct="1">
              <a:spcBef>
                <a:spcPts val="0"/>
              </a:spcBef>
              <a:defRPr/>
            </a:pPr>
            <a:r>
              <a:rPr lang="en-US" sz="1600" b="1" dirty="0"/>
              <a:t>String result = "";</a:t>
            </a:r>
          </a:p>
          <a:p>
            <a:pPr lvl="1" eaLnBrk="1" fontAlgn="auto" hangingPunct="1">
              <a:spcBef>
                <a:spcPts val="0"/>
              </a:spcBef>
              <a:buFont typeface="Wingdings" pitchFamily="2" charset="2"/>
              <a:buNone/>
              <a:defRPr/>
            </a:pPr>
            <a:r>
              <a:rPr lang="en-US" sz="2000" b="1" dirty="0"/>
              <a:t>	while ( n &gt; 0 ) {</a:t>
            </a:r>
          </a:p>
          <a:p>
            <a:pPr lvl="3" eaLnBrk="1" fontAlgn="auto" hangingPunct="1">
              <a:spcBef>
                <a:spcPts val="0"/>
              </a:spcBef>
              <a:buFont typeface="Wingdings" pitchFamily="2" charset="2"/>
              <a:buNone/>
              <a:defRPr/>
            </a:pPr>
            <a:r>
              <a:rPr lang="en-US" sz="1600" b="1" dirty="0"/>
              <a:t>result = </a:t>
            </a:r>
            <a:r>
              <a:rPr lang="en-US" sz="1600" b="1" dirty="0" err="1"/>
              <a:t>toDigit</a:t>
            </a:r>
            <a:r>
              <a:rPr lang="en-US" sz="1600" b="1" dirty="0"/>
              <a:t>( n % base ) + result;</a:t>
            </a:r>
          </a:p>
          <a:p>
            <a:pPr lvl="2" eaLnBrk="1" fontAlgn="auto" hangingPunct="1">
              <a:spcBef>
                <a:spcPts val="0"/>
              </a:spcBef>
              <a:defRPr/>
            </a:pPr>
            <a:r>
              <a:rPr lang="en-US" sz="1600" b="1" dirty="0"/>
              <a:t>n = n / base;</a:t>
            </a:r>
          </a:p>
          <a:p>
            <a:pPr lvl="1" eaLnBrk="1" fontAlgn="auto" hangingPunct="1">
              <a:spcBef>
                <a:spcPts val="0"/>
              </a:spcBef>
              <a:buFont typeface="Wingdings" pitchFamily="2" charset="2"/>
              <a:buNone/>
              <a:defRPr/>
            </a:pPr>
            <a:r>
              <a:rPr lang="en-US" sz="2000" b="1" dirty="0"/>
              <a:t>	}</a:t>
            </a:r>
          </a:p>
          <a:p>
            <a:pPr lvl="2" eaLnBrk="1" fontAlgn="auto" hangingPunct="1">
              <a:spcBef>
                <a:spcPts val="0"/>
              </a:spcBef>
              <a:defRPr/>
            </a:pPr>
            <a:r>
              <a:rPr lang="en-US" sz="1600" b="1" dirty="0"/>
              <a:t>return result;</a:t>
            </a:r>
          </a:p>
          <a:p>
            <a:pPr lvl="1" eaLnBrk="1" fontAlgn="auto" hangingPunct="1">
              <a:spcBef>
                <a:spcPts val="0"/>
              </a:spcBef>
              <a:buFont typeface="Wingdings" pitchFamily="2" charset="2"/>
              <a:buNone/>
              <a:defRPr/>
            </a:pPr>
            <a:r>
              <a:rPr lang="en-US" sz="2000" b="1" dirty="0"/>
              <a:t>	}</a:t>
            </a:r>
          </a:p>
          <a:p>
            <a:pPr eaLnBrk="1" fontAlgn="auto" hangingPunct="1">
              <a:spcBef>
                <a:spcPts val="0"/>
              </a:spcBef>
              <a:defRPr/>
            </a:pPr>
            <a:r>
              <a:rPr lang="en-US" b="1" dirty="0"/>
              <a:t>}</a:t>
            </a:r>
          </a:p>
          <a:p>
            <a:pPr eaLnBrk="1" fontAlgn="auto" hangingPunct="1">
              <a:defRPr/>
            </a:pPr>
            <a:endParaRPr lang="en-US" sz="2000" b="1" dirty="0"/>
          </a:p>
        </p:txBody>
      </p:sp>
      <p:sp>
        <p:nvSpPr>
          <p:cNvPr id="16387" name="Slide Number Placeholder 3">
            <a:extLst>
              <a:ext uri="{FF2B5EF4-FFF2-40B4-BE49-F238E27FC236}">
                <a16:creationId xmlns:a16="http://schemas.microsoft.com/office/drawing/2014/main" id="{FE615211-4C6E-49C1-A7BB-9D249F5D464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4610956-5FC3-4605-A058-D1175726380E}" type="slidenum">
              <a:rPr lang="en-US" altLang="en-US" sz="1800" smtClean="0">
                <a:solidFill>
                  <a:srgbClr val="898989"/>
                </a:solidFill>
                <a:latin typeface="Arial" panose="020B0604020202020204" pitchFamily="34" charset="0"/>
              </a:rPr>
              <a:pPr algn="l" eaLnBrk="0" hangingPunct="0">
                <a:spcBef>
                  <a:spcPct val="0"/>
                </a:spcBef>
                <a:buFontTx/>
                <a:buNone/>
              </a:pPr>
              <a:t>6</a:t>
            </a:fld>
            <a:endParaRPr lang="en-US" altLang="en-US" sz="1800">
              <a:solidFill>
                <a:srgbClr val="898989"/>
              </a:solidFill>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165B7982-E9B0-481E-B8FB-7CA37AF4EC54}"/>
              </a:ext>
            </a:extLst>
          </p:cNvPr>
          <p:cNvSpPr>
            <a:spLocks noGrp="1"/>
          </p:cNvSpPr>
          <p:nvPr>
            <p:ph type="title"/>
          </p:nvPr>
        </p:nvSpPr>
        <p:spPr>
          <a:xfrm>
            <a:off x="609600" y="609600"/>
            <a:ext cx="10975975" cy="685800"/>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a:t>Example</a:t>
            </a:r>
          </a:p>
        </p:txBody>
      </p:sp>
      <p:sp>
        <p:nvSpPr>
          <p:cNvPr id="74755" name="Content Placeholder 2">
            <a:extLst>
              <a:ext uri="{FF2B5EF4-FFF2-40B4-BE49-F238E27FC236}">
                <a16:creationId xmlns:a16="http://schemas.microsoft.com/office/drawing/2014/main" id="{BD7BC528-9DD6-49AB-92FF-03E388D3AE0A}"/>
              </a:ext>
            </a:extLst>
          </p:cNvPr>
          <p:cNvSpPr>
            <a:spLocks noGrp="1"/>
          </p:cNvSpPr>
          <p:nvPr>
            <p:ph idx="1"/>
          </p:nvPr>
        </p:nvSpPr>
        <p:spPr>
          <a:xfrm>
            <a:off x="609600" y="1447800"/>
            <a:ext cx="10975975" cy="4530725"/>
          </a:xfrm>
        </p:spPr>
        <p:txBody>
          <a:bodyPr rtlCol="0">
            <a:noAutofit/>
          </a:bodyPr>
          <a:lstStyle/>
          <a:p>
            <a:pPr algn="just" eaLnBrk="1" fontAlgn="auto" hangingPunct="1">
              <a:defRPr/>
            </a:pPr>
            <a:r>
              <a:rPr lang="en-US" dirty="0"/>
              <a:t>To convert the decimal number 13 into binary, we get</a:t>
            </a:r>
          </a:p>
          <a:p>
            <a:pPr algn="just" eaLnBrk="1" fontAlgn="auto" hangingPunct="1">
              <a:buFont typeface="Wingdings" pitchFamily="2" charset="2"/>
              <a:buNone/>
              <a:defRPr/>
            </a:pPr>
            <a:r>
              <a:rPr lang="en-US" dirty="0"/>
              <a:t>	13 / 2 = quotient 6 remainder 1</a:t>
            </a:r>
          </a:p>
          <a:p>
            <a:pPr algn="just" eaLnBrk="1" fontAlgn="auto" hangingPunct="1">
              <a:buFont typeface="Wingdings" pitchFamily="2" charset="2"/>
              <a:buNone/>
              <a:defRPr/>
            </a:pPr>
            <a:r>
              <a:rPr lang="en-US" dirty="0"/>
              <a:t>	6 / 2 = quotient 3 remainder 0</a:t>
            </a:r>
          </a:p>
          <a:p>
            <a:pPr algn="just" eaLnBrk="1" fontAlgn="auto" hangingPunct="1">
              <a:buFont typeface="Wingdings" pitchFamily="2" charset="2"/>
              <a:buNone/>
              <a:defRPr/>
            </a:pPr>
            <a:r>
              <a:rPr lang="en-US" dirty="0"/>
              <a:t>	3 / 2 = quotient 1 remainder 1</a:t>
            </a:r>
          </a:p>
          <a:p>
            <a:pPr algn="just" eaLnBrk="1" fontAlgn="auto" hangingPunct="1">
              <a:buFont typeface="Wingdings" pitchFamily="2" charset="2"/>
              <a:buNone/>
              <a:defRPr/>
            </a:pPr>
            <a:r>
              <a:rPr lang="en-US" dirty="0"/>
              <a:t>	1 / 2 = quotient 0 remainder 1</a:t>
            </a:r>
          </a:p>
          <a:p>
            <a:pPr algn="just" eaLnBrk="1" fontAlgn="auto" hangingPunct="1">
              <a:buFont typeface="Wingdings" pitchFamily="2" charset="2"/>
              <a:buNone/>
              <a:defRPr/>
            </a:pPr>
            <a:r>
              <a:rPr lang="en-US" dirty="0"/>
              <a:t>	So writing the remainders from right to left (or bottom to top), we get 1101.</a:t>
            </a:r>
          </a:p>
          <a:p>
            <a:pPr algn="just" eaLnBrk="1" fontAlgn="auto" hangingPunct="1">
              <a:defRPr/>
            </a:pPr>
            <a:endParaRPr lang="en-US" dirty="0"/>
          </a:p>
        </p:txBody>
      </p:sp>
      <p:sp>
        <p:nvSpPr>
          <p:cNvPr id="17412" name="Slide Number Placeholder 3">
            <a:extLst>
              <a:ext uri="{FF2B5EF4-FFF2-40B4-BE49-F238E27FC236}">
                <a16:creationId xmlns:a16="http://schemas.microsoft.com/office/drawing/2014/main" id="{1C83DAF5-FF8E-4CDA-B14E-8D335F858BB3}"/>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8EFBAC9-33ED-4E2D-82C2-09A578026756}" type="slidenum">
              <a:rPr lang="en-US" altLang="en-US" sz="1800" smtClean="0">
                <a:solidFill>
                  <a:srgbClr val="898989"/>
                </a:solidFill>
                <a:latin typeface="Arial" panose="020B0604020202020204" pitchFamily="34" charset="0"/>
              </a:rPr>
              <a:pPr algn="l" eaLnBrk="0" hangingPunct="0">
                <a:spcBef>
                  <a:spcPct val="0"/>
                </a:spcBef>
                <a:buFontTx/>
                <a:buNone/>
              </a:pPr>
              <a:t>7</a:t>
            </a:fld>
            <a:endParaRPr lang="en-US" altLang="en-US" sz="1800">
              <a:solidFill>
                <a:srgbClr val="898989"/>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0D676B0-5214-4AFF-B4AE-FD41A6D0E1C9}"/>
              </a:ext>
            </a:extLst>
          </p:cNvPr>
          <p:cNvSpPr>
            <a:spLocks noGrp="1"/>
          </p:cNvSpPr>
          <p:nvPr>
            <p:ph type="title"/>
          </p:nvPr>
        </p:nvSpPr>
        <p:spPr>
          <a:xfrm>
            <a:off x="609600" y="457200"/>
            <a:ext cx="10975975" cy="7620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600"/>
              <a:t>Conversion from a base into decimal form</a:t>
            </a:r>
            <a:endParaRPr lang="en-US" altLang="en-US" sz="2000"/>
          </a:p>
        </p:txBody>
      </p:sp>
      <p:sp>
        <p:nvSpPr>
          <p:cNvPr id="75779" name="Content Placeholder 2">
            <a:extLst>
              <a:ext uri="{FF2B5EF4-FFF2-40B4-BE49-F238E27FC236}">
                <a16:creationId xmlns:a16="http://schemas.microsoft.com/office/drawing/2014/main" id="{72CDB681-AD10-4182-929E-000EA19DC313}"/>
              </a:ext>
            </a:extLst>
          </p:cNvPr>
          <p:cNvSpPr>
            <a:spLocks noGrp="1"/>
          </p:cNvSpPr>
          <p:nvPr>
            <p:ph idx="1"/>
          </p:nvPr>
        </p:nvSpPr>
        <p:spPr>
          <a:xfrm>
            <a:off x="458788" y="1371600"/>
            <a:ext cx="11280775" cy="4759325"/>
          </a:xfrm>
        </p:spPr>
        <p:txBody>
          <a:bodyPr rtlCol="0"/>
          <a:lstStyle/>
          <a:p>
            <a:pPr algn="just" eaLnBrk="1" fontAlgn="auto" hangingPunct="1">
              <a:defRPr/>
            </a:pPr>
            <a:r>
              <a:rPr lang="en-US" dirty="0"/>
              <a:t>To convert from a digit string in a base to an integer is like evaluating a polynomial. We just process the digits from left to right, multiply what we have so far by the base, and add the next digit</a:t>
            </a:r>
          </a:p>
          <a:p>
            <a:pPr algn="just" eaLnBrk="1" fontAlgn="auto" hangingPunct="1">
              <a:defRPr/>
            </a:pPr>
            <a:r>
              <a:rPr lang="en-US" dirty="0"/>
              <a:t>The following program sequence can be used to achieved this</a:t>
            </a:r>
          </a:p>
        </p:txBody>
      </p:sp>
      <p:sp>
        <p:nvSpPr>
          <p:cNvPr id="18436" name="Slide Number Placeholder 3">
            <a:extLst>
              <a:ext uri="{FF2B5EF4-FFF2-40B4-BE49-F238E27FC236}">
                <a16:creationId xmlns:a16="http://schemas.microsoft.com/office/drawing/2014/main" id="{C8297908-ABA9-4432-8407-2033223297C4}"/>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5C51E4F-DDB4-4735-A9F2-EBA6C0CE9BC7}" type="slidenum">
              <a:rPr lang="en-US" altLang="en-US" sz="1800" smtClean="0">
                <a:solidFill>
                  <a:srgbClr val="898989"/>
                </a:solidFill>
                <a:latin typeface="Arial" panose="020B0604020202020204" pitchFamily="34" charset="0"/>
              </a:rPr>
              <a:pPr algn="l" eaLnBrk="0" hangingPunct="0">
                <a:spcBef>
                  <a:spcPct val="0"/>
                </a:spcBef>
                <a:buFontTx/>
                <a:buNone/>
              </a:pPr>
              <a:t>8</a:t>
            </a:fld>
            <a:endParaRPr lang="en-US" altLang="en-US" sz="1800">
              <a:solidFill>
                <a:srgbClr val="898989"/>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D46D73-277B-4E23-BDDE-0E80ECD70C1D}"/>
              </a:ext>
            </a:extLst>
          </p:cNvPr>
          <p:cNvSpPr>
            <a:spLocks noGrp="1"/>
          </p:cNvSpPr>
          <p:nvPr>
            <p:ph idx="1"/>
          </p:nvPr>
        </p:nvSpPr>
        <p:spPr>
          <a:xfrm>
            <a:off x="306388" y="533400"/>
            <a:ext cx="11658600" cy="5638800"/>
          </a:xfrm>
        </p:spPr>
        <p:txBody>
          <a:bodyPr rtlCol="0">
            <a:noAutofit/>
          </a:bodyPr>
          <a:lstStyle/>
          <a:p>
            <a:pPr eaLnBrk="1" fontAlgn="auto" hangingPunct="1">
              <a:spcBef>
                <a:spcPts val="0"/>
              </a:spcBef>
              <a:spcAft>
                <a:spcPts val="0"/>
              </a:spcAft>
              <a:defRPr/>
            </a:pPr>
            <a:r>
              <a:rPr lang="en-US" sz="1800" b="1" dirty="0"/>
              <a:t>static </a:t>
            </a:r>
            <a:r>
              <a:rPr lang="en-US" sz="1800" b="1" dirty="0" err="1"/>
              <a:t>int</a:t>
            </a:r>
            <a:r>
              <a:rPr lang="en-US" sz="1800" b="1" dirty="0"/>
              <a:t> </a:t>
            </a:r>
            <a:r>
              <a:rPr lang="en-US" sz="1800" b="1" dirty="0" err="1"/>
              <a:t>fromDigit</a:t>
            </a:r>
            <a:r>
              <a:rPr lang="en-US" sz="1800" b="1" dirty="0"/>
              <a:t>( char c ) {</a:t>
            </a:r>
          </a:p>
          <a:p>
            <a:pPr lvl="1" eaLnBrk="1" fontAlgn="auto" hangingPunct="1">
              <a:spcBef>
                <a:spcPts val="0"/>
              </a:spcBef>
              <a:spcAft>
                <a:spcPts val="0"/>
              </a:spcAft>
              <a:buFont typeface="Wingdings" pitchFamily="2" charset="2"/>
              <a:buNone/>
              <a:defRPr/>
            </a:pPr>
            <a:r>
              <a:rPr lang="en-US" sz="1800" b="1" dirty="0"/>
              <a:t>	if ( '0' &lt;= c &amp;&amp; c &lt;= '9' )</a:t>
            </a:r>
          </a:p>
          <a:p>
            <a:pPr lvl="2" eaLnBrk="1" fontAlgn="auto" hangingPunct="1">
              <a:spcBef>
                <a:spcPts val="0"/>
              </a:spcBef>
              <a:spcAft>
                <a:spcPts val="0"/>
              </a:spcAft>
              <a:defRPr/>
            </a:pPr>
            <a:r>
              <a:rPr lang="en-US" sz="1800" b="1" dirty="0"/>
              <a:t>return c - '0';</a:t>
            </a:r>
          </a:p>
          <a:p>
            <a:pPr lvl="1" eaLnBrk="1" fontAlgn="auto" hangingPunct="1">
              <a:spcBef>
                <a:spcPts val="0"/>
              </a:spcBef>
              <a:spcAft>
                <a:spcPts val="0"/>
              </a:spcAft>
              <a:buFont typeface="Wingdings" pitchFamily="2" charset="2"/>
              <a:buNone/>
              <a:defRPr/>
            </a:pPr>
            <a:r>
              <a:rPr lang="en-US" sz="1800" b="1" dirty="0"/>
              <a:t>	else if ( 'a' &lt;= c &amp;&amp; c &lt;= 'z' ) // Allow up to base 36</a:t>
            </a:r>
          </a:p>
          <a:p>
            <a:pPr lvl="2" eaLnBrk="1" fontAlgn="auto" hangingPunct="1">
              <a:spcBef>
                <a:spcPts val="0"/>
              </a:spcBef>
              <a:spcAft>
                <a:spcPts val="0"/>
              </a:spcAft>
              <a:defRPr/>
            </a:pPr>
            <a:r>
              <a:rPr lang="en-US" sz="1800" b="1" dirty="0"/>
              <a:t>return c - 'a' + 10;</a:t>
            </a:r>
          </a:p>
          <a:p>
            <a:pPr lvl="1" eaLnBrk="1" fontAlgn="auto" hangingPunct="1">
              <a:spcBef>
                <a:spcPts val="0"/>
              </a:spcBef>
              <a:spcAft>
                <a:spcPts val="0"/>
              </a:spcAft>
              <a:buFont typeface="Wingdings" pitchFamily="2" charset="2"/>
              <a:buNone/>
              <a:defRPr/>
            </a:pPr>
            <a:r>
              <a:rPr lang="en-US" sz="1800" b="1" dirty="0"/>
              <a:t>	else if ( 'A' &lt;= c &amp;&amp; c &lt;= 'Z' )</a:t>
            </a:r>
          </a:p>
          <a:p>
            <a:pPr lvl="2" eaLnBrk="1" fontAlgn="auto" hangingPunct="1">
              <a:spcBef>
                <a:spcPts val="0"/>
              </a:spcBef>
              <a:spcAft>
                <a:spcPts val="0"/>
              </a:spcAft>
              <a:defRPr/>
            </a:pPr>
            <a:r>
              <a:rPr lang="en-US" sz="1800" b="1" dirty="0"/>
              <a:t>return c - 'A' + 10;</a:t>
            </a:r>
          </a:p>
          <a:p>
            <a:pPr lvl="1" eaLnBrk="1" fontAlgn="auto" hangingPunct="1">
              <a:spcBef>
                <a:spcPts val="0"/>
              </a:spcBef>
              <a:spcAft>
                <a:spcPts val="0"/>
              </a:spcAft>
              <a:buFont typeface="Wingdings" pitchFamily="2" charset="2"/>
              <a:buNone/>
              <a:defRPr/>
            </a:pPr>
            <a:r>
              <a:rPr lang="en-US" sz="1800" b="1" dirty="0"/>
              <a:t>	else</a:t>
            </a:r>
          </a:p>
          <a:p>
            <a:pPr lvl="2" eaLnBrk="1" fontAlgn="auto" hangingPunct="1">
              <a:spcBef>
                <a:spcPts val="0"/>
              </a:spcBef>
              <a:spcAft>
                <a:spcPts val="0"/>
              </a:spcAft>
              <a:defRPr/>
            </a:pPr>
            <a:r>
              <a:rPr lang="en-US" sz="1800" b="1" dirty="0"/>
              <a:t>throw new Error( "Invalid digit" );</a:t>
            </a:r>
          </a:p>
          <a:p>
            <a:pPr eaLnBrk="1" fontAlgn="auto" hangingPunct="1">
              <a:spcBef>
                <a:spcPts val="0"/>
              </a:spcBef>
              <a:spcAft>
                <a:spcPts val="0"/>
              </a:spcAft>
              <a:defRPr/>
            </a:pPr>
            <a:r>
              <a:rPr lang="en-US" sz="1800" b="1" dirty="0"/>
              <a:t>static </a:t>
            </a:r>
            <a:r>
              <a:rPr lang="en-US" sz="1800" b="1" dirty="0" err="1"/>
              <a:t>int</a:t>
            </a:r>
            <a:r>
              <a:rPr lang="en-US" sz="1800" b="1" dirty="0"/>
              <a:t> </a:t>
            </a:r>
            <a:r>
              <a:rPr lang="en-US" sz="1800" b="1" dirty="0" err="1"/>
              <a:t>fromBase</a:t>
            </a:r>
            <a:r>
              <a:rPr lang="en-US" sz="1800" b="1" dirty="0"/>
              <a:t>( String s, </a:t>
            </a:r>
            <a:r>
              <a:rPr lang="en-US" sz="1800" b="1" dirty="0" err="1"/>
              <a:t>int</a:t>
            </a:r>
            <a:r>
              <a:rPr lang="en-US" sz="1800" b="1" dirty="0"/>
              <a:t> base ) {</a:t>
            </a:r>
          </a:p>
          <a:p>
            <a:pPr lvl="2" eaLnBrk="1" fontAlgn="auto" hangingPunct="1">
              <a:spcBef>
                <a:spcPts val="0"/>
              </a:spcBef>
              <a:spcAft>
                <a:spcPts val="0"/>
              </a:spcAft>
              <a:defRPr/>
            </a:pPr>
            <a:r>
              <a:rPr lang="en-US" sz="1800" b="1" dirty="0" err="1"/>
              <a:t>int</a:t>
            </a:r>
            <a:r>
              <a:rPr lang="en-US" sz="1800" b="1" dirty="0"/>
              <a:t> sign = 1;</a:t>
            </a:r>
          </a:p>
          <a:p>
            <a:pPr lvl="1" eaLnBrk="1" fontAlgn="auto" hangingPunct="1">
              <a:spcBef>
                <a:spcPts val="0"/>
              </a:spcBef>
              <a:spcAft>
                <a:spcPts val="0"/>
              </a:spcAft>
              <a:buFont typeface="Wingdings" pitchFamily="2" charset="2"/>
              <a:buNone/>
              <a:defRPr/>
            </a:pPr>
            <a:r>
              <a:rPr lang="en-US" sz="1800" b="1" dirty="0"/>
              <a:t>	if ( </a:t>
            </a:r>
            <a:r>
              <a:rPr lang="en-US" sz="1800" b="1" dirty="0" err="1"/>
              <a:t>s.charAt</a:t>
            </a:r>
            <a:r>
              <a:rPr lang="en-US" sz="1800" b="1" dirty="0"/>
              <a:t>( 0 ) == '-' ) {</a:t>
            </a:r>
          </a:p>
          <a:p>
            <a:pPr lvl="2" eaLnBrk="1" fontAlgn="auto" hangingPunct="1">
              <a:spcBef>
                <a:spcPts val="0"/>
              </a:spcBef>
              <a:spcAft>
                <a:spcPts val="0"/>
              </a:spcAft>
              <a:defRPr/>
            </a:pPr>
            <a:r>
              <a:rPr lang="en-US" sz="1800" b="1" dirty="0"/>
              <a:t>sign = -1;</a:t>
            </a:r>
          </a:p>
          <a:p>
            <a:pPr lvl="2" eaLnBrk="1" fontAlgn="auto" hangingPunct="1">
              <a:spcBef>
                <a:spcPts val="0"/>
              </a:spcBef>
              <a:spcAft>
                <a:spcPts val="0"/>
              </a:spcAft>
              <a:defRPr/>
            </a:pPr>
            <a:r>
              <a:rPr lang="en-US" sz="1800" b="1" dirty="0"/>
              <a:t>s = </a:t>
            </a:r>
            <a:r>
              <a:rPr lang="en-US" sz="1800" b="1" dirty="0" err="1"/>
              <a:t>s.substring</a:t>
            </a:r>
            <a:r>
              <a:rPr lang="en-US" sz="1800" b="1" dirty="0"/>
              <a:t>( 1 );</a:t>
            </a:r>
          </a:p>
          <a:p>
            <a:pPr lvl="1" eaLnBrk="1" fontAlgn="auto" hangingPunct="1">
              <a:spcBef>
                <a:spcPts val="0"/>
              </a:spcBef>
              <a:spcAft>
                <a:spcPts val="0"/>
              </a:spcAft>
              <a:buFont typeface="Wingdings" pitchFamily="2" charset="2"/>
              <a:buNone/>
              <a:defRPr/>
            </a:pPr>
            <a:r>
              <a:rPr lang="en-US" sz="1800" b="1" dirty="0"/>
              <a:t>	}</a:t>
            </a:r>
          </a:p>
          <a:p>
            <a:pPr lvl="2" eaLnBrk="1" fontAlgn="auto" hangingPunct="1">
              <a:spcBef>
                <a:spcPts val="0"/>
              </a:spcBef>
              <a:spcAft>
                <a:spcPts val="0"/>
              </a:spcAft>
              <a:defRPr/>
            </a:pPr>
            <a:r>
              <a:rPr lang="en-US" sz="1800" b="1" dirty="0" err="1"/>
              <a:t>int</a:t>
            </a:r>
            <a:r>
              <a:rPr lang="en-US" sz="1800" b="1" dirty="0"/>
              <a:t> result = 0;</a:t>
            </a:r>
          </a:p>
          <a:p>
            <a:pPr lvl="1" eaLnBrk="1" fontAlgn="auto" hangingPunct="1">
              <a:spcBef>
                <a:spcPts val="0"/>
              </a:spcBef>
              <a:spcAft>
                <a:spcPts val="0"/>
              </a:spcAft>
              <a:buFont typeface="Wingdings" pitchFamily="2" charset="2"/>
              <a:buNone/>
              <a:defRPr/>
            </a:pPr>
            <a:r>
              <a:rPr lang="en-US" sz="1800" b="1" dirty="0"/>
              <a:t>	for ( </a:t>
            </a:r>
            <a:r>
              <a:rPr lang="en-US" sz="1800" b="1" dirty="0" err="1"/>
              <a:t>int</a:t>
            </a:r>
            <a:r>
              <a:rPr lang="en-US" sz="1800" b="1" dirty="0"/>
              <a:t> </a:t>
            </a:r>
            <a:r>
              <a:rPr lang="en-US" sz="1800" b="1" dirty="0" err="1"/>
              <a:t>i</a:t>
            </a:r>
            <a:r>
              <a:rPr lang="en-US" sz="1800" b="1" dirty="0"/>
              <a:t> = 0; </a:t>
            </a:r>
            <a:r>
              <a:rPr lang="en-US" sz="1800" b="1" dirty="0" err="1"/>
              <a:t>i</a:t>
            </a:r>
            <a:r>
              <a:rPr lang="en-US" sz="1800" b="1" dirty="0"/>
              <a:t> &lt; </a:t>
            </a:r>
            <a:r>
              <a:rPr lang="en-US" sz="1800" b="1" dirty="0" err="1"/>
              <a:t>s.length</a:t>
            </a:r>
            <a:r>
              <a:rPr lang="en-US" sz="1800" b="1" dirty="0"/>
              <a:t>(); </a:t>
            </a:r>
            <a:r>
              <a:rPr lang="en-US" sz="1800" b="1" dirty="0" err="1"/>
              <a:t>i</a:t>
            </a:r>
            <a:r>
              <a:rPr lang="en-US" sz="1800" b="1" dirty="0"/>
              <a:t>++ )</a:t>
            </a:r>
          </a:p>
          <a:p>
            <a:pPr lvl="2" eaLnBrk="1" fontAlgn="auto" hangingPunct="1">
              <a:spcBef>
                <a:spcPts val="0"/>
              </a:spcBef>
              <a:spcAft>
                <a:spcPts val="0"/>
              </a:spcAft>
              <a:defRPr/>
            </a:pPr>
            <a:r>
              <a:rPr lang="en-US" sz="1800" b="1" dirty="0"/>
              <a:t>result = result * base + </a:t>
            </a:r>
            <a:r>
              <a:rPr lang="en-US" sz="1800" b="1" dirty="0" err="1"/>
              <a:t>fromDigit</a:t>
            </a:r>
            <a:r>
              <a:rPr lang="en-US" sz="1800" b="1" dirty="0"/>
              <a:t>( </a:t>
            </a:r>
            <a:r>
              <a:rPr lang="en-US" sz="1800" b="1" dirty="0" err="1"/>
              <a:t>s.charAt</a:t>
            </a:r>
            <a:r>
              <a:rPr lang="en-US" sz="1800" b="1" dirty="0"/>
              <a:t>( </a:t>
            </a:r>
            <a:r>
              <a:rPr lang="en-US" sz="1800" b="1" dirty="0" err="1"/>
              <a:t>i</a:t>
            </a:r>
            <a:r>
              <a:rPr lang="en-US" sz="1800" b="1" dirty="0"/>
              <a:t> ) );</a:t>
            </a:r>
          </a:p>
          <a:p>
            <a:pPr lvl="2" eaLnBrk="1" fontAlgn="auto" hangingPunct="1">
              <a:spcBef>
                <a:spcPts val="0"/>
              </a:spcBef>
              <a:spcAft>
                <a:spcPts val="0"/>
              </a:spcAft>
              <a:defRPr/>
            </a:pPr>
            <a:r>
              <a:rPr lang="en-US" sz="1800" b="1" dirty="0"/>
              <a:t>return sign * result;</a:t>
            </a:r>
          </a:p>
          <a:p>
            <a:pPr lvl="1" eaLnBrk="1" fontAlgn="auto" hangingPunct="1">
              <a:spcBef>
                <a:spcPts val="0"/>
              </a:spcBef>
              <a:spcAft>
                <a:spcPts val="0"/>
              </a:spcAft>
              <a:buFont typeface="Wingdings" pitchFamily="2" charset="2"/>
              <a:buNone/>
              <a:defRPr/>
            </a:pPr>
            <a:r>
              <a:rPr lang="en-US" sz="1800" b="1" dirty="0"/>
              <a:t>}</a:t>
            </a:r>
          </a:p>
        </p:txBody>
      </p:sp>
      <p:sp>
        <p:nvSpPr>
          <p:cNvPr id="19459" name="Slide Number Placeholder 3">
            <a:extLst>
              <a:ext uri="{FF2B5EF4-FFF2-40B4-BE49-F238E27FC236}">
                <a16:creationId xmlns:a16="http://schemas.microsoft.com/office/drawing/2014/main" id="{2D97156F-D0FF-437F-8801-7700F20D68ED}"/>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1135DAC-6FBB-45E2-ACA5-6F80EE5AEF9B}" type="slidenum">
              <a:rPr lang="en-US" altLang="en-US" sz="1800" smtClean="0">
                <a:solidFill>
                  <a:srgbClr val="898989"/>
                </a:solidFill>
                <a:latin typeface="Arial" panose="020B0604020202020204" pitchFamily="34" charset="0"/>
              </a:rPr>
              <a:pPr algn="l" eaLnBrk="0" hangingPunct="0">
                <a:spcBef>
                  <a:spcPct val="0"/>
                </a:spcBef>
                <a:buFontTx/>
                <a:buNone/>
              </a:pPr>
              <a:t>9</a:t>
            </a:fld>
            <a:endParaRPr lang="en-US" altLang="en-US" sz="1800">
              <a:solidFill>
                <a:srgbClr val="898989"/>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CAF866E-E14A-4FEA-B19D-CAE63EA68CA1}"/>
              </a:ext>
            </a:extLst>
          </p:cNvPr>
          <p:cNvSpPr>
            <a:spLocks noGrp="1"/>
          </p:cNvSpPr>
          <p:nvPr>
            <p:ph type="title"/>
          </p:nvPr>
        </p:nvSpPr>
        <p:spPr>
          <a:xfrm>
            <a:off x="382588" y="5064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a:t>Example</a:t>
            </a:r>
          </a:p>
        </p:txBody>
      </p:sp>
      <p:sp>
        <p:nvSpPr>
          <p:cNvPr id="77827" name="Content Placeholder 2">
            <a:extLst>
              <a:ext uri="{FF2B5EF4-FFF2-40B4-BE49-F238E27FC236}">
                <a16:creationId xmlns:a16="http://schemas.microsoft.com/office/drawing/2014/main" id="{E3452E55-DC36-4199-8013-229F3213BA7C}"/>
              </a:ext>
            </a:extLst>
          </p:cNvPr>
          <p:cNvSpPr>
            <a:spLocks noGrp="1"/>
          </p:cNvSpPr>
          <p:nvPr>
            <p:ph idx="1"/>
          </p:nvPr>
        </p:nvSpPr>
        <p:spPr>
          <a:xfrm>
            <a:off x="382588" y="1447800"/>
            <a:ext cx="11582400" cy="4724400"/>
          </a:xfrm>
        </p:spPr>
        <p:txBody>
          <a:bodyPr rtlCol="0">
            <a:noAutofit/>
          </a:bodyPr>
          <a:lstStyle/>
          <a:p>
            <a:pPr eaLnBrk="1" fontAlgn="auto" hangingPunct="1">
              <a:defRPr/>
            </a:pPr>
            <a:r>
              <a:rPr lang="en-US" dirty="0"/>
              <a:t>For example, to convert the binary representation 1101 into decimal, we get</a:t>
            </a:r>
          </a:p>
          <a:p>
            <a:pPr eaLnBrk="1" fontAlgn="auto" hangingPunct="1">
              <a:buFont typeface="Wingdings" pitchFamily="2" charset="2"/>
              <a:buNone/>
              <a:defRPr/>
            </a:pPr>
            <a:r>
              <a:rPr lang="en-US" dirty="0"/>
              <a:t>	0 * 2 + 1 = 1</a:t>
            </a:r>
          </a:p>
          <a:p>
            <a:pPr eaLnBrk="1" fontAlgn="auto" hangingPunct="1">
              <a:buFont typeface="Wingdings" pitchFamily="2" charset="2"/>
              <a:buNone/>
              <a:defRPr/>
            </a:pPr>
            <a:r>
              <a:rPr lang="en-US" dirty="0"/>
              <a:t>	1 * 2 + 1 = 3</a:t>
            </a:r>
          </a:p>
          <a:p>
            <a:pPr eaLnBrk="1" fontAlgn="auto" hangingPunct="1">
              <a:buFont typeface="Wingdings" pitchFamily="2" charset="2"/>
              <a:buNone/>
              <a:defRPr/>
            </a:pPr>
            <a:r>
              <a:rPr lang="en-US" dirty="0"/>
              <a:t>	3 * 2 + 0 = 6</a:t>
            </a:r>
          </a:p>
          <a:p>
            <a:pPr eaLnBrk="1" fontAlgn="auto" hangingPunct="1">
              <a:buFont typeface="Wingdings" pitchFamily="2" charset="2"/>
              <a:buNone/>
              <a:defRPr/>
            </a:pPr>
            <a:r>
              <a:rPr lang="en-US" dirty="0"/>
              <a:t>	6 * 2 + 1 = 13</a:t>
            </a:r>
          </a:p>
          <a:p>
            <a:pPr eaLnBrk="1" fontAlgn="auto" hangingPunct="1">
              <a:buFont typeface="Wingdings" pitchFamily="2" charset="2"/>
              <a:buNone/>
              <a:defRPr/>
            </a:pPr>
            <a:r>
              <a:rPr lang="en-US" dirty="0"/>
              <a:t>	giving the number 13 (in decimal).</a:t>
            </a:r>
          </a:p>
          <a:p>
            <a:pPr eaLnBrk="1" fontAlgn="auto" hangingPunct="1">
              <a:defRPr/>
            </a:pPr>
            <a:r>
              <a:rPr lang="en-US" dirty="0"/>
              <a:t>The arithmetic in the above computations can be performed in any base you like. </a:t>
            </a:r>
          </a:p>
          <a:p>
            <a:pPr eaLnBrk="1" fontAlgn="auto" hangingPunct="1">
              <a:defRPr/>
            </a:pPr>
            <a:endParaRPr lang="en-US" dirty="0"/>
          </a:p>
        </p:txBody>
      </p:sp>
      <p:sp>
        <p:nvSpPr>
          <p:cNvPr id="20484" name="Slide Number Placeholder 3">
            <a:extLst>
              <a:ext uri="{FF2B5EF4-FFF2-40B4-BE49-F238E27FC236}">
                <a16:creationId xmlns:a16="http://schemas.microsoft.com/office/drawing/2014/main" id="{47A47673-5EE1-4BB1-A2FB-2159D32DBA21}"/>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EABA4DF-3A83-42FA-8F75-9A41CAB02B76}" type="slidenum">
              <a:rPr lang="en-US" altLang="en-US" sz="1800" smtClean="0">
                <a:solidFill>
                  <a:srgbClr val="898989"/>
                </a:solidFill>
                <a:latin typeface="Arial" panose="020B0604020202020204" pitchFamily="34" charset="0"/>
              </a:rPr>
              <a:pPr algn="l" eaLnBrk="0" hangingPunct="0">
                <a:spcBef>
                  <a:spcPct val="0"/>
                </a:spcBef>
                <a:buFontTx/>
                <a:buNone/>
              </a:pPr>
              <a:t>10</a:t>
            </a:fld>
            <a:endParaRPr lang="en-US" altLang="en-US" sz="1800">
              <a:solidFill>
                <a:srgbClr val="898989"/>
              </a:solidFill>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13C9FF25-E0FE-46DE-B28D-D1DEEADFFCA3}"/>
              </a:ext>
            </a:extLst>
          </p:cNvPr>
          <p:cNvSpPr>
            <a:spLocks noGrp="1"/>
          </p:cNvSpPr>
          <p:nvPr>
            <p:ph type="title"/>
          </p:nvPr>
        </p:nvSpPr>
        <p:spPr>
          <a:xfrm>
            <a:off x="534988" y="304800"/>
            <a:ext cx="10975975" cy="8382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600">
                <a:latin typeface="Rockwell" panose="02060603020205020403" pitchFamily="18" charset="0"/>
              </a:rPr>
              <a:t>Conversion between binary and hexadecimal</a:t>
            </a:r>
          </a:p>
        </p:txBody>
      </p:sp>
      <p:sp>
        <p:nvSpPr>
          <p:cNvPr id="78851" name="Content Placeholder 2">
            <a:extLst>
              <a:ext uri="{FF2B5EF4-FFF2-40B4-BE49-F238E27FC236}">
                <a16:creationId xmlns:a16="http://schemas.microsoft.com/office/drawing/2014/main" id="{196741B5-D15A-40C6-8094-9F456413D77E}"/>
              </a:ext>
            </a:extLst>
          </p:cNvPr>
          <p:cNvSpPr>
            <a:spLocks noGrp="1"/>
          </p:cNvSpPr>
          <p:nvPr>
            <p:ph idx="1"/>
          </p:nvPr>
        </p:nvSpPr>
        <p:spPr>
          <a:xfrm>
            <a:off x="382588" y="1219200"/>
            <a:ext cx="11609387" cy="4800600"/>
          </a:xfrm>
        </p:spPr>
        <p:txBody>
          <a:bodyPr rtlCol="0">
            <a:noAutofit/>
          </a:bodyPr>
          <a:lstStyle/>
          <a:p>
            <a:pPr algn="just" eaLnBrk="1" fontAlgn="auto" hangingPunct="1">
              <a:defRPr/>
            </a:pPr>
            <a:r>
              <a:rPr lang="en-US" sz="2600" dirty="0"/>
              <a:t>Conversion between binary and hexadecimal is almost trivial, since it amounts to grouping or ungrouping bits into sets of four. </a:t>
            </a:r>
          </a:p>
          <a:p>
            <a:pPr algn="just" eaLnBrk="1" fontAlgn="auto" hangingPunct="1">
              <a:defRPr/>
            </a:pPr>
            <a:r>
              <a:rPr lang="en-US" sz="2600" dirty="0"/>
              <a:t>For example, using our conversion table, hexadecimal </a:t>
            </a:r>
            <a:r>
              <a:rPr lang="en-US" sz="2600" b="1" dirty="0"/>
              <a:t>3fc</a:t>
            </a:r>
            <a:r>
              <a:rPr lang="en-US" sz="2600" dirty="0"/>
              <a:t> is 0011 1111 1100.</a:t>
            </a:r>
          </a:p>
          <a:p>
            <a:pPr algn="just" eaLnBrk="1" fontAlgn="auto" hangingPunct="1">
              <a:lnSpc>
                <a:spcPct val="90000"/>
              </a:lnSpc>
              <a:defRPr/>
            </a:pPr>
            <a:r>
              <a:rPr lang="en-US" sz="2600" b="1" dirty="0"/>
              <a:t>Example:</a:t>
            </a:r>
          </a:p>
          <a:p>
            <a:pPr algn="just" eaLnBrk="1" fontAlgn="auto" hangingPunct="1">
              <a:lnSpc>
                <a:spcPct val="90000"/>
              </a:lnSpc>
              <a:buFontTx/>
              <a:buNone/>
              <a:defRPr/>
            </a:pPr>
            <a:r>
              <a:rPr lang="en-US" sz="2600" dirty="0"/>
              <a:t>	</a:t>
            </a:r>
            <a:r>
              <a:rPr lang="en-US" sz="2600" dirty="0">
                <a:solidFill>
                  <a:srgbClr val="0000FF"/>
                </a:solidFill>
              </a:rPr>
              <a:t>Find the Hexadecimal representation of </a:t>
            </a:r>
            <a:r>
              <a:rPr lang="en-US" sz="2600" b="1" dirty="0">
                <a:solidFill>
                  <a:srgbClr val="0000FF"/>
                </a:solidFill>
              </a:rPr>
              <a:t>110101101011101</a:t>
            </a:r>
          </a:p>
          <a:p>
            <a:pPr algn="just" eaLnBrk="1" fontAlgn="auto" hangingPunct="1">
              <a:lnSpc>
                <a:spcPct val="90000"/>
              </a:lnSpc>
              <a:buFontTx/>
              <a:buNone/>
              <a:defRPr/>
            </a:pPr>
            <a:r>
              <a:rPr lang="en-US" sz="2600" dirty="0"/>
              <a:t>                      110         1011      0101        1101</a:t>
            </a:r>
          </a:p>
          <a:p>
            <a:pPr algn="just" eaLnBrk="1" fontAlgn="auto" hangingPunct="1">
              <a:lnSpc>
                <a:spcPct val="90000"/>
              </a:lnSpc>
              <a:buFontTx/>
              <a:buNone/>
              <a:defRPr/>
            </a:pPr>
            <a:r>
              <a:rPr lang="en-US" sz="2600" dirty="0"/>
              <a:t>                     6</a:t>
            </a:r>
            <a:r>
              <a:rPr lang="en-US" sz="2600" baseline="-25000" dirty="0"/>
              <a:t>D</a:t>
            </a:r>
            <a:r>
              <a:rPr lang="en-US" sz="2600" dirty="0"/>
              <a:t>=6</a:t>
            </a:r>
            <a:r>
              <a:rPr lang="en-US" sz="2600" baseline="-25000" dirty="0"/>
              <a:t>H</a:t>
            </a:r>
            <a:r>
              <a:rPr lang="en-US" sz="2600" dirty="0"/>
              <a:t>     11</a:t>
            </a:r>
            <a:r>
              <a:rPr lang="en-US" sz="2600" baseline="-25000" dirty="0"/>
              <a:t>D</a:t>
            </a:r>
            <a:r>
              <a:rPr lang="en-US" sz="2600" dirty="0"/>
              <a:t>=B</a:t>
            </a:r>
            <a:r>
              <a:rPr lang="en-US" sz="2600" baseline="-25000" dirty="0"/>
              <a:t>H       </a:t>
            </a:r>
            <a:r>
              <a:rPr lang="en-US" sz="2600" dirty="0"/>
              <a:t>5</a:t>
            </a:r>
            <a:r>
              <a:rPr lang="en-US" sz="2600" baseline="-25000" dirty="0"/>
              <a:t>D</a:t>
            </a:r>
            <a:r>
              <a:rPr lang="en-US" sz="2600" dirty="0"/>
              <a:t>=5</a:t>
            </a:r>
            <a:r>
              <a:rPr lang="en-US" sz="2600" baseline="-25000" dirty="0"/>
              <a:t>H</a:t>
            </a:r>
            <a:r>
              <a:rPr lang="en-US" sz="2600" dirty="0"/>
              <a:t>     13</a:t>
            </a:r>
            <a:r>
              <a:rPr lang="en-US" sz="2600" baseline="-25000" dirty="0"/>
              <a:t>D</a:t>
            </a:r>
            <a:r>
              <a:rPr lang="en-US" sz="2600" dirty="0"/>
              <a:t>=C</a:t>
            </a:r>
            <a:r>
              <a:rPr lang="en-US" sz="2600" baseline="-25000" dirty="0"/>
              <a:t>H</a:t>
            </a:r>
          </a:p>
          <a:p>
            <a:pPr algn="just" eaLnBrk="1" fontAlgn="auto" hangingPunct="1">
              <a:lnSpc>
                <a:spcPct val="90000"/>
              </a:lnSpc>
              <a:buFontTx/>
              <a:buNone/>
              <a:defRPr/>
            </a:pPr>
            <a:r>
              <a:rPr lang="en-US" sz="2600" baseline="-25000" dirty="0"/>
              <a:t> </a:t>
            </a:r>
            <a:r>
              <a:rPr lang="en-US" sz="2600" dirty="0"/>
              <a:t>                       </a:t>
            </a:r>
            <a:r>
              <a:rPr lang="en-US" sz="2600" b="1" dirty="0"/>
              <a:t>(110101101011101)</a:t>
            </a:r>
            <a:r>
              <a:rPr lang="en-US" sz="2600" b="1" baseline="-25000" dirty="0"/>
              <a:t>B</a:t>
            </a:r>
            <a:r>
              <a:rPr lang="en-US" sz="2600" b="1" dirty="0"/>
              <a:t>=(6B5C)</a:t>
            </a:r>
            <a:r>
              <a:rPr lang="en-US" sz="2600" b="1" baseline="-25000" dirty="0"/>
              <a:t>H</a:t>
            </a:r>
            <a:endParaRPr lang="en-US" sz="2600" dirty="0"/>
          </a:p>
        </p:txBody>
      </p:sp>
      <p:sp>
        <p:nvSpPr>
          <p:cNvPr id="21508" name="Slide Number Placeholder 3">
            <a:extLst>
              <a:ext uri="{FF2B5EF4-FFF2-40B4-BE49-F238E27FC236}">
                <a16:creationId xmlns:a16="http://schemas.microsoft.com/office/drawing/2014/main" id="{19DD85AA-BF63-45FB-BD64-D7C68D750164}"/>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A29EF6F-F0E2-4D9C-BEFF-0AF518F3D9F8}" type="slidenum">
              <a:rPr lang="en-US" altLang="en-US" sz="1800" smtClean="0">
                <a:solidFill>
                  <a:srgbClr val="898989"/>
                </a:solidFill>
                <a:latin typeface="Arial" panose="020B0604020202020204" pitchFamily="34" charset="0"/>
              </a:rPr>
              <a:pPr algn="l" eaLnBrk="0" hangingPunct="0">
                <a:spcBef>
                  <a:spcPct val="0"/>
                </a:spcBef>
                <a:buFontTx/>
                <a:buNone/>
              </a:pPr>
              <a:t>11</a:t>
            </a:fld>
            <a:endParaRPr lang="en-US" altLang="en-US" sz="1800">
              <a:solidFill>
                <a:srgbClr val="898989"/>
              </a:solidFill>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ntent Placeholder 2">
            <a:extLst>
              <a:ext uri="{FF2B5EF4-FFF2-40B4-BE49-F238E27FC236}">
                <a16:creationId xmlns:a16="http://schemas.microsoft.com/office/drawing/2014/main" id="{D7C02AA3-7144-48CA-8F02-8DFDA5BE81B3}"/>
              </a:ext>
            </a:extLst>
          </p:cNvPr>
          <p:cNvSpPr>
            <a:spLocks noGrp="1"/>
          </p:cNvSpPr>
          <p:nvPr>
            <p:ph idx="1"/>
          </p:nvPr>
        </p:nvSpPr>
        <p:spPr>
          <a:xfrm>
            <a:off x="382588" y="914400"/>
            <a:ext cx="11572875" cy="4824413"/>
          </a:xfrm>
        </p:spPr>
        <p:txBody>
          <a:bodyPr rtlCol="0"/>
          <a:lstStyle/>
          <a:p>
            <a:pPr eaLnBrk="1" fontAlgn="auto" hangingPunct="1">
              <a:lnSpc>
                <a:spcPct val="90000"/>
              </a:lnSpc>
              <a:defRPr/>
            </a:pPr>
            <a:r>
              <a:rPr lang="en-US" dirty="0"/>
              <a:t>Example: </a:t>
            </a:r>
          </a:p>
          <a:p>
            <a:pPr eaLnBrk="1" fontAlgn="auto" hangingPunct="1">
              <a:lnSpc>
                <a:spcPct val="90000"/>
              </a:lnSpc>
              <a:buFont typeface="Wingdings" pitchFamily="2" charset="2"/>
              <a:buNone/>
              <a:defRPr/>
            </a:pPr>
            <a:r>
              <a:rPr lang="en-US" dirty="0"/>
              <a:t>	(A34E)</a:t>
            </a:r>
            <a:r>
              <a:rPr lang="en-US" baseline="-25000" dirty="0"/>
              <a:t>H</a:t>
            </a:r>
            <a:r>
              <a:rPr lang="en-US" dirty="0"/>
              <a:t>=</a:t>
            </a:r>
          </a:p>
          <a:p>
            <a:pPr eaLnBrk="1" fontAlgn="auto" hangingPunct="1">
              <a:lnSpc>
                <a:spcPct val="90000"/>
              </a:lnSpc>
              <a:buFontTx/>
              <a:buNone/>
              <a:defRPr/>
            </a:pPr>
            <a:r>
              <a:rPr lang="en-US" dirty="0"/>
              <a:t>                   (A x</a:t>
            </a:r>
            <a:r>
              <a:rPr lang="en-US" baseline="-25000" dirty="0"/>
              <a:t> </a:t>
            </a:r>
            <a:r>
              <a:rPr lang="en-US" dirty="0"/>
              <a:t>16</a:t>
            </a:r>
            <a:r>
              <a:rPr lang="en-US" baseline="30000" dirty="0"/>
              <a:t>3</a:t>
            </a:r>
            <a:r>
              <a:rPr lang="en-US" dirty="0"/>
              <a:t>)+(3 x</a:t>
            </a:r>
            <a:r>
              <a:rPr lang="en-US" baseline="-25000" dirty="0"/>
              <a:t> </a:t>
            </a:r>
            <a:r>
              <a:rPr lang="en-US" dirty="0"/>
              <a:t>16</a:t>
            </a:r>
            <a:r>
              <a:rPr lang="en-US" baseline="30000" dirty="0"/>
              <a:t>2</a:t>
            </a:r>
            <a:r>
              <a:rPr lang="en-US" dirty="0"/>
              <a:t>)+(4 x</a:t>
            </a:r>
            <a:r>
              <a:rPr lang="en-US" baseline="-25000" dirty="0"/>
              <a:t> </a:t>
            </a:r>
            <a:r>
              <a:rPr lang="en-US" dirty="0"/>
              <a:t>16</a:t>
            </a:r>
            <a:r>
              <a:rPr lang="en-US" baseline="30000" dirty="0"/>
              <a:t>1</a:t>
            </a:r>
            <a:r>
              <a:rPr lang="en-US" dirty="0"/>
              <a:t>)+(E x</a:t>
            </a:r>
            <a:r>
              <a:rPr lang="en-US" baseline="-25000" dirty="0"/>
              <a:t> </a:t>
            </a:r>
            <a:r>
              <a:rPr lang="en-US" dirty="0"/>
              <a:t>16</a:t>
            </a:r>
            <a:r>
              <a:rPr lang="en-US" baseline="30000" dirty="0"/>
              <a:t>0</a:t>
            </a:r>
            <a:r>
              <a:rPr lang="en-US" dirty="0"/>
              <a:t>)=</a:t>
            </a:r>
          </a:p>
          <a:p>
            <a:pPr eaLnBrk="1" fontAlgn="auto" hangingPunct="1">
              <a:lnSpc>
                <a:spcPct val="90000"/>
              </a:lnSpc>
              <a:buFontTx/>
              <a:buNone/>
              <a:defRPr/>
            </a:pPr>
            <a:r>
              <a:rPr lang="en-US" baseline="-25000" dirty="0"/>
              <a:t>                            </a:t>
            </a:r>
            <a:r>
              <a:rPr lang="en-US" dirty="0"/>
              <a:t>(Ax4096)+(3x</a:t>
            </a:r>
            <a:r>
              <a:rPr lang="en-US" baseline="-25000" dirty="0"/>
              <a:t> </a:t>
            </a:r>
            <a:r>
              <a:rPr lang="en-US" dirty="0"/>
              <a:t>256)+(4x</a:t>
            </a:r>
            <a:r>
              <a:rPr lang="en-US" baseline="-25000" dirty="0"/>
              <a:t> </a:t>
            </a:r>
            <a:r>
              <a:rPr lang="en-US" dirty="0"/>
              <a:t>16)+(E x</a:t>
            </a:r>
            <a:r>
              <a:rPr lang="en-US" baseline="-25000" dirty="0"/>
              <a:t> </a:t>
            </a:r>
            <a:r>
              <a:rPr lang="en-US" dirty="0"/>
              <a:t>1)=</a:t>
            </a:r>
          </a:p>
          <a:p>
            <a:pPr eaLnBrk="1" fontAlgn="auto" hangingPunct="1">
              <a:lnSpc>
                <a:spcPct val="90000"/>
              </a:lnSpc>
              <a:buFontTx/>
              <a:buNone/>
              <a:defRPr/>
            </a:pPr>
            <a:r>
              <a:rPr lang="en-US" dirty="0"/>
              <a:t>                   (10x4096)+(3x</a:t>
            </a:r>
            <a:r>
              <a:rPr lang="en-US" baseline="-25000" dirty="0"/>
              <a:t> </a:t>
            </a:r>
            <a:r>
              <a:rPr lang="en-US" dirty="0"/>
              <a:t>256)+(4x</a:t>
            </a:r>
            <a:r>
              <a:rPr lang="en-US" baseline="-25000" dirty="0"/>
              <a:t> </a:t>
            </a:r>
            <a:r>
              <a:rPr lang="en-US" dirty="0"/>
              <a:t>16)+(14 x</a:t>
            </a:r>
            <a:r>
              <a:rPr lang="en-US" baseline="-25000" dirty="0"/>
              <a:t> </a:t>
            </a:r>
            <a:r>
              <a:rPr lang="en-US" dirty="0"/>
              <a:t>1)=</a:t>
            </a:r>
          </a:p>
          <a:p>
            <a:pPr eaLnBrk="1" fontAlgn="auto" hangingPunct="1">
              <a:lnSpc>
                <a:spcPct val="90000"/>
              </a:lnSpc>
              <a:buFontTx/>
              <a:buNone/>
              <a:defRPr/>
            </a:pPr>
            <a:r>
              <a:rPr lang="en-US" baseline="-25000" dirty="0"/>
              <a:t>                            </a:t>
            </a:r>
            <a:r>
              <a:rPr lang="en-US" dirty="0"/>
              <a:t>40960+768+64+14=41806</a:t>
            </a:r>
            <a:r>
              <a:rPr lang="en-US" baseline="-25000" dirty="0"/>
              <a:t>10</a:t>
            </a:r>
          </a:p>
          <a:p>
            <a:pPr eaLnBrk="1" fontAlgn="auto" hangingPunct="1">
              <a:lnSpc>
                <a:spcPct val="90000"/>
              </a:lnSpc>
              <a:buFontTx/>
              <a:buNone/>
              <a:defRPr/>
            </a:pPr>
            <a:r>
              <a:rPr lang="en-US" dirty="0"/>
              <a:t>   (A34E)</a:t>
            </a:r>
            <a:r>
              <a:rPr lang="en-US" baseline="-25000" dirty="0"/>
              <a:t>H</a:t>
            </a:r>
            <a:r>
              <a:rPr lang="en-US" dirty="0"/>
              <a:t> = 1010 0011 0100 1110</a:t>
            </a:r>
            <a:r>
              <a:rPr lang="en-US" baseline="-25000" dirty="0"/>
              <a:t>2</a:t>
            </a:r>
          </a:p>
        </p:txBody>
      </p:sp>
      <p:sp>
        <p:nvSpPr>
          <p:cNvPr id="22531" name="Slide Number Placeholder 3">
            <a:extLst>
              <a:ext uri="{FF2B5EF4-FFF2-40B4-BE49-F238E27FC236}">
                <a16:creationId xmlns:a16="http://schemas.microsoft.com/office/drawing/2014/main" id="{501E2504-F0D1-4791-BACC-501D5592556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E9C03AF0-6B43-4B1D-9D82-9D57323A157A}" type="slidenum">
              <a:rPr lang="en-US" altLang="en-US" sz="1800" smtClean="0">
                <a:solidFill>
                  <a:srgbClr val="898989"/>
                </a:solidFill>
                <a:latin typeface="Arial" panose="020B0604020202020204" pitchFamily="34" charset="0"/>
              </a:rPr>
              <a:pPr algn="l" eaLnBrk="0" hangingPunct="0">
                <a:spcBef>
                  <a:spcPct val="0"/>
                </a:spcBef>
                <a:buFontTx/>
                <a:buNone/>
              </a:pPr>
              <a:t>12</a:t>
            </a:fld>
            <a:endParaRPr lang="en-US" altLang="en-US" sz="1800">
              <a:solidFill>
                <a:srgbClr val="898989"/>
              </a:solidFill>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Content Placeholder 2">
            <a:extLst>
              <a:ext uri="{FF2B5EF4-FFF2-40B4-BE49-F238E27FC236}">
                <a16:creationId xmlns:a16="http://schemas.microsoft.com/office/drawing/2014/main" id="{BD1338B9-390B-4F39-A033-DE864839C80B}"/>
              </a:ext>
            </a:extLst>
          </p:cNvPr>
          <p:cNvSpPr>
            <a:spLocks noGrp="1"/>
          </p:cNvSpPr>
          <p:nvPr>
            <p:ph idx="1"/>
          </p:nvPr>
        </p:nvSpPr>
        <p:spPr>
          <a:xfrm>
            <a:off x="176213" y="914400"/>
            <a:ext cx="11788775" cy="5064125"/>
          </a:xfrm>
        </p:spPr>
        <p:txBody>
          <a:bodyPr rtlCol="0">
            <a:noAutofit/>
          </a:bodyPr>
          <a:lstStyle/>
          <a:p>
            <a:pPr eaLnBrk="1" fontAlgn="auto" hangingPunct="1">
              <a:defRPr/>
            </a:pPr>
            <a:r>
              <a:rPr lang="en-US" dirty="0"/>
              <a:t>We can also multiply or divide a binary or hexadecimal number by 2. </a:t>
            </a:r>
          </a:p>
          <a:p>
            <a:pPr eaLnBrk="1" fontAlgn="auto" hangingPunct="1">
              <a:defRPr/>
            </a:pPr>
            <a:r>
              <a:rPr lang="en-US" dirty="0"/>
              <a:t>If the number is binary, we simply shift the digits left or right by one place.</a:t>
            </a:r>
          </a:p>
          <a:p>
            <a:pPr eaLnBrk="1" fontAlgn="auto" hangingPunct="1">
              <a:defRPr/>
            </a:pPr>
            <a:r>
              <a:rPr lang="en-US" dirty="0"/>
              <a:t>For numbers in hexadecimal, we can decode the hexadecimal digits into binary, perform the shift, then encode them again. </a:t>
            </a:r>
          </a:p>
          <a:p>
            <a:pPr eaLnBrk="1" fontAlgn="auto" hangingPunct="1">
              <a:defRPr/>
            </a:pPr>
            <a:r>
              <a:rPr lang="en-US" dirty="0"/>
              <a:t>For example, to compute </a:t>
            </a:r>
            <a:r>
              <a:rPr lang="en-US" b="1" dirty="0"/>
              <a:t>3fc / 2</a:t>
            </a:r>
            <a:r>
              <a:rPr lang="en-US" dirty="0"/>
              <a:t>, we decode 3fc as </a:t>
            </a:r>
            <a:r>
              <a:rPr lang="en-US" b="1" dirty="0"/>
              <a:t>0011 1111 1100</a:t>
            </a:r>
            <a:r>
              <a:rPr lang="en-US" dirty="0"/>
              <a:t>, shift the bits right by 1, to get </a:t>
            </a:r>
            <a:r>
              <a:rPr lang="en-US" b="1" dirty="0"/>
              <a:t>0001 1111 1110</a:t>
            </a:r>
            <a:r>
              <a:rPr lang="en-US" dirty="0"/>
              <a:t>, and encode it again to get </a:t>
            </a:r>
            <a:r>
              <a:rPr lang="en-US" b="1" dirty="0"/>
              <a:t>1fe</a:t>
            </a:r>
            <a:r>
              <a:rPr lang="en-US" dirty="0"/>
              <a:t>.</a:t>
            </a:r>
          </a:p>
        </p:txBody>
      </p:sp>
      <p:sp>
        <p:nvSpPr>
          <p:cNvPr id="23555" name="Slide Number Placeholder 3">
            <a:extLst>
              <a:ext uri="{FF2B5EF4-FFF2-40B4-BE49-F238E27FC236}">
                <a16:creationId xmlns:a16="http://schemas.microsoft.com/office/drawing/2014/main" id="{24C4A338-F5CB-4DAC-9C2E-1FFACE96401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C750D79-F376-4079-91DD-218F39A16B16}" type="slidenum">
              <a:rPr lang="en-US" altLang="en-US" sz="1800" smtClean="0">
                <a:solidFill>
                  <a:srgbClr val="898989"/>
                </a:solidFill>
                <a:latin typeface="Arial" panose="020B0604020202020204" pitchFamily="34" charset="0"/>
              </a:rPr>
              <a:pPr algn="l" eaLnBrk="0" hangingPunct="0">
                <a:spcBef>
                  <a:spcPct val="0"/>
                </a:spcBef>
                <a:buFontTx/>
                <a:buNone/>
              </a:pPr>
              <a:t>13</a:t>
            </a:fld>
            <a:endParaRPr lang="en-US" altLang="en-US" sz="1800">
              <a:solidFill>
                <a:srgbClr val="898989"/>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77CDAB1D-0555-4A5C-BC69-FBD3EB21EF20}"/>
              </a:ext>
            </a:extLst>
          </p:cNvPr>
          <p:cNvSpPr>
            <a:spLocks noGrp="1"/>
          </p:cNvSpPr>
          <p:nvPr>
            <p:ph type="title"/>
          </p:nvPr>
        </p:nvSpPr>
        <p:spPr>
          <a:xfrm>
            <a:off x="508000" y="1524000"/>
            <a:ext cx="11179175" cy="25146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4800"/>
              <a:t>REPRESENTATION OF SIGNED &amp; UNSIGNED </a:t>
            </a:r>
            <a:r>
              <a:rPr lang="en-US" altLang="en-US" sz="4400">
                <a:latin typeface="Rockwell" panose="02060603020205020403" pitchFamily="18" charset="0"/>
              </a:rPr>
              <a:t>NUMBERS</a:t>
            </a:r>
            <a:endParaRPr lang="en-US" altLang="en-US" sz="6600">
              <a:latin typeface="Rockwell" panose="02060603020205020403" pitchFamily="18" charset="0"/>
            </a:endParaRPr>
          </a:p>
        </p:txBody>
      </p:sp>
      <p:sp>
        <p:nvSpPr>
          <p:cNvPr id="24579" name="Slide Number Placeholder 3">
            <a:extLst>
              <a:ext uri="{FF2B5EF4-FFF2-40B4-BE49-F238E27FC236}">
                <a16:creationId xmlns:a16="http://schemas.microsoft.com/office/drawing/2014/main" id="{A514F199-0A82-43A5-AF9F-1118A7D59B63}"/>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834DEFB6-868F-47BB-A8B6-3F4F00A46172}" type="slidenum">
              <a:rPr lang="en-US" altLang="en-US" sz="1800" smtClean="0">
                <a:solidFill>
                  <a:srgbClr val="898989"/>
                </a:solidFill>
                <a:latin typeface="Arial" panose="020B0604020202020204" pitchFamily="34" charset="0"/>
              </a:rPr>
              <a:pPr algn="l" eaLnBrk="0" hangingPunct="0">
                <a:spcBef>
                  <a:spcPct val="0"/>
                </a:spcBef>
                <a:buFontTx/>
                <a:buNone/>
              </a:pPr>
              <a:t>14</a:t>
            </a:fld>
            <a:endParaRPr lang="en-US" altLang="en-US" sz="1800">
              <a:solidFill>
                <a:srgbClr val="898989"/>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DE641D79-7730-4208-9E02-0C0D5CB3992A}"/>
              </a:ext>
            </a:extLst>
          </p:cNvPr>
          <p:cNvSpPr>
            <a:spLocks noGrp="1"/>
          </p:cNvSpPr>
          <p:nvPr>
            <p:ph type="title"/>
          </p:nvPr>
        </p:nvSpPr>
        <p:spPr>
          <a:xfrm>
            <a:off x="382588" y="304800"/>
            <a:ext cx="11353800"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Introduction</a:t>
            </a:r>
          </a:p>
        </p:txBody>
      </p:sp>
      <p:sp>
        <p:nvSpPr>
          <p:cNvPr id="4099" name="Content Placeholder 2">
            <a:extLst>
              <a:ext uri="{FF2B5EF4-FFF2-40B4-BE49-F238E27FC236}">
                <a16:creationId xmlns:a16="http://schemas.microsoft.com/office/drawing/2014/main" id="{1358BFF9-0F3B-465D-9A8F-3BB2DCD9FBC2}"/>
              </a:ext>
            </a:extLst>
          </p:cNvPr>
          <p:cNvSpPr>
            <a:spLocks noGrp="1"/>
          </p:cNvSpPr>
          <p:nvPr>
            <p:ph idx="1"/>
          </p:nvPr>
        </p:nvSpPr>
        <p:spPr>
          <a:xfrm>
            <a:off x="382588" y="1295400"/>
            <a:ext cx="11506200" cy="4800600"/>
          </a:xfrm>
        </p:spPr>
        <p:txBody>
          <a:bodyPr rtlCol="0">
            <a:noAutofit/>
          </a:bodyPr>
          <a:lstStyle/>
          <a:p>
            <a:pPr eaLnBrk="1" fontAlgn="auto" hangingPunct="1">
              <a:defRPr/>
            </a:pPr>
            <a:r>
              <a:rPr lang="en-US" sz="2600" dirty="0"/>
              <a:t>Computers operate on binary values (as a result of being built from transistors).</a:t>
            </a:r>
          </a:p>
          <a:p>
            <a:pPr eaLnBrk="1" fontAlgn="auto" hangingPunct="1">
              <a:defRPr/>
            </a:pPr>
            <a:r>
              <a:rPr lang="en-US" sz="2600" dirty="0"/>
              <a:t>There are 4 commonly known integer representations. All have been used at various times for various reasons.</a:t>
            </a:r>
          </a:p>
          <a:p>
            <a:pPr eaLnBrk="1" fontAlgn="auto" hangingPunct="1">
              <a:spcBef>
                <a:spcPct val="0"/>
              </a:spcBef>
              <a:buFont typeface="Wingdings" pitchFamily="2" charset="2"/>
              <a:buNone/>
              <a:defRPr/>
            </a:pPr>
            <a:r>
              <a:rPr lang="en-US" sz="2600" b="1" dirty="0"/>
              <a:t>	   1. unsigned</a:t>
            </a:r>
            <a:endParaRPr lang="en-US" sz="2600" dirty="0"/>
          </a:p>
          <a:p>
            <a:pPr eaLnBrk="1" fontAlgn="auto" hangingPunct="1">
              <a:spcBef>
                <a:spcPct val="0"/>
              </a:spcBef>
              <a:buFont typeface="Wingdings" pitchFamily="2" charset="2"/>
              <a:buNone/>
              <a:defRPr/>
            </a:pPr>
            <a:r>
              <a:rPr lang="en-US" sz="2600" b="1" dirty="0"/>
              <a:t>	   2. sign magnitude</a:t>
            </a:r>
            <a:endParaRPr lang="en-US" sz="2600" dirty="0"/>
          </a:p>
          <a:p>
            <a:pPr eaLnBrk="1" fontAlgn="auto" hangingPunct="1">
              <a:spcBef>
                <a:spcPct val="0"/>
              </a:spcBef>
              <a:buFont typeface="Wingdings" pitchFamily="2" charset="2"/>
              <a:buNone/>
              <a:defRPr/>
            </a:pPr>
            <a:r>
              <a:rPr lang="en-US" sz="2600" b="1" dirty="0"/>
              <a:t>	   3. one's complement</a:t>
            </a:r>
            <a:endParaRPr lang="en-US" sz="2600" dirty="0"/>
          </a:p>
          <a:p>
            <a:pPr eaLnBrk="1" fontAlgn="auto" hangingPunct="1">
              <a:spcBef>
                <a:spcPct val="0"/>
              </a:spcBef>
              <a:buFont typeface="Wingdings" pitchFamily="2" charset="2"/>
              <a:buNone/>
              <a:defRPr/>
            </a:pPr>
            <a:r>
              <a:rPr lang="en-US" sz="2600" b="1" dirty="0"/>
              <a:t>	   4. two's complement</a:t>
            </a:r>
          </a:p>
          <a:p>
            <a:pPr eaLnBrk="1" fontAlgn="auto" hangingPunct="1">
              <a:spcBef>
                <a:spcPct val="0"/>
              </a:spcBef>
              <a:buFont typeface="Wingdings" pitchFamily="2" charset="2"/>
              <a:buNone/>
              <a:defRPr/>
            </a:pPr>
            <a:endParaRPr lang="en-US" sz="2600" b="1" dirty="0"/>
          </a:p>
          <a:p>
            <a:pPr eaLnBrk="1" fontAlgn="auto" hangingPunct="1">
              <a:spcBef>
                <a:spcPct val="0"/>
              </a:spcBef>
              <a:defRPr/>
            </a:pPr>
            <a:r>
              <a:rPr lang="en-US" sz="2600" dirty="0"/>
              <a:t>We shall also consider non-integer representations and others later.</a:t>
            </a:r>
            <a:r>
              <a:rPr lang="en-US" sz="2600" b="1" dirty="0"/>
              <a:t> </a:t>
            </a:r>
            <a:endParaRPr lang="en-US" sz="2600" dirty="0"/>
          </a:p>
          <a:p>
            <a:pPr eaLnBrk="1" fontAlgn="auto" hangingPunct="1">
              <a:defRPr/>
            </a:pPr>
            <a:endParaRPr lang="en-US" sz="2600" dirty="0"/>
          </a:p>
        </p:txBody>
      </p:sp>
      <p:sp>
        <p:nvSpPr>
          <p:cNvPr id="25604" name="Slide Number Placeholder 3">
            <a:extLst>
              <a:ext uri="{FF2B5EF4-FFF2-40B4-BE49-F238E27FC236}">
                <a16:creationId xmlns:a16="http://schemas.microsoft.com/office/drawing/2014/main" id="{D832991D-8FBD-4B50-973A-0AEAED1013D3}"/>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9A47456-71C1-4507-B06B-2A7CAD30A974}" type="slidenum">
              <a:rPr lang="en-US" altLang="en-US" sz="1800" smtClean="0">
                <a:solidFill>
                  <a:srgbClr val="898989"/>
                </a:solidFill>
                <a:latin typeface="Arial" panose="020B0604020202020204" pitchFamily="34" charset="0"/>
              </a:rPr>
              <a:pPr algn="l" eaLnBrk="0" hangingPunct="0">
                <a:spcBef>
                  <a:spcPct val="0"/>
                </a:spcBef>
                <a:buFontTx/>
                <a:buNone/>
              </a:pPr>
              <a:t>15</a:t>
            </a:fld>
            <a:endParaRPr lang="en-US" altLang="en-US" sz="1800">
              <a:solidFill>
                <a:srgbClr val="898989"/>
              </a:solidFill>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E667A3F4-C8C6-4143-949C-BA739A9EF281}"/>
              </a:ext>
            </a:extLst>
          </p:cNvPr>
          <p:cNvSpPr>
            <a:spLocks noGrp="1"/>
          </p:cNvSpPr>
          <p:nvPr>
            <p:ph idx="1"/>
          </p:nvPr>
        </p:nvSpPr>
        <p:spPr>
          <a:xfrm>
            <a:off x="239713" y="1412875"/>
            <a:ext cx="11715750" cy="2473325"/>
          </a:xfrm>
        </p:spPr>
        <p:txBody>
          <a:bodyPr rtlCol="0"/>
          <a:lstStyle/>
          <a:p>
            <a:pPr eaLnBrk="1" fontAlgn="auto" hangingPunct="1">
              <a:defRPr/>
            </a:pPr>
            <a:r>
              <a:rPr lang="en-US" dirty="0"/>
              <a:t>Virtually all modern computers operate based on 2's complement representation. Why?</a:t>
            </a:r>
          </a:p>
          <a:p>
            <a:pPr eaLnBrk="1" fontAlgn="auto" hangingPunct="1">
              <a:buFont typeface="Wingdings" pitchFamily="2" charset="2"/>
              <a:buNone/>
              <a:defRPr/>
            </a:pPr>
            <a:r>
              <a:rPr lang="en-US" dirty="0"/>
              <a:t>	   1. Hardware is faster</a:t>
            </a:r>
          </a:p>
          <a:p>
            <a:pPr eaLnBrk="1" fontAlgn="auto" hangingPunct="1">
              <a:buFont typeface="Wingdings" pitchFamily="2" charset="2"/>
              <a:buNone/>
              <a:defRPr/>
            </a:pPr>
            <a:r>
              <a:rPr lang="en-US" dirty="0"/>
              <a:t>	   2. Hardware is simpler (which makes it faster)</a:t>
            </a:r>
          </a:p>
          <a:p>
            <a:pPr eaLnBrk="1" fontAlgn="auto" hangingPunct="1">
              <a:defRPr/>
            </a:pPr>
            <a:endParaRPr lang="en-US" dirty="0"/>
          </a:p>
        </p:txBody>
      </p:sp>
      <p:sp>
        <p:nvSpPr>
          <p:cNvPr id="26627" name="Slide Number Placeholder 3">
            <a:extLst>
              <a:ext uri="{FF2B5EF4-FFF2-40B4-BE49-F238E27FC236}">
                <a16:creationId xmlns:a16="http://schemas.microsoft.com/office/drawing/2014/main" id="{315F02DA-E218-47E0-85C9-51CCDBFE63FE}"/>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905EFF1-9FD8-4FB6-8A29-23ED12E3C541}" type="slidenum">
              <a:rPr lang="en-US" altLang="en-US" sz="1800" smtClean="0">
                <a:solidFill>
                  <a:srgbClr val="898989"/>
                </a:solidFill>
                <a:latin typeface="Arial" panose="020B0604020202020204" pitchFamily="34" charset="0"/>
              </a:rPr>
              <a:pPr algn="l" eaLnBrk="0" hangingPunct="0">
                <a:spcBef>
                  <a:spcPct val="0"/>
                </a:spcBef>
                <a:buFontTx/>
                <a:buNone/>
              </a:pPr>
              <a:t>16</a:t>
            </a:fld>
            <a:endParaRPr lang="en-US" altLang="en-US" sz="1800">
              <a:solidFill>
                <a:srgbClr val="898989"/>
              </a:solidFill>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95588F5-E9AD-4A2F-ACAF-C0BE6DA71981}"/>
              </a:ext>
            </a:extLst>
          </p:cNvPr>
          <p:cNvSpPr>
            <a:spLocks noGrp="1"/>
          </p:cNvSpPr>
          <p:nvPr>
            <p:ph type="title"/>
          </p:nvPr>
        </p:nvSpPr>
        <p:spPr>
          <a:xfrm>
            <a:off x="609600" y="685800"/>
            <a:ext cx="10975975" cy="65563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2800"/>
              <a:t>UNSIGNED</a:t>
            </a:r>
            <a:endParaRPr lang="en-US" altLang="en-US" sz="1600"/>
          </a:p>
        </p:txBody>
      </p:sp>
      <p:sp>
        <p:nvSpPr>
          <p:cNvPr id="6147" name="Content Placeholder 2">
            <a:extLst>
              <a:ext uri="{FF2B5EF4-FFF2-40B4-BE49-F238E27FC236}">
                <a16:creationId xmlns:a16="http://schemas.microsoft.com/office/drawing/2014/main" id="{E26DDC1E-30CF-4B00-AB40-10F5356F7AD8}"/>
              </a:ext>
            </a:extLst>
          </p:cNvPr>
          <p:cNvSpPr>
            <a:spLocks noGrp="1"/>
          </p:cNvSpPr>
          <p:nvPr>
            <p:ph idx="1"/>
          </p:nvPr>
        </p:nvSpPr>
        <p:spPr>
          <a:xfrm>
            <a:off x="508000" y="1489075"/>
            <a:ext cx="11483975" cy="4835525"/>
          </a:xfrm>
        </p:spPr>
        <p:txBody>
          <a:bodyPr rtlCol="0">
            <a:normAutofit lnSpcReduction="10000"/>
          </a:bodyPr>
          <a:lstStyle/>
          <a:p>
            <a:pPr eaLnBrk="1" fontAlgn="auto" hangingPunct="1">
              <a:spcBef>
                <a:spcPct val="0"/>
              </a:spcBef>
              <a:defRPr/>
            </a:pPr>
            <a:r>
              <a:rPr lang="en-US" sz="2000" b="1" dirty="0"/>
              <a:t>The standard binary encoding already given only positive values</a:t>
            </a:r>
          </a:p>
          <a:p>
            <a:pPr eaLnBrk="1" fontAlgn="auto" hangingPunct="1">
              <a:spcBef>
                <a:spcPct val="0"/>
              </a:spcBef>
              <a:defRPr/>
            </a:pPr>
            <a:r>
              <a:rPr lang="en-US" sz="2000" b="1" dirty="0"/>
              <a:t>range:   0 to 2**n - 1, for n bits</a:t>
            </a:r>
            <a:endParaRPr lang="en-US" sz="2000" dirty="0"/>
          </a:p>
          <a:p>
            <a:pPr eaLnBrk="1" fontAlgn="auto" hangingPunct="1">
              <a:spcBef>
                <a:spcPct val="0"/>
              </a:spcBef>
              <a:defRPr/>
            </a:pPr>
            <a:r>
              <a:rPr lang="en-US" sz="2000" b="1" dirty="0"/>
              <a:t>example:   4 bits, values 0 to 15</a:t>
            </a:r>
            <a:endParaRPr lang="en-US" sz="2000" dirty="0"/>
          </a:p>
          <a:p>
            <a:pPr eaLnBrk="1" fontAlgn="auto" hangingPunct="1">
              <a:spcBef>
                <a:spcPct val="0"/>
              </a:spcBef>
              <a:defRPr/>
            </a:pPr>
            <a:r>
              <a:rPr lang="en-US" sz="2000" b="1" dirty="0"/>
              <a:t>	   n=4, 2**4 -1 is 15</a:t>
            </a:r>
            <a:endParaRPr lang="en-US" sz="2000" dirty="0"/>
          </a:p>
          <a:p>
            <a:pPr eaLnBrk="1" fontAlgn="auto" hangingPunct="1">
              <a:spcBef>
                <a:spcPct val="0"/>
              </a:spcBef>
              <a:defRPr/>
            </a:pPr>
            <a:r>
              <a:rPr lang="en-US" sz="2000" b="1" dirty="0"/>
              <a:t>	   binary </a:t>
            </a:r>
            <a:r>
              <a:rPr lang="en-US" sz="2000" b="1" dirty="0" err="1"/>
              <a:t>dec</a:t>
            </a:r>
            <a:r>
              <a:rPr lang="en-US" sz="2000" b="1" dirty="0"/>
              <a:t>  hex     binary      </a:t>
            </a:r>
            <a:r>
              <a:rPr lang="en-US" sz="2000" b="1" dirty="0" err="1"/>
              <a:t>dec</a:t>
            </a:r>
            <a:r>
              <a:rPr lang="en-US" sz="2000" b="1" dirty="0"/>
              <a:t>      hex</a:t>
            </a:r>
            <a:endParaRPr lang="en-US" sz="2000" dirty="0"/>
          </a:p>
          <a:p>
            <a:pPr eaLnBrk="1" fontAlgn="auto" hangingPunct="1">
              <a:spcBef>
                <a:spcPct val="0"/>
              </a:spcBef>
              <a:defRPr/>
            </a:pPr>
            <a:r>
              <a:rPr lang="en-US" sz="2000" dirty="0"/>
              <a:t>	   0000      0     0      	 1000           8     	 8</a:t>
            </a:r>
          </a:p>
          <a:p>
            <a:pPr eaLnBrk="1" fontAlgn="auto" hangingPunct="1">
              <a:spcBef>
                <a:spcPct val="0"/>
              </a:spcBef>
              <a:defRPr/>
            </a:pPr>
            <a:r>
              <a:rPr lang="en-US" sz="2000" dirty="0"/>
              <a:t>	   0001      1  	  1      	 1001           9     	 9</a:t>
            </a:r>
          </a:p>
          <a:p>
            <a:pPr eaLnBrk="1" fontAlgn="auto" hangingPunct="1">
              <a:spcBef>
                <a:spcPct val="0"/>
              </a:spcBef>
              <a:defRPr/>
            </a:pPr>
            <a:r>
              <a:rPr lang="en-US" sz="2000" dirty="0"/>
              <a:t>	   0010      2     2      	 1010          10    	 a</a:t>
            </a:r>
          </a:p>
          <a:p>
            <a:pPr eaLnBrk="1" fontAlgn="auto" hangingPunct="1">
              <a:spcBef>
                <a:spcPct val="0"/>
              </a:spcBef>
              <a:defRPr/>
            </a:pPr>
            <a:r>
              <a:rPr lang="en-US" sz="2000" dirty="0"/>
              <a:t>	   0011      3     3     	 1011          11    	 b</a:t>
            </a:r>
          </a:p>
          <a:p>
            <a:pPr eaLnBrk="1" fontAlgn="auto" hangingPunct="1">
              <a:spcBef>
                <a:spcPct val="0"/>
              </a:spcBef>
              <a:defRPr/>
            </a:pPr>
            <a:r>
              <a:rPr lang="en-US" sz="2000" dirty="0"/>
              <a:t>	   0100      4     4       1100           12    	 c</a:t>
            </a:r>
          </a:p>
          <a:p>
            <a:pPr eaLnBrk="1" fontAlgn="auto" hangingPunct="1">
              <a:spcBef>
                <a:spcPct val="0"/>
              </a:spcBef>
              <a:defRPr/>
            </a:pPr>
            <a:r>
              <a:rPr lang="en-US" sz="2000" dirty="0"/>
              <a:t>	   0101      5     5      	 1101           13    	 d</a:t>
            </a:r>
          </a:p>
          <a:p>
            <a:pPr eaLnBrk="1" fontAlgn="auto" hangingPunct="1">
              <a:spcBef>
                <a:spcPct val="0"/>
              </a:spcBef>
              <a:defRPr/>
            </a:pPr>
            <a:r>
              <a:rPr lang="en-US" sz="2000" dirty="0"/>
              <a:t>	   0110      6     6       1110           14    	 e</a:t>
            </a:r>
          </a:p>
          <a:p>
            <a:pPr eaLnBrk="1" fontAlgn="auto" hangingPunct="1">
              <a:spcBef>
                <a:spcPct val="0"/>
              </a:spcBef>
              <a:defRPr/>
            </a:pPr>
            <a:r>
              <a:rPr lang="en-US" sz="2000" dirty="0"/>
              <a:t>	   0111      7     7       1111           15    	 f</a:t>
            </a:r>
          </a:p>
          <a:p>
            <a:pPr eaLnBrk="1" fontAlgn="auto" hangingPunct="1">
              <a:spcBef>
                <a:spcPct val="0"/>
              </a:spcBef>
              <a:defRPr/>
            </a:pP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FEE0A90C-BD5C-40EE-B886-E70B50D8DB02}"/>
              </a:ext>
            </a:extLst>
          </p:cNvPr>
          <p:cNvSpPr>
            <a:spLocks noGrp="1"/>
          </p:cNvSpPr>
          <p:nvPr>
            <p:ph idx="1"/>
          </p:nvPr>
        </p:nvSpPr>
        <p:spPr>
          <a:xfrm>
            <a:off x="306388" y="1219200"/>
            <a:ext cx="11506200" cy="4495800"/>
          </a:xfrm>
        </p:spPr>
        <p:txBody>
          <a:bodyPr rtlCol="0">
            <a:noAutofit/>
          </a:bodyPr>
          <a:lstStyle/>
          <a:p>
            <a:pPr algn="just" eaLnBrk="1" fontAlgn="auto" hangingPunct="1">
              <a:defRPr/>
            </a:pPr>
            <a:r>
              <a:rPr lang="en-US" dirty="0"/>
              <a:t>Negative numbers are essential, and any computer not capable of dealing with them would not be particularly useful.  </a:t>
            </a:r>
          </a:p>
          <a:p>
            <a:pPr algn="just" eaLnBrk="1" fontAlgn="auto" hangingPunct="1">
              <a:defRPr/>
            </a:pPr>
            <a:r>
              <a:rPr lang="en-US" dirty="0"/>
              <a:t>How can such numbers be represented?  </a:t>
            </a:r>
          </a:p>
          <a:p>
            <a:pPr algn="just" eaLnBrk="1" fontAlgn="auto" hangingPunct="1">
              <a:defRPr/>
            </a:pPr>
            <a:r>
              <a:rPr lang="en-US" dirty="0"/>
              <a:t>Several methods can be used to represent negative numbers in Binary.  </a:t>
            </a:r>
          </a:p>
          <a:p>
            <a:pPr algn="just" eaLnBrk="1" fontAlgn="auto" hangingPunct="1">
              <a:defRPr/>
            </a:pPr>
            <a:r>
              <a:rPr lang="en-US" dirty="0"/>
              <a:t>They include: </a:t>
            </a:r>
          </a:p>
          <a:p>
            <a:pPr lvl="1" algn="just" eaLnBrk="1" fontAlgn="auto" hangingPunct="1">
              <a:defRPr/>
            </a:pPr>
            <a:r>
              <a:rPr lang="en-US" sz="1800" b="1" dirty="0"/>
              <a:t>Sign-Magnitude Method</a:t>
            </a:r>
          </a:p>
          <a:p>
            <a:pPr lvl="1" algn="just" eaLnBrk="1" fontAlgn="auto" hangingPunct="1">
              <a:defRPr/>
            </a:pPr>
            <a:r>
              <a:rPr lang="en-US" sz="1800" b="1" dirty="0"/>
              <a:t>One (1’s) Complement</a:t>
            </a:r>
          </a:p>
          <a:p>
            <a:pPr lvl="1" algn="just" eaLnBrk="1" fontAlgn="auto" hangingPunct="1">
              <a:defRPr/>
            </a:pPr>
            <a:r>
              <a:rPr lang="en-US" sz="1800" b="1" dirty="0"/>
              <a:t>Two (2’s) Complement</a:t>
            </a:r>
          </a:p>
        </p:txBody>
      </p:sp>
      <p:sp>
        <p:nvSpPr>
          <p:cNvPr id="28675" name="Slide Number Placeholder 3">
            <a:extLst>
              <a:ext uri="{FF2B5EF4-FFF2-40B4-BE49-F238E27FC236}">
                <a16:creationId xmlns:a16="http://schemas.microsoft.com/office/drawing/2014/main" id="{48AB0A1C-1404-4FEE-9C07-F03B74CA5DB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809190C5-7CBB-429F-9F29-B0CA0E44F2A8}" type="slidenum">
              <a:rPr lang="en-US" altLang="en-US" sz="1800" smtClean="0">
                <a:solidFill>
                  <a:srgbClr val="898989"/>
                </a:solidFill>
                <a:latin typeface="Arial" panose="020B0604020202020204" pitchFamily="34" charset="0"/>
              </a:rPr>
              <a:pPr algn="l" eaLnBrk="0" hangingPunct="0">
                <a:spcBef>
                  <a:spcPct val="0"/>
                </a:spcBef>
                <a:buFontTx/>
                <a:buNone/>
              </a:pPr>
              <a:t>18</a:t>
            </a:fld>
            <a:endParaRPr lang="en-US" altLang="en-US" sz="1800">
              <a:solidFill>
                <a:srgbClr val="898989"/>
              </a:solidFill>
              <a:latin typeface="Arial" panose="020B0604020202020204" pitchFamily="34" charset="0"/>
            </a:endParaRPr>
          </a:p>
        </p:txBody>
      </p:sp>
      <p:sp>
        <p:nvSpPr>
          <p:cNvPr id="28676" name="TextBox 4">
            <a:extLst>
              <a:ext uri="{FF2B5EF4-FFF2-40B4-BE49-F238E27FC236}">
                <a16:creationId xmlns:a16="http://schemas.microsoft.com/office/drawing/2014/main" id="{EC0D4832-C5F6-47DC-AF82-84BB2AB0A826}"/>
              </a:ext>
            </a:extLst>
          </p:cNvPr>
          <p:cNvSpPr txBox="1">
            <a:spLocks noChangeArrowheads="1"/>
          </p:cNvSpPr>
          <p:nvPr/>
        </p:nvSpPr>
        <p:spPr bwMode="auto">
          <a:xfrm>
            <a:off x="838200" y="457200"/>
            <a:ext cx="102123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3600" b="1">
                <a:solidFill>
                  <a:srgbClr val="FF0000"/>
                </a:solidFill>
              </a:rPr>
              <a:t>NEGATIVE NUMBER REPRESENTATION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B16489FA-D300-4531-ABBD-65579B087DF0}"/>
              </a:ext>
            </a:extLst>
          </p:cNvPr>
          <p:cNvSpPr>
            <a:spLocks noGrp="1"/>
          </p:cNvSpPr>
          <p:nvPr>
            <p:ph type="title"/>
          </p:nvPr>
        </p:nvSpPr>
        <p:spPr>
          <a:xfrm>
            <a:off x="230188" y="152400"/>
            <a:ext cx="11714162" cy="1116013"/>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600"/>
              <a:t>SIGN MAGNITUDE</a:t>
            </a:r>
            <a:endParaRPr lang="en-US" altLang="en-US" sz="2000"/>
          </a:p>
        </p:txBody>
      </p:sp>
      <p:sp>
        <p:nvSpPr>
          <p:cNvPr id="8195" name="Content Placeholder 2">
            <a:extLst>
              <a:ext uri="{FF2B5EF4-FFF2-40B4-BE49-F238E27FC236}">
                <a16:creationId xmlns:a16="http://schemas.microsoft.com/office/drawing/2014/main" id="{4A423490-21DB-4EF3-9E02-A3B9D3B4680D}"/>
              </a:ext>
            </a:extLst>
          </p:cNvPr>
          <p:cNvSpPr>
            <a:spLocks noGrp="1"/>
          </p:cNvSpPr>
          <p:nvPr>
            <p:ph idx="1"/>
          </p:nvPr>
        </p:nvSpPr>
        <p:spPr>
          <a:xfrm>
            <a:off x="239713" y="1412875"/>
            <a:ext cx="11715750" cy="4225925"/>
          </a:xfrm>
        </p:spPr>
        <p:txBody>
          <a:bodyPr rtlCol="0">
            <a:noAutofit/>
          </a:bodyPr>
          <a:lstStyle/>
          <a:p>
            <a:pPr algn="just" eaLnBrk="1" fontAlgn="auto" hangingPunct="1">
              <a:defRPr/>
            </a:pPr>
            <a:r>
              <a:rPr lang="en-US" sz="2600" b="1" dirty="0"/>
              <a:t>Use 1 bit of integer to represent the sign of the integer</a:t>
            </a:r>
            <a:endParaRPr lang="en-US" sz="2600" dirty="0"/>
          </a:p>
          <a:p>
            <a:pPr algn="just" eaLnBrk="1" fontAlgn="auto" hangingPunct="1">
              <a:defRPr/>
            </a:pPr>
            <a:r>
              <a:rPr lang="en-US" sz="2600" b="1" dirty="0"/>
              <a:t>Sign bit of 0 for positive,  1  for negative. </a:t>
            </a:r>
          </a:p>
          <a:p>
            <a:pPr algn="just" eaLnBrk="1" fontAlgn="auto" hangingPunct="1">
              <a:defRPr/>
            </a:pPr>
            <a:r>
              <a:rPr lang="en-US" sz="2600" dirty="0"/>
              <a:t>The rest of the integer is a magnitude, using same encoding as unsigned integers</a:t>
            </a:r>
          </a:p>
          <a:p>
            <a:pPr algn="just" eaLnBrk="1" fontAlgn="auto" hangingPunct="1">
              <a:defRPr/>
            </a:pPr>
            <a:r>
              <a:rPr lang="en-US" sz="2600" dirty="0"/>
              <a:t>The hardware that does arithmetic on sign magnitude integers is not fast.</a:t>
            </a:r>
          </a:p>
          <a:p>
            <a:pPr algn="just" eaLnBrk="1" fontAlgn="auto" hangingPunct="1">
              <a:defRPr/>
            </a:pPr>
            <a:r>
              <a:rPr lang="en-US" sz="2600" dirty="0"/>
              <a:t>It is more complex than the hardware that does arithmetic on 1's comp. and 2's comp. integers.</a:t>
            </a:r>
          </a:p>
        </p:txBody>
      </p:sp>
      <p:sp>
        <p:nvSpPr>
          <p:cNvPr id="29700" name="Slide Number Placeholder 3">
            <a:extLst>
              <a:ext uri="{FF2B5EF4-FFF2-40B4-BE49-F238E27FC236}">
                <a16:creationId xmlns:a16="http://schemas.microsoft.com/office/drawing/2014/main" id="{DCA1F03D-DC0C-495E-979E-DFA930B16867}"/>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8C98DAF4-93A0-4DC4-B40D-159C7D582EC7}" type="slidenum">
              <a:rPr lang="en-US" altLang="en-US" sz="1800" smtClean="0">
                <a:solidFill>
                  <a:srgbClr val="898989"/>
                </a:solidFill>
                <a:latin typeface="Arial" panose="020B0604020202020204" pitchFamily="34" charset="0"/>
              </a:rPr>
              <a:pPr algn="l" eaLnBrk="0" hangingPunct="0">
                <a:spcBef>
                  <a:spcPct val="0"/>
                </a:spcBef>
                <a:buFontTx/>
                <a:buNone/>
              </a:pPr>
              <a:t>19</a:t>
            </a:fld>
            <a:endParaRPr lang="en-US" altLang="en-US" sz="1800">
              <a:solidFill>
                <a:srgbClr val="898989"/>
              </a:solidFill>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931F5E66-C8D1-49FC-97F6-152BB0E36F73}"/>
              </a:ext>
            </a:extLst>
          </p:cNvPr>
          <p:cNvSpPr>
            <a:spLocks noGrp="1"/>
          </p:cNvSpPr>
          <p:nvPr>
            <p:ph type="title"/>
          </p:nvPr>
        </p:nvSpPr>
        <p:spPr>
          <a:xfrm>
            <a:off x="306388" y="277813"/>
            <a:ext cx="11279187" cy="9413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Example</a:t>
            </a:r>
          </a:p>
        </p:txBody>
      </p:sp>
      <p:sp>
        <p:nvSpPr>
          <p:cNvPr id="9219" name="Content Placeholder 2">
            <a:extLst>
              <a:ext uri="{FF2B5EF4-FFF2-40B4-BE49-F238E27FC236}">
                <a16:creationId xmlns:a16="http://schemas.microsoft.com/office/drawing/2014/main" id="{99DEAE80-7889-4CDC-B86F-6180203599B1}"/>
              </a:ext>
            </a:extLst>
          </p:cNvPr>
          <p:cNvSpPr>
            <a:spLocks noGrp="1"/>
          </p:cNvSpPr>
          <p:nvPr>
            <p:ph idx="1"/>
          </p:nvPr>
        </p:nvSpPr>
        <p:spPr>
          <a:xfrm>
            <a:off x="239713" y="1219200"/>
            <a:ext cx="11715750" cy="4824413"/>
          </a:xfrm>
        </p:spPr>
        <p:txBody>
          <a:bodyPr rtlCol="0">
            <a:noAutofit/>
          </a:bodyPr>
          <a:lstStyle/>
          <a:p>
            <a:pPr algn="just" eaLnBrk="1" fontAlgn="auto" hangingPunct="1">
              <a:defRPr/>
            </a:pPr>
            <a:r>
              <a:rPr lang="en-US" sz="2600" dirty="0"/>
              <a:t>Write 74 and -43 using 8-bit register in sign-magnitude representation. </a:t>
            </a:r>
          </a:p>
          <a:p>
            <a:pPr algn="just" eaLnBrk="1" fontAlgn="auto" hangingPunct="1">
              <a:defRPr/>
            </a:pPr>
            <a:r>
              <a:rPr lang="en-US" sz="2600" dirty="0"/>
              <a:t>Solution:</a:t>
            </a:r>
          </a:p>
          <a:p>
            <a:pPr lvl="1" algn="just" eaLnBrk="1" fontAlgn="auto" hangingPunct="1">
              <a:defRPr/>
            </a:pPr>
            <a:r>
              <a:rPr lang="en-US" sz="2600" b="1" dirty="0"/>
              <a:t>74 in binary = ????????</a:t>
            </a:r>
            <a:r>
              <a:rPr lang="en-US" sz="2600" b="1" baseline="-25000" dirty="0"/>
              <a:t>2</a:t>
            </a:r>
          </a:p>
          <a:p>
            <a:pPr lvl="1" algn="just" eaLnBrk="1" fontAlgn="auto" hangingPunct="1">
              <a:defRPr/>
            </a:pPr>
            <a:endParaRPr lang="en-US" sz="2600" b="1" baseline="-25000" dirty="0"/>
          </a:p>
          <a:p>
            <a:pPr lvl="1" algn="just" eaLnBrk="1" fontAlgn="auto" hangingPunct="1">
              <a:defRPr/>
            </a:pPr>
            <a:r>
              <a:rPr lang="en-US" sz="2600" b="1" dirty="0"/>
              <a:t>For  -43, first find +43 in binary and then flip the last bit (sign bit)</a:t>
            </a:r>
          </a:p>
          <a:p>
            <a:pPr lvl="1" algn="just" eaLnBrk="1" fontAlgn="auto" hangingPunct="1">
              <a:defRPr/>
            </a:pPr>
            <a:r>
              <a:rPr lang="en-US" sz="2600" b="1" dirty="0"/>
              <a:t>38 in binary  = ????????</a:t>
            </a:r>
            <a:r>
              <a:rPr lang="en-US" sz="2600" b="1" baseline="-25000" dirty="0"/>
              <a:t>2</a:t>
            </a:r>
          </a:p>
          <a:p>
            <a:pPr lvl="1" algn="just" eaLnBrk="1" fontAlgn="auto" hangingPunct="1">
              <a:defRPr/>
            </a:pPr>
            <a:r>
              <a:rPr lang="en-US" sz="2600" b="1" dirty="0"/>
              <a:t>-38 in binary = </a:t>
            </a:r>
            <a:r>
              <a:rPr lang="en-US" sz="2600" b="1" dirty="0">
                <a:solidFill>
                  <a:srgbClr val="FF0000"/>
                </a:solidFill>
              </a:rPr>
              <a:t>1</a:t>
            </a:r>
            <a:r>
              <a:rPr lang="en-US" sz="2600" b="1" dirty="0"/>
              <a:t> 0 1 0 0 1 1 0</a:t>
            </a:r>
            <a:r>
              <a:rPr lang="en-US" sz="2600" b="1" baseline="-25000" dirty="0"/>
              <a:t>2</a:t>
            </a:r>
          </a:p>
        </p:txBody>
      </p:sp>
      <p:sp>
        <p:nvSpPr>
          <p:cNvPr id="30724" name="Slide Number Placeholder 3">
            <a:extLst>
              <a:ext uri="{FF2B5EF4-FFF2-40B4-BE49-F238E27FC236}">
                <a16:creationId xmlns:a16="http://schemas.microsoft.com/office/drawing/2014/main" id="{1D79D670-7069-489F-B282-33583F1CCB03}"/>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C9FBC207-1C88-409C-BE4C-203D02C90050}" type="slidenum">
              <a:rPr lang="en-US" altLang="en-US" sz="1800" smtClean="0">
                <a:solidFill>
                  <a:srgbClr val="898989"/>
                </a:solidFill>
                <a:latin typeface="Arial" panose="020B0604020202020204" pitchFamily="34" charset="0"/>
              </a:rPr>
              <a:pPr algn="l" eaLnBrk="0" hangingPunct="0">
                <a:spcBef>
                  <a:spcPct val="0"/>
                </a:spcBef>
                <a:buFontTx/>
                <a:buNone/>
              </a:pPr>
              <a:t>20</a:t>
            </a:fld>
            <a:endParaRPr lang="en-US" altLang="en-US" sz="1800">
              <a:solidFill>
                <a:srgbClr val="898989"/>
              </a:solidFill>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2">
            <a:extLst>
              <a:ext uri="{FF2B5EF4-FFF2-40B4-BE49-F238E27FC236}">
                <a16:creationId xmlns:a16="http://schemas.microsoft.com/office/drawing/2014/main" id="{3EE22DD4-B887-49A8-9447-D73C51229663}"/>
              </a:ext>
            </a:extLst>
          </p:cNvPr>
          <p:cNvSpPr>
            <a:spLocks noGrp="1"/>
          </p:cNvSpPr>
          <p:nvPr>
            <p:ph idx="1"/>
          </p:nvPr>
        </p:nvSpPr>
        <p:spPr>
          <a:xfrm>
            <a:off x="306388" y="533400"/>
            <a:ext cx="11583987" cy="5410200"/>
          </a:xfrm>
        </p:spPr>
        <p:txBody>
          <a:bodyPr rtlCol="0">
            <a:noAutofit/>
          </a:bodyPr>
          <a:lstStyle/>
          <a:p>
            <a:pPr algn="just" eaLnBrk="1" fontAlgn="auto" hangingPunct="1">
              <a:defRPr/>
            </a:pPr>
            <a:r>
              <a:rPr lang="en-US" sz="2400" b="1" dirty="0"/>
              <a:t>Example:  4 bits</a:t>
            </a:r>
            <a:endParaRPr lang="en-US" sz="2400" dirty="0"/>
          </a:p>
          <a:p>
            <a:pPr algn="just" eaLnBrk="1" fontAlgn="auto" hangingPunct="1">
              <a:buFont typeface="Wingdings" pitchFamily="2" charset="2"/>
              <a:buNone/>
              <a:defRPr/>
            </a:pPr>
            <a:r>
              <a:rPr lang="en-US" sz="2400" b="1" dirty="0"/>
              <a:t>	      0101   is  5</a:t>
            </a:r>
            <a:endParaRPr lang="en-US" sz="2400" dirty="0"/>
          </a:p>
          <a:p>
            <a:pPr algn="just" eaLnBrk="1" fontAlgn="auto" hangingPunct="1">
              <a:buFont typeface="Wingdings" pitchFamily="2" charset="2"/>
              <a:buNone/>
              <a:defRPr/>
            </a:pPr>
            <a:r>
              <a:rPr lang="en-US" sz="2400" b="1" dirty="0"/>
              <a:t> 	      1101   is -5</a:t>
            </a:r>
            <a:r>
              <a:rPr lang="en-US" sz="2400" dirty="0"/>
              <a:t> </a:t>
            </a:r>
          </a:p>
          <a:p>
            <a:pPr algn="just" eaLnBrk="1" fontAlgn="auto" hangingPunct="1">
              <a:defRPr/>
            </a:pPr>
            <a:r>
              <a:rPr lang="en-US" sz="2400" dirty="0"/>
              <a:t>To get the additive inverse of a number, just flip (not, invert, complement, negate) the sign bit.</a:t>
            </a:r>
          </a:p>
          <a:p>
            <a:pPr algn="just" eaLnBrk="1" fontAlgn="auto" hangingPunct="1">
              <a:defRPr/>
            </a:pPr>
            <a:r>
              <a:rPr lang="en-US" b="1" dirty="0">
                <a:solidFill>
                  <a:srgbClr val="FF0000"/>
                </a:solidFill>
              </a:rPr>
              <a:t>range:   -(2**(n-1)) + 1     to    2**(n-1) -1,    where n is the number of bits</a:t>
            </a:r>
          </a:p>
          <a:p>
            <a:pPr algn="just" eaLnBrk="1" fontAlgn="auto" hangingPunct="1">
              <a:buFont typeface="Wingdings" pitchFamily="2" charset="2"/>
              <a:buNone/>
              <a:defRPr/>
            </a:pPr>
            <a:r>
              <a:rPr lang="en-US" sz="2400" dirty="0"/>
              <a:t> </a:t>
            </a:r>
          </a:p>
          <a:p>
            <a:pPr algn="just" eaLnBrk="1" fontAlgn="auto" hangingPunct="1">
              <a:buFont typeface="Wingdings" pitchFamily="2" charset="2"/>
              <a:buNone/>
              <a:defRPr/>
            </a:pPr>
            <a:r>
              <a:rPr lang="en-US" sz="2400" b="1" dirty="0"/>
              <a:t>With  4 bits,  -7 to +7</a:t>
            </a:r>
            <a:endParaRPr lang="en-US" sz="2400" dirty="0"/>
          </a:p>
          <a:p>
            <a:pPr algn="just" eaLnBrk="1" fontAlgn="auto" hangingPunct="1">
              <a:buFont typeface="Wingdings" pitchFamily="2" charset="2"/>
              <a:buNone/>
              <a:defRPr/>
            </a:pPr>
            <a:r>
              <a:rPr lang="en-US" sz="2400" b="1" dirty="0"/>
              <a:t>	  n = 4, - 2**3 + 1     to    2**3 - 1</a:t>
            </a:r>
            <a:endParaRPr lang="en-US" sz="2400" dirty="0"/>
          </a:p>
          <a:p>
            <a:pPr algn="just" eaLnBrk="1" fontAlgn="auto" hangingPunct="1">
              <a:buFont typeface="Wingdings" pitchFamily="2" charset="2"/>
              <a:buNone/>
              <a:defRPr/>
            </a:pPr>
            <a:r>
              <a:rPr lang="en-US" sz="2400" b="1" dirty="0"/>
              <a:t>	             -8 + 1         to     8 - 1</a:t>
            </a:r>
            <a:endParaRPr lang="en-US" sz="2400" dirty="0"/>
          </a:p>
          <a:p>
            <a:pPr algn="just" eaLnBrk="1" fontAlgn="auto" hangingPunct="1">
              <a:defRPr/>
            </a:pPr>
            <a:endParaRPr lang="en-US" sz="2400" dirty="0"/>
          </a:p>
        </p:txBody>
      </p:sp>
      <p:sp>
        <p:nvSpPr>
          <p:cNvPr id="31747" name="Slide Number Placeholder 3">
            <a:extLst>
              <a:ext uri="{FF2B5EF4-FFF2-40B4-BE49-F238E27FC236}">
                <a16:creationId xmlns:a16="http://schemas.microsoft.com/office/drawing/2014/main" id="{57113AED-653F-4BFC-9014-CE339D1B3E6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1A9863B-C231-468F-91CA-4ABC5A4BDC22}" type="slidenum">
              <a:rPr lang="en-US" altLang="en-US" sz="1800" smtClean="0">
                <a:solidFill>
                  <a:srgbClr val="898989"/>
                </a:solidFill>
                <a:latin typeface="Arial" panose="020B0604020202020204" pitchFamily="34" charset="0"/>
              </a:rPr>
              <a:pPr algn="l" eaLnBrk="0" hangingPunct="0">
                <a:spcBef>
                  <a:spcPct val="0"/>
                </a:spcBef>
                <a:buFontTx/>
                <a:buNone/>
              </a:pPr>
              <a:t>21</a:t>
            </a:fld>
            <a:endParaRPr lang="en-US" altLang="en-US" sz="1800">
              <a:solidFill>
                <a:srgbClr val="898989"/>
              </a:solidFill>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3BC0BA80-3CCD-4765-BBF8-CBADFF06AEB6}"/>
              </a:ext>
            </a:extLst>
          </p:cNvPr>
          <p:cNvSpPr>
            <a:spLocks noGrp="1"/>
          </p:cNvSpPr>
          <p:nvPr>
            <p:ph type="title"/>
          </p:nvPr>
        </p:nvSpPr>
        <p:spPr>
          <a:xfrm>
            <a:off x="1320800" y="304800"/>
            <a:ext cx="9424988"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defRPr/>
            </a:pPr>
            <a:r>
              <a:rPr lang="en-US" sz="3600"/>
              <a:t>Problem of Sign-Magnitude</a:t>
            </a:r>
          </a:p>
        </p:txBody>
      </p:sp>
      <p:sp>
        <p:nvSpPr>
          <p:cNvPr id="11267" name="Content Placeholder 2">
            <a:extLst>
              <a:ext uri="{FF2B5EF4-FFF2-40B4-BE49-F238E27FC236}">
                <a16:creationId xmlns:a16="http://schemas.microsoft.com/office/drawing/2014/main" id="{276D4E84-6C4E-4BE2-96AC-0546F5AC2150}"/>
              </a:ext>
            </a:extLst>
          </p:cNvPr>
          <p:cNvSpPr>
            <a:spLocks noGrp="1"/>
          </p:cNvSpPr>
          <p:nvPr>
            <p:ph idx="1"/>
          </p:nvPr>
        </p:nvSpPr>
        <p:spPr>
          <a:xfrm>
            <a:off x="306388" y="1143000"/>
            <a:ext cx="11509375" cy="4191000"/>
          </a:xfrm>
        </p:spPr>
        <p:txBody>
          <a:bodyPr rtlCol="0"/>
          <a:lstStyle/>
          <a:p>
            <a:pPr algn="just" eaLnBrk="1" fontAlgn="auto" hangingPunct="1">
              <a:defRPr/>
            </a:pPr>
            <a:r>
              <a:rPr lang="en-US" sz="2400" dirty="0"/>
              <a:t>Because of the sign bit, there are 2 representations for 0. This is a problem for hardware. </a:t>
            </a:r>
          </a:p>
          <a:p>
            <a:pPr algn="just" eaLnBrk="1" fontAlgn="auto" hangingPunct="1">
              <a:defRPr/>
            </a:pPr>
            <a:r>
              <a:rPr lang="en-US" sz="2400" dirty="0"/>
              <a:t>0000 is 0 and so is 1000. The computer must do all calculations such that they come out correctly and the same whichever representation is used.</a:t>
            </a:r>
          </a:p>
          <a:p>
            <a:pPr algn="just" eaLnBrk="1" fontAlgn="auto" hangingPunct="1">
              <a:defRPr/>
            </a:pPr>
            <a:r>
              <a:rPr lang="en-US" sz="2400" dirty="0"/>
              <a:t>Sign reversal and absolute value operations are easy using sign-magnitude representation. </a:t>
            </a:r>
          </a:p>
          <a:p>
            <a:pPr algn="just" eaLnBrk="1" fontAlgn="auto" hangingPunct="1">
              <a:defRPr/>
            </a:pPr>
            <a:r>
              <a:rPr lang="en-US" sz="2400" dirty="0"/>
              <a:t>Adding the negative of a number is not the same as subtraction in sign-magnitude. Different operations must be defined for addition and subtraction with sign-magnitude numbers. </a:t>
            </a:r>
          </a:p>
        </p:txBody>
      </p:sp>
      <p:sp>
        <p:nvSpPr>
          <p:cNvPr id="32772" name="Slide Number Placeholder 3">
            <a:extLst>
              <a:ext uri="{FF2B5EF4-FFF2-40B4-BE49-F238E27FC236}">
                <a16:creationId xmlns:a16="http://schemas.microsoft.com/office/drawing/2014/main" id="{246B1BDF-4CC3-4D3E-9817-92A476425099}"/>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D48356EF-688D-4B2A-A4B2-31C34543E8D2}" type="slidenum">
              <a:rPr lang="en-US" altLang="en-US" sz="1800" smtClean="0">
                <a:solidFill>
                  <a:srgbClr val="898989"/>
                </a:solidFill>
                <a:latin typeface="Arial" panose="020B0604020202020204" pitchFamily="34" charset="0"/>
              </a:rPr>
              <a:pPr algn="l" eaLnBrk="0" hangingPunct="0">
                <a:spcBef>
                  <a:spcPct val="0"/>
                </a:spcBef>
                <a:buFontTx/>
                <a:buNone/>
              </a:pPr>
              <a:t>22</a:t>
            </a:fld>
            <a:endParaRPr lang="en-US" altLang="en-US" sz="1800">
              <a:solidFill>
                <a:srgbClr val="898989"/>
              </a:solidFill>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B71F0E56-2A79-429A-A815-00022FCCDFF4}"/>
              </a:ext>
            </a:extLst>
          </p:cNvPr>
          <p:cNvSpPr>
            <a:spLocks noGrp="1"/>
          </p:cNvSpPr>
          <p:nvPr>
            <p:ph type="title"/>
          </p:nvPr>
        </p:nvSpPr>
        <p:spPr>
          <a:xfrm>
            <a:off x="711200" y="228600"/>
            <a:ext cx="8639175"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1’s Complement Representation</a:t>
            </a:r>
          </a:p>
        </p:txBody>
      </p:sp>
      <p:sp>
        <p:nvSpPr>
          <p:cNvPr id="12291" name="Content Placeholder 2">
            <a:extLst>
              <a:ext uri="{FF2B5EF4-FFF2-40B4-BE49-F238E27FC236}">
                <a16:creationId xmlns:a16="http://schemas.microsoft.com/office/drawing/2014/main" id="{69046AB6-A41C-46B2-94CB-93CDDC63F33F}"/>
              </a:ext>
            </a:extLst>
          </p:cNvPr>
          <p:cNvSpPr>
            <a:spLocks noGrp="1"/>
          </p:cNvSpPr>
          <p:nvPr>
            <p:ph idx="1"/>
          </p:nvPr>
        </p:nvSpPr>
        <p:spPr>
          <a:xfrm>
            <a:off x="230188" y="990600"/>
            <a:ext cx="11761787" cy="4648200"/>
          </a:xfrm>
        </p:spPr>
        <p:txBody>
          <a:bodyPr rtlCol="0"/>
          <a:lstStyle/>
          <a:p>
            <a:pPr eaLnBrk="1" fontAlgn="auto" hangingPunct="1">
              <a:defRPr/>
            </a:pPr>
            <a:r>
              <a:rPr lang="en-US" sz="2400" dirty="0"/>
              <a:t>Another method used in representing negative numbers. </a:t>
            </a:r>
          </a:p>
          <a:p>
            <a:pPr eaLnBrk="1" fontAlgn="auto" hangingPunct="1">
              <a:defRPr/>
            </a:pPr>
            <a:r>
              <a:rPr lang="en-US" sz="2400" dirty="0"/>
              <a:t>The ones' complement form of a negative binary number is the </a:t>
            </a:r>
            <a:r>
              <a:rPr lang="en-US" sz="2400" b="1" dirty="0">
                <a:solidFill>
                  <a:srgbClr val="002060"/>
                </a:solidFill>
              </a:rPr>
              <a:t>bitwise NOT</a:t>
            </a:r>
            <a:r>
              <a:rPr lang="en-US" sz="2400" dirty="0">
                <a:solidFill>
                  <a:srgbClr val="002060"/>
                </a:solidFill>
              </a:rPr>
              <a:t> </a:t>
            </a:r>
            <a:r>
              <a:rPr lang="en-US" sz="2400" dirty="0"/>
              <a:t>applied to it  — the "complement" of its positive counterpart.</a:t>
            </a:r>
          </a:p>
          <a:p>
            <a:pPr eaLnBrk="1" fontAlgn="auto" hangingPunct="1">
              <a:defRPr/>
            </a:pPr>
            <a:r>
              <a:rPr lang="en-US" sz="2400" b="1" dirty="0">
                <a:solidFill>
                  <a:srgbClr val="FF0000"/>
                </a:solidFill>
              </a:rPr>
              <a:t>i.e. </a:t>
            </a:r>
            <a:r>
              <a:rPr lang="en-US" sz="2000" b="1" dirty="0">
                <a:solidFill>
                  <a:srgbClr val="FF0000"/>
                </a:solidFill>
              </a:rPr>
              <a:t>Negation (finding an additive inverse) is done by taking a bitwise complement of the positive representation.</a:t>
            </a:r>
            <a:r>
              <a:rPr lang="en-US" sz="2400" dirty="0">
                <a:solidFill>
                  <a:srgbClr val="FF0000"/>
                </a:solidFill>
              </a:rPr>
              <a:t> </a:t>
            </a:r>
          </a:p>
          <a:p>
            <a:pPr eaLnBrk="1" fontAlgn="auto" hangingPunct="1">
              <a:defRPr/>
            </a:pPr>
            <a:r>
              <a:rPr lang="en-US" sz="2400" dirty="0"/>
              <a:t>Like sign-and-magnitude representation, ones' complement has two representations of 0:</a:t>
            </a:r>
          </a:p>
          <a:p>
            <a:pPr eaLnBrk="1" fontAlgn="auto" hangingPunct="1">
              <a:buFont typeface="Wingdings" pitchFamily="2" charset="2"/>
              <a:buNone/>
              <a:defRPr/>
            </a:pPr>
            <a:r>
              <a:rPr lang="en-US" sz="2400" dirty="0"/>
              <a:t>	   </a:t>
            </a:r>
            <a:r>
              <a:rPr lang="en-US" sz="2400" b="1" dirty="0">
                <a:solidFill>
                  <a:srgbClr val="002060"/>
                </a:solidFill>
              </a:rPr>
              <a:t>00000000 (+0) and 11111111 (−0).</a:t>
            </a:r>
          </a:p>
          <a:p>
            <a:pPr eaLnBrk="1" fontAlgn="auto" hangingPunct="1">
              <a:defRPr/>
            </a:pPr>
            <a:r>
              <a:rPr lang="en-US" sz="2400" b="1" dirty="0">
                <a:solidFill>
                  <a:srgbClr val="0000FF"/>
                </a:solidFill>
              </a:rPr>
              <a:t>positive integers use the same representation as unsigned.</a:t>
            </a:r>
            <a:endParaRPr lang="en-US" sz="2400" dirty="0">
              <a:solidFill>
                <a:srgbClr val="0000FF"/>
              </a:solidFill>
            </a:endParaRPr>
          </a:p>
        </p:txBody>
      </p:sp>
      <p:sp>
        <p:nvSpPr>
          <p:cNvPr id="33796" name="Slide Number Placeholder 3">
            <a:extLst>
              <a:ext uri="{FF2B5EF4-FFF2-40B4-BE49-F238E27FC236}">
                <a16:creationId xmlns:a16="http://schemas.microsoft.com/office/drawing/2014/main" id="{0884994D-90C5-465C-8C5F-AE3B7DA5468B}"/>
              </a:ext>
            </a:extLst>
          </p:cNvPr>
          <p:cNvSpPr>
            <a:spLocks noGrp="1" noChangeArrowheads="1"/>
          </p:cNvSpPr>
          <p:nvPr>
            <p:ph type="sldNum" sz="quarter" idx="4"/>
          </p:nvPr>
        </p:nvSpPr>
        <p:spPr bwMode="auto">
          <a:xfrm>
            <a:off x="10569575" y="6248400"/>
            <a:ext cx="10160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A8120FCC-4E96-4638-BBB4-FA3F95B43111}" type="slidenum">
              <a:rPr lang="en-US" altLang="en-US" sz="1800" smtClean="0">
                <a:solidFill>
                  <a:srgbClr val="898989"/>
                </a:solidFill>
                <a:latin typeface="Arial" panose="020B0604020202020204" pitchFamily="34" charset="0"/>
              </a:rPr>
              <a:pPr algn="l" eaLnBrk="0" hangingPunct="0">
                <a:spcBef>
                  <a:spcPct val="0"/>
                </a:spcBef>
                <a:buFontTx/>
                <a:buNone/>
              </a:pPr>
              <a:t>23</a:t>
            </a:fld>
            <a:endParaRPr lang="en-US" altLang="en-US" sz="1800">
              <a:solidFill>
                <a:srgbClr val="898989"/>
              </a:solidFill>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E7CEB5BD-0AC7-4661-80F0-DBF14CC580A3}"/>
              </a:ext>
            </a:extLst>
          </p:cNvPr>
          <p:cNvSpPr>
            <a:spLocks noGrp="1"/>
          </p:cNvSpPr>
          <p:nvPr>
            <p:ph type="title"/>
          </p:nvPr>
        </p:nvSpPr>
        <p:spPr>
          <a:xfrm>
            <a:off x="534988" y="304800"/>
            <a:ext cx="10364787" cy="5603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Example</a:t>
            </a:r>
          </a:p>
        </p:txBody>
      </p:sp>
      <p:sp>
        <p:nvSpPr>
          <p:cNvPr id="13315" name="Content Placeholder 2">
            <a:extLst>
              <a:ext uri="{FF2B5EF4-FFF2-40B4-BE49-F238E27FC236}">
                <a16:creationId xmlns:a16="http://schemas.microsoft.com/office/drawing/2014/main" id="{0AA2F89A-28D1-4559-9506-FED6FF1AB23E}"/>
              </a:ext>
            </a:extLst>
          </p:cNvPr>
          <p:cNvSpPr>
            <a:spLocks noGrp="1"/>
          </p:cNvSpPr>
          <p:nvPr>
            <p:ph idx="1"/>
          </p:nvPr>
        </p:nvSpPr>
        <p:spPr>
          <a:xfrm>
            <a:off x="382588" y="1066800"/>
            <a:ext cx="11585575" cy="5105400"/>
          </a:xfrm>
        </p:spPr>
        <p:txBody>
          <a:bodyPr rtlCol="0"/>
          <a:lstStyle/>
          <a:p>
            <a:pPr eaLnBrk="1" fontAlgn="auto" hangingPunct="1">
              <a:defRPr/>
            </a:pPr>
            <a:r>
              <a:rPr lang="en-US" sz="2600" dirty="0"/>
              <a:t>As an example, the ones' complement form of </a:t>
            </a:r>
            <a:r>
              <a:rPr lang="en-US" sz="2600" b="1" dirty="0"/>
              <a:t>00101011 (43</a:t>
            </a:r>
            <a:r>
              <a:rPr lang="en-US" sz="2600" b="1" baseline="-25000" dirty="0"/>
              <a:t>10</a:t>
            </a:r>
            <a:r>
              <a:rPr lang="en-US" sz="2600" b="1" dirty="0"/>
              <a:t>) </a:t>
            </a:r>
            <a:r>
              <a:rPr lang="en-US" sz="2600" dirty="0"/>
              <a:t>becomes</a:t>
            </a:r>
            <a:r>
              <a:rPr lang="en-US" sz="2600" b="1" dirty="0"/>
              <a:t> 11010100 (−43</a:t>
            </a:r>
            <a:r>
              <a:rPr lang="en-US" sz="2600" b="1" baseline="-25000" dirty="0"/>
              <a:t>10</a:t>
            </a:r>
            <a:r>
              <a:rPr lang="en-US" sz="2600" b="1" dirty="0"/>
              <a:t>). </a:t>
            </a:r>
          </a:p>
          <a:p>
            <a:pPr eaLnBrk="1" fontAlgn="auto" hangingPunct="1">
              <a:defRPr/>
            </a:pPr>
            <a:r>
              <a:rPr lang="en-US" sz="2600" dirty="0"/>
              <a:t>What number in 1’s complement</a:t>
            </a:r>
            <a:r>
              <a:rPr lang="en-US" sz="2600" b="1" dirty="0"/>
              <a:t> is 11100?</a:t>
            </a:r>
          </a:p>
          <a:p>
            <a:pPr eaLnBrk="1" fontAlgn="auto" hangingPunct="1">
              <a:defRPr/>
            </a:pPr>
            <a:r>
              <a:rPr lang="en-US" sz="2600" dirty="0"/>
              <a:t>This must be a negative number. To find out which, find the additive inverse!  00011 is +3 by sight, so 11100 must be -3</a:t>
            </a:r>
          </a:p>
          <a:p>
            <a:pPr eaLnBrk="1" fontAlgn="auto" hangingPunct="1">
              <a:defRPr/>
            </a:pPr>
            <a:r>
              <a:rPr lang="en-US" sz="2600" dirty="0"/>
              <a:t>The range of signed numbers using ones' complement is represented by </a:t>
            </a:r>
          </a:p>
          <a:p>
            <a:pPr eaLnBrk="1" fontAlgn="auto" hangingPunct="1">
              <a:buFont typeface="Wingdings" pitchFamily="2" charset="2"/>
              <a:buNone/>
              <a:defRPr/>
            </a:pPr>
            <a:r>
              <a:rPr lang="en-US" sz="2600" dirty="0"/>
              <a:t>	</a:t>
            </a:r>
            <a:r>
              <a:rPr lang="en-US" sz="2600" b="1" dirty="0"/>
              <a:t>−(2</a:t>
            </a:r>
            <a:r>
              <a:rPr lang="en-US" sz="2600" b="1" baseline="30000" dirty="0"/>
              <a:t>N−1</a:t>
            </a:r>
            <a:r>
              <a:rPr lang="en-US" sz="2600" b="1" dirty="0"/>
              <a:t>−1) to (2</a:t>
            </a:r>
            <a:r>
              <a:rPr lang="en-US" sz="2600" b="1" baseline="30000" dirty="0"/>
              <a:t>N−1</a:t>
            </a:r>
            <a:r>
              <a:rPr lang="en-US" sz="2600" b="1" dirty="0"/>
              <a:t>−1) and ±0. </a:t>
            </a:r>
          </a:p>
          <a:p>
            <a:pPr eaLnBrk="1" fontAlgn="auto" hangingPunct="1">
              <a:defRPr/>
            </a:pPr>
            <a:r>
              <a:rPr lang="en-US" sz="2600" dirty="0"/>
              <a:t>A conventional 8-bit range is </a:t>
            </a:r>
            <a:r>
              <a:rPr lang="en-US" sz="2600" b="1" dirty="0"/>
              <a:t>−127</a:t>
            </a:r>
            <a:r>
              <a:rPr lang="en-US" sz="2600" b="1" baseline="-25000" dirty="0"/>
              <a:t>10</a:t>
            </a:r>
            <a:r>
              <a:rPr lang="en-US" sz="2600" b="1" dirty="0"/>
              <a:t> to +127</a:t>
            </a:r>
            <a:r>
              <a:rPr lang="en-US" sz="2600" b="1" baseline="-25000" dirty="0"/>
              <a:t>10</a:t>
            </a:r>
            <a:r>
              <a:rPr lang="en-US" sz="2600" b="1" dirty="0"/>
              <a:t> </a:t>
            </a:r>
          </a:p>
          <a:p>
            <a:pPr eaLnBrk="1" fontAlgn="auto" hangingPunct="1">
              <a:defRPr/>
            </a:pPr>
            <a:r>
              <a:rPr lang="en-US" sz="2600" dirty="0"/>
              <a:t>Zero is either 00000000 (+0) or 11111111 (−0).</a:t>
            </a:r>
          </a:p>
        </p:txBody>
      </p:sp>
      <p:sp>
        <p:nvSpPr>
          <p:cNvPr id="34820" name="Slide Number Placeholder 3">
            <a:extLst>
              <a:ext uri="{FF2B5EF4-FFF2-40B4-BE49-F238E27FC236}">
                <a16:creationId xmlns:a16="http://schemas.microsoft.com/office/drawing/2014/main" id="{D4D4C829-FD72-4E3E-9DCE-C5B72063B2A9}"/>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C2FF7107-661A-44CA-967A-BC92EAE6DE75}" type="slidenum">
              <a:rPr lang="en-US" altLang="en-US" sz="1800" smtClean="0">
                <a:solidFill>
                  <a:srgbClr val="898989"/>
                </a:solidFill>
                <a:latin typeface="Arial" panose="020B0604020202020204" pitchFamily="34" charset="0"/>
              </a:rPr>
              <a:pPr algn="l" eaLnBrk="0" hangingPunct="0">
                <a:spcBef>
                  <a:spcPct val="0"/>
                </a:spcBef>
                <a:buFontTx/>
                <a:buNone/>
              </a:pPr>
              <a:t>24</a:t>
            </a:fld>
            <a:endParaRPr lang="en-US" altLang="en-US" sz="1800">
              <a:solidFill>
                <a:srgbClr val="898989"/>
              </a:solidFill>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7198469-468F-40E8-92E0-A95612EC9C3A}"/>
              </a:ext>
            </a:extLst>
          </p:cNvPr>
          <p:cNvSpPr>
            <a:spLocks noGrp="1"/>
          </p:cNvSpPr>
          <p:nvPr>
            <p:ph type="title"/>
          </p:nvPr>
        </p:nvSpPr>
        <p:spPr>
          <a:xfrm>
            <a:off x="382588" y="152400"/>
            <a:ext cx="10975975" cy="636588"/>
          </a:xfrm>
        </p:spPr>
        <p:txBody>
          <a:bodyPr rtlCol="0">
            <a:normAutofit fontScale="90000"/>
          </a:bodyPr>
          <a:lstStyle/>
          <a:p>
            <a:pPr eaLnBrk="1" fontAlgn="auto" hangingPunct="1">
              <a:spcAft>
                <a:spcPts val="0"/>
              </a:spcAft>
              <a:defRPr/>
            </a:pPr>
            <a:r>
              <a:rPr lang="en-US" dirty="0"/>
              <a:t>1’s Complement (Cont’d)</a:t>
            </a:r>
          </a:p>
        </p:txBody>
      </p:sp>
      <p:sp>
        <p:nvSpPr>
          <p:cNvPr id="14339" name="Content Placeholder 2">
            <a:extLst>
              <a:ext uri="{FF2B5EF4-FFF2-40B4-BE49-F238E27FC236}">
                <a16:creationId xmlns:a16="http://schemas.microsoft.com/office/drawing/2014/main" id="{6244B8B9-C2C4-4C60-A764-11810CEEBFCB}"/>
              </a:ext>
            </a:extLst>
          </p:cNvPr>
          <p:cNvSpPr>
            <a:spLocks noGrp="1"/>
          </p:cNvSpPr>
          <p:nvPr>
            <p:ph idx="1"/>
          </p:nvPr>
        </p:nvSpPr>
        <p:spPr>
          <a:xfrm>
            <a:off x="230188" y="838200"/>
            <a:ext cx="11506200" cy="2514600"/>
          </a:xfrm>
        </p:spPr>
        <p:txBody>
          <a:bodyPr rtlCol="0">
            <a:noAutofit/>
          </a:bodyPr>
          <a:lstStyle/>
          <a:p>
            <a:pPr algn="just" eaLnBrk="1" fontAlgn="auto" hangingPunct="1">
              <a:defRPr/>
            </a:pPr>
            <a:r>
              <a:rPr lang="en-US" sz="2400" dirty="0"/>
              <a:t>To add two numbers represented in this system, one does a conventional binary addition, but it is then necessary to do an </a:t>
            </a:r>
            <a:r>
              <a:rPr lang="en-US" sz="2400" b="1" dirty="0">
                <a:solidFill>
                  <a:srgbClr val="0000FF"/>
                </a:solidFill>
              </a:rPr>
              <a:t>end-around carry</a:t>
            </a:r>
            <a:r>
              <a:rPr lang="en-US" sz="2400" dirty="0"/>
              <a:t>: that is, add any resulting </a:t>
            </a:r>
            <a:r>
              <a:rPr lang="en-US" sz="2400" dirty="0">
                <a:hlinkClick r:id="rId2" tooltip="Carry flag"/>
              </a:rPr>
              <a:t>carry</a:t>
            </a:r>
            <a:r>
              <a:rPr lang="en-US" sz="2400" dirty="0"/>
              <a:t> back into the resulting sum. </a:t>
            </a:r>
          </a:p>
          <a:p>
            <a:pPr algn="just" eaLnBrk="1" fontAlgn="auto" hangingPunct="1">
              <a:defRPr/>
            </a:pPr>
            <a:r>
              <a:rPr lang="en-US" sz="2400" dirty="0"/>
              <a:t>To see why this is necessary, consider the following example showing the case of the addition of −1 (11111110) to +2 (00000010).</a:t>
            </a:r>
          </a:p>
        </p:txBody>
      </p:sp>
      <p:sp>
        <p:nvSpPr>
          <p:cNvPr id="35844" name="Slide Number Placeholder 3">
            <a:extLst>
              <a:ext uri="{FF2B5EF4-FFF2-40B4-BE49-F238E27FC236}">
                <a16:creationId xmlns:a16="http://schemas.microsoft.com/office/drawing/2014/main" id="{4113E379-EF5A-4DCF-9D0A-D05B8F1A22D4}"/>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440E337-09B9-4E51-AC2D-1C01D574DC3D}" type="slidenum">
              <a:rPr lang="en-US" altLang="en-US" sz="1800" smtClean="0">
                <a:solidFill>
                  <a:srgbClr val="898989"/>
                </a:solidFill>
                <a:latin typeface="Arial" panose="020B0604020202020204" pitchFamily="34" charset="0"/>
              </a:rPr>
              <a:pPr algn="l" eaLnBrk="0" hangingPunct="0">
                <a:spcBef>
                  <a:spcPct val="0"/>
                </a:spcBef>
                <a:buFontTx/>
                <a:buNone/>
              </a:pPr>
              <a:t>25</a:t>
            </a:fld>
            <a:endParaRPr lang="en-US" altLang="en-US" sz="1800">
              <a:solidFill>
                <a:srgbClr val="898989"/>
              </a:solidFill>
              <a:latin typeface="Arial" panose="020B0604020202020204" pitchFamily="34" charset="0"/>
            </a:endParaRPr>
          </a:p>
        </p:txBody>
      </p:sp>
      <p:pic>
        <p:nvPicPr>
          <p:cNvPr id="35845" name="Picture 2">
            <a:extLst>
              <a:ext uri="{FF2B5EF4-FFF2-40B4-BE49-F238E27FC236}">
                <a16:creationId xmlns:a16="http://schemas.microsoft.com/office/drawing/2014/main" id="{7FFAD805-A6CD-4205-8CA5-3FCD6C3C1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905" t="57182" r="54729" b="24316"/>
          <a:stretch>
            <a:fillRect/>
          </a:stretch>
        </p:blipFill>
        <p:spPr bwMode="auto">
          <a:xfrm>
            <a:off x="1449388" y="3581400"/>
            <a:ext cx="95250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CA18F3E6-C6DC-4471-AC7B-782B4CE976D6}"/>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EFDB842-E08C-4869-9906-5B1141CD0066}" type="slidenum">
              <a:rPr lang="en-US" altLang="en-US" sz="1800" smtClean="0">
                <a:solidFill>
                  <a:srgbClr val="898989"/>
                </a:solidFill>
                <a:latin typeface="Arial" panose="020B0604020202020204" pitchFamily="34" charset="0"/>
              </a:rPr>
              <a:pPr algn="l" eaLnBrk="0" hangingPunct="0">
                <a:spcBef>
                  <a:spcPct val="0"/>
                </a:spcBef>
                <a:buFontTx/>
                <a:buNone/>
              </a:pPr>
              <a:t>26</a:t>
            </a:fld>
            <a:endParaRPr lang="en-US" altLang="en-US" sz="1800">
              <a:solidFill>
                <a:srgbClr val="898989"/>
              </a:solidFill>
              <a:latin typeface="Arial" panose="020B0604020202020204" pitchFamily="34" charset="0"/>
            </a:endParaRPr>
          </a:p>
        </p:txBody>
      </p:sp>
      <p:sp>
        <p:nvSpPr>
          <p:cNvPr id="15363" name="Content Placeholder 5">
            <a:extLst>
              <a:ext uri="{FF2B5EF4-FFF2-40B4-BE49-F238E27FC236}">
                <a16:creationId xmlns:a16="http://schemas.microsoft.com/office/drawing/2014/main" id="{3315B410-9015-4D00-A355-418FC3467D0A}"/>
              </a:ext>
            </a:extLst>
          </p:cNvPr>
          <p:cNvSpPr>
            <a:spLocks noGrp="1"/>
          </p:cNvSpPr>
          <p:nvPr>
            <p:ph idx="1"/>
          </p:nvPr>
        </p:nvSpPr>
        <p:spPr>
          <a:xfrm>
            <a:off x="306388" y="1295400"/>
            <a:ext cx="11583987" cy="4759325"/>
          </a:xfrm>
        </p:spPr>
        <p:txBody>
          <a:bodyPr rtlCol="0"/>
          <a:lstStyle/>
          <a:p>
            <a:pPr eaLnBrk="1" fontAlgn="auto" hangingPunct="1">
              <a:defRPr/>
            </a:pPr>
            <a:r>
              <a:rPr lang="en-US" sz="2400" dirty="0"/>
              <a:t>In the previous example, the binary addition alone gives 00000000, which is incorrect. Only when the carry is added back in does the correct result (00000001) appear.</a:t>
            </a:r>
          </a:p>
          <a:p>
            <a:pPr eaLnBrk="1" fontAlgn="auto" hangingPunct="1">
              <a:defRPr/>
            </a:pPr>
            <a:endParaRPr lang="en-US" sz="2400" dirty="0"/>
          </a:p>
          <a:p>
            <a:pPr eaLnBrk="1" fontAlgn="auto" hangingPunct="1">
              <a:defRPr/>
            </a:pPr>
            <a:r>
              <a:rPr lang="en-US" sz="2400" dirty="0"/>
              <a:t>This numeric representation system was common in older computers like the </a:t>
            </a:r>
            <a:r>
              <a:rPr lang="en-US" sz="2400" dirty="0">
                <a:hlinkClick r:id="rId2" tooltip="PDP-1"/>
              </a:rPr>
              <a:t>PDP-1</a:t>
            </a:r>
            <a:r>
              <a:rPr lang="en-US" sz="2400" dirty="0"/>
              <a:t>, </a:t>
            </a:r>
            <a:r>
              <a:rPr lang="en-US" sz="2400" dirty="0">
                <a:hlinkClick r:id="rId3" tooltip="CDC 160 series"/>
              </a:rPr>
              <a:t>CDC 160 series</a:t>
            </a:r>
            <a:r>
              <a:rPr lang="en-US" sz="2400" dirty="0"/>
              <a:t>, and </a:t>
            </a:r>
            <a:r>
              <a:rPr lang="en-US" sz="2400" dirty="0">
                <a:hlinkClick r:id="rId4" tooltip="UNIVAC 1100/2200 series"/>
              </a:rPr>
              <a:t>UNIVAC 1100/2200 series</a:t>
            </a:r>
            <a:r>
              <a:rPr lang="en-US" sz="2400" dirty="0"/>
              <a:t>, among many others.</a:t>
            </a:r>
          </a:p>
          <a:p>
            <a:pPr eaLnBrk="1" fontAlgn="auto" hangingPunct="1">
              <a:defRPr/>
            </a:pP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9B0E001B-1246-4A8E-BF92-B1C6086FE019}"/>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6947F7C-AA28-4AA6-9DF5-FA2827B35CD2}" type="slidenum">
              <a:rPr lang="en-US" altLang="en-US" sz="1800" smtClean="0">
                <a:solidFill>
                  <a:srgbClr val="898989"/>
                </a:solidFill>
                <a:latin typeface="Arial" panose="020B0604020202020204" pitchFamily="34" charset="0"/>
              </a:rPr>
              <a:pPr algn="l" eaLnBrk="0" hangingPunct="0">
                <a:spcBef>
                  <a:spcPct val="0"/>
                </a:spcBef>
                <a:buFontTx/>
                <a:buNone/>
              </a:pPr>
              <a:t>27</a:t>
            </a:fld>
            <a:endParaRPr lang="en-US" altLang="en-US" sz="1800">
              <a:solidFill>
                <a:srgbClr val="898989"/>
              </a:solidFill>
              <a:latin typeface="Arial" panose="020B0604020202020204" pitchFamily="34" charset="0"/>
            </a:endParaRPr>
          </a:p>
        </p:txBody>
      </p:sp>
      <p:pic>
        <p:nvPicPr>
          <p:cNvPr id="37891" name="Picture 2">
            <a:extLst>
              <a:ext uri="{FF2B5EF4-FFF2-40B4-BE49-F238E27FC236}">
                <a16:creationId xmlns:a16="http://schemas.microsoft.com/office/drawing/2014/main" id="{9265C9F2-08CD-4398-A890-FF091D2B2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7892" t="22917" r="2782" b="22917"/>
          <a:stretch>
            <a:fillRect/>
          </a:stretch>
        </p:blipFill>
        <p:spPr bwMode="auto">
          <a:xfrm>
            <a:off x="1930400" y="50800"/>
            <a:ext cx="7977188" cy="58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F62C3BA5-1D15-4460-B72B-D547A710B7CD}"/>
              </a:ext>
            </a:extLst>
          </p:cNvPr>
          <p:cNvSpPr>
            <a:spLocks noGrp="1"/>
          </p:cNvSpPr>
          <p:nvPr>
            <p:ph idx="1"/>
          </p:nvPr>
        </p:nvSpPr>
        <p:spPr>
          <a:xfrm>
            <a:off x="153988" y="1219200"/>
            <a:ext cx="11888787" cy="4530725"/>
          </a:xfrm>
        </p:spPr>
        <p:txBody>
          <a:bodyPr rtlCol="0"/>
          <a:lstStyle/>
          <a:p>
            <a:pPr algn="just" eaLnBrk="1" fontAlgn="auto" hangingPunct="1">
              <a:buFont typeface="Wingdings" pitchFamily="2" charset="2"/>
              <a:buNone/>
              <a:defRPr/>
            </a:pPr>
            <a:r>
              <a:rPr lang="en-US" sz="2400" b="1" dirty="0"/>
              <a:t>	Note:</a:t>
            </a:r>
          </a:p>
          <a:p>
            <a:pPr algn="just" eaLnBrk="1" fontAlgn="auto" hangingPunct="1">
              <a:defRPr/>
            </a:pPr>
            <a:r>
              <a:rPr lang="en-US" sz="2400" dirty="0"/>
              <a:t>The system is referred to as "ones' complement" because the negation of a positive value </a:t>
            </a:r>
            <a:r>
              <a:rPr lang="en-US" sz="2400" i="1" dirty="0"/>
              <a:t>x</a:t>
            </a:r>
            <a:r>
              <a:rPr lang="en-US" sz="2400" dirty="0"/>
              <a:t> (represented as the </a:t>
            </a:r>
            <a:r>
              <a:rPr lang="en-US" sz="2400" dirty="0">
                <a:hlinkClick r:id="rId2" tooltip="Bitwise NOT"/>
              </a:rPr>
              <a:t>bitwise NOT</a:t>
            </a:r>
            <a:r>
              <a:rPr lang="en-US" sz="2400" dirty="0"/>
              <a:t> of </a:t>
            </a:r>
            <a:r>
              <a:rPr lang="en-US" sz="2400" i="1" dirty="0"/>
              <a:t>x</a:t>
            </a:r>
            <a:r>
              <a:rPr lang="en-US" sz="2400" dirty="0"/>
              <a:t>) can also be formed by subtracting </a:t>
            </a:r>
            <a:r>
              <a:rPr lang="en-US" sz="2400" i="1" dirty="0"/>
              <a:t>x</a:t>
            </a:r>
            <a:r>
              <a:rPr lang="en-US" sz="2400" dirty="0"/>
              <a:t> from the ones' complement representation of zero that is a long sequence of ones (−0).</a:t>
            </a:r>
          </a:p>
          <a:p>
            <a:pPr algn="just" eaLnBrk="1" fontAlgn="auto" hangingPunct="1">
              <a:defRPr/>
            </a:pPr>
            <a:endParaRPr lang="en-US" sz="2400" dirty="0"/>
          </a:p>
          <a:p>
            <a:pPr algn="just" eaLnBrk="1" fontAlgn="auto" hangingPunct="1">
              <a:defRPr/>
            </a:pPr>
            <a:r>
              <a:rPr lang="en-US" sz="2400" dirty="0"/>
              <a:t>Note that the ones' complement representation of a negative number can be obtained from the sign-magnitude representation merely by </a:t>
            </a:r>
            <a:r>
              <a:rPr lang="en-US" sz="2400" b="1" dirty="0"/>
              <a:t>bitwise complementing the magnitude.</a:t>
            </a:r>
          </a:p>
          <a:p>
            <a:pPr algn="just" eaLnBrk="1" fontAlgn="auto" hangingPunct="1">
              <a:defRPr/>
            </a:pPr>
            <a:endParaRPr lang="en-US" sz="2400" dirty="0"/>
          </a:p>
        </p:txBody>
      </p:sp>
      <p:sp>
        <p:nvSpPr>
          <p:cNvPr id="38915" name="Slide Number Placeholder 3">
            <a:extLst>
              <a:ext uri="{FF2B5EF4-FFF2-40B4-BE49-F238E27FC236}">
                <a16:creationId xmlns:a16="http://schemas.microsoft.com/office/drawing/2014/main" id="{2369FC26-72CE-4EB0-8133-E757F5A4EA2A}"/>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3A38443-D0C3-41F0-8932-EDE454949857}" type="slidenum">
              <a:rPr lang="en-US" altLang="en-US" sz="1800" smtClean="0">
                <a:solidFill>
                  <a:srgbClr val="898989"/>
                </a:solidFill>
                <a:latin typeface="Arial" panose="020B0604020202020204" pitchFamily="34" charset="0"/>
              </a:rPr>
              <a:pPr algn="l" eaLnBrk="0" hangingPunct="0">
                <a:spcBef>
                  <a:spcPct val="0"/>
                </a:spcBef>
                <a:buFontTx/>
                <a:buNone/>
              </a:pPr>
              <a:t>28</a:t>
            </a:fld>
            <a:endParaRPr lang="en-US" altLang="en-US" sz="1800">
              <a:solidFill>
                <a:srgbClr val="898989"/>
              </a:solidFill>
              <a:latin typeface="Arial" panose="020B0604020202020204" pitchFamily="34" charset="0"/>
            </a:endParaRPr>
          </a:p>
        </p:txBody>
      </p:sp>
      <p:sp>
        <p:nvSpPr>
          <p:cNvPr id="38916" name="TextBox 3">
            <a:extLst>
              <a:ext uri="{FF2B5EF4-FFF2-40B4-BE49-F238E27FC236}">
                <a16:creationId xmlns:a16="http://schemas.microsoft.com/office/drawing/2014/main" id="{5CAF9770-C65B-487E-B580-F07A2B9E6591}"/>
              </a:ext>
            </a:extLst>
          </p:cNvPr>
          <p:cNvSpPr txBox="1">
            <a:spLocks noChangeArrowheads="1"/>
          </p:cNvSpPr>
          <p:nvPr/>
        </p:nvSpPr>
        <p:spPr bwMode="auto">
          <a:xfrm>
            <a:off x="611188" y="420688"/>
            <a:ext cx="80533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b="1">
                <a:solidFill>
                  <a:srgbClr val="FF0000"/>
                </a:solidFill>
              </a:rPr>
              <a:t>1’s Complement (Cont’d)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3F9481FC-C782-4CFF-B95B-3AB4B2F4A1BE}"/>
              </a:ext>
            </a:extLst>
          </p:cNvPr>
          <p:cNvSpPr>
            <a:spLocks noGrp="1"/>
          </p:cNvSpPr>
          <p:nvPr>
            <p:ph type="title"/>
          </p:nvPr>
        </p:nvSpPr>
        <p:spPr>
          <a:xfrm>
            <a:off x="609600" y="5826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Two’s Complement Representation</a:t>
            </a:r>
          </a:p>
        </p:txBody>
      </p:sp>
      <p:sp>
        <p:nvSpPr>
          <p:cNvPr id="18435" name="Content Placeholder 2">
            <a:extLst>
              <a:ext uri="{FF2B5EF4-FFF2-40B4-BE49-F238E27FC236}">
                <a16:creationId xmlns:a16="http://schemas.microsoft.com/office/drawing/2014/main" id="{ABF13E20-4D10-40D3-87A5-BB4FAE93F46B}"/>
              </a:ext>
            </a:extLst>
          </p:cNvPr>
          <p:cNvSpPr>
            <a:spLocks noGrp="1"/>
          </p:cNvSpPr>
          <p:nvPr>
            <p:ph idx="1"/>
          </p:nvPr>
        </p:nvSpPr>
        <p:spPr>
          <a:xfrm>
            <a:off x="609600" y="1447800"/>
            <a:ext cx="11280775" cy="4343400"/>
          </a:xfrm>
        </p:spPr>
        <p:txBody>
          <a:bodyPr rtlCol="0"/>
          <a:lstStyle/>
          <a:p>
            <a:pPr algn="just" eaLnBrk="1" fontAlgn="auto" hangingPunct="1">
              <a:defRPr/>
            </a:pPr>
            <a:r>
              <a:rPr lang="en-US" sz="2600" dirty="0"/>
              <a:t>This solves the problems of multiple representations of 0 and the need for the </a:t>
            </a:r>
            <a:r>
              <a:rPr lang="en-US" sz="2600" b="1" dirty="0">
                <a:solidFill>
                  <a:srgbClr val="0000FF"/>
                </a:solidFill>
              </a:rPr>
              <a:t>end-around carry.</a:t>
            </a:r>
            <a:r>
              <a:rPr lang="en-US" sz="2600" dirty="0">
                <a:solidFill>
                  <a:srgbClr val="0000FF"/>
                </a:solidFill>
              </a:rPr>
              <a:t> </a:t>
            </a:r>
          </a:p>
          <a:p>
            <a:pPr algn="just" eaLnBrk="1" fontAlgn="auto" hangingPunct="1">
              <a:defRPr/>
            </a:pPr>
            <a:r>
              <a:rPr lang="en-US" sz="2600" dirty="0"/>
              <a:t>In 2's complement, negative numbers are represented by the bit pattern which is one greater (in an unsigned sense) than the ones' complement of the positive value.</a:t>
            </a:r>
          </a:p>
          <a:p>
            <a:pPr eaLnBrk="1" fontAlgn="auto" hangingPunct="1">
              <a:defRPr/>
            </a:pPr>
            <a:r>
              <a:rPr lang="en-US" sz="2600" b="1" dirty="0"/>
              <a:t>How to find the 2’s Complement of a number: A Quick Method</a:t>
            </a:r>
            <a:r>
              <a:rPr lang="en-US" sz="2600" dirty="0"/>
              <a:t> </a:t>
            </a:r>
            <a:br>
              <a:rPr lang="en-US" sz="2600" dirty="0"/>
            </a:br>
            <a:r>
              <a:rPr lang="en-US" sz="2600" dirty="0"/>
              <a:t>Suppose we want to find the two’s complement of     6-bit representation of -14.</a:t>
            </a:r>
          </a:p>
        </p:txBody>
      </p:sp>
      <p:sp>
        <p:nvSpPr>
          <p:cNvPr id="39940" name="Slide Number Placeholder 3">
            <a:extLst>
              <a:ext uri="{FF2B5EF4-FFF2-40B4-BE49-F238E27FC236}">
                <a16:creationId xmlns:a16="http://schemas.microsoft.com/office/drawing/2014/main" id="{65DB1DA3-7423-4426-9B81-75DF3B06262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D169BBFB-582B-48ED-8478-97C42E66876F}" type="slidenum">
              <a:rPr lang="en-US" altLang="en-US" sz="1800" smtClean="0">
                <a:solidFill>
                  <a:srgbClr val="898989"/>
                </a:solidFill>
                <a:latin typeface="Arial" panose="020B0604020202020204" pitchFamily="34" charset="0"/>
              </a:rPr>
              <a:pPr algn="l" eaLnBrk="0" hangingPunct="0">
                <a:spcBef>
                  <a:spcPct val="0"/>
                </a:spcBef>
                <a:buFontTx/>
                <a:buNone/>
              </a:pPr>
              <a:t>29</a:t>
            </a:fld>
            <a:endParaRPr lang="en-US" altLang="en-US" sz="1800">
              <a:solidFill>
                <a:srgbClr val="898989"/>
              </a:solidFill>
              <a:latin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47054193-A180-4066-8F76-251BDF156DC3}"/>
              </a:ext>
            </a:extLst>
          </p:cNvPr>
          <p:cNvSpPr>
            <a:spLocks noGrp="1"/>
          </p:cNvSpPr>
          <p:nvPr>
            <p:ph idx="1"/>
          </p:nvPr>
        </p:nvSpPr>
        <p:spPr>
          <a:xfrm>
            <a:off x="306388" y="381000"/>
            <a:ext cx="11658600" cy="5715000"/>
          </a:xfrm>
        </p:spPr>
        <p:txBody>
          <a:bodyPr rtlCol="0"/>
          <a:lstStyle/>
          <a:p>
            <a:pPr eaLnBrk="1" fontAlgn="auto" hangingPunct="1">
              <a:defRPr/>
            </a:pPr>
            <a:r>
              <a:rPr lang="en-US" sz="2400" dirty="0"/>
              <a:t>(1.) First, we write down the positive binary number, in this case 14 (001110)</a:t>
            </a:r>
          </a:p>
          <a:p>
            <a:pPr eaLnBrk="1" fontAlgn="auto" hangingPunct="1">
              <a:defRPr/>
            </a:pPr>
            <a:r>
              <a:rPr lang="en-US" sz="2400" dirty="0"/>
              <a:t>(2.) Now, start writing the digits from the right hand side up to and including the first 1.  In our case, just 10. </a:t>
            </a:r>
          </a:p>
          <a:p>
            <a:pPr eaLnBrk="1" fontAlgn="auto" hangingPunct="1">
              <a:defRPr/>
            </a:pPr>
            <a:r>
              <a:rPr lang="en-US" sz="2400" dirty="0"/>
              <a:t>(3.) Then invert the rest of the digits.  So our answer becomes 110010.</a:t>
            </a:r>
          </a:p>
          <a:p>
            <a:pPr eaLnBrk="1" fontAlgn="auto" hangingPunct="1">
              <a:defRPr/>
            </a:pPr>
            <a:r>
              <a:rPr lang="en-US" sz="2400" b="1" dirty="0"/>
              <a:t>Examples:</a:t>
            </a:r>
          </a:p>
          <a:p>
            <a:pPr eaLnBrk="1" fontAlgn="auto" hangingPunct="1">
              <a:defRPr/>
            </a:pPr>
            <a:r>
              <a:rPr lang="en-US" sz="2400" b="1" dirty="0"/>
              <a:t>Two’s complement 8-bit representation of the following:</a:t>
            </a:r>
            <a:r>
              <a:rPr lang="en-US" sz="2400" dirty="0"/>
              <a:t> </a:t>
            </a:r>
            <a:br>
              <a:rPr lang="en-US" sz="2400" dirty="0"/>
            </a:br>
            <a:r>
              <a:rPr lang="en-US" sz="2400" dirty="0"/>
              <a:t>1.	+24   = 	</a:t>
            </a:r>
            <a:r>
              <a:rPr lang="en-US" sz="2400" b="1" dirty="0"/>
              <a:t>00011000 </a:t>
            </a:r>
            <a:br>
              <a:rPr lang="en-US" sz="2400" dirty="0"/>
            </a:br>
            <a:r>
              <a:rPr lang="en-US" sz="2400" dirty="0"/>
              <a:t>2.	+127 =	</a:t>
            </a:r>
            <a:r>
              <a:rPr lang="en-US" sz="2400" b="1" dirty="0"/>
              <a:t>01111111</a:t>
            </a:r>
            <a:r>
              <a:rPr lang="en-US" sz="2400" dirty="0"/>
              <a:t> </a:t>
            </a:r>
            <a:br>
              <a:rPr lang="en-US" sz="2400" dirty="0"/>
            </a:br>
            <a:r>
              <a:rPr lang="en-US" sz="2400" dirty="0"/>
              <a:t>3.	-39    =	</a:t>
            </a:r>
            <a:r>
              <a:rPr lang="en-US" sz="2400" b="1" dirty="0"/>
              <a:t>11011001</a:t>
            </a:r>
            <a:r>
              <a:rPr lang="en-US" sz="2400" dirty="0"/>
              <a:t> </a:t>
            </a:r>
            <a:br>
              <a:rPr lang="en-US" sz="2400" dirty="0"/>
            </a:br>
            <a:r>
              <a:rPr lang="en-US" sz="2400" dirty="0"/>
              <a:t>4.	-92    =	</a:t>
            </a:r>
            <a:r>
              <a:rPr lang="en-US" sz="2400" b="1" dirty="0"/>
              <a:t>10100100</a:t>
            </a:r>
            <a:r>
              <a:rPr lang="en-US" sz="2400" dirty="0"/>
              <a:t> </a:t>
            </a:r>
            <a:br>
              <a:rPr lang="en-US" sz="2400" dirty="0"/>
            </a:br>
            <a:r>
              <a:rPr lang="en-US" sz="2400" dirty="0"/>
              <a:t>5. 	-128  =	</a:t>
            </a:r>
            <a:r>
              <a:rPr lang="en-US" sz="2400" b="1" dirty="0"/>
              <a:t>10000000</a:t>
            </a:r>
            <a:endParaRPr lang="en-US" sz="2400" dirty="0"/>
          </a:p>
        </p:txBody>
      </p:sp>
      <p:sp>
        <p:nvSpPr>
          <p:cNvPr id="40963" name="Slide Number Placeholder 3">
            <a:extLst>
              <a:ext uri="{FF2B5EF4-FFF2-40B4-BE49-F238E27FC236}">
                <a16:creationId xmlns:a16="http://schemas.microsoft.com/office/drawing/2014/main" id="{62D50DA4-02E5-45B4-B240-B1D783EBD45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09CBADD-9170-4B14-B3D4-139340979ABE}" type="slidenum">
              <a:rPr lang="en-US" altLang="en-US" sz="1800" smtClean="0">
                <a:solidFill>
                  <a:srgbClr val="898989"/>
                </a:solidFill>
                <a:latin typeface="Arial" panose="020B0604020202020204" pitchFamily="34" charset="0"/>
              </a:rPr>
              <a:pPr algn="l" eaLnBrk="0" hangingPunct="0">
                <a:spcBef>
                  <a:spcPct val="0"/>
                </a:spcBef>
                <a:buFontTx/>
                <a:buNone/>
              </a:pPr>
              <a:t>30</a:t>
            </a:fld>
            <a:endParaRPr lang="en-US" altLang="en-US" sz="1800">
              <a:solidFill>
                <a:srgbClr val="898989"/>
              </a:solidFill>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BC1AAA3E-42AF-46B6-891D-C8DF32568136}"/>
              </a:ext>
            </a:extLst>
          </p:cNvPr>
          <p:cNvSpPr>
            <a:spLocks noGrp="1"/>
          </p:cNvSpPr>
          <p:nvPr>
            <p:ph idx="1"/>
          </p:nvPr>
        </p:nvSpPr>
        <p:spPr>
          <a:xfrm>
            <a:off x="306388" y="685800"/>
            <a:ext cx="11658600" cy="5105400"/>
          </a:xfrm>
        </p:spPr>
        <p:txBody>
          <a:bodyPr rtlCol="0"/>
          <a:lstStyle/>
          <a:p>
            <a:pPr eaLnBrk="1" fontAlgn="auto" hangingPunct="1">
              <a:defRPr/>
            </a:pPr>
            <a:r>
              <a:rPr lang="en-US" sz="2400" b="1" dirty="0">
                <a:solidFill>
                  <a:srgbClr val="FF0000"/>
                </a:solidFill>
              </a:rPr>
              <a:t>EXAMPLE:</a:t>
            </a:r>
            <a:endParaRPr lang="en-US" sz="2400" dirty="0">
              <a:solidFill>
                <a:srgbClr val="FF0000"/>
              </a:solidFill>
            </a:endParaRPr>
          </a:p>
          <a:p>
            <a:pPr eaLnBrk="1" fontAlgn="auto" hangingPunct="1">
              <a:defRPr/>
            </a:pPr>
            <a:r>
              <a:rPr lang="en-US" sz="2400" dirty="0"/>
              <a:t> What decimal value does the two's complement 110011 represent?</a:t>
            </a:r>
          </a:p>
          <a:p>
            <a:pPr eaLnBrk="1" fontAlgn="auto" hangingPunct="1">
              <a:defRPr/>
            </a:pPr>
            <a:r>
              <a:rPr lang="en-US" sz="2400" dirty="0"/>
              <a:t>It must be a negative number, since the most significant bit is a 1.  Therefore, find the additive inverse:</a:t>
            </a:r>
          </a:p>
          <a:p>
            <a:pPr eaLnBrk="1" fontAlgn="auto" hangingPunct="1">
              <a:defRPr/>
            </a:pPr>
            <a:r>
              <a:rPr lang="en-US" sz="2400" dirty="0"/>
              <a:t>	     110011  (2's comp.  ?)</a:t>
            </a:r>
          </a:p>
          <a:p>
            <a:pPr eaLnBrk="1" fontAlgn="auto" hangingPunct="1">
              <a:defRPr/>
            </a:pPr>
            <a:r>
              <a:rPr lang="en-US" sz="2400" dirty="0"/>
              <a:t>	     001100  (after taking the 1's complement)</a:t>
            </a:r>
          </a:p>
          <a:p>
            <a:pPr eaLnBrk="1" fontAlgn="auto" hangingPunct="1">
              <a:defRPr/>
            </a:pPr>
            <a:r>
              <a:rPr lang="en-US" sz="2400" dirty="0"/>
              <a:t>		+ 1</a:t>
            </a:r>
          </a:p>
          <a:p>
            <a:pPr eaLnBrk="1" fontAlgn="auto" hangingPunct="1">
              <a:defRPr/>
            </a:pPr>
            <a:r>
              <a:rPr lang="en-US" sz="2400" dirty="0"/>
              <a:t>	     -----------</a:t>
            </a:r>
          </a:p>
          <a:p>
            <a:pPr eaLnBrk="1" fontAlgn="auto" hangingPunct="1">
              <a:defRPr/>
            </a:pPr>
            <a:r>
              <a:rPr lang="en-US" sz="2400" dirty="0"/>
              <a:t>	     001101  (2's comp.  +13)</a:t>
            </a:r>
          </a:p>
          <a:p>
            <a:pPr eaLnBrk="1" fontAlgn="auto" hangingPunct="1">
              <a:defRPr/>
            </a:pPr>
            <a:r>
              <a:rPr lang="en-US" sz="2400" b="1" dirty="0"/>
              <a:t>Therefore, it's additive inverse (110011) must be -13.</a:t>
            </a:r>
            <a:endParaRPr lang="en-US" sz="2400" dirty="0"/>
          </a:p>
        </p:txBody>
      </p:sp>
      <p:sp>
        <p:nvSpPr>
          <p:cNvPr id="41987" name="Slide Number Placeholder 3">
            <a:extLst>
              <a:ext uri="{FF2B5EF4-FFF2-40B4-BE49-F238E27FC236}">
                <a16:creationId xmlns:a16="http://schemas.microsoft.com/office/drawing/2014/main" id="{ACC9FA1B-9C44-45E5-8566-34067F4F2CBE}"/>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7C27C8F-6DB7-4E04-9530-AA50E04C5327}" type="slidenum">
              <a:rPr lang="en-US" altLang="en-US" sz="1800" smtClean="0">
                <a:solidFill>
                  <a:srgbClr val="898989"/>
                </a:solidFill>
                <a:latin typeface="Arial" panose="020B0604020202020204" pitchFamily="34" charset="0"/>
              </a:rPr>
              <a:pPr algn="l" eaLnBrk="0" hangingPunct="0">
                <a:spcBef>
                  <a:spcPct val="0"/>
                </a:spcBef>
                <a:buFontTx/>
                <a:buNone/>
              </a:pPr>
              <a:t>31</a:t>
            </a:fld>
            <a:endParaRPr lang="en-US" altLang="en-US" sz="1800">
              <a:solidFill>
                <a:srgbClr val="898989"/>
              </a:solidFill>
              <a:latin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E1FBD2B0-14E9-4F01-A12E-BA4EE0C46301}"/>
              </a:ext>
            </a:extLst>
          </p:cNvPr>
          <p:cNvSpPr>
            <a:spLocks noGrp="1"/>
          </p:cNvSpPr>
          <p:nvPr>
            <p:ph type="title"/>
          </p:nvPr>
        </p:nvSpPr>
        <p:spPr>
          <a:xfrm>
            <a:off x="153988" y="2362200"/>
            <a:ext cx="11811000" cy="1116013"/>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4800" dirty="0"/>
              <a:t>MID-LECTURE QUIZ</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3337FD20-3C6A-4A5F-839B-A0D108D8B45D}"/>
              </a:ext>
            </a:extLst>
          </p:cNvPr>
          <p:cNvSpPr>
            <a:spLocks noGrp="1"/>
          </p:cNvSpPr>
          <p:nvPr>
            <p:ph type="title"/>
          </p:nvPr>
        </p:nvSpPr>
        <p:spPr>
          <a:xfrm>
            <a:off x="153988" y="152400"/>
            <a:ext cx="11811000" cy="8382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ATTEMPT ALL QUESTIONS – 10 MINUTES</a:t>
            </a:r>
          </a:p>
        </p:txBody>
      </p:sp>
      <p:sp>
        <p:nvSpPr>
          <p:cNvPr id="3" name="Content Placeholder 2">
            <a:extLst>
              <a:ext uri="{FF2B5EF4-FFF2-40B4-BE49-F238E27FC236}">
                <a16:creationId xmlns:a16="http://schemas.microsoft.com/office/drawing/2014/main" id="{E44F4F5A-3B13-40EA-BB47-8EEAEA59BF13}"/>
              </a:ext>
            </a:extLst>
          </p:cNvPr>
          <p:cNvSpPr>
            <a:spLocks noGrp="1"/>
          </p:cNvSpPr>
          <p:nvPr>
            <p:ph idx="1"/>
          </p:nvPr>
        </p:nvSpPr>
        <p:spPr>
          <a:xfrm>
            <a:off x="239713" y="1066800"/>
            <a:ext cx="11715750" cy="5170488"/>
          </a:xfrm>
        </p:spPr>
        <p:txBody>
          <a:bodyPr rtlCol="0"/>
          <a:lstStyle/>
          <a:p>
            <a:pPr marL="0" indent="0" eaLnBrk="1" fontAlgn="auto" hangingPunct="1">
              <a:buFont typeface="Arial" panose="020B0604020202020204" pitchFamily="34" charset="0"/>
              <a:buNone/>
              <a:defRPr/>
            </a:pPr>
            <a:r>
              <a:rPr lang="en-US" dirty="0"/>
              <a:t>1.  Briefly describe how negative integers are formed using </a:t>
            </a:r>
            <a:r>
              <a:rPr lang="en-US" b="1" dirty="0"/>
              <a:t>S-M, 1’s &amp; 2’s complement</a:t>
            </a:r>
            <a:r>
              <a:rPr lang="en-US" dirty="0"/>
              <a:t>.</a:t>
            </a:r>
          </a:p>
          <a:p>
            <a:pPr marL="0" indent="0" eaLnBrk="1" fontAlgn="auto" hangingPunct="1">
              <a:buFont typeface="Arial" panose="020B0604020202020204" pitchFamily="34" charset="0"/>
              <a:buNone/>
              <a:defRPr/>
            </a:pPr>
            <a:endParaRPr lang="en-US" dirty="0"/>
          </a:p>
          <a:p>
            <a:pPr marL="0" indent="0" eaLnBrk="1" fontAlgn="auto" hangingPunct="1">
              <a:buFont typeface="Arial" panose="020B0604020202020204" pitchFamily="34" charset="0"/>
              <a:buNone/>
              <a:defRPr/>
            </a:pPr>
            <a:r>
              <a:rPr lang="en-US" dirty="0"/>
              <a:t>2.  What does the value </a:t>
            </a:r>
            <a:r>
              <a:rPr lang="en-US" b="1" dirty="0"/>
              <a:t>111100111</a:t>
            </a:r>
            <a:r>
              <a:rPr lang="en-US" b="1" baseline="-25000" dirty="0"/>
              <a:t>2</a:t>
            </a:r>
            <a:r>
              <a:rPr lang="en-US" baseline="-25000" dirty="0"/>
              <a:t>  </a:t>
            </a:r>
            <a:r>
              <a:rPr lang="en-US" dirty="0"/>
              <a:t>represent  in  </a:t>
            </a:r>
            <a:r>
              <a:rPr lang="en-US" b="1" dirty="0"/>
              <a:t>S-M, 1’s and 2’s complement.</a:t>
            </a:r>
          </a:p>
          <a:p>
            <a:pPr marL="0" indent="0" eaLnBrk="1" fontAlgn="auto" hangingPunct="1">
              <a:buFont typeface="Arial" panose="020B0604020202020204" pitchFamily="34" charset="0"/>
              <a:buNone/>
              <a:defRPr/>
            </a:pPr>
            <a:endParaRPr lang="en-US" b="1" dirty="0"/>
          </a:p>
          <a:p>
            <a:pPr marL="0" indent="0" eaLnBrk="1" fontAlgn="auto" hangingPunct="1">
              <a:buFont typeface="Arial" panose="020B0604020202020204" pitchFamily="34" charset="0"/>
              <a:buNone/>
              <a:defRPr/>
            </a:pPr>
            <a:r>
              <a:rPr lang="en-US" b="1" dirty="0"/>
              <a:t>3.  </a:t>
            </a:r>
            <a:r>
              <a:rPr lang="en-US" dirty="0"/>
              <a:t>Perform the following unsigned operation in </a:t>
            </a:r>
            <a:r>
              <a:rPr lang="en-US" b="1" dirty="0"/>
              <a:t>2’s complement using 6 bits</a:t>
            </a:r>
            <a:r>
              <a:rPr lang="en-US" dirty="0"/>
              <a:t>    </a:t>
            </a:r>
            <a:r>
              <a:rPr lang="en-US" sz="3200" b="1" dirty="0">
                <a:solidFill>
                  <a:srgbClr val="0000FF"/>
                </a:solidFill>
              </a:rPr>
              <a:t>47 + 35 = ? </a:t>
            </a:r>
            <a:r>
              <a:rPr lang="en-US" dirty="0"/>
              <a:t> What value will be stored in register?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B7DDB3F4-8331-425C-BE22-B91F8EEFB6F8}"/>
              </a:ext>
            </a:extLst>
          </p:cNvPr>
          <p:cNvSpPr>
            <a:spLocks noGrp="1"/>
          </p:cNvSpPr>
          <p:nvPr>
            <p:ph idx="1"/>
          </p:nvPr>
        </p:nvSpPr>
        <p:spPr>
          <a:xfrm>
            <a:off x="306388" y="1143000"/>
            <a:ext cx="11583987" cy="4038600"/>
          </a:xfrm>
        </p:spPr>
        <p:txBody>
          <a:bodyPr rtlCol="0">
            <a:noAutofit/>
          </a:bodyPr>
          <a:lstStyle/>
          <a:p>
            <a:pPr eaLnBrk="1" fontAlgn="auto" hangingPunct="1">
              <a:defRPr/>
            </a:pPr>
            <a:r>
              <a:rPr lang="en-US" sz="2600" dirty="0"/>
              <a:t>Sometimes a value cannot be represented in the limited number of bits allowed.   </a:t>
            </a:r>
          </a:p>
          <a:p>
            <a:pPr eaLnBrk="1" fontAlgn="auto" hangingPunct="1">
              <a:defRPr/>
            </a:pPr>
            <a:r>
              <a:rPr lang="en-US" sz="2600" b="1" dirty="0"/>
              <a:t>Examples:</a:t>
            </a:r>
            <a:endParaRPr lang="en-US" sz="2600" dirty="0"/>
          </a:p>
          <a:p>
            <a:pPr eaLnBrk="1" fontAlgn="auto" hangingPunct="1">
              <a:defRPr/>
            </a:pPr>
            <a:r>
              <a:rPr lang="en-US" sz="2600" dirty="0"/>
              <a:t>For </a:t>
            </a:r>
            <a:r>
              <a:rPr lang="en-US" sz="2600" b="1" dirty="0"/>
              <a:t>unsigned, 3 bits:</a:t>
            </a:r>
            <a:r>
              <a:rPr lang="en-US" sz="2600" dirty="0"/>
              <a:t>   8 would require at least 4 bits (1000)</a:t>
            </a:r>
          </a:p>
          <a:p>
            <a:pPr eaLnBrk="1" fontAlgn="auto" hangingPunct="1">
              <a:defRPr/>
            </a:pPr>
            <a:r>
              <a:rPr lang="en-US" sz="2600" dirty="0"/>
              <a:t> For </a:t>
            </a:r>
            <a:r>
              <a:rPr lang="en-US" sz="2600" b="1" dirty="0"/>
              <a:t>S-M, 4 bits</a:t>
            </a:r>
            <a:r>
              <a:rPr lang="en-US" sz="2600" dirty="0"/>
              <a:t>:  8 would require at least 5 bits (01000)</a:t>
            </a:r>
          </a:p>
          <a:p>
            <a:pPr algn="just" eaLnBrk="1" fontAlgn="auto" hangingPunct="1">
              <a:defRPr/>
            </a:pPr>
            <a:r>
              <a:rPr lang="en-US" sz="2600" b="1" dirty="0">
                <a:solidFill>
                  <a:srgbClr val="0000CC"/>
                </a:solidFill>
              </a:rPr>
              <a:t>When a value cannot be represented in the number of bits allowed/specified, we say that an overflow has occurred.  Overflow occurs when doing arithmetic operations.</a:t>
            </a:r>
          </a:p>
        </p:txBody>
      </p:sp>
      <p:sp>
        <p:nvSpPr>
          <p:cNvPr id="46083" name="Slide Number Placeholder 3">
            <a:extLst>
              <a:ext uri="{FF2B5EF4-FFF2-40B4-BE49-F238E27FC236}">
                <a16:creationId xmlns:a16="http://schemas.microsoft.com/office/drawing/2014/main" id="{66DF32BE-CEB7-43F0-962C-26C326D1C5D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AFD366D1-A3FA-4B95-8A36-1616CC65A98E}" type="slidenum">
              <a:rPr lang="en-US" altLang="en-US" sz="1800" smtClean="0">
                <a:solidFill>
                  <a:srgbClr val="898989"/>
                </a:solidFill>
                <a:latin typeface="Arial" panose="020B0604020202020204" pitchFamily="34" charset="0"/>
              </a:rPr>
              <a:pPr algn="l" eaLnBrk="0" hangingPunct="0">
                <a:spcBef>
                  <a:spcPct val="0"/>
                </a:spcBef>
                <a:buFontTx/>
                <a:buNone/>
              </a:pPr>
              <a:t>34</a:t>
            </a:fld>
            <a:endParaRPr lang="en-US" altLang="en-US" sz="1800">
              <a:solidFill>
                <a:srgbClr val="898989"/>
              </a:solidFill>
              <a:latin typeface="Arial" panose="020B0604020202020204" pitchFamily="34" charset="0"/>
            </a:endParaRPr>
          </a:p>
        </p:txBody>
      </p:sp>
      <p:sp>
        <p:nvSpPr>
          <p:cNvPr id="46084" name="TextBox 4">
            <a:extLst>
              <a:ext uri="{FF2B5EF4-FFF2-40B4-BE49-F238E27FC236}">
                <a16:creationId xmlns:a16="http://schemas.microsoft.com/office/drawing/2014/main" id="{2C7FA48D-569D-4514-8CBB-B4C410D1CEBA}"/>
              </a:ext>
            </a:extLst>
          </p:cNvPr>
          <p:cNvSpPr txBox="1">
            <a:spLocks noChangeArrowheads="1"/>
          </p:cNvSpPr>
          <p:nvPr/>
        </p:nvSpPr>
        <p:spPr bwMode="auto">
          <a:xfrm>
            <a:off x="609600" y="381000"/>
            <a:ext cx="111267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b="1">
                <a:solidFill>
                  <a:srgbClr val="FF0000"/>
                </a:solidFill>
                <a:latin typeface="Rockwell" panose="02060603020205020403" pitchFamily="18" charset="0"/>
              </a:rPr>
              <a:t>Overflow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197BE337-38A9-4D7B-B271-C1CFE234E877}"/>
              </a:ext>
            </a:extLst>
          </p:cNvPr>
          <p:cNvSpPr>
            <a:spLocks noGrp="1"/>
          </p:cNvSpPr>
          <p:nvPr>
            <p:ph type="title"/>
          </p:nvPr>
        </p:nvSpPr>
        <p:spPr>
          <a:xfrm>
            <a:off x="609600" y="381000"/>
            <a:ext cx="10975975"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a:t>Overflow Example</a:t>
            </a:r>
          </a:p>
        </p:txBody>
      </p:sp>
      <p:sp>
        <p:nvSpPr>
          <p:cNvPr id="22531" name="Content Placeholder 2">
            <a:extLst>
              <a:ext uri="{FF2B5EF4-FFF2-40B4-BE49-F238E27FC236}">
                <a16:creationId xmlns:a16="http://schemas.microsoft.com/office/drawing/2014/main" id="{47EBA487-6B8A-4916-987E-7AA8B54E5C3A}"/>
              </a:ext>
            </a:extLst>
          </p:cNvPr>
          <p:cNvSpPr>
            <a:spLocks noGrp="1"/>
          </p:cNvSpPr>
          <p:nvPr>
            <p:ph idx="1"/>
          </p:nvPr>
        </p:nvSpPr>
        <p:spPr>
          <a:xfrm>
            <a:off x="306388" y="1219200"/>
            <a:ext cx="11658600" cy="4953000"/>
          </a:xfrm>
        </p:spPr>
        <p:txBody>
          <a:bodyPr rtlCol="0">
            <a:noAutofit/>
          </a:bodyPr>
          <a:lstStyle/>
          <a:p>
            <a:pPr eaLnBrk="1" fontAlgn="auto" hangingPunct="1">
              <a:defRPr/>
            </a:pPr>
            <a:r>
              <a:rPr lang="en-US" dirty="0"/>
              <a:t> 3 bit unsigned representation</a:t>
            </a:r>
          </a:p>
          <a:p>
            <a:pPr eaLnBrk="1" fontAlgn="auto" hangingPunct="1">
              <a:defRPr/>
            </a:pPr>
            <a:r>
              <a:rPr lang="en-US" dirty="0"/>
              <a:t>	      011 (3)</a:t>
            </a:r>
          </a:p>
          <a:p>
            <a:pPr eaLnBrk="1" fontAlgn="auto" hangingPunct="1">
              <a:defRPr/>
            </a:pPr>
            <a:r>
              <a:rPr lang="en-US" dirty="0"/>
              <a:t>	    +110 (6)</a:t>
            </a:r>
          </a:p>
          <a:p>
            <a:pPr eaLnBrk="1" fontAlgn="auto" hangingPunct="1">
              <a:defRPr/>
            </a:pPr>
            <a:r>
              <a:rPr lang="en-US" dirty="0"/>
              <a:t>	    ------------</a:t>
            </a:r>
          </a:p>
          <a:p>
            <a:pPr eaLnBrk="1" fontAlgn="auto" hangingPunct="1">
              <a:defRPr/>
            </a:pPr>
            <a:r>
              <a:rPr lang="en-US" dirty="0"/>
              <a:t>	    1 001 (9)     </a:t>
            </a:r>
          </a:p>
          <a:p>
            <a:pPr eaLnBrk="1" fontAlgn="auto" hangingPunct="1">
              <a:defRPr/>
            </a:pPr>
            <a:r>
              <a:rPr lang="en-US" dirty="0"/>
              <a:t>It would require 4 bits (1001) to represent the value 9 in unsigned representation.</a:t>
            </a:r>
          </a:p>
          <a:p>
            <a:pPr eaLnBrk="1" fontAlgn="auto" hangingPunct="1">
              <a:defRPr/>
            </a:pPr>
            <a:r>
              <a:rPr lang="en-US" dirty="0"/>
              <a:t>This will lead to overflow.</a:t>
            </a:r>
          </a:p>
        </p:txBody>
      </p:sp>
      <p:sp>
        <p:nvSpPr>
          <p:cNvPr id="47108" name="Slide Number Placeholder 3">
            <a:extLst>
              <a:ext uri="{FF2B5EF4-FFF2-40B4-BE49-F238E27FC236}">
                <a16:creationId xmlns:a16="http://schemas.microsoft.com/office/drawing/2014/main" id="{7953ECBD-32D4-4E21-81E2-54A98140CB8D}"/>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23D349B-97D1-4C0B-8B50-E8E2052B3A9A}" type="slidenum">
              <a:rPr lang="en-US" altLang="en-US" sz="1800" smtClean="0">
                <a:solidFill>
                  <a:srgbClr val="898989"/>
                </a:solidFill>
                <a:latin typeface="Arial" panose="020B0604020202020204" pitchFamily="34" charset="0"/>
              </a:rPr>
              <a:pPr algn="l" eaLnBrk="0" hangingPunct="0">
                <a:spcBef>
                  <a:spcPct val="0"/>
                </a:spcBef>
                <a:buFontTx/>
                <a:buNone/>
              </a:pPr>
              <a:t>35</a:t>
            </a:fld>
            <a:endParaRPr lang="en-US" altLang="en-US" sz="1800">
              <a:solidFill>
                <a:srgbClr val="898989"/>
              </a:solidFill>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EC65D75E-5CBB-4869-BD81-B4A26EBE4141}"/>
              </a:ext>
            </a:extLst>
          </p:cNvPr>
          <p:cNvSpPr>
            <a:spLocks noGrp="1"/>
          </p:cNvSpPr>
          <p:nvPr>
            <p:ph type="title"/>
          </p:nvPr>
        </p:nvSpPr>
        <p:spPr>
          <a:xfrm>
            <a:off x="306388" y="152400"/>
            <a:ext cx="11888787" cy="1116013"/>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Underflow </a:t>
            </a:r>
          </a:p>
        </p:txBody>
      </p:sp>
      <p:sp>
        <p:nvSpPr>
          <p:cNvPr id="3" name="Content Placeholder 2">
            <a:extLst>
              <a:ext uri="{FF2B5EF4-FFF2-40B4-BE49-F238E27FC236}">
                <a16:creationId xmlns:a16="http://schemas.microsoft.com/office/drawing/2014/main" id="{C04BDC48-2FD9-4F77-BD89-0584ED754F0C}"/>
              </a:ext>
            </a:extLst>
          </p:cNvPr>
          <p:cNvSpPr>
            <a:spLocks noGrp="1"/>
          </p:cNvSpPr>
          <p:nvPr>
            <p:ph idx="1"/>
          </p:nvPr>
        </p:nvSpPr>
        <p:spPr>
          <a:xfrm>
            <a:off x="239713" y="1219200"/>
            <a:ext cx="11715750" cy="4876800"/>
          </a:xfrm>
        </p:spPr>
        <p:txBody>
          <a:bodyPr rtlCol="0"/>
          <a:lstStyle/>
          <a:p>
            <a:pPr algn="just" eaLnBrk="1" fontAlgn="auto" hangingPunct="1">
              <a:spcAft>
                <a:spcPts val="3600"/>
              </a:spcAft>
              <a:defRPr/>
            </a:pPr>
            <a:r>
              <a:rPr lang="en-US" sz="2400" b="1" dirty="0">
                <a:solidFill>
                  <a:srgbClr val="0000FF"/>
                </a:solidFill>
              </a:rPr>
              <a:t>Overflow</a:t>
            </a:r>
            <a:r>
              <a:rPr lang="en-US" sz="2400" dirty="0"/>
              <a:t>  is a situation in which the exponent is too </a:t>
            </a:r>
            <a:r>
              <a:rPr lang="en-US" sz="2400" i="1" dirty="0"/>
              <a:t>large</a:t>
            </a:r>
            <a:r>
              <a:rPr lang="en-US" sz="2400" dirty="0"/>
              <a:t> to be represented in the Exponent field while </a:t>
            </a:r>
            <a:r>
              <a:rPr lang="en-US" sz="2400" b="1" dirty="0">
                <a:solidFill>
                  <a:srgbClr val="0000FF"/>
                </a:solidFill>
              </a:rPr>
              <a:t>Underflow</a:t>
            </a:r>
            <a:r>
              <a:rPr lang="en-US" sz="2400" dirty="0">
                <a:solidFill>
                  <a:srgbClr val="0000FF"/>
                </a:solidFill>
              </a:rPr>
              <a:t> </a:t>
            </a:r>
            <a:r>
              <a:rPr lang="en-US" sz="2400" dirty="0"/>
              <a:t>is a situation in which the number is too </a:t>
            </a:r>
            <a:r>
              <a:rPr lang="en-US" sz="2400" i="1" dirty="0"/>
              <a:t>small</a:t>
            </a:r>
            <a:r>
              <a:rPr lang="en-US" sz="2400" dirty="0"/>
              <a:t> to be represented in the Exponent field.</a:t>
            </a:r>
          </a:p>
          <a:p>
            <a:pPr algn="just" eaLnBrk="1" fontAlgn="auto" hangingPunct="1">
              <a:spcBef>
                <a:spcPts val="0"/>
              </a:spcBef>
              <a:spcAft>
                <a:spcPts val="3600"/>
              </a:spcAft>
              <a:defRPr/>
            </a:pPr>
            <a:r>
              <a:rPr lang="en-US" sz="2400" dirty="0"/>
              <a:t>Arithmetic underflow can occur when the true result of a floating point operation is smaller in </a:t>
            </a:r>
            <a:r>
              <a:rPr lang="en-US" sz="2400" b="1" dirty="0">
                <a:solidFill>
                  <a:srgbClr val="0000FF"/>
                </a:solidFill>
              </a:rPr>
              <a:t>magnitude</a:t>
            </a:r>
            <a:r>
              <a:rPr lang="en-US" sz="2400" dirty="0"/>
              <a:t> (that is, closer to zero) than the smallest value </a:t>
            </a:r>
            <a:r>
              <a:rPr lang="en-US" sz="2400" dirty="0" err="1"/>
              <a:t>representable</a:t>
            </a:r>
            <a:r>
              <a:rPr lang="en-US" sz="2400" dirty="0"/>
              <a:t> as a normal floating point number in the target </a:t>
            </a:r>
            <a:r>
              <a:rPr lang="en-US" sz="2400" dirty="0" err="1"/>
              <a:t>datatype</a:t>
            </a:r>
            <a:r>
              <a:rPr lang="en-US" sz="2400" dirty="0"/>
              <a:t>. </a:t>
            </a:r>
          </a:p>
          <a:p>
            <a:pPr algn="just" eaLnBrk="1" fontAlgn="auto" hangingPunct="1">
              <a:spcBef>
                <a:spcPts val="0"/>
              </a:spcBef>
              <a:spcAft>
                <a:spcPts val="3600"/>
              </a:spcAft>
              <a:defRPr/>
            </a:pPr>
            <a:r>
              <a:rPr lang="en-US" sz="2400" dirty="0"/>
              <a:t>Underflow can in part be regarded as negative </a:t>
            </a:r>
            <a:r>
              <a:rPr lang="en-US" sz="2400" b="1" dirty="0">
                <a:solidFill>
                  <a:srgbClr val="0000FF"/>
                </a:solidFill>
              </a:rPr>
              <a:t>overflow</a:t>
            </a:r>
            <a:r>
              <a:rPr lang="en-US" sz="2400" dirty="0"/>
              <a:t> of the </a:t>
            </a:r>
            <a:r>
              <a:rPr lang="en-US" sz="2400" dirty="0">
                <a:solidFill>
                  <a:srgbClr val="0000FF"/>
                </a:solidFill>
              </a:rPr>
              <a:t>exponent</a:t>
            </a:r>
            <a:r>
              <a:rPr lang="en-US" sz="2400" dirty="0"/>
              <a:t> of the floating point value. For example, if the exponent part can represent values from −127 to 127, then a result with a value less than −127 may cause underflow.</a:t>
            </a:r>
          </a:p>
          <a:p>
            <a:pPr algn="just" eaLnBrk="1" fontAlgn="auto" hangingPunct="1">
              <a:spcBef>
                <a:spcPts val="0"/>
              </a:spcBef>
              <a:spcAft>
                <a:spcPts val="3600"/>
              </a:spcAft>
              <a:defRPr/>
            </a:pP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8955F9DA-9C9E-453B-B495-272C16B75CCF}"/>
              </a:ext>
            </a:extLst>
          </p:cNvPr>
          <p:cNvSpPr>
            <a:spLocks noGrp="1"/>
          </p:cNvSpPr>
          <p:nvPr>
            <p:ph type="title"/>
          </p:nvPr>
        </p:nvSpPr>
        <p:spPr>
          <a:xfrm>
            <a:off x="481013" y="152400"/>
            <a:ext cx="11714162" cy="1116013"/>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Solving Overflow/Underflow Problem</a:t>
            </a:r>
          </a:p>
        </p:txBody>
      </p:sp>
      <p:sp>
        <p:nvSpPr>
          <p:cNvPr id="3" name="Content Placeholder 2">
            <a:extLst>
              <a:ext uri="{FF2B5EF4-FFF2-40B4-BE49-F238E27FC236}">
                <a16:creationId xmlns:a16="http://schemas.microsoft.com/office/drawing/2014/main" id="{D664078A-2815-47F8-99D4-AD25DE8B2602}"/>
              </a:ext>
            </a:extLst>
          </p:cNvPr>
          <p:cNvSpPr>
            <a:spLocks noGrp="1"/>
          </p:cNvSpPr>
          <p:nvPr>
            <p:ph idx="1"/>
          </p:nvPr>
        </p:nvSpPr>
        <p:spPr>
          <a:xfrm>
            <a:off x="239713" y="1143001"/>
            <a:ext cx="11715750" cy="5094288"/>
          </a:xfrm>
        </p:spPr>
        <p:txBody>
          <a:bodyPr rtlCol="0"/>
          <a:lstStyle/>
          <a:p>
            <a:pPr algn="just" eaLnBrk="1" fontAlgn="auto" hangingPunct="1">
              <a:defRPr/>
            </a:pPr>
            <a:r>
              <a:rPr lang="en-US" dirty="0"/>
              <a:t>To reduce the chances of underflow/overflow, can use 64-bit </a:t>
            </a:r>
            <a:r>
              <a:rPr lang="en-US" b="1" dirty="0"/>
              <a:t>Double-Precision</a:t>
            </a:r>
            <a:r>
              <a:rPr lang="en-US" dirty="0"/>
              <a:t> arithmetic.</a:t>
            </a:r>
          </a:p>
          <a:p>
            <a:pPr algn="just" eaLnBrk="1" fontAlgn="auto" hangingPunct="1">
              <a:defRPr/>
            </a:pPr>
            <a:r>
              <a:rPr lang="en-US" dirty="0"/>
              <a:t>The following slides describe some devastating effects of wrong arithmetic in computer programs.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a:extLst>
              <a:ext uri="{FF2B5EF4-FFF2-40B4-BE49-F238E27FC236}">
                <a16:creationId xmlns:a16="http://schemas.microsoft.com/office/drawing/2014/main" id="{7B3118DA-910D-4FF5-9326-5DF1C9400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123" t="9375" r="23853" b="26042"/>
          <a:stretch>
            <a:fillRect/>
          </a:stretch>
        </p:blipFill>
        <p:spPr bwMode="auto">
          <a:xfrm>
            <a:off x="1068388" y="304800"/>
            <a:ext cx="1036320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a:extLst>
              <a:ext uri="{FF2B5EF4-FFF2-40B4-BE49-F238E27FC236}">
                <a16:creationId xmlns:a16="http://schemas.microsoft.com/office/drawing/2014/main" id="{6E09F9C2-0AD0-42C8-9C31-FC0E5E1B4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952" t="9375" r="23268" b="81261"/>
          <a:stretch>
            <a:fillRect/>
          </a:stretch>
        </p:blipFill>
        <p:spPr bwMode="auto">
          <a:xfrm>
            <a:off x="915988" y="228600"/>
            <a:ext cx="106680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3" name="Rectangle 4">
            <a:extLst>
              <a:ext uri="{FF2B5EF4-FFF2-40B4-BE49-F238E27FC236}">
                <a16:creationId xmlns:a16="http://schemas.microsoft.com/office/drawing/2014/main" id="{57A75C93-FDD4-40DF-8BB1-AC8D2E51088B}"/>
              </a:ext>
            </a:extLst>
          </p:cNvPr>
          <p:cNvSpPr txBox="1">
            <a:spLocks noChangeArrowheads="1"/>
          </p:cNvSpPr>
          <p:nvPr/>
        </p:nvSpPr>
        <p:spPr bwMode="auto">
          <a:xfrm>
            <a:off x="3430588" y="1295400"/>
            <a:ext cx="8534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ts val="3600"/>
              </a:lnSpc>
            </a:pPr>
            <a:r>
              <a:rPr lang="en-US" altLang="en-US" sz="2400">
                <a:latin typeface="Rockwell" panose="02060603020205020403" pitchFamily="18" charset="0"/>
                <a:cs typeface="Times New Roman" panose="02020603050405020304" pitchFamily="18" charset="0"/>
              </a:rPr>
              <a:t>On June 4, 1996 an unmanned Ariane 5 rocket launched by the European Space Agency exploded just forty seconds after lift-off. The rocket was on its first voyage, after a decade of development costing $7 billion. The cause was a software error. A 64 bit floating point number relating to the horizontal velocity of the rocket wrt the platform was converted to a 16 bit signed integer. The number was larger than 32678, the largest integer storeable in a 16 bit signed integer, and thus the conversion failed.</a:t>
            </a:r>
            <a:r>
              <a:rPr lang="en-US" altLang="en-US" sz="2400">
                <a:latin typeface="Rockwell" panose="02060603020205020403" pitchFamily="18" charset="0"/>
              </a:rPr>
              <a:t> </a:t>
            </a:r>
          </a:p>
        </p:txBody>
      </p:sp>
      <p:pic>
        <p:nvPicPr>
          <p:cNvPr id="51204" name="Picture 2">
            <a:extLst>
              <a:ext uri="{FF2B5EF4-FFF2-40B4-BE49-F238E27FC236}">
                <a16:creationId xmlns:a16="http://schemas.microsoft.com/office/drawing/2014/main" id="{B2A869D4-6707-4F19-8677-8ADCB5CBD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782" t="25551" r="54858" b="27625"/>
          <a:stretch>
            <a:fillRect/>
          </a:stretch>
        </p:blipFill>
        <p:spPr bwMode="auto">
          <a:xfrm>
            <a:off x="230188" y="1143000"/>
            <a:ext cx="3200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3908C771-19D3-489C-B518-AA3BA9351B91}"/>
              </a:ext>
            </a:extLst>
          </p:cNvPr>
          <p:cNvSpPr>
            <a:spLocks noGrp="1"/>
          </p:cNvSpPr>
          <p:nvPr>
            <p:ph type="title"/>
          </p:nvPr>
        </p:nvSpPr>
        <p:spPr>
          <a:xfrm>
            <a:off x="481013" y="152400"/>
            <a:ext cx="11714162" cy="9906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Vancouver Stock Exchange</a:t>
            </a:r>
          </a:p>
        </p:txBody>
      </p:sp>
      <p:sp>
        <p:nvSpPr>
          <p:cNvPr id="4" name="Rectangle 3">
            <a:extLst>
              <a:ext uri="{FF2B5EF4-FFF2-40B4-BE49-F238E27FC236}">
                <a16:creationId xmlns:a16="http://schemas.microsoft.com/office/drawing/2014/main" id="{495F91DE-40A6-4AD5-9AC5-9B7B3D536192}"/>
              </a:ext>
            </a:extLst>
          </p:cNvPr>
          <p:cNvSpPr>
            <a:spLocks noGrp="1" noChangeArrowheads="1"/>
          </p:cNvSpPr>
          <p:nvPr>
            <p:ph idx="1"/>
          </p:nvPr>
        </p:nvSpPr>
        <p:spPr>
          <a:xfrm>
            <a:off x="239713" y="1219200"/>
            <a:ext cx="11715750" cy="5018088"/>
          </a:xfrm>
        </p:spPr>
        <p:txBody>
          <a:bodyPr rtlCol="0"/>
          <a:lstStyle/>
          <a:p>
            <a:pPr algn="just" eaLnBrk="1" fontAlgn="auto" hangingPunct="1">
              <a:defRPr/>
            </a:pPr>
            <a:r>
              <a:rPr lang="en-US" dirty="0">
                <a:cs typeface="Times New Roman" charset="0"/>
              </a:rPr>
              <a:t>In 1982 the Vancouver stock exchange instituted a new index initialized to a value of 1000.000. The index was updated after each transaction. Twenty two months later it had fallen to 520. The cause was that the updated value was truncated rather than rounded. The rounded calculation gave a value of 1098.892.</a:t>
            </a:r>
            <a:r>
              <a:rPr lang="en-US"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86BFC94B-3A10-4DB5-8AF8-560BBC19DE06}"/>
              </a:ext>
            </a:extLst>
          </p:cNvPr>
          <p:cNvSpPr>
            <a:spLocks noGrp="1"/>
          </p:cNvSpPr>
          <p:nvPr>
            <p:ph type="title"/>
          </p:nvPr>
        </p:nvSpPr>
        <p:spPr>
          <a:xfrm>
            <a:off x="382589" y="229901"/>
            <a:ext cx="11354592" cy="6858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600" dirty="0"/>
              <a:t>Binary Coded Decimal (BCD)</a:t>
            </a:r>
          </a:p>
        </p:txBody>
      </p:sp>
      <p:sp>
        <p:nvSpPr>
          <p:cNvPr id="3" name="Content Placeholder 2">
            <a:extLst>
              <a:ext uri="{FF2B5EF4-FFF2-40B4-BE49-F238E27FC236}">
                <a16:creationId xmlns:a16="http://schemas.microsoft.com/office/drawing/2014/main" id="{608AE7A1-B8B3-4F49-BB64-6CF6B36D272B}"/>
              </a:ext>
            </a:extLst>
          </p:cNvPr>
          <p:cNvSpPr>
            <a:spLocks noGrp="1"/>
          </p:cNvSpPr>
          <p:nvPr>
            <p:ph idx="1"/>
          </p:nvPr>
        </p:nvSpPr>
        <p:spPr>
          <a:xfrm>
            <a:off x="230188" y="1219200"/>
            <a:ext cx="11811000" cy="5029200"/>
          </a:xfrm>
        </p:spPr>
        <p:txBody>
          <a:bodyPr rtlCol="0"/>
          <a:lstStyle/>
          <a:p>
            <a:pPr eaLnBrk="1" fontAlgn="auto" hangingPunct="1">
              <a:defRPr/>
            </a:pPr>
            <a:r>
              <a:rPr lang="en-GB" dirty="0"/>
              <a:t>A type of binary code used to represent a given decimal number in an equivalent binary form. </a:t>
            </a:r>
          </a:p>
          <a:p>
            <a:pPr eaLnBrk="1" fontAlgn="auto" hangingPunct="1">
              <a:defRPr/>
            </a:pPr>
            <a:r>
              <a:rPr lang="en-GB" b="1" dirty="0"/>
              <a:t>Main advantage</a:t>
            </a:r>
            <a:r>
              <a:rPr lang="en-GB" dirty="0"/>
              <a:t>:-  it allows easy conversion to decimal digits for printing or display and faster calculations. </a:t>
            </a:r>
          </a:p>
          <a:p>
            <a:pPr eaLnBrk="1" fontAlgn="auto" hangingPunct="1">
              <a:defRPr/>
            </a:pPr>
            <a:r>
              <a:rPr lang="en-GB" dirty="0"/>
              <a:t>3 different types:</a:t>
            </a:r>
          </a:p>
          <a:p>
            <a:pPr lvl="1" eaLnBrk="1" fontAlgn="auto" hangingPunct="1">
              <a:defRPr/>
            </a:pPr>
            <a:r>
              <a:rPr lang="en-GB" b="1" dirty="0"/>
              <a:t>8 4 2 1 </a:t>
            </a:r>
          </a:p>
          <a:p>
            <a:pPr lvl="1" eaLnBrk="1" fontAlgn="auto" hangingPunct="1">
              <a:defRPr/>
            </a:pPr>
            <a:r>
              <a:rPr lang="en-GB" b="1" dirty="0"/>
              <a:t>5 4 2 1 </a:t>
            </a:r>
          </a:p>
          <a:p>
            <a:pPr lvl="1" eaLnBrk="1" fontAlgn="auto" hangingPunct="1">
              <a:defRPr/>
            </a:pPr>
            <a:r>
              <a:rPr lang="en-GB" b="1" dirty="0"/>
              <a:t>4 2 2 1</a:t>
            </a:r>
            <a:endParaRPr lang="en-US" b="1" dirty="0"/>
          </a:p>
          <a:p>
            <a:pPr eaLnBrk="1" fontAlgn="auto" hangingPunct="1">
              <a:defRPr/>
            </a:pPr>
            <a:endParaRPr lang="en-US" dirty="0"/>
          </a:p>
        </p:txBody>
      </p:sp>
      <p:sp>
        <p:nvSpPr>
          <p:cNvPr id="53252" name="Slide Number Placeholder 3">
            <a:extLst>
              <a:ext uri="{FF2B5EF4-FFF2-40B4-BE49-F238E27FC236}">
                <a16:creationId xmlns:a16="http://schemas.microsoft.com/office/drawing/2014/main" id="{338B7A13-7101-4A44-AFA4-7440FB09B51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DCB58E2F-FCF2-4B98-ACD9-7F9F1F633C78}" type="slidenum">
              <a:rPr lang="en-US" altLang="en-US" sz="1800" smtClean="0">
                <a:solidFill>
                  <a:srgbClr val="898989"/>
                </a:solidFill>
                <a:latin typeface="Arial" panose="020B0604020202020204" pitchFamily="34" charset="0"/>
              </a:rPr>
              <a:pPr algn="l" eaLnBrk="0" hangingPunct="0">
                <a:spcBef>
                  <a:spcPct val="0"/>
                </a:spcBef>
                <a:buFontTx/>
                <a:buNone/>
              </a:pPr>
              <a:t>41</a:t>
            </a:fld>
            <a:endParaRPr lang="en-US" altLang="en-US" sz="1800">
              <a:solidFill>
                <a:srgbClr val="898989"/>
              </a:solidFill>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2305F9DF-F62D-4990-965E-28848A89D4CE}"/>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55F2D9E-BD54-4BE1-B30A-C5B9D08AF415}" type="slidenum">
              <a:rPr lang="en-US" altLang="en-US" sz="1800" smtClean="0">
                <a:solidFill>
                  <a:srgbClr val="898989"/>
                </a:solidFill>
                <a:latin typeface="Arial" panose="020B0604020202020204" pitchFamily="34" charset="0"/>
              </a:rPr>
              <a:pPr algn="l" eaLnBrk="0" hangingPunct="0">
                <a:spcBef>
                  <a:spcPct val="0"/>
                </a:spcBef>
                <a:buFontTx/>
                <a:buNone/>
              </a:pPr>
              <a:t>42</a:t>
            </a:fld>
            <a:endParaRPr lang="en-US" altLang="en-US" sz="1800">
              <a:solidFill>
                <a:srgbClr val="898989"/>
              </a:solidFill>
              <a:latin typeface="Arial" panose="020B0604020202020204" pitchFamily="34" charset="0"/>
            </a:endParaRPr>
          </a:p>
        </p:txBody>
      </p:sp>
      <p:pic>
        <p:nvPicPr>
          <p:cNvPr id="24579" name="Content Placeholder 4" descr="BCD Code Chart">
            <a:hlinkClick r:id="rId2" tooltip="&quot;BCD Code Chart&quot;"/>
            <a:extLst>
              <a:ext uri="{FF2B5EF4-FFF2-40B4-BE49-F238E27FC236}">
                <a16:creationId xmlns:a16="http://schemas.microsoft.com/office/drawing/2014/main" id="{047B242F-6F94-4699-A41A-8BC227581C0E}"/>
              </a:ext>
            </a:extLst>
          </p:cNvPr>
          <p:cNvPicPr>
            <a:picLocks noGrp="1"/>
          </p:cNvPicPr>
          <p:nvPr>
            <p:ph idx="1"/>
          </p:nvPr>
        </p:nvPicPr>
        <p:blipFill>
          <a:blip r:embed="rId3"/>
          <a:srcRect/>
          <a:stretch>
            <a:fillRect/>
          </a:stretch>
        </p:blipFill>
        <p:spPr>
          <a:xfrm>
            <a:off x="711200" y="609600"/>
            <a:ext cx="10874375" cy="5638800"/>
          </a:xfr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34B28D18-D125-4712-A949-8633D0D1D293}"/>
              </a:ext>
            </a:extLst>
          </p:cNvPr>
          <p:cNvSpPr>
            <a:spLocks noGrp="1"/>
          </p:cNvSpPr>
          <p:nvPr>
            <p:ph idx="1"/>
          </p:nvPr>
        </p:nvSpPr>
        <p:spPr>
          <a:xfrm>
            <a:off x="230187" y="304800"/>
            <a:ext cx="11734799" cy="5715000"/>
          </a:xfrm>
        </p:spPr>
        <p:txBody>
          <a:bodyPr rtlCol="0"/>
          <a:lstStyle/>
          <a:p>
            <a:pPr algn="just" eaLnBrk="1" fontAlgn="auto" hangingPunct="1">
              <a:defRPr/>
            </a:pPr>
            <a:r>
              <a:rPr lang="en-GB" sz="2400" b="1"/>
              <a:t>The numbers 8,4,2,1 in 8421 BCD,  4, 2, 2, 1 in 4221 BCD and 5, 4, 2 and 1 in 5421 BCD represent weights of the relevant bits</a:t>
            </a:r>
            <a:r>
              <a:rPr lang="en-GB" sz="2400"/>
              <a:t>. </a:t>
            </a:r>
          </a:p>
          <a:p>
            <a:pPr eaLnBrk="1" fontAlgn="auto" hangingPunct="1">
              <a:defRPr/>
            </a:pPr>
            <a:r>
              <a:rPr lang="en-GB" sz="2400"/>
              <a:t>BCD is a weighted code, each binary digit in the four bit group representing a given decimal digit is assigned a weight, </a:t>
            </a:r>
          </a:p>
          <a:p>
            <a:pPr eaLnBrk="1" fontAlgn="auto" hangingPunct="1">
              <a:defRPr/>
            </a:pPr>
            <a:r>
              <a:rPr lang="en-GB" sz="2400"/>
              <a:t>Sum of the weights of those binary digits whose value is 1 is equal to the decimal digit which they represent. </a:t>
            </a:r>
          </a:p>
          <a:p>
            <a:pPr eaLnBrk="1" fontAlgn="auto" hangingPunct="1">
              <a:defRPr/>
            </a:pPr>
            <a:r>
              <a:rPr lang="en-GB" sz="2400" b="1"/>
              <a:t>Example:</a:t>
            </a:r>
          </a:p>
          <a:p>
            <a:pPr eaLnBrk="1" fontAlgn="auto" hangingPunct="1">
              <a:defRPr/>
            </a:pPr>
            <a:r>
              <a:rPr lang="en-GB" sz="2400" b="1"/>
              <a:t>The 8421 BCD code for 9.2 is 1001.0010. </a:t>
            </a:r>
            <a:endParaRPr lang="en-US" sz="2400" b="1"/>
          </a:p>
          <a:p>
            <a:pPr eaLnBrk="1" fontAlgn="auto" hangingPunct="1">
              <a:defRPr/>
            </a:pPr>
            <a:r>
              <a:rPr lang="en-GB" sz="2400" b="1"/>
              <a:t>The 4221 BCD code for 9.2 is 1111.0010. </a:t>
            </a:r>
            <a:endParaRPr lang="en-US" sz="2400" b="1"/>
          </a:p>
          <a:p>
            <a:pPr eaLnBrk="1" fontAlgn="auto" hangingPunct="1">
              <a:defRPr/>
            </a:pPr>
            <a:r>
              <a:rPr lang="en-GB" sz="2400" b="1"/>
              <a:t>The 5421 BCD code for 9.2 is 1100.0010. </a:t>
            </a:r>
            <a:endParaRPr lang="en-US" sz="2400" b="1"/>
          </a:p>
          <a:p>
            <a:pPr eaLnBrk="1" fontAlgn="auto" hangingPunct="1">
              <a:defRPr/>
            </a:pPr>
            <a:r>
              <a:rPr lang="en-GB" sz="2400"/>
              <a:t>BCD code is useful for outputting to displays that are always numeric (0 to 9), such as those found in digital clocks or digital voltmeters.</a:t>
            </a:r>
          </a:p>
        </p:txBody>
      </p:sp>
      <p:sp>
        <p:nvSpPr>
          <p:cNvPr id="55299" name="Slide Number Placeholder 3">
            <a:extLst>
              <a:ext uri="{FF2B5EF4-FFF2-40B4-BE49-F238E27FC236}">
                <a16:creationId xmlns:a16="http://schemas.microsoft.com/office/drawing/2014/main" id="{F29719DC-5F08-41E8-85A7-1E1C7EDD3A2C}"/>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61B01BF-F9DF-4452-914B-3C6B974171FC}" type="slidenum">
              <a:rPr lang="en-US" altLang="en-US" sz="1800" smtClean="0">
                <a:solidFill>
                  <a:srgbClr val="898989"/>
                </a:solidFill>
                <a:latin typeface="Arial" panose="020B0604020202020204" pitchFamily="34" charset="0"/>
              </a:rPr>
              <a:pPr algn="l" eaLnBrk="0" hangingPunct="0">
                <a:spcBef>
                  <a:spcPct val="0"/>
                </a:spcBef>
                <a:buFontTx/>
                <a:buNone/>
              </a:pPr>
              <a:t>43</a:t>
            </a:fld>
            <a:endParaRPr lang="en-US" altLang="en-US" sz="1800">
              <a:solidFill>
                <a:srgbClr val="898989"/>
              </a:solidFill>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EE98E345-B478-437B-A5B5-EB183FF5DBCD}"/>
              </a:ext>
            </a:extLst>
          </p:cNvPr>
          <p:cNvSpPr>
            <a:spLocks noGrp="1"/>
          </p:cNvSpPr>
          <p:nvPr>
            <p:ph type="title"/>
          </p:nvPr>
        </p:nvSpPr>
        <p:spPr>
          <a:xfrm>
            <a:off x="608689" y="304800"/>
            <a:ext cx="10975975" cy="6858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600" dirty="0"/>
              <a:t>Excess-3 Code</a:t>
            </a:r>
          </a:p>
        </p:txBody>
      </p:sp>
      <p:sp>
        <p:nvSpPr>
          <p:cNvPr id="26627" name="Content Placeholder 2">
            <a:extLst>
              <a:ext uri="{FF2B5EF4-FFF2-40B4-BE49-F238E27FC236}">
                <a16:creationId xmlns:a16="http://schemas.microsoft.com/office/drawing/2014/main" id="{B7CC5D66-2673-4866-A95F-B13060848743}"/>
              </a:ext>
            </a:extLst>
          </p:cNvPr>
          <p:cNvSpPr>
            <a:spLocks noGrp="1"/>
          </p:cNvSpPr>
          <p:nvPr>
            <p:ph idx="1"/>
          </p:nvPr>
        </p:nvSpPr>
        <p:spPr>
          <a:xfrm>
            <a:off x="230188" y="1219200"/>
            <a:ext cx="11734800" cy="4800600"/>
          </a:xfrm>
        </p:spPr>
        <p:txBody>
          <a:bodyPr rtlCol="0">
            <a:noAutofit/>
          </a:bodyPr>
          <a:lstStyle/>
          <a:p>
            <a:pPr algn="just" eaLnBrk="1" fontAlgn="auto" hangingPunct="1">
              <a:defRPr/>
            </a:pPr>
            <a:r>
              <a:rPr lang="en-GB" dirty="0"/>
              <a:t>Excess-3, also called XS3, is a non-weighted code used to express decimal numbers.</a:t>
            </a:r>
          </a:p>
          <a:p>
            <a:pPr algn="just" eaLnBrk="1" fontAlgn="auto" hangingPunct="1">
              <a:defRPr/>
            </a:pPr>
            <a:r>
              <a:rPr lang="en-GB" dirty="0"/>
              <a:t>It is another important binary code. </a:t>
            </a:r>
          </a:p>
          <a:p>
            <a:pPr algn="just" eaLnBrk="1" fontAlgn="auto" hangingPunct="1">
              <a:defRPr/>
            </a:pPr>
            <a:r>
              <a:rPr lang="en-GB" dirty="0"/>
              <a:t>It is particularly significant for arithmetic operations as it overcomes the shortcomings encountered while using the 8421 BCD code to add two decimal digits whose sum exceeds 9.</a:t>
            </a:r>
          </a:p>
          <a:p>
            <a:pPr algn="just" eaLnBrk="1" fontAlgn="auto" hangingPunct="1">
              <a:defRPr/>
            </a:pPr>
            <a:r>
              <a:rPr lang="en-GB" dirty="0"/>
              <a:t> This code is used in some old computers. </a:t>
            </a:r>
            <a:endParaRPr lang="en-US" dirty="0"/>
          </a:p>
        </p:txBody>
      </p:sp>
      <p:sp>
        <p:nvSpPr>
          <p:cNvPr id="56324" name="Slide Number Placeholder 3">
            <a:extLst>
              <a:ext uri="{FF2B5EF4-FFF2-40B4-BE49-F238E27FC236}">
                <a16:creationId xmlns:a16="http://schemas.microsoft.com/office/drawing/2014/main" id="{8F6060E5-9A52-43F4-9FD2-3586764765BB}"/>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215C824-6798-4036-A2C0-42ECC253ADAF}" type="slidenum">
              <a:rPr lang="en-US" altLang="en-US" sz="1800" smtClean="0">
                <a:solidFill>
                  <a:srgbClr val="898989"/>
                </a:solidFill>
                <a:latin typeface="Arial" panose="020B0604020202020204" pitchFamily="34" charset="0"/>
              </a:rPr>
              <a:pPr algn="l" eaLnBrk="0" hangingPunct="0">
                <a:spcBef>
                  <a:spcPct val="0"/>
                </a:spcBef>
                <a:buFontTx/>
                <a:buNone/>
              </a:pPr>
              <a:t>44</a:t>
            </a:fld>
            <a:endParaRPr lang="en-US" altLang="en-US" sz="1800">
              <a:solidFill>
                <a:srgbClr val="898989"/>
              </a:solidFill>
              <a:latin typeface="Arial" panose="020B0604020202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59D1FBEB-87EC-4764-89B7-A1FD27430174}"/>
              </a:ext>
            </a:extLst>
          </p:cNvPr>
          <p:cNvSpPr>
            <a:spLocks noGrp="1"/>
          </p:cNvSpPr>
          <p:nvPr>
            <p:ph type="title"/>
          </p:nvPr>
        </p:nvSpPr>
        <p:spPr>
          <a:xfrm>
            <a:off x="609600" y="3540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defRPr/>
            </a:pPr>
            <a:r>
              <a:rPr lang="en-US" sz="3600"/>
              <a:t>Excess-3 (Cont’d)</a:t>
            </a:r>
          </a:p>
        </p:txBody>
      </p:sp>
      <p:sp>
        <p:nvSpPr>
          <p:cNvPr id="27651" name="Content Placeholder 2">
            <a:extLst>
              <a:ext uri="{FF2B5EF4-FFF2-40B4-BE49-F238E27FC236}">
                <a16:creationId xmlns:a16="http://schemas.microsoft.com/office/drawing/2014/main" id="{486B3FE8-601F-48DC-A02B-1DDBC155EB31}"/>
              </a:ext>
            </a:extLst>
          </p:cNvPr>
          <p:cNvSpPr>
            <a:spLocks noGrp="1"/>
          </p:cNvSpPr>
          <p:nvPr>
            <p:ph idx="1"/>
          </p:nvPr>
        </p:nvSpPr>
        <p:spPr>
          <a:xfrm>
            <a:off x="239713" y="1066800"/>
            <a:ext cx="11715750" cy="5181600"/>
          </a:xfrm>
        </p:spPr>
        <p:txBody>
          <a:bodyPr rtlCol="0">
            <a:noAutofit/>
          </a:bodyPr>
          <a:lstStyle/>
          <a:p>
            <a:pPr algn="just" eaLnBrk="1" fontAlgn="auto" hangingPunct="1">
              <a:defRPr/>
            </a:pPr>
            <a:r>
              <a:rPr lang="en-GB" dirty="0"/>
              <a:t>The Excess-3 code for a given decimal number is determined by adding '3' to each decimal digit in the given number and then replacing each digit of the newly found decimal number by its four bit binary equivalent. </a:t>
            </a:r>
          </a:p>
          <a:p>
            <a:pPr eaLnBrk="1" fontAlgn="auto" hangingPunct="1">
              <a:defRPr/>
            </a:pPr>
            <a:r>
              <a:rPr lang="en-GB" b="1" dirty="0"/>
              <a:t>Example, XS3 code of 24</a:t>
            </a:r>
            <a:r>
              <a:rPr lang="en-GB" dirty="0"/>
              <a:t> is obtained as </a:t>
            </a:r>
            <a:endParaRPr lang="en-US" dirty="0"/>
          </a:p>
          <a:p>
            <a:pPr eaLnBrk="1" fontAlgn="auto" hangingPunct="1">
              <a:defRPr/>
            </a:pPr>
            <a:r>
              <a:rPr lang="en-GB" dirty="0"/>
              <a:t>  2       4 </a:t>
            </a:r>
            <a:endParaRPr lang="en-US" dirty="0"/>
          </a:p>
          <a:p>
            <a:pPr eaLnBrk="1" fontAlgn="auto" hangingPunct="1">
              <a:defRPr/>
            </a:pPr>
            <a:r>
              <a:rPr lang="en-GB" dirty="0"/>
              <a:t>+3     +3 </a:t>
            </a:r>
            <a:endParaRPr lang="en-US" dirty="0"/>
          </a:p>
          <a:p>
            <a:pPr eaLnBrk="1" fontAlgn="auto" hangingPunct="1">
              <a:defRPr/>
            </a:pPr>
            <a:r>
              <a:rPr lang="en-GB" dirty="0"/>
              <a:t>  5       7 </a:t>
            </a:r>
            <a:endParaRPr lang="en-US" dirty="0"/>
          </a:p>
          <a:p>
            <a:pPr eaLnBrk="1" fontAlgn="auto" hangingPunct="1">
              <a:defRPr/>
            </a:pPr>
            <a:r>
              <a:rPr lang="en-GB" dirty="0"/>
              <a:t>0101 0111 </a:t>
            </a:r>
            <a:endParaRPr lang="en-US" dirty="0"/>
          </a:p>
          <a:p>
            <a:pPr eaLnBrk="1" fontAlgn="auto" hangingPunct="1">
              <a:defRPr/>
            </a:pPr>
            <a:r>
              <a:rPr lang="en-GB" b="1" dirty="0"/>
              <a:t>Thus, XS3 code of 24 is 0101 0111. </a:t>
            </a:r>
            <a:endParaRPr lang="en-US" sz="4400" b="1" dirty="0"/>
          </a:p>
          <a:p>
            <a:pPr eaLnBrk="1" fontAlgn="auto" hangingPunct="1">
              <a:defRPr/>
            </a:pPr>
            <a:endParaRPr lang="en-US" sz="4400" dirty="0"/>
          </a:p>
        </p:txBody>
      </p:sp>
      <p:sp>
        <p:nvSpPr>
          <p:cNvPr id="57348" name="Slide Number Placeholder 3">
            <a:extLst>
              <a:ext uri="{FF2B5EF4-FFF2-40B4-BE49-F238E27FC236}">
                <a16:creationId xmlns:a16="http://schemas.microsoft.com/office/drawing/2014/main" id="{20654C0B-A02C-43A1-B7A6-2FAFA716CFD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9EBF07D-64F2-49C8-B028-31F6B02A4CBD}" type="slidenum">
              <a:rPr lang="en-US" altLang="en-US" sz="1800" smtClean="0">
                <a:solidFill>
                  <a:srgbClr val="898989"/>
                </a:solidFill>
                <a:latin typeface="Arial" panose="020B0604020202020204" pitchFamily="34" charset="0"/>
              </a:rPr>
              <a:pPr algn="l" eaLnBrk="0" hangingPunct="0">
                <a:spcBef>
                  <a:spcPct val="0"/>
                </a:spcBef>
                <a:buFontTx/>
                <a:buNone/>
              </a:pPr>
              <a:t>45</a:t>
            </a:fld>
            <a:endParaRPr lang="en-US" altLang="en-US" sz="1800">
              <a:solidFill>
                <a:srgbClr val="898989"/>
              </a:solidFill>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9967D31E-BF55-4E3D-8261-4CB292C5E4EC}"/>
              </a:ext>
            </a:extLst>
          </p:cNvPr>
          <p:cNvSpPr>
            <a:spLocks noGrp="1"/>
          </p:cNvSpPr>
          <p:nvPr>
            <p:ph type="title"/>
          </p:nvPr>
        </p:nvSpPr>
        <p:spPr>
          <a:xfrm>
            <a:off x="230188" y="228600"/>
            <a:ext cx="11734800" cy="8382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600"/>
              <a:t>Excess-3 (Cont’d)</a:t>
            </a:r>
          </a:p>
        </p:txBody>
      </p:sp>
      <p:sp>
        <p:nvSpPr>
          <p:cNvPr id="28675" name="Content Placeholder 2">
            <a:extLst>
              <a:ext uri="{FF2B5EF4-FFF2-40B4-BE49-F238E27FC236}">
                <a16:creationId xmlns:a16="http://schemas.microsoft.com/office/drawing/2014/main" id="{C9FCBCE7-C7E0-47BE-970F-BBE55EA8FFC1}"/>
              </a:ext>
            </a:extLst>
          </p:cNvPr>
          <p:cNvSpPr>
            <a:spLocks noGrp="1"/>
          </p:cNvSpPr>
          <p:nvPr>
            <p:ph idx="1"/>
          </p:nvPr>
        </p:nvSpPr>
        <p:spPr>
          <a:xfrm>
            <a:off x="230188" y="1143000"/>
            <a:ext cx="11734800" cy="5029200"/>
          </a:xfrm>
        </p:spPr>
        <p:txBody>
          <a:bodyPr rtlCol="0"/>
          <a:lstStyle/>
          <a:p>
            <a:pPr eaLnBrk="1" fontAlgn="auto" hangingPunct="1">
              <a:defRPr/>
            </a:pPr>
            <a:r>
              <a:rPr lang="en-GB" sz="2200" dirty="0"/>
              <a:t>Excess-3 code is self-complementing. </a:t>
            </a:r>
          </a:p>
          <a:p>
            <a:pPr eaLnBrk="1" fontAlgn="auto" hangingPunct="1">
              <a:defRPr/>
            </a:pPr>
            <a:r>
              <a:rPr lang="en-GB" sz="2200" dirty="0"/>
              <a:t>That is , the 1's complement of an Excess- 3 number is the Excess- 3 code for the 9's complement of the corresponding decimal number. </a:t>
            </a:r>
          </a:p>
          <a:p>
            <a:pPr eaLnBrk="1" fontAlgn="auto" hangingPunct="1">
              <a:defRPr/>
            </a:pPr>
            <a:r>
              <a:rPr lang="en-GB" sz="2200" dirty="0"/>
              <a:t>For example, the Excess- 3 code for decimal 6 is 1001. The 1's complement of 1001 is 0110, which is the Excess-3 code for decimal 3, and 3 is the 9's complement of 6. </a:t>
            </a:r>
          </a:p>
          <a:p>
            <a:pPr eaLnBrk="1" fontAlgn="auto" hangingPunct="1">
              <a:defRPr/>
            </a:pPr>
            <a:r>
              <a:rPr lang="en-GB" sz="2200" dirty="0"/>
              <a:t>This property of Excess-3 code makes it useful in some arithmetic operations. </a:t>
            </a:r>
            <a:endParaRPr lang="en-US" sz="2200" dirty="0"/>
          </a:p>
          <a:p>
            <a:pPr eaLnBrk="1" fontAlgn="auto" hangingPunct="1">
              <a:defRPr/>
            </a:pPr>
            <a:r>
              <a:rPr lang="en-GB" sz="2200" b="1" dirty="0"/>
              <a:t>Example:</a:t>
            </a:r>
          </a:p>
          <a:p>
            <a:pPr eaLnBrk="1" fontAlgn="auto" hangingPunct="1">
              <a:defRPr/>
            </a:pPr>
            <a:r>
              <a:rPr lang="en-GB" sz="2200" dirty="0"/>
              <a:t>The Excess-3 code for 27 is 01011010. </a:t>
            </a:r>
            <a:endParaRPr lang="en-US" sz="2200" dirty="0"/>
          </a:p>
          <a:p>
            <a:pPr eaLnBrk="1" fontAlgn="auto" hangingPunct="1">
              <a:defRPr/>
            </a:pPr>
            <a:r>
              <a:rPr lang="en-GB" sz="2200" dirty="0"/>
              <a:t>Similarly, Excess-3 code for (597)</a:t>
            </a:r>
            <a:r>
              <a:rPr lang="en-GB" sz="2200" baseline="-25000" dirty="0"/>
              <a:t>10</a:t>
            </a:r>
            <a:r>
              <a:rPr lang="en-GB" sz="2200" dirty="0"/>
              <a:t> and (14.57)</a:t>
            </a:r>
            <a:r>
              <a:rPr lang="en-GB" sz="2200" baseline="-25000" dirty="0"/>
              <a:t>10</a:t>
            </a:r>
            <a:r>
              <a:rPr lang="en-GB" sz="2200" dirty="0"/>
              <a:t> is </a:t>
            </a:r>
            <a:endParaRPr lang="en-US" sz="2200" dirty="0"/>
          </a:p>
          <a:p>
            <a:pPr eaLnBrk="1" fontAlgn="auto" hangingPunct="1">
              <a:defRPr/>
            </a:pPr>
            <a:r>
              <a:rPr lang="en-GB" sz="2200" dirty="0"/>
              <a:t>(597)</a:t>
            </a:r>
            <a:r>
              <a:rPr lang="en-GB" sz="2200" baseline="-25000" dirty="0"/>
              <a:t>10</a:t>
            </a:r>
            <a:r>
              <a:rPr lang="en-GB" sz="2200" dirty="0"/>
              <a:t> = (100011001010) </a:t>
            </a:r>
            <a:endParaRPr lang="en-US" sz="2200" dirty="0"/>
          </a:p>
          <a:p>
            <a:pPr eaLnBrk="1" fontAlgn="auto" hangingPunct="1">
              <a:defRPr/>
            </a:pPr>
            <a:r>
              <a:rPr lang="en-GB" sz="2200" dirty="0"/>
              <a:t>(14.57)</a:t>
            </a:r>
            <a:r>
              <a:rPr lang="en-GB" sz="2200" baseline="-25000" dirty="0"/>
              <a:t>10</a:t>
            </a:r>
            <a:r>
              <a:rPr lang="en-GB" sz="2200" dirty="0"/>
              <a:t> = (01000111.10001010) </a:t>
            </a:r>
            <a:endParaRPr lang="en-US" sz="2200" dirty="0"/>
          </a:p>
        </p:txBody>
      </p:sp>
      <p:sp>
        <p:nvSpPr>
          <p:cNvPr id="58372" name="Slide Number Placeholder 3">
            <a:extLst>
              <a:ext uri="{FF2B5EF4-FFF2-40B4-BE49-F238E27FC236}">
                <a16:creationId xmlns:a16="http://schemas.microsoft.com/office/drawing/2014/main" id="{8C5670FD-C896-410F-BE9C-8060FD2DD1C0}"/>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D9F5E2F3-77B5-4655-B64E-0C466A14E1B3}" type="slidenum">
              <a:rPr lang="en-US" altLang="en-US" sz="1800" smtClean="0">
                <a:solidFill>
                  <a:srgbClr val="898989"/>
                </a:solidFill>
                <a:latin typeface="Arial" panose="020B0604020202020204" pitchFamily="34" charset="0"/>
              </a:rPr>
              <a:pPr algn="l" eaLnBrk="0" hangingPunct="0">
                <a:spcBef>
                  <a:spcPct val="0"/>
                </a:spcBef>
                <a:buFontTx/>
                <a:buNone/>
              </a:pPr>
              <a:t>46</a:t>
            </a:fld>
            <a:endParaRPr lang="en-US" altLang="en-US" sz="1800">
              <a:solidFill>
                <a:srgbClr val="898989"/>
              </a:solidFill>
              <a:latin typeface="Arial" panose="020B060402020202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F015F842-A2E8-4611-A1A6-4A0E50C2F022}"/>
              </a:ext>
            </a:extLst>
          </p:cNvPr>
          <p:cNvSpPr>
            <a:spLocks noGrp="1"/>
          </p:cNvSpPr>
          <p:nvPr>
            <p:ph type="title"/>
          </p:nvPr>
        </p:nvSpPr>
        <p:spPr>
          <a:xfrm>
            <a:off x="382588" y="381000"/>
            <a:ext cx="10058400"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Convert from Excess-3 to Decimal</a:t>
            </a:r>
          </a:p>
        </p:txBody>
      </p:sp>
      <p:sp>
        <p:nvSpPr>
          <p:cNvPr id="29699" name="Content Placeholder 2">
            <a:extLst>
              <a:ext uri="{FF2B5EF4-FFF2-40B4-BE49-F238E27FC236}">
                <a16:creationId xmlns:a16="http://schemas.microsoft.com/office/drawing/2014/main" id="{BCD0ADDB-2292-48B8-A821-D6B19A1244CD}"/>
              </a:ext>
            </a:extLst>
          </p:cNvPr>
          <p:cNvSpPr>
            <a:spLocks noGrp="1"/>
          </p:cNvSpPr>
          <p:nvPr>
            <p:ph idx="1"/>
          </p:nvPr>
        </p:nvSpPr>
        <p:spPr>
          <a:xfrm>
            <a:off x="230188" y="1371600"/>
            <a:ext cx="11658600" cy="4648200"/>
          </a:xfrm>
        </p:spPr>
        <p:txBody>
          <a:bodyPr rtlCol="0"/>
          <a:lstStyle/>
          <a:p>
            <a:pPr algn="just" eaLnBrk="1" fontAlgn="auto" hangingPunct="1">
              <a:buFont typeface="Arial" panose="020B0604020202020204" pitchFamily="34" charset="0"/>
              <a:buNone/>
              <a:defRPr/>
            </a:pPr>
            <a:r>
              <a:rPr lang="en-GB" sz="2400" b="1" dirty="0"/>
              <a:t>Example</a:t>
            </a:r>
            <a:r>
              <a:rPr lang="en-GB" sz="2400" dirty="0"/>
              <a:t>:</a:t>
            </a:r>
          </a:p>
          <a:p>
            <a:pPr algn="just" eaLnBrk="1" fontAlgn="auto" hangingPunct="1">
              <a:defRPr/>
            </a:pPr>
            <a:r>
              <a:rPr lang="en-GB" sz="2400" dirty="0"/>
              <a:t>To determine the decimal equivalent for the Excess-3 code </a:t>
            </a:r>
            <a:r>
              <a:rPr lang="en-GB" sz="2400" b="1" dirty="0"/>
              <a:t>1000110. </a:t>
            </a:r>
          </a:p>
          <a:p>
            <a:pPr algn="just" eaLnBrk="1" fontAlgn="auto" hangingPunct="1">
              <a:defRPr/>
            </a:pPr>
            <a:r>
              <a:rPr lang="en-GB" sz="2400" dirty="0"/>
              <a:t>First make group of 4 bits starting from radix point </a:t>
            </a:r>
            <a:r>
              <a:rPr lang="en-GB" sz="2400" b="1" dirty="0"/>
              <a:t>(LSB)</a:t>
            </a:r>
            <a:r>
              <a:rPr lang="en-GB" sz="2400" dirty="0"/>
              <a:t>. </a:t>
            </a:r>
            <a:endParaRPr lang="en-US" sz="2400" dirty="0"/>
          </a:p>
          <a:p>
            <a:pPr algn="just" eaLnBrk="1" fontAlgn="auto" hangingPunct="1">
              <a:defRPr/>
            </a:pPr>
            <a:r>
              <a:rPr lang="en-GB" sz="2400" dirty="0"/>
              <a:t>Subtract </a:t>
            </a:r>
            <a:r>
              <a:rPr lang="en-GB" sz="2400" b="1" dirty="0"/>
              <a:t>0011 (3)</a:t>
            </a:r>
            <a:r>
              <a:rPr lang="en-GB" sz="2400" dirty="0"/>
              <a:t> from each group, we obtain the new number as </a:t>
            </a:r>
            <a:r>
              <a:rPr lang="en-GB" sz="2400" b="1" dirty="0"/>
              <a:t>00010011</a:t>
            </a:r>
            <a:r>
              <a:rPr lang="en-GB" sz="2400" dirty="0"/>
              <a:t>. </a:t>
            </a:r>
          </a:p>
          <a:p>
            <a:pPr algn="just" eaLnBrk="1" fontAlgn="auto" hangingPunct="1">
              <a:defRPr/>
            </a:pPr>
            <a:r>
              <a:rPr lang="en-GB" sz="2400" dirty="0"/>
              <a:t>Its decimal equivalent is </a:t>
            </a:r>
            <a:r>
              <a:rPr lang="en-GB" sz="2400" b="1" dirty="0"/>
              <a:t>13</a:t>
            </a:r>
            <a:r>
              <a:rPr lang="en-GB" sz="2400" dirty="0"/>
              <a:t>. </a:t>
            </a:r>
            <a:endParaRPr lang="en-US" sz="2400" dirty="0"/>
          </a:p>
          <a:p>
            <a:pPr algn="just" eaLnBrk="1" fontAlgn="auto" hangingPunct="1">
              <a:defRPr/>
            </a:pPr>
            <a:r>
              <a:rPr lang="en-GB" sz="2400" dirty="0"/>
              <a:t>Therefore, </a:t>
            </a:r>
            <a:r>
              <a:rPr lang="en-GB" sz="2400" b="1" dirty="0"/>
              <a:t>(1000110) Excess-3= (13)</a:t>
            </a:r>
            <a:r>
              <a:rPr lang="en-GB" sz="2400" b="1" baseline="-25000" dirty="0"/>
              <a:t>10</a:t>
            </a:r>
            <a:r>
              <a:rPr lang="en-GB" sz="2400" b="1" dirty="0"/>
              <a:t> </a:t>
            </a:r>
          </a:p>
          <a:p>
            <a:pPr algn="just" eaLnBrk="1" fontAlgn="auto" hangingPunct="1">
              <a:defRPr/>
            </a:pPr>
            <a:r>
              <a:rPr lang="en-GB" sz="2400" b="1" dirty="0" err="1"/>
              <a:t>ClassWork</a:t>
            </a:r>
            <a:r>
              <a:rPr lang="en-GB" sz="2400" b="1" dirty="0"/>
              <a:t>: 1011011011</a:t>
            </a:r>
            <a:r>
              <a:rPr lang="en-GB" sz="2400" b="1" baseline="-25000" dirty="0"/>
              <a:t>sx3</a:t>
            </a:r>
            <a:r>
              <a:rPr lang="en-GB" sz="2400" b="1" dirty="0"/>
              <a:t>  = ?</a:t>
            </a:r>
            <a:r>
              <a:rPr lang="en-GB" sz="2400" b="1" baseline="-25000" dirty="0"/>
              <a:t>10</a:t>
            </a:r>
            <a:endParaRPr lang="en-US" sz="2400" b="1" baseline="-25000" dirty="0"/>
          </a:p>
        </p:txBody>
      </p:sp>
      <p:sp>
        <p:nvSpPr>
          <p:cNvPr id="59396" name="Slide Number Placeholder 3">
            <a:extLst>
              <a:ext uri="{FF2B5EF4-FFF2-40B4-BE49-F238E27FC236}">
                <a16:creationId xmlns:a16="http://schemas.microsoft.com/office/drawing/2014/main" id="{2413A9B8-4460-4AF5-9562-BAE6AAE05E6F}"/>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D3C7668-C381-47D4-8A86-A00342623548}" type="slidenum">
              <a:rPr lang="en-US" altLang="en-US" sz="1800" smtClean="0">
                <a:solidFill>
                  <a:srgbClr val="898989"/>
                </a:solidFill>
                <a:latin typeface="Arial" panose="020B0604020202020204" pitchFamily="34" charset="0"/>
              </a:rPr>
              <a:pPr algn="l" eaLnBrk="0" hangingPunct="0">
                <a:spcBef>
                  <a:spcPct val="0"/>
                </a:spcBef>
                <a:buFontTx/>
                <a:buNone/>
              </a:pPr>
              <a:t>47</a:t>
            </a:fld>
            <a:endParaRPr lang="en-US" altLang="en-US" sz="1800">
              <a:solidFill>
                <a:srgbClr val="898989"/>
              </a:solidFill>
              <a:latin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D440179D-C15A-4059-84FC-C90AD47AFECB}"/>
              </a:ext>
            </a:extLst>
          </p:cNvPr>
          <p:cNvSpPr>
            <a:spLocks noGrp="1"/>
          </p:cNvSpPr>
          <p:nvPr>
            <p:ph type="title"/>
          </p:nvPr>
        </p:nvSpPr>
        <p:spPr>
          <a:xfrm>
            <a:off x="153988" y="228600"/>
            <a:ext cx="11280775" cy="7620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Representation of Floating Point Numbers</a:t>
            </a:r>
          </a:p>
        </p:txBody>
      </p:sp>
      <p:sp>
        <p:nvSpPr>
          <p:cNvPr id="30723" name="Content Placeholder 2">
            <a:extLst>
              <a:ext uri="{FF2B5EF4-FFF2-40B4-BE49-F238E27FC236}">
                <a16:creationId xmlns:a16="http://schemas.microsoft.com/office/drawing/2014/main" id="{9ABA38E8-693B-4BD0-B7FC-2D1848702CA3}"/>
              </a:ext>
            </a:extLst>
          </p:cNvPr>
          <p:cNvSpPr>
            <a:spLocks noGrp="1"/>
          </p:cNvSpPr>
          <p:nvPr>
            <p:ph idx="1"/>
          </p:nvPr>
        </p:nvSpPr>
        <p:spPr>
          <a:xfrm>
            <a:off x="230188" y="1066800"/>
            <a:ext cx="11761787" cy="5181600"/>
          </a:xfrm>
        </p:spPr>
        <p:txBody>
          <a:bodyPr rtlCol="0">
            <a:noAutofit/>
          </a:bodyPr>
          <a:lstStyle/>
          <a:p>
            <a:pPr eaLnBrk="1" fontAlgn="auto" hangingPunct="1">
              <a:defRPr/>
            </a:pPr>
            <a:r>
              <a:rPr lang="en-US" sz="2400" dirty="0"/>
              <a:t>A range of very large and very small numbers can be represented with only a few digits by using scientific notation. For example:</a:t>
            </a:r>
          </a:p>
          <a:p>
            <a:pPr lvl="1" eaLnBrk="1" fontAlgn="auto" hangingPunct="1">
              <a:defRPr/>
            </a:pPr>
            <a:r>
              <a:rPr lang="en-US" b="1" dirty="0"/>
              <a:t>976,000,000,000,000   = 9.76 * 10</a:t>
            </a:r>
            <a:r>
              <a:rPr lang="en-US" b="1" baseline="30000" dirty="0"/>
              <a:t>14</a:t>
            </a:r>
            <a:endParaRPr lang="en-US" b="1" dirty="0"/>
          </a:p>
          <a:p>
            <a:pPr lvl="1" eaLnBrk="1" fontAlgn="auto" hangingPunct="1">
              <a:defRPr/>
            </a:pPr>
            <a:r>
              <a:rPr lang="en-US" b="1" dirty="0"/>
              <a:t>0.0000000000000976  = 9.76 * 10</a:t>
            </a:r>
            <a:r>
              <a:rPr lang="en-US" b="1" baseline="30000" dirty="0"/>
              <a:t>-14</a:t>
            </a:r>
          </a:p>
          <a:p>
            <a:pPr eaLnBrk="1" fontAlgn="auto" hangingPunct="1">
              <a:defRPr/>
            </a:pPr>
            <a:r>
              <a:rPr lang="en-US" sz="2400" dirty="0"/>
              <a:t>This same approach can be used for binary numbers. A number represented by  M*B</a:t>
            </a:r>
            <a:r>
              <a:rPr lang="en-US" sz="2400" baseline="30000" dirty="0"/>
              <a:t>±E</a:t>
            </a:r>
            <a:r>
              <a:rPr lang="en-US" sz="2400" dirty="0"/>
              <a:t>   can be stored in a binary word with three fields:</a:t>
            </a:r>
          </a:p>
          <a:p>
            <a:pPr lvl="1" eaLnBrk="1" fontAlgn="auto" hangingPunct="1">
              <a:buFontTx/>
              <a:buNone/>
              <a:defRPr/>
            </a:pPr>
            <a:endParaRPr lang="en-US" dirty="0"/>
          </a:p>
          <a:p>
            <a:pPr lvl="1" eaLnBrk="1" fontAlgn="auto" hangingPunct="1">
              <a:defRPr/>
            </a:pPr>
            <a:r>
              <a:rPr lang="en-US" b="1" dirty="0"/>
              <a:t>Mantissa</a:t>
            </a:r>
          </a:p>
          <a:p>
            <a:pPr lvl="1" eaLnBrk="1" fontAlgn="auto" hangingPunct="1">
              <a:defRPr/>
            </a:pPr>
            <a:r>
              <a:rPr lang="en-US" b="1" dirty="0"/>
              <a:t>Exponent E</a:t>
            </a:r>
          </a:p>
          <a:p>
            <a:pPr lvl="1" eaLnBrk="1" fontAlgn="auto" hangingPunct="1">
              <a:defRPr/>
            </a:pPr>
            <a:r>
              <a:rPr lang="en-US" b="1" dirty="0"/>
              <a:t>The base B is implicit and need not be stored.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D92DDA6B-9961-4AF4-9FE7-CE46EE797433}"/>
              </a:ext>
            </a:extLst>
          </p:cNvPr>
          <p:cNvSpPr>
            <a:spLocks noGrp="1"/>
          </p:cNvSpPr>
          <p:nvPr>
            <p:ph type="title"/>
          </p:nvPr>
        </p:nvSpPr>
        <p:spPr>
          <a:xfrm>
            <a:off x="458788" y="457200"/>
            <a:ext cx="10134600"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Floating Point – Single Precision</a:t>
            </a:r>
          </a:p>
        </p:txBody>
      </p:sp>
      <p:sp>
        <p:nvSpPr>
          <p:cNvPr id="31747" name="Content Placeholder 2">
            <a:extLst>
              <a:ext uri="{FF2B5EF4-FFF2-40B4-BE49-F238E27FC236}">
                <a16:creationId xmlns:a16="http://schemas.microsoft.com/office/drawing/2014/main" id="{31F31130-6BDA-4A32-9777-27BC01D66ABE}"/>
              </a:ext>
            </a:extLst>
          </p:cNvPr>
          <p:cNvSpPr>
            <a:spLocks noGrp="1"/>
          </p:cNvSpPr>
          <p:nvPr>
            <p:ph idx="1"/>
          </p:nvPr>
        </p:nvSpPr>
        <p:spPr>
          <a:xfrm>
            <a:off x="230188" y="1219200"/>
            <a:ext cx="11761788" cy="4876800"/>
          </a:xfrm>
        </p:spPr>
        <p:txBody>
          <a:bodyPr rtlCol="0"/>
          <a:lstStyle/>
          <a:p>
            <a:pPr lvl="1" eaLnBrk="1" fontAlgn="auto" hangingPunct="1">
              <a:defRPr/>
            </a:pPr>
            <a:r>
              <a:rPr lang="en-US" sz="2800" dirty="0"/>
              <a:t>IEEE-754, 854 is a standard for representing FP</a:t>
            </a:r>
          </a:p>
          <a:p>
            <a:pPr lvl="1" eaLnBrk="1" fontAlgn="auto" hangingPunct="1">
              <a:defRPr/>
            </a:pPr>
            <a:r>
              <a:rPr lang="en-US" sz="2800" dirty="0"/>
              <a:t>Decimal point can “move” –  hence it’s “floating”</a:t>
            </a:r>
          </a:p>
          <a:p>
            <a:pPr lvl="1" eaLnBrk="1" fontAlgn="auto" hangingPunct="1">
              <a:defRPr/>
            </a:pPr>
            <a:r>
              <a:rPr lang="en-US" sz="2800" dirty="0"/>
              <a:t>Floating point is useful for scientific calculations </a:t>
            </a:r>
          </a:p>
          <a:p>
            <a:pPr lvl="1" eaLnBrk="1" fontAlgn="auto" hangingPunct="1">
              <a:defRPr/>
            </a:pPr>
            <a:r>
              <a:rPr lang="en-US" sz="2800" dirty="0"/>
              <a:t>Can represent </a:t>
            </a:r>
          </a:p>
          <a:p>
            <a:pPr lvl="2" eaLnBrk="1" fontAlgn="auto" hangingPunct="1">
              <a:defRPr/>
            </a:pPr>
            <a:r>
              <a:rPr lang="en-US" sz="2800" b="1" dirty="0">
                <a:solidFill>
                  <a:schemeClr val="tx1"/>
                </a:solidFill>
              </a:rPr>
              <a:t>Very large integers and</a:t>
            </a:r>
          </a:p>
          <a:p>
            <a:pPr lvl="2" eaLnBrk="1" fontAlgn="auto" hangingPunct="1">
              <a:defRPr/>
            </a:pPr>
            <a:r>
              <a:rPr lang="en-US" sz="2800" b="1" dirty="0">
                <a:solidFill>
                  <a:schemeClr val="tx1"/>
                </a:solidFill>
              </a:rPr>
              <a:t>Very small fractions</a:t>
            </a:r>
          </a:p>
          <a:p>
            <a:pPr lvl="2" eaLnBrk="1" fontAlgn="auto" hangingPunct="1">
              <a:defRPr/>
            </a:pPr>
            <a:r>
              <a:rPr lang="en-US" sz="2800" b="1" dirty="0">
                <a:solidFill>
                  <a:schemeClr val="tx1"/>
                </a:solidFill>
              </a:rPr>
              <a:t>~10</a:t>
            </a:r>
            <a:r>
              <a:rPr lang="en-US" sz="2800" b="1" baseline="30000" dirty="0">
                <a:solidFill>
                  <a:schemeClr val="tx1"/>
                </a:solidFill>
              </a:rPr>
              <a:t>±38</a:t>
            </a:r>
            <a:endParaRPr lang="en-US" sz="2800" b="1" dirty="0">
              <a:solidFill>
                <a:schemeClr val="tx1"/>
              </a:solidFill>
            </a:endParaRPr>
          </a:p>
        </p:txBody>
      </p:sp>
      <p:sp>
        <p:nvSpPr>
          <p:cNvPr id="61444" name="Slide Number Placeholder 3">
            <a:extLst>
              <a:ext uri="{FF2B5EF4-FFF2-40B4-BE49-F238E27FC236}">
                <a16:creationId xmlns:a16="http://schemas.microsoft.com/office/drawing/2014/main" id="{B91EFF26-B18C-4088-B202-BE2726DF534E}"/>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D6A2075-3CAA-474C-A458-847C89B00CC0}" type="slidenum">
              <a:rPr lang="en-US" altLang="en-US" sz="1800" smtClean="0">
                <a:solidFill>
                  <a:srgbClr val="898989"/>
                </a:solidFill>
                <a:latin typeface="Arial" panose="020B0604020202020204" pitchFamily="34" charset="0"/>
              </a:rPr>
              <a:pPr algn="l" eaLnBrk="0" hangingPunct="0">
                <a:spcBef>
                  <a:spcPct val="0"/>
                </a:spcBef>
                <a:buFontTx/>
                <a:buNone/>
              </a:pPr>
              <a:t>49</a:t>
            </a:fld>
            <a:endParaRPr lang="en-US" altLang="en-US" sz="1800">
              <a:solidFill>
                <a:srgbClr val="898989"/>
              </a:solidFill>
              <a:latin typeface="Arial" panose="020B0604020202020204" pitchFamily="3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3">
            <a:extLst>
              <a:ext uri="{FF2B5EF4-FFF2-40B4-BE49-F238E27FC236}">
                <a16:creationId xmlns:a16="http://schemas.microsoft.com/office/drawing/2014/main" id="{02F4B0D2-8C2C-447C-B956-6BA9AE2C4A2F}"/>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8744280E-76A2-4936-9FE4-FCF9C55BE326}" type="slidenum">
              <a:rPr lang="en-US" altLang="en-US" sz="1800" b="1" smtClean="0">
                <a:solidFill>
                  <a:srgbClr val="898989"/>
                </a:solidFill>
                <a:latin typeface="Arial" panose="020B0604020202020204" pitchFamily="34" charset="0"/>
              </a:rPr>
              <a:pPr algn="l" eaLnBrk="0" hangingPunct="0">
                <a:spcBef>
                  <a:spcPct val="0"/>
                </a:spcBef>
                <a:buFontTx/>
                <a:buNone/>
              </a:pPr>
              <a:t>50</a:t>
            </a:fld>
            <a:endParaRPr lang="en-US" altLang="en-US" sz="1800" b="1">
              <a:solidFill>
                <a:srgbClr val="898989"/>
              </a:solidFill>
              <a:latin typeface="Arial" panose="020B0604020202020204" pitchFamily="34" charset="0"/>
            </a:endParaRPr>
          </a:p>
        </p:txBody>
      </p:sp>
      <p:grpSp>
        <p:nvGrpSpPr>
          <p:cNvPr id="62467" name="Group 82">
            <a:extLst>
              <a:ext uri="{FF2B5EF4-FFF2-40B4-BE49-F238E27FC236}">
                <a16:creationId xmlns:a16="http://schemas.microsoft.com/office/drawing/2014/main" id="{5989B7E2-C446-49FE-A1E1-966DA3C9D6D7}"/>
              </a:ext>
            </a:extLst>
          </p:cNvPr>
          <p:cNvGrpSpPr>
            <a:grpSpLocks noGrp="1"/>
          </p:cNvGrpSpPr>
          <p:nvPr/>
        </p:nvGrpSpPr>
        <p:grpSpPr bwMode="auto">
          <a:xfrm>
            <a:off x="609600" y="1439863"/>
            <a:ext cx="10910888" cy="4503737"/>
            <a:chOff x="952500" y="1677988"/>
            <a:chExt cx="4740275" cy="3039547"/>
          </a:xfrm>
        </p:grpSpPr>
        <p:sp>
          <p:nvSpPr>
            <p:cNvPr id="62469" name="Line 2">
              <a:extLst>
                <a:ext uri="{FF2B5EF4-FFF2-40B4-BE49-F238E27FC236}">
                  <a16:creationId xmlns:a16="http://schemas.microsoft.com/office/drawing/2014/main" id="{D9DC432A-2169-43CB-9FDA-80C95C0FF8AC}"/>
                </a:ext>
              </a:extLst>
            </p:cNvPr>
            <p:cNvSpPr>
              <a:spLocks noChangeShapeType="1"/>
            </p:cNvSpPr>
            <p:nvPr/>
          </p:nvSpPr>
          <p:spPr bwMode="auto">
            <a:xfrm flipV="1">
              <a:off x="2593975" y="3843338"/>
              <a:ext cx="1588" cy="268287"/>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470" name="Rectangle 3">
              <a:extLst>
                <a:ext uri="{FF2B5EF4-FFF2-40B4-BE49-F238E27FC236}">
                  <a16:creationId xmlns:a16="http://schemas.microsoft.com/office/drawing/2014/main" id="{131CFB20-9032-4C6B-96AD-EA37616B512F}"/>
                </a:ext>
              </a:extLst>
            </p:cNvPr>
            <p:cNvSpPr>
              <a:spLocks noChangeArrowheads="1"/>
            </p:cNvSpPr>
            <p:nvPr/>
          </p:nvSpPr>
          <p:spPr bwMode="auto">
            <a:xfrm>
              <a:off x="1036638" y="2287588"/>
              <a:ext cx="302275"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Sign of</a:t>
              </a:r>
              <a:endParaRPr lang="en-CA" altLang="en-US" sz="3600" b="1"/>
            </a:p>
          </p:txBody>
        </p:sp>
        <p:sp>
          <p:nvSpPr>
            <p:cNvPr id="62471" name="Rectangle 4">
              <a:extLst>
                <a:ext uri="{FF2B5EF4-FFF2-40B4-BE49-F238E27FC236}">
                  <a16:creationId xmlns:a16="http://schemas.microsoft.com/office/drawing/2014/main" id="{F8BC68DC-0232-4726-ABC0-77601D75F9E9}"/>
                </a:ext>
              </a:extLst>
            </p:cNvPr>
            <p:cNvSpPr>
              <a:spLocks noChangeArrowheads="1"/>
            </p:cNvSpPr>
            <p:nvPr/>
          </p:nvSpPr>
          <p:spPr bwMode="auto">
            <a:xfrm>
              <a:off x="1036638" y="2414588"/>
              <a:ext cx="38167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number :</a:t>
              </a:r>
              <a:endParaRPr lang="en-CA" altLang="en-US" sz="3600" b="1"/>
            </a:p>
          </p:txBody>
        </p:sp>
        <p:sp>
          <p:nvSpPr>
            <p:cNvPr id="62472" name="Freeform 5">
              <a:extLst>
                <a:ext uri="{FF2B5EF4-FFF2-40B4-BE49-F238E27FC236}">
                  <a16:creationId xmlns:a16="http://schemas.microsoft.com/office/drawing/2014/main" id="{556429B5-2C8E-473F-8957-EEC4A6A4A63D}"/>
                </a:ext>
              </a:extLst>
            </p:cNvPr>
            <p:cNvSpPr>
              <a:spLocks/>
            </p:cNvSpPr>
            <p:nvPr/>
          </p:nvSpPr>
          <p:spPr bwMode="auto">
            <a:xfrm>
              <a:off x="1589088" y="2187575"/>
              <a:ext cx="28575" cy="84138"/>
            </a:xfrm>
            <a:custGeom>
              <a:avLst/>
              <a:gdLst>
                <a:gd name="T0" fmla="*/ 2147483646 w 2"/>
                <a:gd name="T1" fmla="*/ 2147483646 h 6"/>
                <a:gd name="T2" fmla="*/ 2147483646 w 2"/>
                <a:gd name="T3" fmla="*/ 0 h 6"/>
                <a:gd name="T4" fmla="*/ 0 w 2"/>
                <a:gd name="T5" fmla="*/ 2147483646 h 6"/>
                <a:gd name="T6" fmla="*/ 2147483646 w 2"/>
                <a:gd name="T7" fmla="*/ 2147483646 h 6"/>
                <a:gd name="T8" fmla="*/ 2147483646 w 2"/>
                <a:gd name="T9" fmla="*/ 2147483646 h 6"/>
                <a:gd name="T10" fmla="*/ 0 60000 65536"/>
                <a:gd name="T11" fmla="*/ 0 60000 65536"/>
                <a:gd name="T12" fmla="*/ 0 60000 65536"/>
                <a:gd name="T13" fmla="*/ 0 60000 65536"/>
                <a:gd name="T14" fmla="*/ 0 60000 65536"/>
                <a:gd name="T15" fmla="*/ 0 w 2"/>
                <a:gd name="T16" fmla="*/ 0 h 6"/>
                <a:gd name="T17" fmla="*/ 2 w 2"/>
                <a:gd name="T18" fmla="*/ 6 h 6"/>
              </a:gdLst>
              <a:ahLst/>
              <a:cxnLst>
                <a:cxn ang="T10">
                  <a:pos x="T0" y="T1"/>
                </a:cxn>
                <a:cxn ang="T11">
                  <a:pos x="T2" y="T3"/>
                </a:cxn>
                <a:cxn ang="T12">
                  <a:pos x="T4" y="T5"/>
                </a:cxn>
                <a:cxn ang="T13">
                  <a:pos x="T6" y="T7"/>
                </a:cxn>
                <a:cxn ang="T14">
                  <a:pos x="T8" y="T9"/>
                </a:cxn>
              </a:cxnLst>
              <a:rect l="T15" t="T16" r="T17" b="T18"/>
              <a:pathLst>
                <a:path w="2" h="6">
                  <a:moveTo>
                    <a:pt x="2" y="6"/>
                  </a:moveTo>
                  <a:lnTo>
                    <a:pt x="1" y="0"/>
                  </a:lnTo>
                  <a:lnTo>
                    <a:pt x="0" y="6"/>
                  </a:lnTo>
                  <a:lnTo>
                    <a:pt x="1" y="6"/>
                  </a:lnTo>
                  <a:lnTo>
                    <a:pt x="2" y="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473" name="Freeform 6">
              <a:extLst>
                <a:ext uri="{FF2B5EF4-FFF2-40B4-BE49-F238E27FC236}">
                  <a16:creationId xmlns:a16="http://schemas.microsoft.com/office/drawing/2014/main" id="{70D59EE2-B977-49A0-B8AA-B18E7573F312}"/>
                </a:ext>
              </a:extLst>
            </p:cNvPr>
            <p:cNvSpPr>
              <a:spLocks/>
            </p:cNvSpPr>
            <p:nvPr/>
          </p:nvSpPr>
          <p:spPr bwMode="auto">
            <a:xfrm>
              <a:off x="1589088" y="2187575"/>
              <a:ext cx="28575" cy="84138"/>
            </a:xfrm>
            <a:custGeom>
              <a:avLst/>
              <a:gdLst>
                <a:gd name="T0" fmla="*/ 2147483646 w 18"/>
                <a:gd name="T1" fmla="*/ 2147483646 h 53"/>
                <a:gd name="T2" fmla="*/ 2147483646 w 18"/>
                <a:gd name="T3" fmla="*/ 0 h 53"/>
                <a:gd name="T4" fmla="*/ 0 w 18"/>
                <a:gd name="T5" fmla="*/ 2147483646 h 53"/>
                <a:gd name="T6" fmla="*/ 2147483646 w 18"/>
                <a:gd name="T7" fmla="*/ 2147483646 h 53"/>
                <a:gd name="T8" fmla="*/ 2147483646 w 18"/>
                <a:gd name="T9" fmla="*/ 2147483646 h 53"/>
                <a:gd name="T10" fmla="*/ 0 60000 65536"/>
                <a:gd name="T11" fmla="*/ 0 60000 65536"/>
                <a:gd name="T12" fmla="*/ 0 60000 65536"/>
                <a:gd name="T13" fmla="*/ 0 60000 65536"/>
                <a:gd name="T14" fmla="*/ 0 60000 65536"/>
                <a:gd name="T15" fmla="*/ 0 w 18"/>
                <a:gd name="T16" fmla="*/ 0 h 53"/>
                <a:gd name="T17" fmla="*/ 18 w 18"/>
                <a:gd name="T18" fmla="*/ 53 h 53"/>
              </a:gdLst>
              <a:ahLst/>
              <a:cxnLst>
                <a:cxn ang="T10">
                  <a:pos x="T0" y="T1"/>
                </a:cxn>
                <a:cxn ang="T11">
                  <a:pos x="T2" y="T3"/>
                </a:cxn>
                <a:cxn ang="T12">
                  <a:pos x="T4" y="T5"/>
                </a:cxn>
                <a:cxn ang="T13">
                  <a:pos x="T6" y="T7"/>
                </a:cxn>
                <a:cxn ang="T14">
                  <a:pos x="T8" y="T9"/>
                </a:cxn>
              </a:cxnLst>
              <a:rect l="T15" t="T16" r="T17" b="T18"/>
              <a:pathLst>
                <a:path w="18" h="53">
                  <a:moveTo>
                    <a:pt x="18" y="53"/>
                  </a:moveTo>
                  <a:lnTo>
                    <a:pt x="9" y="0"/>
                  </a:lnTo>
                  <a:lnTo>
                    <a:pt x="0" y="53"/>
                  </a:lnTo>
                  <a:lnTo>
                    <a:pt x="9" y="53"/>
                  </a:lnTo>
                  <a:lnTo>
                    <a:pt x="18" y="53"/>
                  </a:lnTo>
                  <a:close/>
                </a:path>
              </a:pathLst>
            </a:custGeom>
            <a:solidFill>
              <a:srgbClr val="000000"/>
            </a:solidFill>
            <a:ln w="0">
              <a:solidFill>
                <a:srgbClr val="000000"/>
              </a:solidFill>
              <a:round/>
              <a:headEnd/>
              <a:tailEnd/>
            </a:ln>
          </p:spPr>
          <p:txBody>
            <a:bodyPr/>
            <a:lstStyle/>
            <a:p>
              <a:endParaRPr lang="en-GB"/>
            </a:p>
          </p:txBody>
        </p:sp>
        <p:sp>
          <p:nvSpPr>
            <p:cNvPr id="62474" name="Freeform 7">
              <a:extLst>
                <a:ext uri="{FF2B5EF4-FFF2-40B4-BE49-F238E27FC236}">
                  <a16:creationId xmlns:a16="http://schemas.microsoft.com/office/drawing/2014/main" id="{AE0B595B-AE5C-4859-A30E-3C5F9DBB3A99}"/>
                </a:ext>
              </a:extLst>
            </p:cNvPr>
            <p:cNvSpPr>
              <a:spLocks/>
            </p:cNvSpPr>
            <p:nvPr/>
          </p:nvSpPr>
          <p:spPr bwMode="auto">
            <a:xfrm>
              <a:off x="1476375" y="2271713"/>
              <a:ext cx="127000" cy="114300"/>
            </a:xfrm>
            <a:custGeom>
              <a:avLst/>
              <a:gdLst>
                <a:gd name="T0" fmla="*/ 2147483646 w 9"/>
                <a:gd name="T1" fmla="*/ 0 h 8"/>
                <a:gd name="T2" fmla="*/ 2147483646 w 9"/>
                <a:gd name="T3" fmla="*/ 2147483646 h 8"/>
                <a:gd name="T4" fmla="*/ 2147483646 w 9"/>
                <a:gd name="T5" fmla="*/ 2147483646 h 8"/>
                <a:gd name="T6" fmla="*/ 2147483646 w 9"/>
                <a:gd name="T7" fmla="*/ 2147483646 h 8"/>
                <a:gd name="T8" fmla="*/ 0 w 9"/>
                <a:gd name="T9" fmla="*/ 214748364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9" y="0"/>
                  </a:moveTo>
                  <a:lnTo>
                    <a:pt x="9" y="2"/>
                  </a:lnTo>
                  <a:lnTo>
                    <a:pt x="9" y="8"/>
                  </a:lnTo>
                  <a:lnTo>
                    <a:pt x="4" y="8"/>
                  </a:lnTo>
                  <a:lnTo>
                    <a:pt x="0" y="8"/>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475" name="Rectangle 8">
              <a:extLst>
                <a:ext uri="{FF2B5EF4-FFF2-40B4-BE49-F238E27FC236}">
                  <a16:creationId xmlns:a16="http://schemas.microsoft.com/office/drawing/2014/main" id="{831453C7-73E8-483A-A7E5-E9E2318C9302}"/>
                </a:ext>
              </a:extLst>
            </p:cNvPr>
            <p:cNvSpPr>
              <a:spLocks noChangeArrowheads="1"/>
            </p:cNvSpPr>
            <p:nvPr/>
          </p:nvSpPr>
          <p:spPr bwMode="auto">
            <a:xfrm>
              <a:off x="1531938" y="1905000"/>
              <a:ext cx="4160837" cy="254000"/>
            </a:xfrm>
            <a:prstGeom prst="rect">
              <a:avLst/>
            </a:prstGeom>
            <a:noFill/>
            <a:ln w="14288">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3600" b="1"/>
            </a:p>
          </p:txBody>
        </p:sp>
        <p:sp>
          <p:nvSpPr>
            <p:cNvPr id="62476" name="Rectangle 9">
              <a:extLst>
                <a:ext uri="{FF2B5EF4-FFF2-40B4-BE49-F238E27FC236}">
                  <a16:creationId xmlns:a16="http://schemas.microsoft.com/office/drawing/2014/main" id="{5C47A299-692A-43DA-8297-4514ED069451}"/>
                </a:ext>
              </a:extLst>
            </p:cNvPr>
            <p:cNvSpPr>
              <a:spLocks noChangeArrowheads="1"/>
            </p:cNvSpPr>
            <p:nvPr/>
          </p:nvSpPr>
          <p:spPr bwMode="auto">
            <a:xfrm>
              <a:off x="3457575" y="1677988"/>
              <a:ext cx="282773"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32 bits</a:t>
              </a:r>
              <a:endParaRPr lang="en-CA" altLang="en-US" sz="3600" b="1"/>
            </a:p>
          </p:txBody>
        </p:sp>
        <p:sp>
          <p:nvSpPr>
            <p:cNvPr id="62477" name="Line 10">
              <a:extLst>
                <a:ext uri="{FF2B5EF4-FFF2-40B4-BE49-F238E27FC236}">
                  <a16:creationId xmlns:a16="http://schemas.microsoft.com/office/drawing/2014/main" id="{4C577048-3815-42F5-B404-B9D0DD7D8B7C}"/>
                </a:ext>
              </a:extLst>
            </p:cNvPr>
            <p:cNvSpPr>
              <a:spLocks noChangeShapeType="1"/>
            </p:cNvSpPr>
            <p:nvPr/>
          </p:nvSpPr>
          <p:spPr bwMode="auto">
            <a:xfrm flipV="1">
              <a:off x="2593975" y="1905000"/>
              <a:ext cx="1588" cy="254000"/>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478" name="Line 11">
              <a:extLst>
                <a:ext uri="{FF2B5EF4-FFF2-40B4-BE49-F238E27FC236}">
                  <a16:creationId xmlns:a16="http://schemas.microsoft.com/office/drawing/2014/main" id="{A4C0E194-D5F1-4C82-89A5-E4D712ABC4D4}"/>
                </a:ext>
              </a:extLst>
            </p:cNvPr>
            <p:cNvSpPr>
              <a:spLocks noChangeShapeType="1"/>
            </p:cNvSpPr>
            <p:nvPr/>
          </p:nvSpPr>
          <p:spPr bwMode="auto">
            <a:xfrm flipV="1">
              <a:off x="1689100" y="1905000"/>
              <a:ext cx="1588" cy="254000"/>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479" name="Rectangle 12">
              <a:extLst>
                <a:ext uri="{FF2B5EF4-FFF2-40B4-BE49-F238E27FC236}">
                  <a16:creationId xmlns:a16="http://schemas.microsoft.com/office/drawing/2014/main" id="{5AD304D2-A1F9-4D6E-8089-14281326D63B}"/>
                </a:ext>
              </a:extLst>
            </p:cNvPr>
            <p:cNvSpPr>
              <a:spLocks noChangeArrowheads="1"/>
            </p:cNvSpPr>
            <p:nvPr/>
          </p:nvSpPr>
          <p:spPr bwMode="auto">
            <a:xfrm>
              <a:off x="3711575" y="2484438"/>
              <a:ext cx="738972"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mantissa fraction</a:t>
              </a:r>
              <a:endParaRPr lang="en-CA" altLang="en-US" sz="3600" b="1"/>
            </a:p>
          </p:txBody>
        </p:sp>
        <p:sp>
          <p:nvSpPr>
            <p:cNvPr id="62480" name="Rectangle 13">
              <a:extLst>
                <a:ext uri="{FF2B5EF4-FFF2-40B4-BE49-F238E27FC236}">
                  <a16:creationId xmlns:a16="http://schemas.microsoft.com/office/drawing/2014/main" id="{AFF4A4C6-6013-4254-9729-CF3E55D450E2}"/>
                </a:ext>
              </a:extLst>
            </p:cNvPr>
            <p:cNvSpPr>
              <a:spLocks noChangeArrowheads="1"/>
            </p:cNvSpPr>
            <p:nvPr/>
          </p:nvSpPr>
          <p:spPr bwMode="auto">
            <a:xfrm>
              <a:off x="3995738" y="2357438"/>
              <a:ext cx="238198"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23-bit</a:t>
              </a:r>
              <a:endParaRPr lang="en-CA" altLang="en-US" sz="3600" b="1"/>
            </a:p>
          </p:txBody>
        </p:sp>
        <p:sp>
          <p:nvSpPr>
            <p:cNvPr id="62481" name="Rectangle 14">
              <a:extLst>
                <a:ext uri="{FF2B5EF4-FFF2-40B4-BE49-F238E27FC236}">
                  <a16:creationId xmlns:a16="http://schemas.microsoft.com/office/drawing/2014/main" id="{AED11439-B6C1-4BCD-877E-41BC8751CC8B}"/>
                </a:ext>
              </a:extLst>
            </p:cNvPr>
            <p:cNvSpPr>
              <a:spLocks noChangeArrowheads="1"/>
            </p:cNvSpPr>
            <p:nvPr/>
          </p:nvSpPr>
          <p:spPr bwMode="auto">
            <a:xfrm>
              <a:off x="1773238" y="2754313"/>
              <a:ext cx="619176"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representation</a:t>
              </a:r>
              <a:endParaRPr lang="en-CA" altLang="en-US" sz="3600" b="1"/>
            </a:p>
          </p:txBody>
        </p:sp>
        <p:sp>
          <p:nvSpPr>
            <p:cNvPr id="62482" name="Rectangle 15">
              <a:extLst>
                <a:ext uri="{FF2B5EF4-FFF2-40B4-BE49-F238E27FC236}">
                  <a16:creationId xmlns:a16="http://schemas.microsoft.com/office/drawing/2014/main" id="{B53B691F-84D2-469A-AA6B-56AEFD52D06C}"/>
                </a:ext>
              </a:extLst>
            </p:cNvPr>
            <p:cNvSpPr>
              <a:spLocks noChangeArrowheads="1"/>
            </p:cNvSpPr>
            <p:nvPr/>
          </p:nvSpPr>
          <p:spPr bwMode="auto">
            <a:xfrm>
              <a:off x="1858963" y="2625725"/>
              <a:ext cx="475003"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excess-127</a:t>
              </a:r>
              <a:endParaRPr lang="en-CA" altLang="en-US" sz="3600" b="1"/>
            </a:p>
          </p:txBody>
        </p:sp>
        <p:sp>
          <p:nvSpPr>
            <p:cNvPr id="62483" name="Rectangle 16">
              <a:extLst>
                <a:ext uri="{FF2B5EF4-FFF2-40B4-BE49-F238E27FC236}">
                  <a16:creationId xmlns:a16="http://schemas.microsoft.com/office/drawing/2014/main" id="{F3F730F6-0ED0-4489-BEE1-3EA45BC446C9}"/>
                </a:ext>
              </a:extLst>
            </p:cNvPr>
            <p:cNvSpPr>
              <a:spLocks noChangeArrowheads="1"/>
            </p:cNvSpPr>
            <p:nvPr/>
          </p:nvSpPr>
          <p:spPr bwMode="auto">
            <a:xfrm>
              <a:off x="1844675" y="2484438"/>
              <a:ext cx="50007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exponent in</a:t>
              </a:r>
              <a:endParaRPr lang="en-CA" altLang="en-US" sz="3600" b="1"/>
            </a:p>
          </p:txBody>
        </p:sp>
        <p:sp>
          <p:nvSpPr>
            <p:cNvPr id="62484" name="Rectangle 17">
              <a:extLst>
                <a:ext uri="{FF2B5EF4-FFF2-40B4-BE49-F238E27FC236}">
                  <a16:creationId xmlns:a16="http://schemas.microsoft.com/office/drawing/2014/main" id="{34497F1A-8810-4AB8-BB8B-94610400D4AB}"/>
                </a:ext>
              </a:extLst>
            </p:cNvPr>
            <p:cNvSpPr>
              <a:spLocks noChangeArrowheads="1"/>
            </p:cNvSpPr>
            <p:nvPr/>
          </p:nvSpPr>
          <p:spPr bwMode="auto">
            <a:xfrm>
              <a:off x="1830388" y="2357438"/>
              <a:ext cx="50077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8-bit signed</a:t>
              </a:r>
              <a:endParaRPr lang="en-CA" altLang="en-US" sz="3600" b="1"/>
            </a:p>
          </p:txBody>
        </p:sp>
        <p:sp>
          <p:nvSpPr>
            <p:cNvPr id="62485" name="Rectangle 30">
              <a:extLst>
                <a:ext uri="{FF2B5EF4-FFF2-40B4-BE49-F238E27FC236}">
                  <a16:creationId xmlns:a16="http://schemas.microsoft.com/office/drawing/2014/main" id="{13C5B228-D127-4F53-B38B-DE6FCF529601}"/>
                </a:ext>
              </a:extLst>
            </p:cNvPr>
            <p:cNvSpPr>
              <a:spLocks noChangeArrowheads="1"/>
            </p:cNvSpPr>
            <p:nvPr/>
          </p:nvSpPr>
          <p:spPr bwMode="auto">
            <a:xfrm>
              <a:off x="2324100" y="4268788"/>
              <a:ext cx="76747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Value represented</a:t>
              </a:r>
              <a:endParaRPr lang="en-CA" altLang="en-US" sz="3600" b="1"/>
            </a:p>
          </p:txBody>
        </p:sp>
        <p:sp>
          <p:nvSpPr>
            <p:cNvPr id="62486" name="Line 31">
              <a:extLst>
                <a:ext uri="{FF2B5EF4-FFF2-40B4-BE49-F238E27FC236}">
                  <a16:creationId xmlns:a16="http://schemas.microsoft.com/office/drawing/2014/main" id="{ACFE9D2E-218A-4AA7-9252-4A6C16054943}"/>
                </a:ext>
              </a:extLst>
            </p:cNvPr>
            <p:cNvSpPr>
              <a:spLocks noChangeShapeType="1"/>
            </p:cNvSpPr>
            <p:nvPr/>
          </p:nvSpPr>
          <p:spPr bwMode="auto">
            <a:xfrm flipV="1">
              <a:off x="1674813" y="3843338"/>
              <a:ext cx="1587" cy="268287"/>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487" name="Rectangle 32">
              <a:extLst>
                <a:ext uri="{FF2B5EF4-FFF2-40B4-BE49-F238E27FC236}">
                  <a16:creationId xmlns:a16="http://schemas.microsoft.com/office/drawing/2014/main" id="{C1515CEF-8A74-4130-8827-850A488D99A1}"/>
                </a:ext>
              </a:extLst>
            </p:cNvPr>
            <p:cNvSpPr>
              <a:spLocks noChangeArrowheads="1"/>
            </p:cNvSpPr>
            <p:nvPr/>
          </p:nvSpPr>
          <p:spPr bwMode="auto">
            <a:xfrm>
              <a:off x="1531938" y="3843338"/>
              <a:ext cx="4160837" cy="268287"/>
            </a:xfrm>
            <a:prstGeom prst="rect">
              <a:avLst/>
            </a:prstGeom>
            <a:noFill/>
            <a:ln w="14288">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3600" b="1"/>
            </a:p>
          </p:txBody>
        </p:sp>
        <p:sp>
          <p:nvSpPr>
            <p:cNvPr id="62488" name="Rectangle 33">
              <a:extLst>
                <a:ext uri="{FF2B5EF4-FFF2-40B4-BE49-F238E27FC236}">
                  <a16:creationId xmlns:a16="http://schemas.microsoft.com/office/drawing/2014/main" id="{0AAAE362-69B6-484B-88DC-FDD19464DDF3}"/>
                </a:ext>
              </a:extLst>
            </p:cNvPr>
            <p:cNvSpPr>
              <a:spLocks noChangeArrowheads="1"/>
            </p:cNvSpPr>
            <p:nvPr/>
          </p:nvSpPr>
          <p:spPr bwMode="auto">
            <a:xfrm>
              <a:off x="265112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89" name="Rectangle 34">
              <a:extLst>
                <a:ext uri="{FF2B5EF4-FFF2-40B4-BE49-F238E27FC236}">
                  <a16:creationId xmlns:a16="http://schemas.microsoft.com/office/drawing/2014/main" id="{E105F65D-95AA-418D-AA5B-9A708582FCD2}"/>
                </a:ext>
              </a:extLst>
            </p:cNvPr>
            <p:cNvSpPr>
              <a:spLocks noChangeArrowheads="1"/>
            </p:cNvSpPr>
            <p:nvPr/>
          </p:nvSpPr>
          <p:spPr bwMode="auto">
            <a:xfrm>
              <a:off x="2763838"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90" name="Rectangle 35">
              <a:extLst>
                <a:ext uri="{FF2B5EF4-FFF2-40B4-BE49-F238E27FC236}">
                  <a16:creationId xmlns:a16="http://schemas.microsoft.com/office/drawing/2014/main" id="{900E6304-1BE9-49BF-BFDD-5EE80F0E66BD}"/>
                </a:ext>
              </a:extLst>
            </p:cNvPr>
            <p:cNvSpPr>
              <a:spLocks noChangeArrowheads="1"/>
            </p:cNvSpPr>
            <p:nvPr/>
          </p:nvSpPr>
          <p:spPr bwMode="auto">
            <a:xfrm>
              <a:off x="2876550"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2491" name="Rectangle 36">
              <a:extLst>
                <a:ext uri="{FF2B5EF4-FFF2-40B4-BE49-F238E27FC236}">
                  <a16:creationId xmlns:a16="http://schemas.microsoft.com/office/drawing/2014/main" id="{A656CF7B-F738-4865-9638-BD1FA897D522}"/>
                </a:ext>
              </a:extLst>
            </p:cNvPr>
            <p:cNvSpPr>
              <a:spLocks noChangeArrowheads="1"/>
            </p:cNvSpPr>
            <p:nvPr/>
          </p:nvSpPr>
          <p:spPr bwMode="auto">
            <a:xfrm>
              <a:off x="2976563"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92" name="Rectangle 37">
              <a:extLst>
                <a:ext uri="{FF2B5EF4-FFF2-40B4-BE49-F238E27FC236}">
                  <a16:creationId xmlns:a16="http://schemas.microsoft.com/office/drawing/2014/main" id="{28B1255D-7D1E-40E2-B959-EBD3F218336D}"/>
                </a:ext>
              </a:extLst>
            </p:cNvPr>
            <p:cNvSpPr>
              <a:spLocks noChangeArrowheads="1"/>
            </p:cNvSpPr>
            <p:nvPr/>
          </p:nvSpPr>
          <p:spPr bwMode="auto">
            <a:xfrm>
              <a:off x="308927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2493" name="Rectangle 38">
              <a:extLst>
                <a:ext uri="{FF2B5EF4-FFF2-40B4-BE49-F238E27FC236}">
                  <a16:creationId xmlns:a16="http://schemas.microsoft.com/office/drawing/2014/main" id="{B017BEF1-C74C-4FCC-8C8A-93C056884039}"/>
                </a:ext>
              </a:extLst>
            </p:cNvPr>
            <p:cNvSpPr>
              <a:spLocks noChangeArrowheads="1"/>
            </p:cNvSpPr>
            <p:nvPr/>
          </p:nvSpPr>
          <p:spPr bwMode="auto">
            <a:xfrm>
              <a:off x="321627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94" name="Rectangle 39">
              <a:extLst>
                <a:ext uri="{FF2B5EF4-FFF2-40B4-BE49-F238E27FC236}">
                  <a16:creationId xmlns:a16="http://schemas.microsoft.com/office/drawing/2014/main" id="{B7B0C591-E862-4AD3-A8C9-F133B01417FE}"/>
                </a:ext>
              </a:extLst>
            </p:cNvPr>
            <p:cNvSpPr>
              <a:spLocks noChangeArrowheads="1"/>
            </p:cNvSpPr>
            <p:nvPr/>
          </p:nvSpPr>
          <p:spPr bwMode="auto">
            <a:xfrm>
              <a:off x="3344863" y="3886200"/>
              <a:ext cx="25073"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495" name="Rectangle 40">
              <a:extLst>
                <a:ext uri="{FF2B5EF4-FFF2-40B4-BE49-F238E27FC236}">
                  <a16:creationId xmlns:a16="http://schemas.microsoft.com/office/drawing/2014/main" id="{5EB1577E-7E5F-41BD-AD10-44ED5363DF6E}"/>
                </a:ext>
              </a:extLst>
            </p:cNvPr>
            <p:cNvSpPr>
              <a:spLocks noChangeArrowheads="1"/>
            </p:cNvSpPr>
            <p:nvPr/>
          </p:nvSpPr>
          <p:spPr bwMode="auto">
            <a:xfrm>
              <a:off x="3457575" y="3886200"/>
              <a:ext cx="25073"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496" name="Rectangle 41">
              <a:extLst>
                <a:ext uri="{FF2B5EF4-FFF2-40B4-BE49-F238E27FC236}">
                  <a16:creationId xmlns:a16="http://schemas.microsoft.com/office/drawing/2014/main" id="{FFDC85A5-AC2D-4601-99E6-D92940E4B67C}"/>
                </a:ext>
              </a:extLst>
            </p:cNvPr>
            <p:cNvSpPr>
              <a:spLocks noChangeArrowheads="1"/>
            </p:cNvSpPr>
            <p:nvPr/>
          </p:nvSpPr>
          <p:spPr bwMode="auto">
            <a:xfrm>
              <a:off x="3570288" y="3886200"/>
              <a:ext cx="25073"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497" name="Rectangle 42">
              <a:extLst>
                <a:ext uri="{FF2B5EF4-FFF2-40B4-BE49-F238E27FC236}">
                  <a16:creationId xmlns:a16="http://schemas.microsoft.com/office/drawing/2014/main" id="{9F05C025-94F8-4C49-B610-A00F009962D5}"/>
                </a:ext>
              </a:extLst>
            </p:cNvPr>
            <p:cNvSpPr>
              <a:spLocks noChangeArrowheads="1"/>
            </p:cNvSpPr>
            <p:nvPr/>
          </p:nvSpPr>
          <p:spPr bwMode="auto">
            <a:xfrm>
              <a:off x="5580063"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98" name="Rectangle 43">
              <a:extLst>
                <a:ext uri="{FF2B5EF4-FFF2-40B4-BE49-F238E27FC236}">
                  <a16:creationId xmlns:a16="http://schemas.microsoft.com/office/drawing/2014/main" id="{D5BCC831-7C78-4F82-B3A5-3E351266E1AD}"/>
                </a:ext>
              </a:extLst>
            </p:cNvPr>
            <p:cNvSpPr>
              <a:spLocks noChangeArrowheads="1"/>
            </p:cNvSpPr>
            <p:nvPr/>
          </p:nvSpPr>
          <p:spPr bwMode="auto">
            <a:xfrm>
              <a:off x="1574800"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499" name="Rectangle 44">
              <a:extLst>
                <a:ext uri="{FF2B5EF4-FFF2-40B4-BE49-F238E27FC236}">
                  <a16:creationId xmlns:a16="http://schemas.microsoft.com/office/drawing/2014/main" id="{0C645239-5C09-4163-B78B-7FD918E45E6D}"/>
                </a:ext>
              </a:extLst>
            </p:cNvPr>
            <p:cNvSpPr>
              <a:spLocks noChangeArrowheads="1"/>
            </p:cNvSpPr>
            <p:nvPr/>
          </p:nvSpPr>
          <p:spPr bwMode="auto">
            <a:xfrm>
              <a:off x="173037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0" name="Rectangle 45">
              <a:extLst>
                <a:ext uri="{FF2B5EF4-FFF2-40B4-BE49-F238E27FC236}">
                  <a16:creationId xmlns:a16="http://schemas.microsoft.com/office/drawing/2014/main" id="{3735DCCD-3DF2-4A4E-865F-647B4A363154}"/>
                </a:ext>
              </a:extLst>
            </p:cNvPr>
            <p:cNvSpPr>
              <a:spLocks noChangeArrowheads="1"/>
            </p:cNvSpPr>
            <p:nvPr/>
          </p:nvSpPr>
          <p:spPr bwMode="auto">
            <a:xfrm>
              <a:off x="1830388"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1" name="Rectangle 46">
              <a:extLst>
                <a:ext uri="{FF2B5EF4-FFF2-40B4-BE49-F238E27FC236}">
                  <a16:creationId xmlns:a16="http://schemas.microsoft.com/office/drawing/2014/main" id="{E8A7814C-A6AB-41CB-B647-41FBC0E240A0}"/>
                </a:ext>
              </a:extLst>
            </p:cNvPr>
            <p:cNvSpPr>
              <a:spLocks noChangeArrowheads="1"/>
            </p:cNvSpPr>
            <p:nvPr/>
          </p:nvSpPr>
          <p:spPr bwMode="auto">
            <a:xfrm>
              <a:off x="1943100"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2502" name="Rectangle 47">
              <a:extLst>
                <a:ext uri="{FF2B5EF4-FFF2-40B4-BE49-F238E27FC236}">
                  <a16:creationId xmlns:a16="http://schemas.microsoft.com/office/drawing/2014/main" id="{3131470B-4675-40DC-9293-E940C42A5D95}"/>
                </a:ext>
              </a:extLst>
            </p:cNvPr>
            <p:cNvSpPr>
              <a:spLocks noChangeArrowheads="1"/>
            </p:cNvSpPr>
            <p:nvPr/>
          </p:nvSpPr>
          <p:spPr bwMode="auto">
            <a:xfrm>
              <a:off x="204152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3" name="Rectangle 48">
              <a:extLst>
                <a:ext uri="{FF2B5EF4-FFF2-40B4-BE49-F238E27FC236}">
                  <a16:creationId xmlns:a16="http://schemas.microsoft.com/office/drawing/2014/main" id="{3061CEF7-2AC5-4A08-A6F1-17C497B8D040}"/>
                </a:ext>
              </a:extLst>
            </p:cNvPr>
            <p:cNvSpPr>
              <a:spLocks noChangeArrowheads="1"/>
            </p:cNvSpPr>
            <p:nvPr/>
          </p:nvSpPr>
          <p:spPr bwMode="auto">
            <a:xfrm>
              <a:off x="2155825"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2504" name="Rectangle 49">
              <a:extLst>
                <a:ext uri="{FF2B5EF4-FFF2-40B4-BE49-F238E27FC236}">
                  <a16:creationId xmlns:a16="http://schemas.microsoft.com/office/drawing/2014/main" id="{E1A106CB-2B19-432D-9BAE-F5839EAD7E5A}"/>
                </a:ext>
              </a:extLst>
            </p:cNvPr>
            <p:cNvSpPr>
              <a:spLocks noChangeArrowheads="1"/>
            </p:cNvSpPr>
            <p:nvPr/>
          </p:nvSpPr>
          <p:spPr bwMode="auto">
            <a:xfrm>
              <a:off x="2268538"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5" name="Rectangle 50">
              <a:extLst>
                <a:ext uri="{FF2B5EF4-FFF2-40B4-BE49-F238E27FC236}">
                  <a16:creationId xmlns:a16="http://schemas.microsoft.com/office/drawing/2014/main" id="{48906AF9-07D2-477F-B90D-1161A66F5616}"/>
                </a:ext>
              </a:extLst>
            </p:cNvPr>
            <p:cNvSpPr>
              <a:spLocks noChangeArrowheads="1"/>
            </p:cNvSpPr>
            <p:nvPr/>
          </p:nvSpPr>
          <p:spPr bwMode="auto">
            <a:xfrm>
              <a:off x="2366963"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6" name="Rectangle 51">
              <a:extLst>
                <a:ext uri="{FF2B5EF4-FFF2-40B4-BE49-F238E27FC236}">
                  <a16:creationId xmlns:a16="http://schemas.microsoft.com/office/drawing/2014/main" id="{E5535FD6-FA9D-40FC-A8E7-B65E48BB7FE8}"/>
                </a:ext>
              </a:extLst>
            </p:cNvPr>
            <p:cNvSpPr>
              <a:spLocks noChangeArrowheads="1"/>
            </p:cNvSpPr>
            <p:nvPr/>
          </p:nvSpPr>
          <p:spPr bwMode="auto">
            <a:xfrm>
              <a:off x="2481263" y="39004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07" name="Freeform 52">
              <a:extLst>
                <a:ext uri="{FF2B5EF4-FFF2-40B4-BE49-F238E27FC236}">
                  <a16:creationId xmlns:a16="http://schemas.microsoft.com/office/drawing/2014/main" id="{0FBF4ED0-3195-4F68-977F-04FBD7FA0BBF}"/>
                </a:ext>
              </a:extLst>
            </p:cNvPr>
            <p:cNvSpPr>
              <a:spLocks/>
            </p:cNvSpPr>
            <p:nvPr/>
          </p:nvSpPr>
          <p:spPr bwMode="auto">
            <a:xfrm>
              <a:off x="5580063" y="1749425"/>
              <a:ext cx="84137" cy="41275"/>
            </a:xfrm>
            <a:custGeom>
              <a:avLst/>
              <a:gdLst>
                <a:gd name="T0" fmla="*/ 0 w 6"/>
                <a:gd name="T1" fmla="*/ 2147483646 h 3"/>
                <a:gd name="T2" fmla="*/ 2147483646 w 6"/>
                <a:gd name="T3" fmla="*/ 2147483646 h 3"/>
                <a:gd name="T4" fmla="*/ 0 w 6"/>
                <a:gd name="T5" fmla="*/ 0 h 3"/>
                <a:gd name="T6" fmla="*/ 0 w 6"/>
                <a:gd name="T7" fmla="*/ 2147483646 h 3"/>
                <a:gd name="T8" fmla="*/ 0 w 6"/>
                <a:gd name="T9" fmla="*/ 2147483646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0" y="3"/>
                  </a:moveTo>
                  <a:lnTo>
                    <a:pt x="6" y="1"/>
                  </a:lnTo>
                  <a:lnTo>
                    <a:pt x="0" y="0"/>
                  </a:lnTo>
                  <a:lnTo>
                    <a:pt x="0" y="1"/>
                  </a:lnTo>
                  <a:lnTo>
                    <a:pt x="0" y="3"/>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08" name="Freeform 53">
              <a:extLst>
                <a:ext uri="{FF2B5EF4-FFF2-40B4-BE49-F238E27FC236}">
                  <a16:creationId xmlns:a16="http://schemas.microsoft.com/office/drawing/2014/main" id="{D1CC297C-B81E-46E4-9A0D-72683904922A}"/>
                </a:ext>
              </a:extLst>
            </p:cNvPr>
            <p:cNvSpPr>
              <a:spLocks/>
            </p:cNvSpPr>
            <p:nvPr/>
          </p:nvSpPr>
          <p:spPr bwMode="auto">
            <a:xfrm>
              <a:off x="5580063" y="1749425"/>
              <a:ext cx="84137" cy="41275"/>
            </a:xfrm>
            <a:custGeom>
              <a:avLst/>
              <a:gdLst>
                <a:gd name="T0" fmla="*/ 0 w 53"/>
                <a:gd name="T1" fmla="*/ 2147483646 h 26"/>
                <a:gd name="T2" fmla="*/ 2147483646 w 53"/>
                <a:gd name="T3" fmla="*/ 2147483646 h 26"/>
                <a:gd name="T4" fmla="*/ 0 w 53"/>
                <a:gd name="T5" fmla="*/ 0 h 26"/>
                <a:gd name="T6" fmla="*/ 0 w 53"/>
                <a:gd name="T7" fmla="*/ 2147483646 h 26"/>
                <a:gd name="T8" fmla="*/ 0 w 53"/>
                <a:gd name="T9" fmla="*/ 2147483646 h 26"/>
                <a:gd name="T10" fmla="*/ 0 60000 65536"/>
                <a:gd name="T11" fmla="*/ 0 60000 65536"/>
                <a:gd name="T12" fmla="*/ 0 60000 65536"/>
                <a:gd name="T13" fmla="*/ 0 60000 65536"/>
                <a:gd name="T14" fmla="*/ 0 60000 65536"/>
                <a:gd name="T15" fmla="*/ 0 w 53"/>
                <a:gd name="T16" fmla="*/ 0 h 26"/>
                <a:gd name="T17" fmla="*/ 53 w 53"/>
                <a:gd name="T18" fmla="*/ 26 h 26"/>
              </a:gdLst>
              <a:ahLst/>
              <a:cxnLst>
                <a:cxn ang="T10">
                  <a:pos x="T0" y="T1"/>
                </a:cxn>
                <a:cxn ang="T11">
                  <a:pos x="T2" y="T3"/>
                </a:cxn>
                <a:cxn ang="T12">
                  <a:pos x="T4" y="T5"/>
                </a:cxn>
                <a:cxn ang="T13">
                  <a:pos x="T6" y="T7"/>
                </a:cxn>
                <a:cxn ang="T14">
                  <a:pos x="T8" y="T9"/>
                </a:cxn>
              </a:cxnLst>
              <a:rect l="T15" t="T16" r="T17" b="T18"/>
              <a:pathLst>
                <a:path w="53" h="26">
                  <a:moveTo>
                    <a:pt x="0" y="26"/>
                  </a:moveTo>
                  <a:lnTo>
                    <a:pt x="53" y="8"/>
                  </a:lnTo>
                  <a:lnTo>
                    <a:pt x="0" y="0"/>
                  </a:lnTo>
                  <a:lnTo>
                    <a:pt x="0" y="8"/>
                  </a:lnTo>
                  <a:lnTo>
                    <a:pt x="0" y="26"/>
                  </a:lnTo>
                  <a:close/>
                </a:path>
              </a:pathLst>
            </a:custGeom>
            <a:solidFill>
              <a:srgbClr val="000000"/>
            </a:solidFill>
            <a:ln w="0">
              <a:solidFill>
                <a:srgbClr val="000000"/>
              </a:solidFill>
              <a:round/>
              <a:headEnd/>
              <a:tailEnd/>
            </a:ln>
          </p:spPr>
          <p:txBody>
            <a:bodyPr/>
            <a:lstStyle/>
            <a:p>
              <a:endParaRPr lang="en-GB"/>
            </a:p>
          </p:txBody>
        </p:sp>
        <p:sp>
          <p:nvSpPr>
            <p:cNvPr id="62509" name="Line 54">
              <a:extLst>
                <a:ext uri="{FF2B5EF4-FFF2-40B4-BE49-F238E27FC236}">
                  <a16:creationId xmlns:a16="http://schemas.microsoft.com/office/drawing/2014/main" id="{11C862A0-CCCC-4A2D-B9F4-FBA10D75DCEA}"/>
                </a:ext>
              </a:extLst>
            </p:cNvPr>
            <p:cNvSpPr>
              <a:spLocks noChangeShapeType="1"/>
            </p:cNvSpPr>
            <p:nvPr/>
          </p:nvSpPr>
          <p:spPr bwMode="auto">
            <a:xfrm flipH="1">
              <a:off x="3867150" y="1762125"/>
              <a:ext cx="1712913"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510" name="Freeform 55">
              <a:extLst>
                <a:ext uri="{FF2B5EF4-FFF2-40B4-BE49-F238E27FC236}">
                  <a16:creationId xmlns:a16="http://schemas.microsoft.com/office/drawing/2014/main" id="{5B3E107E-2EF1-4488-8E77-19733C69F019}"/>
                </a:ext>
              </a:extLst>
            </p:cNvPr>
            <p:cNvSpPr>
              <a:spLocks/>
            </p:cNvSpPr>
            <p:nvPr/>
          </p:nvSpPr>
          <p:spPr bwMode="auto">
            <a:xfrm>
              <a:off x="1560513" y="1749425"/>
              <a:ext cx="85725" cy="41275"/>
            </a:xfrm>
            <a:custGeom>
              <a:avLst/>
              <a:gdLst>
                <a:gd name="T0" fmla="*/ 2147483646 w 6"/>
                <a:gd name="T1" fmla="*/ 0 h 3"/>
                <a:gd name="T2" fmla="*/ 0 w 6"/>
                <a:gd name="T3" fmla="*/ 2147483646 h 3"/>
                <a:gd name="T4" fmla="*/ 2147483646 w 6"/>
                <a:gd name="T5" fmla="*/ 2147483646 h 3"/>
                <a:gd name="T6" fmla="*/ 2147483646 w 6"/>
                <a:gd name="T7" fmla="*/ 2147483646 h 3"/>
                <a:gd name="T8" fmla="*/ 2147483646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6" y="0"/>
                  </a:moveTo>
                  <a:lnTo>
                    <a:pt x="0" y="1"/>
                  </a:lnTo>
                  <a:lnTo>
                    <a:pt x="6" y="3"/>
                  </a:lnTo>
                  <a:lnTo>
                    <a:pt x="6" y="1"/>
                  </a:lnTo>
                  <a:lnTo>
                    <a:pt x="6"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11" name="Freeform 56">
              <a:extLst>
                <a:ext uri="{FF2B5EF4-FFF2-40B4-BE49-F238E27FC236}">
                  <a16:creationId xmlns:a16="http://schemas.microsoft.com/office/drawing/2014/main" id="{0FEED439-2D13-446E-97F1-09221A337679}"/>
                </a:ext>
              </a:extLst>
            </p:cNvPr>
            <p:cNvSpPr>
              <a:spLocks/>
            </p:cNvSpPr>
            <p:nvPr/>
          </p:nvSpPr>
          <p:spPr bwMode="auto">
            <a:xfrm>
              <a:off x="1560513" y="1749425"/>
              <a:ext cx="85725" cy="41275"/>
            </a:xfrm>
            <a:custGeom>
              <a:avLst/>
              <a:gdLst>
                <a:gd name="T0" fmla="*/ 2147483646 w 54"/>
                <a:gd name="T1" fmla="*/ 0 h 26"/>
                <a:gd name="T2" fmla="*/ 0 w 54"/>
                <a:gd name="T3" fmla="*/ 2147483646 h 26"/>
                <a:gd name="T4" fmla="*/ 2147483646 w 54"/>
                <a:gd name="T5" fmla="*/ 2147483646 h 26"/>
                <a:gd name="T6" fmla="*/ 2147483646 w 54"/>
                <a:gd name="T7" fmla="*/ 2147483646 h 26"/>
                <a:gd name="T8" fmla="*/ 2147483646 w 54"/>
                <a:gd name="T9" fmla="*/ 0 h 26"/>
                <a:gd name="T10" fmla="*/ 0 60000 65536"/>
                <a:gd name="T11" fmla="*/ 0 60000 65536"/>
                <a:gd name="T12" fmla="*/ 0 60000 65536"/>
                <a:gd name="T13" fmla="*/ 0 60000 65536"/>
                <a:gd name="T14" fmla="*/ 0 60000 65536"/>
                <a:gd name="T15" fmla="*/ 0 w 54"/>
                <a:gd name="T16" fmla="*/ 0 h 26"/>
                <a:gd name="T17" fmla="*/ 54 w 54"/>
                <a:gd name="T18" fmla="*/ 26 h 26"/>
              </a:gdLst>
              <a:ahLst/>
              <a:cxnLst>
                <a:cxn ang="T10">
                  <a:pos x="T0" y="T1"/>
                </a:cxn>
                <a:cxn ang="T11">
                  <a:pos x="T2" y="T3"/>
                </a:cxn>
                <a:cxn ang="T12">
                  <a:pos x="T4" y="T5"/>
                </a:cxn>
                <a:cxn ang="T13">
                  <a:pos x="T6" y="T7"/>
                </a:cxn>
                <a:cxn ang="T14">
                  <a:pos x="T8" y="T9"/>
                </a:cxn>
              </a:cxnLst>
              <a:rect l="T15" t="T16" r="T17" b="T18"/>
              <a:pathLst>
                <a:path w="54" h="26">
                  <a:moveTo>
                    <a:pt x="54" y="0"/>
                  </a:moveTo>
                  <a:lnTo>
                    <a:pt x="0" y="8"/>
                  </a:lnTo>
                  <a:lnTo>
                    <a:pt x="54" y="26"/>
                  </a:lnTo>
                  <a:lnTo>
                    <a:pt x="54" y="8"/>
                  </a:lnTo>
                  <a:lnTo>
                    <a:pt x="54" y="0"/>
                  </a:lnTo>
                  <a:close/>
                </a:path>
              </a:pathLst>
            </a:custGeom>
            <a:solidFill>
              <a:srgbClr val="000000"/>
            </a:solidFill>
            <a:ln w="0">
              <a:solidFill>
                <a:srgbClr val="000000"/>
              </a:solidFill>
              <a:round/>
              <a:headEnd/>
              <a:tailEnd/>
            </a:ln>
          </p:spPr>
          <p:txBody>
            <a:bodyPr/>
            <a:lstStyle/>
            <a:p>
              <a:endParaRPr lang="en-GB"/>
            </a:p>
          </p:txBody>
        </p:sp>
        <p:sp>
          <p:nvSpPr>
            <p:cNvPr id="62512" name="Line 57">
              <a:extLst>
                <a:ext uri="{FF2B5EF4-FFF2-40B4-BE49-F238E27FC236}">
                  <a16:creationId xmlns:a16="http://schemas.microsoft.com/office/drawing/2014/main" id="{3E8A0BC9-EC4D-4488-A3A6-6AA8AD8B549A}"/>
                </a:ext>
              </a:extLst>
            </p:cNvPr>
            <p:cNvSpPr>
              <a:spLocks noChangeShapeType="1"/>
            </p:cNvSpPr>
            <p:nvPr/>
          </p:nvSpPr>
          <p:spPr bwMode="auto">
            <a:xfrm>
              <a:off x="1646238" y="1762125"/>
              <a:ext cx="1711325"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2513" name="Rectangle 64">
              <a:extLst>
                <a:ext uri="{FF2B5EF4-FFF2-40B4-BE49-F238E27FC236}">
                  <a16:creationId xmlns:a16="http://schemas.microsoft.com/office/drawing/2014/main" id="{49928D78-7DEC-4D91-8008-923185BE5163}"/>
                </a:ext>
              </a:extLst>
            </p:cNvPr>
            <p:cNvSpPr>
              <a:spLocks noChangeArrowheads="1"/>
            </p:cNvSpPr>
            <p:nvPr/>
          </p:nvSpPr>
          <p:spPr bwMode="auto">
            <a:xfrm>
              <a:off x="1574800" y="1947863"/>
              <a:ext cx="60379" cy="166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S</a:t>
              </a:r>
              <a:endParaRPr lang="en-CA" altLang="en-US" sz="3600" b="1"/>
            </a:p>
          </p:txBody>
        </p:sp>
        <p:sp>
          <p:nvSpPr>
            <p:cNvPr id="62514" name="Rectangle 65">
              <a:extLst>
                <a:ext uri="{FF2B5EF4-FFF2-40B4-BE49-F238E27FC236}">
                  <a16:creationId xmlns:a16="http://schemas.microsoft.com/office/drawing/2014/main" id="{6B93264A-A1DD-46EC-8DFC-4B945554FFD6}"/>
                </a:ext>
              </a:extLst>
            </p:cNvPr>
            <p:cNvSpPr>
              <a:spLocks noChangeArrowheads="1"/>
            </p:cNvSpPr>
            <p:nvPr/>
          </p:nvSpPr>
          <p:spPr bwMode="auto">
            <a:xfrm>
              <a:off x="4094163" y="1947863"/>
              <a:ext cx="7452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M</a:t>
              </a:r>
              <a:endParaRPr lang="en-CA" altLang="en-US" sz="3600" b="1"/>
            </a:p>
          </p:txBody>
        </p:sp>
        <p:sp>
          <p:nvSpPr>
            <p:cNvPr id="62515" name="Rectangle 68">
              <a:extLst>
                <a:ext uri="{FF2B5EF4-FFF2-40B4-BE49-F238E27FC236}">
                  <a16:creationId xmlns:a16="http://schemas.microsoft.com/office/drawing/2014/main" id="{D6A9B774-6605-461D-A08C-B9548D4239EB}"/>
                </a:ext>
              </a:extLst>
            </p:cNvPr>
            <p:cNvSpPr>
              <a:spLocks noChangeArrowheads="1"/>
            </p:cNvSpPr>
            <p:nvPr/>
          </p:nvSpPr>
          <p:spPr bwMode="auto">
            <a:xfrm>
              <a:off x="2476500" y="2973388"/>
              <a:ext cx="76747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Value represented</a:t>
              </a:r>
              <a:endParaRPr lang="en-CA" altLang="en-US" sz="3600" b="1"/>
            </a:p>
          </p:txBody>
        </p:sp>
        <p:sp>
          <p:nvSpPr>
            <p:cNvPr id="62516" name="Rectangle 69">
              <a:extLst>
                <a:ext uri="{FF2B5EF4-FFF2-40B4-BE49-F238E27FC236}">
                  <a16:creationId xmlns:a16="http://schemas.microsoft.com/office/drawing/2014/main" id="{292308CD-8DE7-4CDE-92CE-8FCA7E5E92F5}"/>
                </a:ext>
              </a:extLst>
            </p:cNvPr>
            <p:cNvSpPr>
              <a:spLocks noChangeArrowheads="1"/>
            </p:cNvSpPr>
            <p:nvPr/>
          </p:nvSpPr>
          <p:spPr bwMode="auto">
            <a:xfrm>
              <a:off x="3060700" y="3263900"/>
              <a:ext cx="823246"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Sans L"/>
                </a:rPr>
                <a:t>(a) Single precision</a:t>
              </a:r>
              <a:endParaRPr lang="en-CA" altLang="en-US" sz="3600" b="1"/>
            </a:p>
          </p:txBody>
        </p:sp>
        <p:sp>
          <p:nvSpPr>
            <p:cNvPr id="62517" name="Rectangle 70">
              <a:extLst>
                <a:ext uri="{FF2B5EF4-FFF2-40B4-BE49-F238E27FC236}">
                  <a16:creationId xmlns:a16="http://schemas.microsoft.com/office/drawing/2014/main" id="{D4F809D5-BE9F-471F-B2C9-6A3415007FDA}"/>
                </a:ext>
              </a:extLst>
            </p:cNvPr>
            <p:cNvSpPr>
              <a:spLocks noChangeArrowheads="1"/>
            </p:cNvSpPr>
            <p:nvPr/>
          </p:nvSpPr>
          <p:spPr bwMode="auto">
            <a:xfrm>
              <a:off x="2452688" y="4551363"/>
              <a:ext cx="1750269"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Sans L"/>
                </a:rPr>
                <a:t>(b) Example of a single-precision number</a:t>
              </a:r>
              <a:endParaRPr lang="en-CA" altLang="en-US" sz="3600" b="1"/>
            </a:p>
          </p:txBody>
        </p:sp>
        <p:sp>
          <p:nvSpPr>
            <p:cNvPr id="62518" name="Rectangle 73">
              <a:extLst>
                <a:ext uri="{FF2B5EF4-FFF2-40B4-BE49-F238E27FC236}">
                  <a16:creationId xmlns:a16="http://schemas.microsoft.com/office/drawing/2014/main" id="{EB9DA015-0056-46C7-9351-0001A6283CDF}"/>
                </a:ext>
              </a:extLst>
            </p:cNvPr>
            <p:cNvSpPr>
              <a:spLocks noChangeArrowheads="1"/>
            </p:cNvSpPr>
            <p:nvPr/>
          </p:nvSpPr>
          <p:spPr bwMode="auto">
            <a:xfrm>
              <a:off x="2070100" y="1947863"/>
              <a:ext cx="60379" cy="166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E</a:t>
              </a:r>
              <a:endParaRPr lang="en-CA" altLang="en-US" sz="3600" b="1"/>
            </a:p>
          </p:txBody>
        </p:sp>
        <p:sp>
          <p:nvSpPr>
            <p:cNvPr id="62519" name="Rectangle 74">
              <a:extLst>
                <a:ext uri="{FF2B5EF4-FFF2-40B4-BE49-F238E27FC236}">
                  <a16:creationId xmlns:a16="http://schemas.microsoft.com/office/drawing/2014/main" id="{F875E48A-5000-4BA1-8138-1F787DB0011E}"/>
                </a:ext>
              </a:extLst>
            </p:cNvPr>
            <p:cNvSpPr>
              <a:spLocks noChangeArrowheads="1"/>
            </p:cNvSpPr>
            <p:nvPr/>
          </p:nvSpPr>
          <p:spPr bwMode="auto">
            <a:xfrm>
              <a:off x="2155825" y="1947863"/>
              <a:ext cx="2228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2520" name="Freeform 75">
              <a:extLst>
                <a:ext uri="{FF2B5EF4-FFF2-40B4-BE49-F238E27FC236}">
                  <a16:creationId xmlns:a16="http://schemas.microsoft.com/office/drawing/2014/main" id="{9E5C95CA-36D6-4A34-8187-991C7C921050}"/>
                </a:ext>
              </a:extLst>
            </p:cNvPr>
            <p:cNvSpPr>
              <a:spLocks/>
            </p:cNvSpPr>
            <p:nvPr/>
          </p:nvSpPr>
          <p:spPr bwMode="auto">
            <a:xfrm>
              <a:off x="4151313" y="2244725"/>
              <a:ext cx="1541462" cy="69850"/>
            </a:xfrm>
            <a:custGeom>
              <a:avLst/>
              <a:gdLst>
                <a:gd name="T0" fmla="*/ 2147483646 w 109"/>
                <a:gd name="T1" fmla="*/ 0 h 5"/>
                <a:gd name="T2" fmla="*/ 2147483646 w 109"/>
                <a:gd name="T3" fmla="*/ 2147483646 h 5"/>
                <a:gd name="T4" fmla="*/ 2147483646 w 109"/>
                <a:gd name="T5" fmla="*/ 2147483646 h 5"/>
                <a:gd name="T6" fmla="*/ 2147483646 w 109"/>
                <a:gd name="T7" fmla="*/ 2147483646 h 5"/>
                <a:gd name="T8" fmla="*/ 2147483646 w 109"/>
                <a:gd name="T9" fmla="*/ 2147483646 h 5"/>
                <a:gd name="T10" fmla="*/ 2147483646 w 109"/>
                <a:gd name="T11" fmla="*/ 2147483646 h 5"/>
                <a:gd name="T12" fmla="*/ 2147483646 w 109"/>
                <a:gd name="T13" fmla="*/ 2147483646 h 5"/>
                <a:gd name="T14" fmla="*/ 2147483646 w 109"/>
                <a:gd name="T15" fmla="*/ 2147483646 h 5"/>
                <a:gd name="T16" fmla="*/ 2147483646 w 109"/>
                <a:gd name="T17" fmla="*/ 2147483646 h 5"/>
                <a:gd name="T18" fmla="*/ 2147483646 w 109"/>
                <a:gd name="T19" fmla="*/ 2147483646 h 5"/>
                <a:gd name="T20" fmla="*/ 2147483646 w 109"/>
                <a:gd name="T21" fmla="*/ 2147483646 h 5"/>
                <a:gd name="T22" fmla="*/ 2147483646 w 109"/>
                <a:gd name="T23" fmla="*/ 2147483646 h 5"/>
                <a:gd name="T24" fmla="*/ 2147483646 w 109"/>
                <a:gd name="T25" fmla="*/ 2147483646 h 5"/>
                <a:gd name="T26" fmla="*/ 2147483646 w 109"/>
                <a:gd name="T27" fmla="*/ 2147483646 h 5"/>
                <a:gd name="T28" fmla="*/ 0 w 109"/>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5"/>
                <a:gd name="T47" fmla="*/ 109 w 109"/>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5">
                  <a:moveTo>
                    <a:pt x="109" y="0"/>
                  </a:moveTo>
                  <a:lnTo>
                    <a:pt x="107" y="1"/>
                  </a:lnTo>
                  <a:lnTo>
                    <a:pt x="106" y="1"/>
                  </a:lnTo>
                  <a:lnTo>
                    <a:pt x="105" y="1"/>
                  </a:lnTo>
                  <a:lnTo>
                    <a:pt x="71" y="1"/>
                  </a:lnTo>
                  <a:lnTo>
                    <a:pt x="54" y="1"/>
                  </a:lnTo>
                  <a:lnTo>
                    <a:pt x="38" y="1"/>
                  </a:lnTo>
                  <a:lnTo>
                    <a:pt x="3" y="1"/>
                  </a:lnTo>
                  <a:lnTo>
                    <a:pt x="2" y="2"/>
                  </a:lnTo>
                  <a:lnTo>
                    <a:pt x="1" y="3"/>
                  </a:lnTo>
                  <a:lnTo>
                    <a:pt x="0"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21" name="Freeform 76">
              <a:extLst>
                <a:ext uri="{FF2B5EF4-FFF2-40B4-BE49-F238E27FC236}">
                  <a16:creationId xmlns:a16="http://schemas.microsoft.com/office/drawing/2014/main" id="{EA39DFED-9C16-4E0F-B953-BF2D0A1B637A}"/>
                </a:ext>
              </a:extLst>
            </p:cNvPr>
            <p:cNvSpPr>
              <a:spLocks/>
            </p:cNvSpPr>
            <p:nvPr/>
          </p:nvSpPr>
          <p:spPr bwMode="auto">
            <a:xfrm>
              <a:off x="2622550" y="2244725"/>
              <a:ext cx="1528763" cy="69850"/>
            </a:xfrm>
            <a:custGeom>
              <a:avLst/>
              <a:gdLst>
                <a:gd name="T0" fmla="*/ 0 w 108"/>
                <a:gd name="T1" fmla="*/ 0 h 5"/>
                <a:gd name="T2" fmla="*/ 2147483646 w 108"/>
                <a:gd name="T3" fmla="*/ 2147483646 h 5"/>
                <a:gd name="T4" fmla="*/ 2147483646 w 108"/>
                <a:gd name="T5" fmla="*/ 2147483646 h 5"/>
                <a:gd name="T6" fmla="*/ 2147483646 w 108"/>
                <a:gd name="T7" fmla="*/ 2147483646 h 5"/>
                <a:gd name="T8" fmla="*/ 2147483646 w 108"/>
                <a:gd name="T9" fmla="*/ 2147483646 h 5"/>
                <a:gd name="T10" fmla="*/ 2147483646 w 108"/>
                <a:gd name="T11" fmla="*/ 2147483646 h 5"/>
                <a:gd name="T12" fmla="*/ 2147483646 w 108"/>
                <a:gd name="T13" fmla="*/ 2147483646 h 5"/>
                <a:gd name="T14" fmla="*/ 2147483646 w 108"/>
                <a:gd name="T15" fmla="*/ 2147483646 h 5"/>
                <a:gd name="T16" fmla="*/ 2147483646 w 108"/>
                <a:gd name="T17" fmla="*/ 2147483646 h 5"/>
                <a:gd name="T18" fmla="*/ 2147483646 w 108"/>
                <a:gd name="T19" fmla="*/ 2147483646 h 5"/>
                <a:gd name="T20" fmla="*/ 2147483646 w 108"/>
                <a:gd name="T21" fmla="*/ 2147483646 h 5"/>
                <a:gd name="T22" fmla="*/ 2147483646 w 108"/>
                <a:gd name="T23" fmla="*/ 2147483646 h 5"/>
                <a:gd name="T24" fmla="*/ 2147483646 w 108"/>
                <a:gd name="T25" fmla="*/ 2147483646 h 5"/>
                <a:gd name="T26" fmla="*/ 2147483646 w 108"/>
                <a:gd name="T27" fmla="*/ 2147483646 h 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8"/>
                <a:gd name="T43" fmla="*/ 0 h 5"/>
                <a:gd name="T44" fmla="*/ 108 w 108"/>
                <a:gd name="T45" fmla="*/ 5 h 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8" h="5">
                  <a:moveTo>
                    <a:pt x="0" y="0"/>
                  </a:moveTo>
                  <a:lnTo>
                    <a:pt x="1" y="1"/>
                  </a:lnTo>
                  <a:lnTo>
                    <a:pt x="2" y="1"/>
                  </a:lnTo>
                  <a:lnTo>
                    <a:pt x="3" y="1"/>
                  </a:lnTo>
                  <a:lnTo>
                    <a:pt x="4" y="1"/>
                  </a:lnTo>
                  <a:lnTo>
                    <a:pt x="38" y="1"/>
                  </a:lnTo>
                  <a:lnTo>
                    <a:pt x="54" y="1"/>
                  </a:lnTo>
                  <a:lnTo>
                    <a:pt x="71" y="1"/>
                  </a:lnTo>
                  <a:lnTo>
                    <a:pt x="105" y="1"/>
                  </a:lnTo>
                  <a:lnTo>
                    <a:pt x="106" y="1"/>
                  </a:lnTo>
                  <a:lnTo>
                    <a:pt x="107" y="2"/>
                  </a:lnTo>
                  <a:lnTo>
                    <a:pt x="107" y="3"/>
                  </a:lnTo>
                  <a:lnTo>
                    <a:pt x="108"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22" name="Freeform 77">
              <a:extLst>
                <a:ext uri="{FF2B5EF4-FFF2-40B4-BE49-F238E27FC236}">
                  <a16:creationId xmlns:a16="http://schemas.microsoft.com/office/drawing/2014/main" id="{B3979CAC-FF1B-41B3-AD04-A2D7D2D54F4F}"/>
                </a:ext>
              </a:extLst>
            </p:cNvPr>
            <p:cNvSpPr>
              <a:spLocks/>
            </p:cNvSpPr>
            <p:nvPr/>
          </p:nvSpPr>
          <p:spPr bwMode="auto">
            <a:xfrm>
              <a:off x="2141538" y="2244725"/>
              <a:ext cx="438150" cy="69850"/>
            </a:xfrm>
            <a:custGeom>
              <a:avLst/>
              <a:gdLst>
                <a:gd name="T0" fmla="*/ 2147483646 w 31"/>
                <a:gd name="T1" fmla="*/ 0 h 5"/>
                <a:gd name="T2" fmla="*/ 2147483646 w 31"/>
                <a:gd name="T3" fmla="*/ 2147483646 h 5"/>
                <a:gd name="T4" fmla="*/ 2147483646 w 31"/>
                <a:gd name="T5" fmla="*/ 2147483646 h 5"/>
                <a:gd name="T6" fmla="*/ 2147483646 w 31"/>
                <a:gd name="T7" fmla="*/ 2147483646 h 5"/>
                <a:gd name="T8" fmla="*/ 2147483646 w 31"/>
                <a:gd name="T9" fmla="*/ 2147483646 h 5"/>
                <a:gd name="T10" fmla="*/ 2147483646 w 31"/>
                <a:gd name="T11" fmla="*/ 2147483646 h 5"/>
                <a:gd name="T12" fmla="*/ 2147483646 w 31"/>
                <a:gd name="T13" fmla="*/ 2147483646 h 5"/>
                <a:gd name="T14" fmla="*/ 2147483646 w 31"/>
                <a:gd name="T15" fmla="*/ 2147483646 h 5"/>
                <a:gd name="T16" fmla="*/ 2147483646 w 31"/>
                <a:gd name="T17" fmla="*/ 2147483646 h 5"/>
                <a:gd name="T18" fmla="*/ 2147483646 w 31"/>
                <a:gd name="T19" fmla="*/ 2147483646 h 5"/>
                <a:gd name="T20" fmla="*/ 2147483646 w 31"/>
                <a:gd name="T21" fmla="*/ 2147483646 h 5"/>
                <a:gd name="T22" fmla="*/ 2147483646 w 31"/>
                <a:gd name="T23" fmla="*/ 2147483646 h 5"/>
                <a:gd name="T24" fmla="*/ 2147483646 w 31"/>
                <a:gd name="T25" fmla="*/ 2147483646 h 5"/>
                <a:gd name="T26" fmla="*/ 2147483646 w 31"/>
                <a:gd name="T27" fmla="*/ 2147483646 h 5"/>
                <a:gd name="T28" fmla="*/ 0 w 31"/>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5"/>
                <a:gd name="T47" fmla="*/ 31 w 31"/>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5">
                  <a:moveTo>
                    <a:pt x="31" y="0"/>
                  </a:moveTo>
                  <a:lnTo>
                    <a:pt x="30" y="1"/>
                  </a:lnTo>
                  <a:lnTo>
                    <a:pt x="29" y="1"/>
                  </a:lnTo>
                  <a:lnTo>
                    <a:pt x="28" y="1"/>
                  </a:lnTo>
                  <a:lnTo>
                    <a:pt x="19" y="1"/>
                  </a:lnTo>
                  <a:lnTo>
                    <a:pt x="15" y="1"/>
                  </a:lnTo>
                  <a:lnTo>
                    <a:pt x="11" y="1"/>
                  </a:lnTo>
                  <a:lnTo>
                    <a:pt x="3" y="1"/>
                  </a:lnTo>
                  <a:lnTo>
                    <a:pt x="2" y="1"/>
                  </a:lnTo>
                  <a:lnTo>
                    <a:pt x="1" y="2"/>
                  </a:lnTo>
                  <a:lnTo>
                    <a:pt x="1" y="3"/>
                  </a:lnTo>
                  <a:lnTo>
                    <a:pt x="0"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23" name="Freeform 78">
              <a:extLst>
                <a:ext uri="{FF2B5EF4-FFF2-40B4-BE49-F238E27FC236}">
                  <a16:creationId xmlns:a16="http://schemas.microsoft.com/office/drawing/2014/main" id="{F803796C-DB96-4EA0-95D8-AFCAC681BF5F}"/>
                </a:ext>
              </a:extLst>
            </p:cNvPr>
            <p:cNvSpPr>
              <a:spLocks/>
            </p:cNvSpPr>
            <p:nvPr/>
          </p:nvSpPr>
          <p:spPr bwMode="auto">
            <a:xfrm>
              <a:off x="1689100" y="2244725"/>
              <a:ext cx="452438" cy="69850"/>
            </a:xfrm>
            <a:custGeom>
              <a:avLst/>
              <a:gdLst>
                <a:gd name="T0" fmla="*/ 0 w 32"/>
                <a:gd name="T1" fmla="*/ 0 h 5"/>
                <a:gd name="T2" fmla="*/ 2147483646 w 32"/>
                <a:gd name="T3" fmla="*/ 2147483646 h 5"/>
                <a:gd name="T4" fmla="*/ 2147483646 w 32"/>
                <a:gd name="T5" fmla="*/ 2147483646 h 5"/>
                <a:gd name="T6" fmla="*/ 2147483646 w 32"/>
                <a:gd name="T7" fmla="*/ 2147483646 h 5"/>
                <a:gd name="T8" fmla="*/ 2147483646 w 32"/>
                <a:gd name="T9" fmla="*/ 2147483646 h 5"/>
                <a:gd name="T10" fmla="*/ 2147483646 w 32"/>
                <a:gd name="T11" fmla="*/ 2147483646 h 5"/>
                <a:gd name="T12" fmla="*/ 2147483646 w 32"/>
                <a:gd name="T13" fmla="*/ 2147483646 h 5"/>
                <a:gd name="T14" fmla="*/ 2147483646 w 32"/>
                <a:gd name="T15" fmla="*/ 2147483646 h 5"/>
                <a:gd name="T16" fmla="*/ 2147483646 w 32"/>
                <a:gd name="T17" fmla="*/ 2147483646 h 5"/>
                <a:gd name="T18" fmla="*/ 2147483646 w 32"/>
                <a:gd name="T19" fmla="*/ 2147483646 h 5"/>
                <a:gd name="T20" fmla="*/ 2147483646 w 32"/>
                <a:gd name="T21" fmla="*/ 2147483646 h 5"/>
                <a:gd name="T22" fmla="*/ 2147483646 w 32"/>
                <a:gd name="T23" fmla="*/ 2147483646 h 5"/>
                <a:gd name="T24" fmla="*/ 2147483646 w 32"/>
                <a:gd name="T25" fmla="*/ 2147483646 h 5"/>
                <a:gd name="T26" fmla="*/ 2147483646 w 32"/>
                <a:gd name="T27" fmla="*/ 2147483646 h 5"/>
                <a:gd name="T28" fmla="*/ 2147483646 w 32"/>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5"/>
                <a:gd name="T47" fmla="*/ 32 w 32"/>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5">
                  <a:moveTo>
                    <a:pt x="0" y="0"/>
                  </a:moveTo>
                  <a:lnTo>
                    <a:pt x="1" y="1"/>
                  </a:lnTo>
                  <a:lnTo>
                    <a:pt x="2" y="1"/>
                  </a:lnTo>
                  <a:lnTo>
                    <a:pt x="3" y="1"/>
                  </a:lnTo>
                  <a:lnTo>
                    <a:pt x="4" y="1"/>
                  </a:lnTo>
                  <a:lnTo>
                    <a:pt x="12" y="1"/>
                  </a:lnTo>
                  <a:lnTo>
                    <a:pt x="16" y="1"/>
                  </a:lnTo>
                  <a:lnTo>
                    <a:pt x="20" y="1"/>
                  </a:lnTo>
                  <a:lnTo>
                    <a:pt x="29" y="1"/>
                  </a:lnTo>
                  <a:lnTo>
                    <a:pt x="30" y="1"/>
                  </a:lnTo>
                  <a:lnTo>
                    <a:pt x="30" y="2"/>
                  </a:lnTo>
                  <a:lnTo>
                    <a:pt x="31" y="3"/>
                  </a:lnTo>
                  <a:lnTo>
                    <a:pt x="32"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2524" name="Rectangle 79">
              <a:extLst>
                <a:ext uri="{FF2B5EF4-FFF2-40B4-BE49-F238E27FC236}">
                  <a16:creationId xmlns:a16="http://schemas.microsoft.com/office/drawing/2014/main" id="{D9B2FADB-58A9-487E-9758-0BED8265A42E}"/>
                </a:ext>
              </a:extLst>
            </p:cNvPr>
            <p:cNvSpPr>
              <a:spLocks noChangeArrowheads="1"/>
            </p:cNvSpPr>
            <p:nvPr/>
          </p:nvSpPr>
          <p:spPr bwMode="auto">
            <a:xfrm>
              <a:off x="1504950" y="2541588"/>
              <a:ext cx="5223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525" name="Rectangle 80">
              <a:extLst>
                <a:ext uri="{FF2B5EF4-FFF2-40B4-BE49-F238E27FC236}">
                  <a16:creationId xmlns:a16="http://schemas.microsoft.com/office/drawing/2014/main" id="{DD324FE5-FA07-4DCD-8311-6595E54771CA}"/>
                </a:ext>
              </a:extLst>
            </p:cNvPr>
            <p:cNvSpPr>
              <a:spLocks noChangeArrowheads="1"/>
            </p:cNvSpPr>
            <p:nvPr/>
          </p:nvSpPr>
          <p:spPr bwMode="auto">
            <a:xfrm>
              <a:off x="3584575" y="4268788"/>
              <a:ext cx="37122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1.001010</a:t>
              </a:r>
              <a:endParaRPr lang="en-CA" altLang="en-US" sz="3600" b="1"/>
            </a:p>
          </p:txBody>
        </p:sp>
        <p:sp>
          <p:nvSpPr>
            <p:cNvPr id="62526" name="Rectangle 81">
              <a:extLst>
                <a:ext uri="{FF2B5EF4-FFF2-40B4-BE49-F238E27FC236}">
                  <a16:creationId xmlns:a16="http://schemas.microsoft.com/office/drawing/2014/main" id="{3C8DB2DD-D6B6-4823-B4DC-E8849C2BDB2A}"/>
                </a:ext>
              </a:extLst>
            </p:cNvPr>
            <p:cNvSpPr>
              <a:spLocks noChangeArrowheads="1"/>
            </p:cNvSpPr>
            <p:nvPr/>
          </p:nvSpPr>
          <p:spPr bwMode="auto">
            <a:xfrm>
              <a:off x="4065588" y="4197350"/>
              <a:ext cx="178300" cy="332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b="1">
                  <a:solidFill>
                    <a:srgbClr val="000000"/>
                  </a:solidFill>
                  <a:latin typeface="Symbol" panose="05050102010706020507" pitchFamily="18" charset="2"/>
                </a:rPr>
                <a:t>¼</a:t>
              </a:r>
              <a:endParaRPr lang="en-CA" altLang="en-US" sz="3600" b="1"/>
            </a:p>
          </p:txBody>
        </p:sp>
        <p:sp>
          <p:nvSpPr>
            <p:cNvPr id="62527" name="Rectangle 82">
              <a:extLst>
                <a:ext uri="{FF2B5EF4-FFF2-40B4-BE49-F238E27FC236}">
                  <a16:creationId xmlns:a16="http://schemas.microsoft.com/office/drawing/2014/main" id="{454EA4C3-7F78-48A2-818D-6B4D366E2AA5}"/>
                </a:ext>
              </a:extLst>
            </p:cNvPr>
            <p:cNvSpPr>
              <a:spLocks noChangeArrowheads="1"/>
            </p:cNvSpPr>
            <p:nvPr/>
          </p:nvSpPr>
          <p:spPr bwMode="auto">
            <a:xfrm>
              <a:off x="4278313" y="42687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a:t>
              </a:r>
              <a:endParaRPr lang="en-CA" altLang="en-US" sz="3600" b="1"/>
            </a:p>
          </p:txBody>
        </p:sp>
        <p:sp>
          <p:nvSpPr>
            <p:cNvPr id="62528" name="Rectangle 83">
              <a:extLst>
                <a:ext uri="{FF2B5EF4-FFF2-40B4-BE49-F238E27FC236}">
                  <a16:creationId xmlns:a16="http://schemas.microsoft.com/office/drawing/2014/main" id="{2201FE0F-EE1A-4445-AC0D-C4BB7FF26DD7}"/>
                </a:ext>
              </a:extLst>
            </p:cNvPr>
            <p:cNvSpPr>
              <a:spLocks noChangeArrowheads="1"/>
            </p:cNvSpPr>
            <p:nvPr/>
          </p:nvSpPr>
          <p:spPr bwMode="auto">
            <a:xfrm>
              <a:off x="4476750" y="4268788"/>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2</a:t>
              </a:r>
              <a:endParaRPr lang="en-CA" altLang="en-US" sz="3600" b="1"/>
            </a:p>
          </p:txBody>
        </p:sp>
        <p:sp>
          <p:nvSpPr>
            <p:cNvPr id="62529" name="Rectangle 84">
              <a:extLst>
                <a:ext uri="{FF2B5EF4-FFF2-40B4-BE49-F238E27FC236}">
                  <a16:creationId xmlns:a16="http://schemas.microsoft.com/office/drawing/2014/main" id="{B406E66C-0741-4857-BBBD-B414DA9C1C13}"/>
                </a:ext>
              </a:extLst>
            </p:cNvPr>
            <p:cNvSpPr>
              <a:spLocks noChangeArrowheads="1"/>
            </p:cNvSpPr>
            <p:nvPr/>
          </p:nvSpPr>
          <p:spPr bwMode="auto">
            <a:xfrm>
              <a:off x="4618038" y="4197350"/>
              <a:ext cx="86364" cy="14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Nimbus Roman No9 L"/>
                </a:rPr>
                <a:t>87</a:t>
              </a:r>
              <a:endParaRPr lang="en-CA" altLang="en-US" sz="3600" b="1"/>
            </a:p>
          </p:txBody>
        </p:sp>
        <p:sp>
          <p:nvSpPr>
            <p:cNvPr id="62530" name="Rectangle 85">
              <a:extLst>
                <a:ext uri="{FF2B5EF4-FFF2-40B4-BE49-F238E27FC236}">
                  <a16:creationId xmlns:a16="http://schemas.microsoft.com/office/drawing/2014/main" id="{3EBF7476-BA8D-44F9-A28F-2BAFB251D7B4}"/>
                </a:ext>
              </a:extLst>
            </p:cNvPr>
            <p:cNvSpPr>
              <a:spLocks noChangeArrowheads="1"/>
            </p:cNvSpPr>
            <p:nvPr/>
          </p:nvSpPr>
          <p:spPr bwMode="auto">
            <a:xfrm>
              <a:off x="4546600" y="4183063"/>
              <a:ext cx="29949"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531" name="Rectangle 86">
              <a:extLst>
                <a:ext uri="{FF2B5EF4-FFF2-40B4-BE49-F238E27FC236}">
                  <a16:creationId xmlns:a16="http://schemas.microsoft.com/office/drawing/2014/main" id="{8181F0EF-6389-4E3B-A3B7-E0A53DDAE21F}"/>
                </a:ext>
              </a:extLst>
            </p:cNvPr>
            <p:cNvSpPr>
              <a:spLocks noChangeArrowheads="1"/>
            </p:cNvSpPr>
            <p:nvPr/>
          </p:nvSpPr>
          <p:spPr bwMode="auto">
            <a:xfrm>
              <a:off x="4376738" y="4268788"/>
              <a:ext cx="4875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2532" name="Rectangle 87">
              <a:extLst>
                <a:ext uri="{FF2B5EF4-FFF2-40B4-BE49-F238E27FC236}">
                  <a16:creationId xmlns:a16="http://schemas.microsoft.com/office/drawing/2014/main" id="{6389A219-66AD-418B-A337-852B58B3D1CB}"/>
                </a:ext>
              </a:extLst>
            </p:cNvPr>
            <p:cNvSpPr>
              <a:spLocks noChangeArrowheads="1"/>
            </p:cNvSpPr>
            <p:nvPr/>
          </p:nvSpPr>
          <p:spPr bwMode="auto">
            <a:xfrm>
              <a:off x="3443288" y="4268788"/>
              <a:ext cx="5223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533" name="Rectangle 88">
              <a:extLst>
                <a:ext uri="{FF2B5EF4-FFF2-40B4-BE49-F238E27FC236}">
                  <a16:creationId xmlns:a16="http://schemas.microsoft.com/office/drawing/2014/main" id="{34C3DE6A-CCFD-4976-845A-5AE82D04D7C5}"/>
                </a:ext>
              </a:extLst>
            </p:cNvPr>
            <p:cNvSpPr>
              <a:spLocks noChangeArrowheads="1"/>
            </p:cNvSpPr>
            <p:nvPr/>
          </p:nvSpPr>
          <p:spPr bwMode="auto">
            <a:xfrm>
              <a:off x="3797300" y="2965450"/>
              <a:ext cx="7452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2534" name="Rectangle 89">
              <a:extLst>
                <a:ext uri="{FF2B5EF4-FFF2-40B4-BE49-F238E27FC236}">
                  <a16:creationId xmlns:a16="http://schemas.microsoft.com/office/drawing/2014/main" id="{F0A853D4-8FCE-4032-A862-D6E9DE90BE1C}"/>
                </a:ext>
              </a:extLst>
            </p:cNvPr>
            <p:cNvSpPr>
              <a:spLocks noChangeArrowheads="1"/>
            </p:cNvSpPr>
            <p:nvPr/>
          </p:nvSpPr>
          <p:spPr bwMode="auto">
            <a:xfrm>
              <a:off x="3895725" y="2965450"/>
              <a:ext cx="7452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M</a:t>
              </a:r>
              <a:endParaRPr lang="en-CA" altLang="en-US" sz="3600" b="1"/>
            </a:p>
          </p:txBody>
        </p:sp>
        <p:sp>
          <p:nvSpPr>
            <p:cNvPr id="62535" name="Rectangle 90">
              <a:extLst>
                <a:ext uri="{FF2B5EF4-FFF2-40B4-BE49-F238E27FC236}">
                  <a16:creationId xmlns:a16="http://schemas.microsoft.com/office/drawing/2014/main" id="{D9D09506-B241-4392-8703-CAA1E24067F2}"/>
                </a:ext>
              </a:extLst>
            </p:cNvPr>
            <p:cNvSpPr>
              <a:spLocks noChangeArrowheads="1"/>
            </p:cNvSpPr>
            <p:nvPr/>
          </p:nvSpPr>
          <p:spPr bwMode="auto">
            <a:xfrm>
              <a:off x="4137025" y="2965450"/>
              <a:ext cx="49451"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2</a:t>
              </a:r>
              <a:endParaRPr lang="en-CA" altLang="en-US" sz="3600" b="1"/>
            </a:p>
          </p:txBody>
        </p:sp>
        <p:sp>
          <p:nvSpPr>
            <p:cNvPr id="62536" name="Rectangle 91">
              <a:extLst>
                <a:ext uri="{FF2B5EF4-FFF2-40B4-BE49-F238E27FC236}">
                  <a16:creationId xmlns:a16="http://schemas.microsoft.com/office/drawing/2014/main" id="{CAEB36D1-4E5E-48A4-B84C-21A08B53578F}"/>
                </a:ext>
              </a:extLst>
            </p:cNvPr>
            <p:cNvSpPr>
              <a:spLocks noChangeArrowheads="1"/>
            </p:cNvSpPr>
            <p:nvPr/>
          </p:nvSpPr>
          <p:spPr bwMode="auto">
            <a:xfrm>
              <a:off x="4206875" y="2895600"/>
              <a:ext cx="52018" cy="14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i="1">
                  <a:solidFill>
                    <a:srgbClr val="000000"/>
                  </a:solidFill>
                  <a:latin typeface="Nimbus Roman No9 L"/>
                </a:rPr>
                <a:t>E</a:t>
              </a:r>
              <a:endParaRPr lang="en-CA" altLang="en-US" sz="3600" b="1"/>
            </a:p>
          </p:txBody>
        </p:sp>
        <p:sp>
          <p:nvSpPr>
            <p:cNvPr id="62537" name="Rectangle 92">
              <a:extLst>
                <a:ext uri="{FF2B5EF4-FFF2-40B4-BE49-F238E27FC236}">
                  <a16:creationId xmlns:a16="http://schemas.microsoft.com/office/drawing/2014/main" id="{3BF48DD7-DBB5-4BEC-BAC2-BE9DCE13FA6C}"/>
                </a:ext>
              </a:extLst>
            </p:cNvPr>
            <p:cNvSpPr>
              <a:spLocks noChangeArrowheads="1"/>
            </p:cNvSpPr>
            <p:nvPr/>
          </p:nvSpPr>
          <p:spPr bwMode="auto">
            <a:xfrm>
              <a:off x="4292600" y="2895600"/>
              <a:ext cx="19502" cy="14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Symbol" panose="05050102010706020507" pitchFamily="18" charset="2"/>
                </a:rPr>
                <a:t>¢</a:t>
              </a:r>
              <a:endParaRPr lang="en-CA" altLang="en-US" sz="3600" b="1"/>
            </a:p>
          </p:txBody>
        </p:sp>
        <p:sp>
          <p:nvSpPr>
            <p:cNvPr id="62538" name="Rectangle 93">
              <a:extLst>
                <a:ext uri="{FF2B5EF4-FFF2-40B4-BE49-F238E27FC236}">
                  <a16:creationId xmlns:a16="http://schemas.microsoft.com/office/drawing/2014/main" id="{5D5E8088-4BB5-4055-8EDD-9E28904D856D}"/>
                </a:ext>
              </a:extLst>
            </p:cNvPr>
            <p:cNvSpPr>
              <a:spLocks noChangeArrowheads="1"/>
            </p:cNvSpPr>
            <p:nvPr/>
          </p:nvSpPr>
          <p:spPr bwMode="auto">
            <a:xfrm>
              <a:off x="4433888" y="2895600"/>
              <a:ext cx="129547" cy="14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Nimbus Roman No9 L"/>
                </a:rPr>
                <a:t>127</a:t>
              </a:r>
              <a:endParaRPr lang="en-CA" altLang="en-US" sz="3600" b="1"/>
            </a:p>
          </p:txBody>
        </p:sp>
        <p:sp>
          <p:nvSpPr>
            <p:cNvPr id="62539" name="Rectangle 94">
              <a:extLst>
                <a:ext uri="{FF2B5EF4-FFF2-40B4-BE49-F238E27FC236}">
                  <a16:creationId xmlns:a16="http://schemas.microsoft.com/office/drawing/2014/main" id="{8F1A3DE3-0ADA-4BDF-A89B-301478143E11}"/>
                </a:ext>
              </a:extLst>
            </p:cNvPr>
            <p:cNvSpPr>
              <a:spLocks noChangeArrowheads="1"/>
            </p:cNvSpPr>
            <p:nvPr/>
          </p:nvSpPr>
          <p:spPr bwMode="auto">
            <a:xfrm>
              <a:off x="4348163" y="2895600"/>
              <a:ext cx="25770" cy="1454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Nimbus Roman No9 L"/>
                </a:rPr>
                <a:t>-</a:t>
              </a:r>
              <a:endParaRPr lang="en-CA" altLang="en-US" sz="3600" b="1"/>
            </a:p>
          </p:txBody>
        </p:sp>
        <p:sp>
          <p:nvSpPr>
            <p:cNvPr id="62540" name="Rectangle 95">
              <a:extLst>
                <a:ext uri="{FF2B5EF4-FFF2-40B4-BE49-F238E27FC236}">
                  <a16:creationId xmlns:a16="http://schemas.microsoft.com/office/drawing/2014/main" id="{18657773-BAFF-4EC5-A60F-C6A6CF88817F}"/>
                </a:ext>
              </a:extLst>
            </p:cNvPr>
            <p:cNvSpPr>
              <a:spLocks noChangeArrowheads="1"/>
            </p:cNvSpPr>
            <p:nvPr/>
          </p:nvSpPr>
          <p:spPr bwMode="auto">
            <a:xfrm>
              <a:off x="4037013" y="2965450"/>
              <a:ext cx="4875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2541" name="Rectangle 96">
              <a:extLst>
                <a:ext uri="{FF2B5EF4-FFF2-40B4-BE49-F238E27FC236}">
                  <a16:creationId xmlns:a16="http://schemas.microsoft.com/office/drawing/2014/main" id="{08383F25-50FB-4B7D-A8AB-DBF939B3F2F9}"/>
                </a:ext>
              </a:extLst>
            </p:cNvPr>
            <p:cNvSpPr>
              <a:spLocks noChangeArrowheads="1"/>
            </p:cNvSpPr>
            <p:nvPr/>
          </p:nvSpPr>
          <p:spPr bwMode="auto">
            <a:xfrm>
              <a:off x="3711575" y="2965450"/>
              <a:ext cx="48754"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2542" name="Rectangle 97">
              <a:extLst>
                <a:ext uri="{FF2B5EF4-FFF2-40B4-BE49-F238E27FC236}">
                  <a16:creationId xmlns:a16="http://schemas.microsoft.com/office/drawing/2014/main" id="{9CBA1B8A-A5CA-4A1B-8BE7-838F5CE172F2}"/>
                </a:ext>
              </a:extLst>
            </p:cNvPr>
            <p:cNvSpPr>
              <a:spLocks noChangeArrowheads="1"/>
            </p:cNvSpPr>
            <p:nvPr/>
          </p:nvSpPr>
          <p:spPr bwMode="auto">
            <a:xfrm>
              <a:off x="3584575" y="2965450"/>
              <a:ext cx="5223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543" name="Rectangle 115">
              <a:extLst>
                <a:ext uri="{FF2B5EF4-FFF2-40B4-BE49-F238E27FC236}">
                  <a16:creationId xmlns:a16="http://schemas.microsoft.com/office/drawing/2014/main" id="{4B8F3000-7B86-47C4-A2AE-4FE40E269919}"/>
                </a:ext>
              </a:extLst>
            </p:cNvPr>
            <p:cNvSpPr>
              <a:spLocks noChangeArrowheads="1"/>
            </p:cNvSpPr>
            <p:nvPr/>
          </p:nvSpPr>
          <p:spPr bwMode="auto">
            <a:xfrm>
              <a:off x="952500" y="2541588"/>
              <a:ext cx="43669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0 signifies</a:t>
              </a:r>
              <a:endParaRPr lang="en-CA" altLang="en-US" sz="3600" b="1"/>
            </a:p>
          </p:txBody>
        </p:sp>
        <p:sp>
          <p:nvSpPr>
            <p:cNvPr id="62544" name="Rectangle 116">
              <a:extLst>
                <a:ext uri="{FF2B5EF4-FFF2-40B4-BE49-F238E27FC236}">
                  <a16:creationId xmlns:a16="http://schemas.microsoft.com/office/drawing/2014/main" id="{C12593D8-E023-47DA-AD17-5D0D3C60E8E7}"/>
                </a:ext>
              </a:extLst>
            </p:cNvPr>
            <p:cNvSpPr>
              <a:spLocks noChangeArrowheads="1"/>
            </p:cNvSpPr>
            <p:nvPr/>
          </p:nvSpPr>
          <p:spPr bwMode="auto">
            <a:xfrm>
              <a:off x="1519238" y="2682875"/>
              <a:ext cx="29949"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2545" name="Rectangle 117">
              <a:extLst>
                <a:ext uri="{FF2B5EF4-FFF2-40B4-BE49-F238E27FC236}">
                  <a16:creationId xmlns:a16="http://schemas.microsoft.com/office/drawing/2014/main" id="{D4E59642-62CD-49CE-AC32-38EF7C772214}"/>
                </a:ext>
              </a:extLst>
            </p:cNvPr>
            <p:cNvSpPr>
              <a:spLocks noChangeArrowheads="1"/>
            </p:cNvSpPr>
            <p:nvPr/>
          </p:nvSpPr>
          <p:spPr bwMode="auto">
            <a:xfrm>
              <a:off x="952500" y="2682875"/>
              <a:ext cx="436697" cy="166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 signifies</a:t>
              </a:r>
              <a:endParaRPr lang="en-CA" altLang="en-US" sz="3600" b="1"/>
            </a:p>
          </p:txBody>
        </p:sp>
      </p:grpSp>
      <p:sp>
        <p:nvSpPr>
          <p:cNvPr id="62468" name="TextBox 82">
            <a:extLst>
              <a:ext uri="{FF2B5EF4-FFF2-40B4-BE49-F238E27FC236}">
                <a16:creationId xmlns:a16="http://schemas.microsoft.com/office/drawing/2014/main" id="{9D85826A-AC1C-4075-A23E-8654CFBDC327}"/>
              </a:ext>
            </a:extLst>
          </p:cNvPr>
          <p:cNvSpPr txBox="1">
            <a:spLocks noChangeArrowheads="1"/>
          </p:cNvSpPr>
          <p:nvPr/>
        </p:nvSpPr>
        <p:spPr bwMode="auto">
          <a:xfrm>
            <a:off x="687388" y="533400"/>
            <a:ext cx="9448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3600" b="1">
                <a:solidFill>
                  <a:srgbClr val="FF0000"/>
                </a:solidFill>
                <a:latin typeface="Rockwell" panose="02060603020205020403" pitchFamily="18" charset="0"/>
              </a:rPr>
              <a:t>Floating Point – Single Precision</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a:extLst>
              <a:ext uri="{FF2B5EF4-FFF2-40B4-BE49-F238E27FC236}">
                <a16:creationId xmlns:a16="http://schemas.microsoft.com/office/drawing/2014/main" id="{F11BC1F1-CA51-4E06-A65D-CD792367A969}"/>
              </a:ext>
            </a:extLst>
          </p:cNvPr>
          <p:cNvSpPr>
            <a:spLocks noGrp="1"/>
          </p:cNvSpPr>
          <p:nvPr>
            <p:ph type="title"/>
          </p:nvPr>
        </p:nvSpPr>
        <p:spPr>
          <a:xfrm>
            <a:off x="230188" y="457200"/>
            <a:ext cx="10975975" cy="8382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600"/>
              <a:t>Floating Point – Double Precision</a:t>
            </a:r>
          </a:p>
        </p:txBody>
      </p:sp>
      <p:sp>
        <p:nvSpPr>
          <p:cNvPr id="63491" name="Slide Number Placeholder 3">
            <a:extLst>
              <a:ext uri="{FF2B5EF4-FFF2-40B4-BE49-F238E27FC236}">
                <a16:creationId xmlns:a16="http://schemas.microsoft.com/office/drawing/2014/main" id="{1B2D9154-0F38-409C-AFC9-53F7416C060D}"/>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E9074786-A70B-483C-9545-0A95301739DB}" type="slidenum">
              <a:rPr lang="en-US" altLang="en-US" sz="1800" smtClean="0">
                <a:solidFill>
                  <a:srgbClr val="898989"/>
                </a:solidFill>
                <a:latin typeface="Arial" panose="020B0604020202020204" pitchFamily="34" charset="0"/>
              </a:rPr>
              <a:pPr algn="l" eaLnBrk="0" hangingPunct="0">
                <a:spcBef>
                  <a:spcPct val="0"/>
                </a:spcBef>
                <a:buFontTx/>
                <a:buNone/>
              </a:pPr>
              <a:t>51</a:t>
            </a:fld>
            <a:endParaRPr lang="en-US" altLang="en-US" sz="1800">
              <a:solidFill>
                <a:srgbClr val="898989"/>
              </a:solidFill>
              <a:latin typeface="Arial" panose="020B0604020202020204" pitchFamily="34" charset="0"/>
            </a:endParaRPr>
          </a:p>
        </p:txBody>
      </p:sp>
      <p:sp>
        <p:nvSpPr>
          <p:cNvPr id="33796" name="Content Placeholder 2">
            <a:extLst>
              <a:ext uri="{FF2B5EF4-FFF2-40B4-BE49-F238E27FC236}">
                <a16:creationId xmlns:a16="http://schemas.microsoft.com/office/drawing/2014/main" id="{7E8423F6-8F1E-4C14-BA74-DF7664915EB3}"/>
              </a:ext>
            </a:extLst>
          </p:cNvPr>
          <p:cNvSpPr>
            <a:spLocks noGrp="1"/>
          </p:cNvSpPr>
          <p:nvPr>
            <p:ph idx="1"/>
          </p:nvPr>
        </p:nvSpPr>
        <p:spPr>
          <a:xfrm>
            <a:off x="239713" y="1219200"/>
            <a:ext cx="11715750" cy="4824413"/>
          </a:xfrm>
        </p:spPr>
        <p:txBody>
          <a:bodyPr rtlCol="0"/>
          <a:lstStyle/>
          <a:p>
            <a:pPr lvl="1" eaLnBrk="1" fontAlgn="auto" hangingPunct="1">
              <a:defRPr/>
            </a:pPr>
            <a:r>
              <a:rPr lang="en-US" sz="2800" dirty="0"/>
              <a:t>Double Precision can represent</a:t>
            </a:r>
          </a:p>
          <a:p>
            <a:pPr lvl="2" eaLnBrk="1" fontAlgn="auto" hangingPunct="1">
              <a:defRPr/>
            </a:pPr>
            <a:r>
              <a:rPr lang="en-US" dirty="0"/>
              <a:t>~10</a:t>
            </a:r>
            <a:r>
              <a:rPr lang="en-US" baseline="30000" dirty="0"/>
              <a:t>±308</a:t>
            </a:r>
          </a:p>
          <a:p>
            <a:pPr lvl="1" eaLnBrk="1" fontAlgn="auto" hangingPunct="1">
              <a:defRPr/>
            </a:pPr>
            <a:endParaRPr lang="en-US" dirty="0"/>
          </a:p>
        </p:txBody>
      </p:sp>
      <p:grpSp>
        <p:nvGrpSpPr>
          <p:cNvPr id="63493" name="Group 120">
            <a:extLst>
              <a:ext uri="{FF2B5EF4-FFF2-40B4-BE49-F238E27FC236}">
                <a16:creationId xmlns:a16="http://schemas.microsoft.com/office/drawing/2014/main" id="{631D94D7-1C58-4EC2-B62C-8D16B77B83C9}"/>
              </a:ext>
            </a:extLst>
          </p:cNvPr>
          <p:cNvGrpSpPr>
            <a:grpSpLocks/>
          </p:cNvGrpSpPr>
          <p:nvPr/>
        </p:nvGrpSpPr>
        <p:grpSpPr bwMode="auto">
          <a:xfrm>
            <a:off x="1625600" y="3065463"/>
            <a:ext cx="9959975" cy="2470150"/>
            <a:chOff x="4060825" y="3065461"/>
            <a:chExt cx="4867275" cy="1303046"/>
          </a:xfrm>
        </p:grpSpPr>
        <p:sp>
          <p:nvSpPr>
            <p:cNvPr id="63494" name="Rectangle 18">
              <a:extLst>
                <a:ext uri="{FF2B5EF4-FFF2-40B4-BE49-F238E27FC236}">
                  <a16:creationId xmlns:a16="http://schemas.microsoft.com/office/drawing/2014/main" id="{37A058F8-B149-4469-9982-2215A8C7F34E}"/>
                </a:ext>
              </a:extLst>
            </p:cNvPr>
            <p:cNvSpPr>
              <a:spLocks noChangeArrowheads="1"/>
            </p:cNvSpPr>
            <p:nvPr/>
          </p:nvSpPr>
          <p:spPr bwMode="auto">
            <a:xfrm>
              <a:off x="7004050" y="3786186"/>
              <a:ext cx="26792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52-bit</a:t>
              </a:r>
              <a:endParaRPr lang="en-CA" altLang="en-US" sz="3600" b="1"/>
            </a:p>
          </p:txBody>
        </p:sp>
        <p:sp>
          <p:nvSpPr>
            <p:cNvPr id="63495" name="Rectangle 19">
              <a:extLst>
                <a:ext uri="{FF2B5EF4-FFF2-40B4-BE49-F238E27FC236}">
                  <a16:creationId xmlns:a16="http://schemas.microsoft.com/office/drawing/2014/main" id="{0103CD3C-B069-41AC-B56B-6CA64FDC2CB1}"/>
                </a:ext>
              </a:extLst>
            </p:cNvPr>
            <p:cNvSpPr>
              <a:spLocks noChangeArrowheads="1"/>
            </p:cNvSpPr>
            <p:nvPr/>
          </p:nvSpPr>
          <p:spPr bwMode="auto">
            <a:xfrm>
              <a:off x="6719887" y="3913186"/>
              <a:ext cx="83119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mantissa fraction</a:t>
              </a:r>
              <a:endParaRPr lang="en-CA" altLang="en-US" sz="3600" b="1"/>
            </a:p>
          </p:txBody>
        </p:sp>
        <p:sp>
          <p:nvSpPr>
            <p:cNvPr id="63496" name="Rectangle 20">
              <a:extLst>
                <a:ext uri="{FF2B5EF4-FFF2-40B4-BE49-F238E27FC236}">
                  <a16:creationId xmlns:a16="http://schemas.microsoft.com/office/drawing/2014/main" id="{21728570-ED3A-4632-8154-2ED5DE5911B6}"/>
                </a:ext>
              </a:extLst>
            </p:cNvPr>
            <p:cNvSpPr>
              <a:spLocks noChangeArrowheads="1"/>
            </p:cNvSpPr>
            <p:nvPr/>
          </p:nvSpPr>
          <p:spPr bwMode="auto">
            <a:xfrm>
              <a:off x="4456112" y="3786186"/>
              <a:ext cx="880487"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11-bit excess-1023</a:t>
              </a:r>
              <a:endParaRPr lang="en-CA" altLang="en-US" sz="3600" b="1"/>
            </a:p>
          </p:txBody>
        </p:sp>
        <p:sp>
          <p:nvSpPr>
            <p:cNvPr id="63497" name="Rectangle 21">
              <a:extLst>
                <a:ext uri="{FF2B5EF4-FFF2-40B4-BE49-F238E27FC236}">
                  <a16:creationId xmlns:a16="http://schemas.microsoft.com/office/drawing/2014/main" id="{DB22349A-15C6-4720-B1FD-7B650F975648}"/>
                </a:ext>
              </a:extLst>
            </p:cNvPr>
            <p:cNvSpPr>
              <a:spLocks noChangeArrowheads="1"/>
            </p:cNvSpPr>
            <p:nvPr/>
          </p:nvSpPr>
          <p:spPr bwMode="auto">
            <a:xfrm>
              <a:off x="4697412" y="3913186"/>
              <a:ext cx="44497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exponent</a:t>
              </a:r>
              <a:endParaRPr lang="en-CA" altLang="en-US" sz="3600" b="1"/>
            </a:p>
          </p:txBody>
        </p:sp>
        <p:sp>
          <p:nvSpPr>
            <p:cNvPr id="63498" name="Freeform 22">
              <a:extLst>
                <a:ext uri="{FF2B5EF4-FFF2-40B4-BE49-F238E27FC236}">
                  <a16:creationId xmlns:a16="http://schemas.microsoft.com/office/drawing/2014/main" id="{D5DD5D53-9519-4111-97EF-8FAB68AD7A62}"/>
                </a:ext>
              </a:extLst>
            </p:cNvPr>
            <p:cNvSpPr>
              <a:spLocks/>
            </p:cNvSpPr>
            <p:nvPr/>
          </p:nvSpPr>
          <p:spPr bwMode="auto">
            <a:xfrm>
              <a:off x="4413250" y="3559175"/>
              <a:ext cx="14287" cy="57150"/>
            </a:xfrm>
            <a:custGeom>
              <a:avLst/>
              <a:gdLst>
                <a:gd name="T0" fmla="*/ 2147483646 w 1"/>
                <a:gd name="T1" fmla="*/ 2147483646 h 4"/>
                <a:gd name="T2" fmla="*/ 0 w 1"/>
                <a:gd name="T3" fmla="*/ 0 h 4"/>
                <a:gd name="T4" fmla="*/ 0 w 1"/>
                <a:gd name="T5" fmla="*/ 2147483646 h 4"/>
                <a:gd name="T6" fmla="*/ 0 w 1"/>
                <a:gd name="T7" fmla="*/ 2147483646 h 4"/>
                <a:gd name="T8" fmla="*/ 2147483646 w 1"/>
                <a:gd name="T9" fmla="*/ 2147483646 h 4"/>
                <a:gd name="T10" fmla="*/ 0 60000 65536"/>
                <a:gd name="T11" fmla="*/ 0 60000 65536"/>
                <a:gd name="T12" fmla="*/ 0 60000 65536"/>
                <a:gd name="T13" fmla="*/ 0 60000 65536"/>
                <a:gd name="T14" fmla="*/ 0 60000 65536"/>
                <a:gd name="T15" fmla="*/ 0 w 1"/>
                <a:gd name="T16" fmla="*/ 0 h 4"/>
                <a:gd name="T17" fmla="*/ 1 w 1"/>
                <a:gd name="T18" fmla="*/ 4 h 4"/>
              </a:gdLst>
              <a:ahLst/>
              <a:cxnLst>
                <a:cxn ang="T10">
                  <a:pos x="T0" y="T1"/>
                </a:cxn>
                <a:cxn ang="T11">
                  <a:pos x="T2" y="T3"/>
                </a:cxn>
                <a:cxn ang="T12">
                  <a:pos x="T4" y="T5"/>
                </a:cxn>
                <a:cxn ang="T13">
                  <a:pos x="T6" y="T7"/>
                </a:cxn>
                <a:cxn ang="T14">
                  <a:pos x="T8" y="T9"/>
                </a:cxn>
              </a:cxnLst>
              <a:rect l="T15" t="T16" r="T17" b="T18"/>
              <a:pathLst>
                <a:path w="1" h="4">
                  <a:moveTo>
                    <a:pt x="1" y="4"/>
                  </a:moveTo>
                  <a:lnTo>
                    <a:pt x="0" y="0"/>
                  </a:lnTo>
                  <a:lnTo>
                    <a:pt x="0" y="4"/>
                  </a:lnTo>
                  <a:lnTo>
                    <a:pt x="1" y="4"/>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499" name="Freeform 23">
              <a:extLst>
                <a:ext uri="{FF2B5EF4-FFF2-40B4-BE49-F238E27FC236}">
                  <a16:creationId xmlns:a16="http://schemas.microsoft.com/office/drawing/2014/main" id="{EC93E658-A899-4B6E-A291-D57A80CB5DBA}"/>
                </a:ext>
              </a:extLst>
            </p:cNvPr>
            <p:cNvSpPr>
              <a:spLocks/>
            </p:cNvSpPr>
            <p:nvPr/>
          </p:nvSpPr>
          <p:spPr bwMode="auto">
            <a:xfrm>
              <a:off x="4413250" y="3559175"/>
              <a:ext cx="14287" cy="57150"/>
            </a:xfrm>
            <a:custGeom>
              <a:avLst/>
              <a:gdLst>
                <a:gd name="T0" fmla="*/ 2147483646 w 9"/>
                <a:gd name="T1" fmla="*/ 2147483646 h 36"/>
                <a:gd name="T2" fmla="*/ 0 w 9"/>
                <a:gd name="T3" fmla="*/ 0 h 36"/>
                <a:gd name="T4" fmla="*/ 0 w 9"/>
                <a:gd name="T5" fmla="*/ 2147483646 h 36"/>
                <a:gd name="T6" fmla="*/ 0 w 9"/>
                <a:gd name="T7" fmla="*/ 2147483646 h 36"/>
                <a:gd name="T8" fmla="*/ 2147483646 w 9"/>
                <a:gd name="T9" fmla="*/ 2147483646 h 36"/>
                <a:gd name="T10" fmla="*/ 0 60000 65536"/>
                <a:gd name="T11" fmla="*/ 0 60000 65536"/>
                <a:gd name="T12" fmla="*/ 0 60000 65536"/>
                <a:gd name="T13" fmla="*/ 0 60000 65536"/>
                <a:gd name="T14" fmla="*/ 0 60000 65536"/>
                <a:gd name="T15" fmla="*/ 0 w 9"/>
                <a:gd name="T16" fmla="*/ 0 h 36"/>
                <a:gd name="T17" fmla="*/ 9 w 9"/>
                <a:gd name="T18" fmla="*/ 36 h 36"/>
              </a:gdLst>
              <a:ahLst/>
              <a:cxnLst>
                <a:cxn ang="T10">
                  <a:pos x="T0" y="T1"/>
                </a:cxn>
                <a:cxn ang="T11">
                  <a:pos x="T2" y="T3"/>
                </a:cxn>
                <a:cxn ang="T12">
                  <a:pos x="T4" y="T5"/>
                </a:cxn>
                <a:cxn ang="T13">
                  <a:pos x="T6" y="T7"/>
                </a:cxn>
                <a:cxn ang="T14">
                  <a:pos x="T8" y="T9"/>
                </a:cxn>
              </a:cxnLst>
              <a:rect l="T15" t="T16" r="T17" b="T18"/>
              <a:pathLst>
                <a:path w="9" h="36">
                  <a:moveTo>
                    <a:pt x="9" y="36"/>
                  </a:moveTo>
                  <a:lnTo>
                    <a:pt x="0" y="0"/>
                  </a:lnTo>
                  <a:lnTo>
                    <a:pt x="0" y="36"/>
                  </a:lnTo>
                  <a:lnTo>
                    <a:pt x="9" y="36"/>
                  </a:lnTo>
                  <a:close/>
                </a:path>
              </a:pathLst>
            </a:custGeom>
            <a:solidFill>
              <a:srgbClr val="000000"/>
            </a:solidFill>
            <a:ln w="0">
              <a:solidFill>
                <a:srgbClr val="000000"/>
              </a:solidFill>
              <a:round/>
              <a:headEnd/>
              <a:tailEnd/>
            </a:ln>
          </p:spPr>
          <p:txBody>
            <a:bodyPr/>
            <a:lstStyle/>
            <a:p>
              <a:endParaRPr lang="en-GB"/>
            </a:p>
          </p:txBody>
        </p:sp>
        <p:sp>
          <p:nvSpPr>
            <p:cNvPr id="63500" name="Freeform 24">
              <a:extLst>
                <a:ext uri="{FF2B5EF4-FFF2-40B4-BE49-F238E27FC236}">
                  <a16:creationId xmlns:a16="http://schemas.microsoft.com/office/drawing/2014/main" id="{F91A7507-6EAD-46E8-BDE0-6BC1D0FBB206}"/>
                </a:ext>
              </a:extLst>
            </p:cNvPr>
            <p:cNvSpPr>
              <a:spLocks/>
            </p:cNvSpPr>
            <p:nvPr/>
          </p:nvSpPr>
          <p:spPr bwMode="auto">
            <a:xfrm>
              <a:off x="4329112" y="3616325"/>
              <a:ext cx="84138" cy="98425"/>
            </a:xfrm>
            <a:custGeom>
              <a:avLst/>
              <a:gdLst>
                <a:gd name="T0" fmla="*/ 2147483646 w 6"/>
                <a:gd name="T1" fmla="*/ 0 h 7"/>
                <a:gd name="T2" fmla="*/ 2147483646 w 6"/>
                <a:gd name="T3" fmla="*/ 2147483646 h 7"/>
                <a:gd name="T4" fmla="*/ 2147483646 w 6"/>
                <a:gd name="T5" fmla="*/ 2147483646 h 7"/>
                <a:gd name="T6" fmla="*/ 0 w 6"/>
                <a:gd name="T7" fmla="*/ 2147483646 h 7"/>
                <a:gd name="T8" fmla="*/ 0 w 6"/>
                <a:gd name="T9" fmla="*/ 2147483646 h 7"/>
                <a:gd name="T10" fmla="*/ 0 60000 65536"/>
                <a:gd name="T11" fmla="*/ 0 60000 65536"/>
                <a:gd name="T12" fmla="*/ 0 60000 65536"/>
                <a:gd name="T13" fmla="*/ 0 60000 65536"/>
                <a:gd name="T14" fmla="*/ 0 60000 65536"/>
                <a:gd name="T15" fmla="*/ 0 w 6"/>
                <a:gd name="T16" fmla="*/ 0 h 7"/>
                <a:gd name="T17" fmla="*/ 6 w 6"/>
                <a:gd name="T18" fmla="*/ 7 h 7"/>
              </a:gdLst>
              <a:ahLst/>
              <a:cxnLst>
                <a:cxn ang="T10">
                  <a:pos x="T0" y="T1"/>
                </a:cxn>
                <a:cxn ang="T11">
                  <a:pos x="T2" y="T3"/>
                </a:cxn>
                <a:cxn ang="T12">
                  <a:pos x="T4" y="T5"/>
                </a:cxn>
                <a:cxn ang="T13">
                  <a:pos x="T6" y="T7"/>
                </a:cxn>
                <a:cxn ang="T14">
                  <a:pos x="T8" y="T9"/>
                </a:cxn>
              </a:cxnLst>
              <a:rect l="T15" t="T16" r="T17" b="T18"/>
              <a:pathLst>
                <a:path w="6" h="7">
                  <a:moveTo>
                    <a:pt x="6" y="0"/>
                  </a:moveTo>
                  <a:lnTo>
                    <a:pt x="6" y="1"/>
                  </a:lnTo>
                  <a:lnTo>
                    <a:pt x="6" y="7"/>
                  </a:lnTo>
                  <a:lnTo>
                    <a:pt x="0" y="7"/>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01" name="Line 25">
              <a:extLst>
                <a:ext uri="{FF2B5EF4-FFF2-40B4-BE49-F238E27FC236}">
                  <a16:creationId xmlns:a16="http://schemas.microsoft.com/office/drawing/2014/main" id="{F4EDA25D-EC74-4E8E-8DF3-F13346F70C3C}"/>
                </a:ext>
              </a:extLst>
            </p:cNvPr>
            <p:cNvSpPr>
              <a:spLocks noChangeShapeType="1"/>
            </p:cNvSpPr>
            <p:nvPr/>
          </p:nvSpPr>
          <p:spPr bwMode="auto">
            <a:xfrm flipV="1">
              <a:off x="4498975" y="3276600"/>
              <a:ext cx="1587" cy="268288"/>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502" name="Line 26">
              <a:extLst>
                <a:ext uri="{FF2B5EF4-FFF2-40B4-BE49-F238E27FC236}">
                  <a16:creationId xmlns:a16="http://schemas.microsoft.com/office/drawing/2014/main" id="{6FC166BC-F135-4E11-A95E-D0537BD5167E}"/>
                </a:ext>
              </a:extLst>
            </p:cNvPr>
            <p:cNvSpPr>
              <a:spLocks noChangeShapeType="1"/>
            </p:cNvSpPr>
            <p:nvPr/>
          </p:nvSpPr>
          <p:spPr bwMode="auto">
            <a:xfrm flipV="1">
              <a:off x="5391150" y="3276600"/>
              <a:ext cx="1587" cy="268288"/>
            </a:xfrm>
            <a:prstGeom prst="line">
              <a:avLst/>
            </a:prstGeom>
            <a:noFill/>
            <a:ln w="14288">
              <a:solidFill>
                <a:srgbClr val="00FFFF"/>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503" name="Rectangle 27">
              <a:extLst>
                <a:ext uri="{FF2B5EF4-FFF2-40B4-BE49-F238E27FC236}">
                  <a16:creationId xmlns:a16="http://schemas.microsoft.com/office/drawing/2014/main" id="{2C060532-9B11-43B5-A82C-94EB064DBD87}"/>
                </a:ext>
              </a:extLst>
            </p:cNvPr>
            <p:cNvSpPr>
              <a:spLocks noChangeArrowheads="1"/>
            </p:cNvSpPr>
            <p:nvPr/>
          </p:nvSpPr>
          <p:spPr bwMode="auto">
            <a:xfrm>
              <a:off x="6465887" y="3065461"/>
              <a:ext cx="318063"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64 bits</a:t>
              </a:r>
              <a:endParaRPr lang="en-CA" altLang="en-US" sz="3600" b="1"/>
            </a:p>
          </p:txBody>
        </p:sp>
        <p:sp>
          <p:nvSpPr>
            <p:cNvPr id="63504" name="Rectangle 28">
              <a:extLst>
                <a:ext uri="{FF2B5EF4-FFF2-40B4-BE49-F238E27FC236}">
                  <a16:creationId xmlns:a16="http://schemas.microsoft.com/office/drawing/2014/main" id="{0F339E26-33F5-4BBD-94EA-5ADEC6A9C8FB}"/>
                </a:ext>
              </a:extLst>
            </p:cNvPr>
            <p:cNvSpPr>
              <a:spLocks noChangeArrowheads="1"/>
            </p:cNvSpPr>
            <p:nvPr/>
          </p:nvSpPr>
          <p:spPr bwMode="auto">
            <a:xfrm>
              <a:off x="4343400" y="3276600"/>
              <a:ext cx="4584700" cy="268288"/>
            </a:xfrm>
            <a:prstGeom prst="rect">
              <a:avLst/>
            </a:prstGeom>
            <a:noFill/>
            <a:ln w="14288">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3600" b="1"/>
            </a:p>
          </p:txBody>
        </p:sp>
        <p:sp>
          <p:nvSpPr>
            <p:cNvPr id="63505" name="Rectangle 29">
              <a:extLst>
                <a:ext uri="{FF2B5EF4-FFF2-40B4-BE49-F238E27FC236}">
                  <a16:creationId xmlns:a16="http://schemas.microsoft.com/office/drawing/2014/main" id="{8FEC7F0C-1D7C-4332-BDA9-113D2920FAA7}"/>
                </a:ext>
              </a:extLst>
            </p:cNvPr>
            <p:cNvSpPr>
              <a:spLocks noChangeArrowheads="1"/>
            </p:cNvSpPr>
            <p:nvPr/>
          </p:nvSpPr>
          <p:spPr bwMode="auto">
            <a:xfrm>
              <a:off x="4060825" y="3616323"/>
              <a:ext cx="217004"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Sign</a:t>
              </a:r>
              <a:endParaRPr lang="en-CA" altLang="en-US" sz="3600" b="1"/>
            </a:p>
          </p:txBody>
        </p:sp>
        <p:sp>
          <p:nvSpPr>
            <p:cNvPr id="63506" name="Freeform 58">
              <a:extLst>
                <a:ext uri="{FF2B5EF4-FFF2-40B4-BE49-F238E27FC236}">
                  <a16:creationId xmlns:a16="http://schemas.microsoft.com/office/drawing/2014/main" id="{4465F8BF-369B-41BF-9485-C0DDBD173376}"/>
                </a:ext>
              </a:extLst>
            </p:cNvPr>
            <p:cNvSpPr>
              <a:spLocks/>
            </p:cNvSpPr>
            <p:nvPr/>
          </p:nvSpPr>
          <p:spPr bwMode="auto">
            <a:xfrm>
              <a:off x="8815387" y="3135313"/>
              <a:ext cx="84138" cy="28575"/>
            </a:xfrm>
            <a:custGeom>
              <a:avLst/>
              <a:gdLst>
                <a:gd name="T0" fmla="*/ 0 w 6"/>
                <a:gd name="T1" fmla="*/ 2147483646 h 2"/>
                <a:gd name="T2" fmla="*/ 2147483646 w 6"/>
                <a:gd name="T3" fmla="*/ 2147483646 h 2"/>
                <a:gd name="T4" fmla="*/ 0 w 6"/>
                <a:gd name="T5" fmla="*/ 0 h 2"/>
                <a:gd name="T6" fmla="*/ 0 w 6"/>
                <a:gd name="T7" fmla="*/ 2147483646 h 2"/>
                <a:gd name="T8" fmla="*/ 0 w 6"/>
                <a:gd name="T9" fmla="*/ 2147483646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0" y="2"/>
                  </a:moveTo>
                  <a:lnTo>
                    <a:pt x="6" y="1"/>
                  </a:lnTo>
                  <a:lnTo>
                    <a:pt x="0" y="0"/>
                  </a:lnTo>
                  <a:lnTo>
                    <a:pt x="0" y="1"/>
                  </a:lnTo>
                  <a:lnTo>
                    <a:pt x="0" y="2"/>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07" name="Freeform 59">
              <a:extLst>
                <a:ext uri="{FF2B5EF4-FFF2-40B4-BE49-F238E27FC236}">
                  <a16:creationId xmlns:a16="http://schemas.microsoft.com/office/drawing/2014/main" id="{B65C3FA3-C32A-4BF5-9CF9-2E78B08560C7}"/>
                </a:ext>
              </a:extLst>
            </p:cNvPr>
            <p:cNvSpPr>
              <a:spLocks/>
            </p:cNvSpPr>
            <p:nvPr/>
          </p:nvSpPr>
          <p:spPr bwMode="auto">
            <a:xfrm>
              <a:off x="8815387" y="3135313"/>
              <a:ext cx="84138" cy="28575"/>
            </a:xfrm>
            <a:custGeom>
              <a:avLst/>
              <a:gdLst>
                <a:gd name="T0" fmla="*/ 0 w 53"/>
                <a:gd name="T1" fmla="*/ 2147483646 h 18"/>
                <a:gd name="T2" fmla="*/ 2147483646 w 53"/>
                <a:gd name="T3" fmla="*/ 2147483646 h 18"/>
                <a:gd name="T4" fmla="*/ 0 w 53"/>
                <a:gd name="T5" fmla="*/ 0 h 18"/>
                <a:gd name="T6" fmla="*/ 0 w 53"/>
                <a:gd name="T7" fmla="*/ 2147483646 h 18"/>
                <a:gd name="T8" fmla="*/ 0 w 53"/>
                <a:gd name="T9" fmla="*/ 2147483646 h 18"/>
                <a:gd name="T10" fmla="*/ 0 60000 65536"/>
                <a:gd name="T11" fmla="*/ 0 60000 65536"/>
                <a:gd name="T12" fmla="*/ 0 60000 65536"/>
                <a:gd name="T13" fmla="*/ 0 60000 65536"/>
                <a:gd name="T14" fmla="*/ 0 60000 65536"/>
                <a:gd name="T15" fmla="*/ 0 w 53"/>
                <a:gd name="T16" fmla="*/ 0 h 18"/>
                <a:gd name="T17" fmla="*/ 53 w 53"/>
                <a:gd name="T18" fmla="*/ 18 h 18"/>
              </a:gdLst>
              <a:ahLst/>
              <a:cxnLst>
                <a:cxn ang="T10">
                  <a:pos x="T0" y="T1"/>
                </a:cxn>
                <a:cxn ang="T11">
                  <a:pos x="T2" y="T3"/>
                </a:cxn>
                <a:cxn ang="T12">
                  <a:pos x="T4" y="T5"/>
                </a:cxn>
                <a:cxn ang="T13">
                  <a:pos x="T6" y="T7"/>
                </a:cxn>
                <a:cxn ang="T14">
                  <a:pos x="T8" y="T9"/>
                </a:cxn>
              </a:cxnLst>
              <a:rect l="T15" t="T16" r="T17" b="T18"/>
              <a:pathLst>
                <a:path w="53" h="18">
                  <a:moveTo>
                    <a:pt x="0" y="18"/>
                  </a:moveTo>
                  <a:lnTo>
                    <a:pt x="53" y="9"/>
                  </a:lnTo>
                  <a:lnTo>
                    <a:pt x="0" y="0"/>
                  </a:lnTo>
                  <a:lnTo>
                    <a:pt x="0" y="9"/>
                  </a:lnTo>
                  <a:lnTo>
                    <a:pt x="0" y="18"/>
                  </a:lnTo>
                  <a:close/>
                </a:path>
              </a:pathLst>
            </a:custGeom>
            <a:solidFill>
              <a:srgbClr val="000000"/>
            </a:solidFill>
            <a:ln w="0">
              <a:solidFill>
                <a:srgbClr val="000000"/>
              </a:solidFill>
              <a:round/>
              <a:headEnd/>
              <a:tailEnd/>
            </a:ln>
          </p:spPr>
          <p:txBody>
            <a:bodyPr/>
            <a:lstStyle/>
            <a:p>
              <a:endParaRPr lang="en-GB"/>
            </a:p>
          </p:txBody>
        </p:sp>
        <p:sp>
          <p:nvSpPr>
            <p:cNvPr id="63508" name="Line 60">
              <a:extLst>
                <a:ext uri="{FF2B5EF4-FFF2-40B4-BE49-F238E27FC236}">
                  <a16:creationId xmlns:a16="http://schemas.microsoft.com/office/drawing/2014/main" id="{CF8DF375-EC4B-453F-A6DA-12BDBA1BA739}"/>
                </a:ext>
              </a:extLst>
            </p:cNvPr>
            <p:cNvSpPr>
              <a:spLocks noChangeShapeType="1"/>
            </p:cNvSpPr>
            <p:nvPr/>
          </p:nvSpPr>
          <p:spPr bwMode="auto">
            <a:xfrm flipH="1">
              <a:off x="6848475" y="3149600"/>
              <a:ext cx="1966912"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509" name="Freeform 61">
              <a:extLst>
                <a:ext uri="{FF2B5EF4-FFF2-40B4-BE49-F238E27FC236}">
                  <a16:creationId xmlns:a16="http://schemas.microsoft.com/office/drawing/2014/main" id="{AC4C16BC-ED0B-4884-A0D6-B09ADA65D92E}"/>
                </a:ext>
              </a:extLst>
            </p:cNvPr>
            <p:cNvSpPr>
              <a:spLocks/>
            </p:cNvSpPr>
            <p:nvPr/>
          </p:nvSpPr>
          <p:spPr bwMode="auto">
            <a:xfrm>
              <a:off x="4357687" y="3135313"/>
              <a:ext cx="84138" cy="28575"/>
            </a:xfrm>
            <a:custGeom>
              <a:avLst/>
              <a:gdLst>
                <a:gd name="T0" fmla="*/ 2147483646 w 6"/>
                <a:gd name="T1" fmla="*/ 0 h 2"/>
                <a:gd name="T2" fmla="*/ 0 w 6"/>
                <a:gd name="T3" fmla="*/ 2147483646 h 2"/>
                <a:gd name="T4" fmla="*/ 2147483646 w 6"/>
                <a:gd name="T5" fmla="*/ 2147483646 h 2"/>
                <a:gd name="T6" fmla="*/ 2147483646 w 6"/>
                <a:gd name="T7" fmla="*/ 2147483646 h 2"/>
                <a:gd name="T8" fmla="*/ 2147483646 w 6"/>
                <a:gd name="T9" fmla="*/ 0 h 2"/>
                <a:gd name="T10" fmla="*/ 0 60000 65536"/>
                <a:gd name="T11" fmla="*/ 0 60000 65536"/>
                <a:gd name="T12" fmla="*/ 0 60000 65536"/>
                <a:gd name="T13" fmla="*/ 0 60000 65536"/>
                <a:gd name="T14" fmla="*/ 0 60000 65536"/>
                <a:gd name="T15" fmla="*/ 0 w 6"/>
                <a:gd name="T16" fmla="*/ 0 h 2"/>
                <a:gd name="T17" fmla="*/ 6 w 6"/>
                <a:gd name="T18" fmla="*/ 2 h 2"/>
              </a:gdLst>
              <a:ahLst/>
              <a:cxnLst>
                <a:cxn ang="T10">
                  <a:pos x="T0" y="T1"/>
                </a:cxn>
                <a:cxn ang="T11">
                  <a:pos x="T2" y="T3"/>
                </a:cxn>
                <a:cxn ang="T12">
                  <a:pos x="T4" y="T5"/>
                </a:cxn>
                <a:cxn ang="T13">
                  <a:pos x="T6" y="T7"/>
                </a:cxn>
                <a:cxn ang="T14">
                  <a:pos x="T8" y="T9"/>
                </a:cxn>
              </a:cxnLst>
              <a:rect l="T15" t="T16" r="T17" b="T18"/>
              <a:pathLst>
                <a:path w="6" h="2">
                  <a:moveTo>
                    <a:pt x="6" y="0"/>
                  </a:moveTo>
                  <a:lnTo>
                    <a:pt x="0" y="1"/>
                  </a:lnTo>
                  <a:lnTo>
                    <a:pt x="6" y="2"/>
                  </a:lnTo>
                  <a:lnTo>
                    <a:pt x="6" y="1"/>
                  </a:lnTo>
                  <a:lnTo>
                    <a:pt x="6" y="0"/>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10" name="Freeform 62">
              <a:extLst>
                <a:ext uri="{FF2B5EF4-FFF2-40B4-BE49-F238E27FC236}">
                  <a16:creationId xmlns:a16="http://schemas.microsoft.com/office/drawing/2014/main" id="{CA358AE2-10C4-4683-BF14-2190F1354740}"/>
                </a:ext>
              </a:extLst>
            </p:cNvPr>
            <p:cNvSpPr>
              <a:spLocks/>
            </p:cNvSpPr>
            <p:nvPr/>
          </p:nvSpPr>
          <p:spPr bwMode="auto">
            <a:xfrm>
              <a:off x="4357687" y="3135313"/>
              <a:ext cx="84138" cy="28575"/>
            </a:xfrm>
            <a:custGeom>
              <a:avLst/>
              <a:gdLst>
                <a:gd name="T0" fmla="*/ 2147483646 w 53"/>
                <a:gd name="T1" fmla="*/ 0 h 18"/>
                <a:gd name="T2" fmla="*/ 0 w 53"/>
                <a:gd name="T3" fmla="*/ 2147483646 h 18"/>
                <a:gd name="T4" fmla="*/ 2147483646 w 53"/>
                <a:gd name="T5" fmla="*/ 2147483646 h 18"/>
                <a:gd name="T6" fmla="*/ 2147483646 w 53"/>
                <a:gd name="T7" fmla="*/ 2147483646 h 18"/>
                <a:gd name="T8" fmla="*/ 2147483646 w 53"/>
                <a:gd name="T9" fmla="*/ 0 h 18"/>
                <a:gd name="T10" fmla="*/ 0 60000 65536"/>
                <a:gd name="T11" fmla="*/ 0 60000 65536"/>
                <a:gd name="T12" fmla="*/ 0 60000 65536"/>
                <a:gd name="T13" fmla="*/ 0 60000 65536"/>
                <a:gd name="T14" fmla="*/ 0 60000 65536"/>
                <a:gd name="T15" fmla="*/ 0 w 53"/>
                <a:gd name="T16" fmla="*/ 0 h 18"/>
                <a:gd name="T17" fmla="*/ 53 w 53"/>
                <a:gd name="T18" fmla="*/ 18 h 18"/>
              </a:gdLst>
              <a:ahLst/>
              <a:cxnLst>
                <a:cxn ang="T10">
                  <a:pos x="T0" y="T1"/>
                </a:cxn>
                <a:cxn ang="T11">
                  <a:pos x="T2" y="T3"/>
                </a:cxn>
                <a:cxn ang="T12">
                  <a:pos x="T4" y="T5"/>
                </a:cxn>
                <a:cxn ang="T13">
                  <a:pos x="T6" y="T7"/>
                </a:cxn>
                <a:cxn ang="T14">
                  <a:pos x="T8" y="T9"/>
                </a:cxn>
              </a:cxnLst>
              <a:rect l="T15" t="T16" r="T17" b="T18"/>
              <a:pathLst>
                <a:path w="53" h="18">
                  <a:moveTo>
                    <a:pt x="53" y="0"/>
                  </a:moveTo>
                  <a:lnTo>
                    <a:pt x="0" y="9"/>
                  </a:lnTo>
                  <a:lnTo>
                    <a:pt x="53" y="18"/>
                  </a:lnTo>
                  <a:lnTo>
                    <a:pt x="53" y="9"/>
                  </a:lnTo>
                  <a:lnTo>
                    <a:pt x="53" y="0"/>
                  </a:lnTo>
                  <a:close/>
                </a:path>
              </a:pathLst>
            </a:custGeom>
            <a:solidFill>
              <a:srgbClr val="000000"/>
            </a:solidFill>
            <a:ln w="0">
              <a:solidFill>
                <a:srgbClr val="000000"/>
              </a:solidFill>
              <a:round/>
              <a:headEnd/>
              <a:tailEnd/>
            </a:ln>
          </p:spPr>
          <p:txBody>
            <a:bodyPr/>
            <a:lstStyle/>
            <a:p>
              <a:endParaRPr lang="en-GB"/>
            </a:p>
          </p:txBody>
        </p:sp>
        <p:sp>
          <p:nvSpPr>
            <p:cNvPr id="63511" name="Line 63">
              <a:extLst>
                <a:ext uri="{FF2B5EF4-FFF2-40B4-BE49-F238E27FC236}">
                  <a16:creationId xmlns:a16="http://schemas.microsoft.com/office/drawing/2014/main" id="{BB19157D-C11A-4755-BCB4-83E8FA750E62}"/>
                </a:ext>
              </a:extLst>
            </p:cNvPr>
            <p:cNvSpPr>
              <a:spLocks noChangeShapeType="1"/>
            </p:cNvSpPr>
            <p:nvPr/>
          </p:nvSpPr>
          <p:spPr bwMode="auto">
            <a:xfrm>
              <a:off x="4456112" y="3149600"/>
              <a:ext cx="1938338" cy="15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3512" name="Rectangle 66">
              <a:extLst>
                <a:ext uri="{FF2B5EF4-FFF2-40B4-BE49-F238E27FC236}">
                  <a16:creationId xmlns:a16="http://schemas.microsoft.com/office/drawing/2014/main" id="{D97D7346-43EB-4415-B7B2-092187E3AFAE}"/>
                </a:ext>
              </a:extLst>
            </p:cNvPr>
            <p:cNvSpPr>
              <a:spLocks noChangeArrowheads="1"/>
            </p:cNvSpPr>
            <p:nvPr/>
          </p:nvSpPr>
          <p:spPr bwMode="auto">
            <a:xfrm>
              <a:off x="4386262" y="3333748"/>
              <a:ext cx="67913" cy="1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S</a:t>
              </a:r>
              <a:endParaRPr lang="en-CA" altLang="en-US" sz="3600" b="1"/>
            </a:p>
          </p:txBody>
        </p:sp>
        <p:sp>
          <p:nvSpPr>
            <p:cNvPr id="63513" name="Rectangle 67">
              <a:extLst>
                <a:ext uri="{FF2B5EF4-FFF2-40B4-BE49-F238E27FC236}">
                  <a16:creationId xmlns:a16="http://schemas.microsoft.com/office/drawing/2014/main" id="{344CFE1B-D544-4576-ABBD-29B8EB7C0566}"/>
                </a:ext>
              </a:extLst>
            </p:cNvPr>
            <p:cNvSpPr>
              <a:spLocks noChangeArrowheads="1"/>
            </p:cNvSpPr>
            <p:nvPr/>
          </p:nvSpPr>
          <p:spPr bwMode="auto">
            <a:xfrm>
              <a:off x="7102475" y="3333748"/>
              <a:ext cx="8382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M</a:t>
              </a:r>
              <a:endParaRPr lang="en-CA" altLang="en-US" sz="3600" b="1"/>
            </a:p>
          </p:txBody>
        </p:sp>
        <p:sp>
          <p:nvSpPr>
            <p:cNvPr id="63514" name="Freeform 98">
              <a:extLst>
                <a:ext uri="{FF2B5EF4-FFF2-40B4-BE49-F238E27FC236}">
                  <a16:creationId xmlns:a16="http://schemas.microsoft.com/office/drawing/2014/main" id="{4C2C66A2-C119-48A9-A280-AB1058ED0A94}"/>
                </a:ext>
              </a:extLst>
            </p:cNvPr>
            <p:cNvSpPr>
              <a:spLocks/>
            </p:cNvSpPr>
            <p:nvPr/>
          </p:nvSpPr>
          <p:spPr bwMode="auto">
            <a:xfrm>
              <a:off x="4937125" y="3616325"/>
              <a:ext cx="439737" cy="71438"/>
            </a:xfrm>
            <a:custGeom>
              <a:avLst/>
              <a:gdLst>
                <a:gd name="T0" fmla="*/ 2147483646 w 31"/>
                <a:gd name="T1" fmla="*/ 0 h 5"/>
                <a:gd name="T2" fmla="*/ 2147483646 w 31"/>
                <a:gd name="T3" fmla="*/ 2147483646 h 5"/>
                <a:gd name="T4" fmla="*/ 2147483646 w 31"/>
                <a:gd name="T5" fmla="*/ 2147483646 h 5"/>
                <a:gd name="T6" fmla="*/ 2147483646 w 31"/>
                <a:gd name="T7" fmla="*/ 2147483646 h 5"/>
                <a:gd name="T8" fmla="*/ 2147483646 w 31"/>
                <a:gd name="T9" fmla="*/ 2147483646 h 5"/>
                <a:gd name="T10" fmla="*/ 2147483646 w 31"/>
                <a:gd name="T11" fmla="*/ 2147483646 h 5"/>
                <a:gd name="T12" fmla="*/ 2147483646 w 31"/>
                <a:gd name="T13" fmla="*/ 2147483646 h 5"/>
                <a:gd name="T14" fmla="*/ 2147483646 w 31"/>
                <a:gd name="T15" fmla="*/ 2147483646 h 5"/>
                <a:gd name="T16" fmla="*/ 2147483646 w 31"/>
                <a:gd name="T17" fmla="*/ 2147483646 h 5"/>
                <a:gd name="T18" fmla="*/ 2147483646 w 31"/>
                <a:gd name="T19" fmla="*/ 2147483646 h 5"/>
                <a:gd name="T20" fmla="*/ 2147483646 w 31"/>
                <a:gd name="T21" fmla="*/ 2147483646 h 5"/>
                <a:gd name="T22" fmla="*/ 2147483646 w 31"/>
                <a:gd name="T23" fmla="*/ 2147483646 h 5"/>
                <a:gd name="T24" fmla="*/ 2147483646 w 31"/>
                <a:gd name="T25" fmla="*/ 2147483646 h 5"/>
                <a:gd name="T26" fmla="*/ 2147483646 w 31"/>
                <a:gd name="T27" fmla="*/ 2147483646 h 5"/>
                <a:gd name="T28" fmla="*/ 0 w 31"/>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5"/>
                <a:gd name="T47" fmla="*/ 31 w 31"/>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5">
                  <a:moveTo>
                    <a:pt x="31" y="0"/>
                  </a:moveTo>
                  <a:lnTo>
                    <a:pt x="30" y="1"/>
                  </a:lnTo>
                  <a:lnTo>
                    <a:pt x="29" y="2"/>
                  </a:lnTo>
                  <a:lnTo>
                    <a:pt x="28" y="2"/>
                  </a:lnTo>
                  <a:lnTo>
                    <a:pt x="27" y="2"/>
                  </a:lnTo>
                  <a:lnTo>
                    <a:pt x="19" y="2"/>
                  </a:lnTo>
                  <a:lnTo>
                    <a:pt x="15" y="2"/>
                  </a:lnTo>
                  <a:lnTo>
                    <a:pt x="11" y="2"/>
                  </a:lnTo>
                  <a:lnTo>
                    <a:pt x="3" y="2"/>
                  </a:lnTo>
                  <a:lnTo>
                    <a:pt x="2" y="2"/>
                  </a:lnTo>
                  <a:lnTo>
                    <a:pt x="1" y="3"/>
                  </a:lnTo>
                  <a:lnTo>
                    <a:pt x="1" y="4"/>
                  </a:lnTo>
                  <a:lnTo>
                    <a:pt x="0"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15" name="Freeform 99">
              <a:extLst>
                <a:ext uri="{FF2B5EF4-FFF2-40B4-BE49-F238E27FC236}">
                  <a16:creationId xmlns:a16="http://schemas.microsoft.com/office/drawing/2014/main" id="{765DD01D-7E4A-4F72-92A8-5725C6D7C0AE}"/>
                </a:ext>
              </a:extLst>
            </p:cNvPr>
            <p:cNvSpPr>
              <a:spLocks/>
            </p:cNvSpPr>
            <p:nvPr/>
          </p:nvSpPr>
          <p:spPr bwMode="auto">
            <a:xfrm>
              <a:off x="4498975" y="3616325"/>
              <a:ext cx="438150" cy="71438"/>
            </a:xfrm>
            <a:custGeom>
              <a:avLst/>
              <a:gdLst>
                <a:gd name="T0" fmla="*/ 0 w 31"/>
                <a:gd name="T1" fmla="*/ 0 h 5"/>
                <a:gd name="T2" fmla="*/ 2147483646 w 31"/>
                <a:gd name="T3" fmla="*/ 2147483646 h 5"/>
                <a:gd name="T4" fmla="*/ 2147483646 w 31"/>
                <a:gd name="T5" fmla="*/ 2147483646 h 5"/>
                <a:gd name="T6" fmla="*/ 2147483646 w 31"/>
                <a:gd name="T7" fmla="*/ 2147483646 h 5"/>
                <a:gd name="T8" fmla="*/ 2147483646 w 31"/>
                <a:gd name="T9" fmla="*/ 2147483646 h 5"/>
                <a:gd name="T10" fmla="*/ 2147483646 w 31"/>
                <a:gd name="T11" fmla="*/ 2147483646 h 5"/>
                <a:gd name="T12" fmla="*/ 2147483646 w 31"/>
                <a:gd name="T13" fmla="*/ 2147483646 h 5"/>
                <a:gd name="T14" fmla="*/ 2147483646 w 31"/>
                <a:gd name="T15" fmla="*/ 2147483646 h 5"/>
                <a:gd name="T16" fmla="*/ 2147483646 w 31"/>
                <a:gd name="T17" fmla="*/ 2147483646 h 5"/>
                <a:gd name="T18" fmla="*/ 2147483646 w 31"/>
                <a:gd name="T19" fmla="*/ 2147483646 h 5"/>
                <a:gd name="T20" fmla="*/ 2147483646 w 31"/>
                <a:gd name="T21" fmla="*/ 2147483646 h 5"/>
                <a:gd name="T22" fmla="*/ 2147483646 w 31"/>
                <a:gd name="T23" fmla="*/ 2147483646 h 5"/>
                <a:gd name="T24" fmla="*/ 2147483646 w 31"/>
                <a:gd name="T25" fmla="*/ 2147483646 h 5"/>
                <a:gd name="T26" fmla="*/ 2147483646 w 31"/>
                <a:gd name="T27" fmla="*/ 2147483646 h 5"/>
                <a:gd name="T28" fmla="*/ 2147483646 w 31"/>
                <a:gd name="T29" fmla="*/ 2147483646 h 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
                <a:gd name="T46" fmla="*/ 0 h 5"/>
                <a:gd name="T47" fmla="*/ 31 w 31"/>
                <a:gd name="T48" fmla="*/ 5 h 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 h="5">
                  <a:moveTo>
                    <a:pt x="0" y="0"/>
                  </a:moveTo>
                  <a:lnTo>
                    <a:pt x="1" y="1"/>
                  </a:lnTo>
                  <a:lnTo>
                    <a:pt x="2" y="2"/>
                  </a:lnTo>
                  <a:lnTo>
                    <a:pt x="3" y="2"/>
                  </a:lnTo>
                  <a:lnTo>
                    <a:pt x="12" y="2"/>
                  </a:lnTo>
                  <a:lnTo>
                    <a:pt x="16" y="2"/>
                  </a:lnTo>
                  <a:lnTo>
                    <a:pt x="19" y="2"/>
                  </a:lnTo>
                  <a:lnTo>
                    <a:pt x="28" y="2"/>
                  </a:lnTo>
                  <a:lnTo>
                    <a:pt x="29" y="2"/>
                  </a:lnTo>
                  <a:lnTo>
                    <a:pt x="29" y="3"/>
                  </a:lnTo>
                  <a:lnTo>
                    <a:pt x="30" y="4"/>
                  </a:lnTo>
                  <a:lnTo>
                    <a:pt x="31" y="5"/>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16" name="Rectangle 100">
              <a:extLst>
                <a:ext uri="{FF2B5EF4-FFF2-40B4-BE49-F238E27FC236}">
                  <a16:creationId xmlns:a16="http://schemas.microsoft.com/office/drawing/2014/main" id="{4DB3209C-B54D-4DFA-A4FF-660AF1B68A54}"/>
                </a:ext>
              </a:extLst>
            </p:cNvPr>
            <p:cNvSpPr>
              <a:spLocks noChangeArrowheads="1"/>
            </p:cNvSpPr>
            <p:nvPr/>
          </p:nvSpPr>
          <p:spPr bwMode="auto">
            <a:xfrm>
              <a:off x="5302477" y="4238623"/>
              <a:ext cx="1233487" cy="1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Value represented</a:t>
              </a:r>
              <a:endParaRPr lang="en-CA" altLang="en-US" sz="3600" b="1"/>
            </a:p>
          </p:txBody>
        </p:sp>
        <p:sp>
          <p:nvSpPr>
            <p:cNvPr id="63517" name="Rectangle 101">
              <a:extLst>
                <a:ext uri="{FF2B5EF4-FFF2-40B4-BE49-F238E27FC236}">
                  <a16:creationId xmlns:a16="http://schemas.microsoft.com/office/drawing/2014/main" id="{C8B61460-1225-4241-99A7-DDEF40086D88}"/>
                </a:ext>
              </a:extLst>
            </p:cNvPr>
            <p:cNvSpPr>
              <a:spLocks noChangeArrowheads="1"/>
            </p:cNvSpPr>
            <p:nvPr/>
          </p:nvSpPr>
          <p:spPr bwMode="auto">
            <a:xfrm>
              <a:off x="6777037" y="4238623"/>
              <a:ext cx="8382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1.</a:t>
              </a:r>
              <a:endParaRPr lang="en-CA" altLang="en-US" sz="3600" b="1"/>
            </a:p>
          </p:txBody>
        </p:sp>
        <p:sp>
          <p:nvSpPr>
            <p:cNvPr id="63518" name="Rectangle 102">
              <a:extLst>
                <a:ext uri="{FF2B5EF4-FFF2-40B4-BE49-F238E27FC236}">
                  <a16:creationId xmlns:a16="http://schemas.microsoft.com/office/drawing/2014/main" id="{51DAF29C-A32A-4DC6-98F6-D5AA5A3ECF40}"/>
                </a:ext>
              </a:extLst>
            </p:cNvPr>
            <p:cNvSpPr>
              <a:spLocks noChangeArrowheads="1"/>
            </p:cNvSpPr>
            <p:nvPr/>
          </p:nvSpPr>
          <p:spPr bwMode="auto">
            <a:xfrm>
              <a:off x="6923210" y="4238622"/>
              <a:ext cx="83825"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M</a:t>
              </a:r>
              <a:endParaRPr lang="en-CA" altLang="en-US" sz="3600" b="1"/>
            </a:p>
          </p:txBody>
        </p:sp>
        <p:sp>
          <p:nvSpPr>
            <p:cNvPr id="63519" name="Rectangle 103">
              <a:extLst>
                <a:ext uri="{FF2B5EF4-FFF2-40B4-BE49-F238E27FC236}">
                  <a16:creationId xmlns:a16="http://schemas.microsoft.com/office/drawing/2014/main" id="{08FC195E-098E-4364-AB68-5B68600EF2EB}"/>
                </a:ext>
              </a:extLst>
            </p:cNvPr>
            <p:cNvSpPr>
              <a:spLocks noChangeArrowheads="1"/>
            </p:cNvSpPr>
            <p:nvPr/>
          </p:nvSpPr>
          <p:spPr bwMode="auto">
            <a:xfrm>
              <a:off x="7116762" y="4238622"/>
              <a:ext cx="55622"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2</a:t>
              </a:r>
              <a:endParaRPr lang="en-CA" altLang="en-US" sz="3600" b="1"/>
            </a:p>
          </p:txBody>
        </p:sp>
        <p:sp>
          <p:nvSpPr>
            <p:cNvPr id="63520" name="Rectangle 104">
              <a:extLst>
                <a:ext uri="{FF2B5EF4-FFF2-40B4-BE49-F238E27FC236}">
                  <a16:creationId xmlns:a16="http://schemas.microsoft.com/office/drawing/2014/main" id="{8184F8D1-1890-41A4-851C-96B22B1DD6FC}"/>
                </a:ext>
              </a:extLst>
            </p:cNvPr>
            <p:cNvSpPr>
              <a:spLocks noChangeArrowheads="1"/>
            </p:cNvSpPr>
            <p:nvPr/>
          </p:nvSpPr>
          <p:spPr bwMode="auto">
            <a:xfrm>
              <a:off x="7188200" y="4168773"/>
              <a:ext cx="58510" cy="113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i="1">
                  <a:solidFill>
                    <a:srgbClr val="000000"/>
                  </a:solidFill>
                  <a:latin typeface="Nimbus Roman No9 L"/>
                </a:rPr>
                <a:t>E</a:t>
              </a:r>
              <a:endParaRPr lang="en-CA" altLang="en-US" sz="3600" b="1"/>
            </a:p>
          </p:txBody>
        </p:sp>
        <p:sp>
          <p:nvSpPr>
            <p:cNvPr id="63521" name="Rectangle 105">
              <a:extLst>
                <a:ext uri="{FF2B5EF4-FFF2-40B4-BE49-F238E27FC236}">
                  <a16:creationId xmlns:a16="http://schemas.microsoft.com/office/drawing/2014/main" id="{E0A2D1C6-6489-4DDA-B2D0-36009F996B2A}"/>
                </a:ext>
              </a:extLst>
            </p:cNvPr>
            <p:cNvSpPr>
              <a:spLocks noChangeArrowheads="1"/>
            </p:cNvSpPr>
            <p:nvPr/>
          </p:nvSpPr>
          <p:spPr bwMode="auto">
            <a:xfrm>
              <a:off x="7272337" y="4168772"/>
              <a:ext cx="21935" cy="113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Symbol" panose="05050102010706020507" pitchFamily="18" charset="2"/>
                </a:rPr>
                <a:t>¢</a:t>
              </a:r>
              <a:endParaRPr lang="en-CA" altLang="en-US" sz="3600" b="1"/>
            </a:p>
          </p:txBody>
        </p:sp>
        <p:sp>
          <p:nvSpPr>
            <p:cNvPr id="63522" name="Rectangle 106">
              <a:extLst>
                <a:ext uri="{FF2B5EF4-FFF2-40B4-BE49-F238E27FC236}">
                  <a16:creationId xmlns:a16="http://schemas.microsoft.com/office/drawing/2014/main" id="{623DA0E1-C44F-4FD5-8E7B-6C8A88A92B0E}"/>
                </a:ext>
              </a:extLst>
            </p:cNvPr>
            <p:cNvSpPr>
              <a:spLocks noChangeArrowheads="1"/>
            </p:cNvSpPr>
            <p:nvPr/>
          </p:nvSpPr>
          <p:spPr bwMode="auto">
            <a:xfrm>
              <a:off x="7413625" y="4168772"/>
              <a:ext cx="194285" cy="113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Nimbus Roman No9 L"/>
                </a:rPr>
                <a:t>1023</a:t>
              </a:r>
              <a:endParaRPr lang="en-CA" altLang="en-US" sz="3600" b="1"/>
            </a:p>
          </p:txBody>
        </p:sp>
        <p:sp>
          <p:nvSpPr>
            <p:cNvPr id="63523" name="Rectangle 107">
              <a:extLst>
                <a:ext uri="{FF2B5EF4-FFF2-40B4-BE49-F238E27FC236}">
                  <a16:creationId xmlns:a16="http://schemas.microsoft.com/office/drawing/2014/main" id="{B1814A21-604F-4E1F-828D-8EE675A58710}"/>
                </a:ext>
              </a:extLst>
            </p:cNvPr>
            <p:cNvSpPr>
              <a:spLocks noChangeArrowheads="1"/>
            </p:cNvSpPr>
            <p:nvPr/>
          </p:nvSpPr>
          <p:spPr bwMode="auto">
            <a:xfrm>
              <a:off x="7329487" y="4168772"/>
              <a:ext cx="28986" cy="113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400" b="1">
                  <a:solidFill>
                    <a:srgbClr val="000000"/>
                  </a:solidFill>
                  <a:latin typeface="Nimbus Roman No9 L"/>
                </a:rPr>
                <a:t>-</a:t>
              </a:r>
              <a:endParaRPr lang="en-CA" altLang="en-US" sz="3600" b="1"/>
            </a:p>
          </p:txBody>
        </p:sp>
        <p:sp>
          <p:nvSpPr>
            <p:cNvPr id="63524" name="Rectangle 108">
              <a:extLst>
                <a:ext uri="{FF2B5EF4-FFF2-40B4-BE49-F238E27FC236}">
                  <a16:creationId xmlns:a16="http://schemas.microsoft.com/office/drawing/2014/main" id="{530C63BB-F0C1-40F0-B5B7-38C95B6124F3}"/>
                </a:ext>
              </a:extLst>
            </p:cNvPr>
            <p:cNvSpPr>
              <a:spLocks noChangeArrowheads="1"/>
            </p:cNvSpPr>
            <p:nvPr/>
          </p:nvSpPr>
          <p:spPr bwMode="auto">
            <a:xfrm>
              <a:off x="7018337" y="4238622"/>
              <a:ext cx="54838"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3525" name="Rectangle 109">
              <a:extLst>
                <a:ext uri="{FF2B5EF4-FFF2-40B4-BE49-F238E27FC236}">
                  <a16:creationId xmlns:a16="http://schemas.microsoft.com/office/drawing/2014/main" id="{52EDA7E7-C33E-4024-B38D-4688882994B9}"/>
                </a:ext>
              </a:extLst>
            </p:cNvPr>
            <p:cNvSpPr>
              <a:spLocks noChangeArrowheads="1"/>
            </p:cNvSpPr>
            <p:nvPr/>
          </p:nvSpPr>
          <p:spPr bwMode="auto">
            <a:xfrm>
              <a:off x="6692900" y="4238622"/>
              <a:ext cx="54838"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3526" name="Rectangle 110">
              <a:extLst>
                <a:ext uri="{FF2B5EF4-FFF2-40B4-BE49-F238E27FC236}">
                  <a16:creationId xmlns:a16="http://schemas.microsoft.com/office/drawing/2014/main" id="{CB4914B6-05A4-4810-BC57-A4E97178BE1A}"/>
                </a:ext>
              </a:extLst>
            </p:cNvPr>
            <p:cNvSpPr>
              <a:spLocks noChangeArrowheads="1"/>
            </p:cNvSpPr>
            <p:nvPr/>
          </p:nvSpPr>
          <p:spPr bwMode="auto">
            <a:xfrm>
              <a:off x="6564312" y="4238622"/>
              <a:ext cx="58756"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Nimbus Roman No9 L"/>
                </a:rPr>
                <a:t>=</a:t>
              </a:r>
              <a:endParaRPr lang="en-CA" altLang="en-US" sz="3600" b="1"/>
            </a:p>
          </p:txBody>
        </p:sp>
        <p:sp>
          <p:nvSpPr>
            <p:cNvPr id="63527" name="Rectangle 111">
              <a:extLst>
                <a:ext uri="{FF2B5EF4-FFF2-40B4-BE49-F238E27FC236}">
                  <a16:creationId xmlns:a16="http://schemas.microsoft.com/office/drawing/2014/main" id="{DF22122B-F43E-489E-9E66-F9FBC9156562}"/>
                </a:ext>
              </a:extLst>
            </p:cNvPr>
            <p:cNvSpPr>
              <a:spLocks noChangeArrowheads="1"/>
            </p:cNvSpPr>
            <p:nvPr/>
          </p:nvSpPr>
          <p:spPr bwMode="auto">
            <a:xfrm>
              <a:off x="4867275" y="3333748"/>
              <a:ext cx="67913" cy="129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i="1">
                  <a:solidFill>
                    <a:srgbClr val="000000"/>
                  </a:solidFill>
                  <a:latin typeface="Nimbus Roman No9 L"/>
                </a:rPr>
                <a:t>E</a:t>
              </a:r>
              <a:endParaRPr lang="en-CA" altLang="en-US" sz="3600" b="1"/>
            </a:p>
          </p:txBody>
        </p:sp>
        <p:sp>
          <p:nvSpPr>
            <p:cNvPr id="63528" name="Rectangle 112">
              <a:extLst>
                <a:ext uri="{FF2B5EF4-FFF2-40B4-BE49-F238E27FC236}">
                  <a16:creationId xmlns:a16="http://schemas.microsoft.com/office/drawing/2014/main" id="{F01E2515-01D7-47BF-A6D9-E9602A154492}"/>
                </a:ext>
              </a:extLst>
            </p:cNvPr>
            <p:cNvSpPr>
              <a:spLocks noChangeArrowheads="1"/>
            </p:cNvSpPr>
            <p:nvPr/>
          </p:nvSpPr>
          <p:spPr bwMode="auto">
            <a:xfrm>
              <a:off x="4965700" y="3333747"/>
              <a:ext cx="25069" cy="129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CA" altLang="en-US" sz="1600" b="1">
                  <a:solidFill>
                    <a:srgbClr val="000000"/>
                  </a:solidFill>
                  <a:latin typeface="Symbol" panose="05050102010706020507" pitchFamily="18" charset="2"/>
                </a:rPr>
                <a:t>¢</a:t>
              </a:r>
              <a:endParaRPr lang="en-CA" altLang="en-US" sz="3600" b="1"/>
            </a:p>
          </p:txBody>
        </p:sp>
        <p:sp>
          <p:nvSpPr>
            <p:cNvPr id="63529" name="Freeform 113">
              <a:extLst>
                <a:ext uri="{FF2B5EF4-FFF2-40B4-BE49-F238E27FC236}">
                  <a16:creationId xmlns:a16="http://schemas.microsoft.com/office/drawing/2014/main" id="{7C9E445F-19DA-4808-866C-1BD17171181C}"/>
                </a:ext>
              </a:extLst>
            </p:cNvPr>
            <p:cNvSpPr>
              <a:spLocks/>
            </p:cNvSpPr>
            <p:nvPr/>
          </p:nvSpPr>
          <p:spPr bwMode="auto">
            <a:xfrm>
              <a:off x="7173912" y="3616325"/>
              <a:ext cx="1754188" cy="84138"/>
            </a:xfrm>
            <a:custGeom>
              <a:avLst/>
              <a:gdLst>
                <a:gd name="T0" fmla="*/ 2147483646 w 124"/>
                <a:gd name="T1" fmla="*/ 0 h 6"/>
                <a:gd name="T2" fmla="*/ 2147483646 w 124"/>
                <a:gd name="T3" fmla="*/ 2147483646 h 6"/>
                <a:gd name="T4" fmla="*/ 2147483646 w 124"/>
                <a:gd name="T5" fmla="*/ 2147483646 h 6"/>
                <a:gd name="T6" fmla="*/ 2147483646 w 124"/>
                <a:gd name="T7" fmla="*/ 2147483646 h 6"/>
                <a:gd name="T8" fmla="*/ 2147483646 w 124"/>
                <a:gd name="T9" fmla="*/ 2147483646 h 6"/>
                <a:gd name="T10" fmla="*/ 2147483646 w 124"/>
                <a:gd name="T11" fmla="*/ 2147483646 h 6"/>
                <a:gd name="T12" fmla="*/ 2147483646 w 124"/>
                <a:gd name="T13" fmla="*/ 2147483646 h 6"/>
                <a:gd name="T14" fmla="*/ 2147483646 w 124"/>
                <a:gd name="T15" fmla="*/ 2147483646 h 6"/>
                <a:gd name="T16" fmla="*/ 2147483646 w 124"/>
                <a:gd name="T17" fmla="*/ 2147483646 h 6"/>
                <a:gd name="T18" fmla="*/ 2147483646 w 124"/>
                <a:gd name="T19" fmla="*/ 2147483646 h 6"/>
                <a:gd name="T20" fmla="*/ 2147483646 w 124"/>
                <a:gd name="T21" fmla="*/ 2147483646 h 6"/>
                <a:gd name="T22" fmla="*/ 2147483646 w 124"/>
                <a:gd name="T23" fmla="*/ 2147483646 h 6"/>
                <a:gd name="T24" fmla="*/ 2147483646 w 124"/>
                <a:gd name="T25" fmla="*/ 2147483646 h 6"/>
                <a:gd name="T26" fmla="*/ 2147483646 w 124"/>
                <a:gd name="T27" fmla="*/ 2147483646 h 6"/>
                <a:gd name="T28" fmla="*/ 0 w 124"/>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4"/>
                <a:gd name="T46" fmla="*/ 0 h 6"/>
                <a:gd name="T47" fmla="*/ 124 w 124"/>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4" h="6">
                  <a:moveTo>
                    <a:pt x="124" y="0"/>
                  </a:moveTo>
                  <a:lnTo>
                    <a:pt x="123" y="1"/>
                  </a:lnTo>
                  <a:lnTo>
                    <a:pt x="123" y="2"/>
                  </a:lnTo>
                  <a:lnTo>
                    <a:pt x="122" y="2"/>
                  </a:lnTo>
                  <a:lnTo>
                    <a:pt x="121" y="2"/>
                  </a:lnTo>
                  <a:lnTo>
                    <a:pt x="81" y="2"/>
                  </a:lnTo>
                  <a:lnTo>
                    <a:pt x="62" y="2"/>
                  </a:lnTo>
                  <a:lnTo>
                    <a:pt x="43" y="2"/>
                  </a:lnTo>
                  <a:lnTo>
                    <a:pt x="3" y="2"/>
                  </a:lnTo>
                  <a:lnTo>
                    <a:pt x="2" y="2"/>
                  </a:lnTo>
                  <a:lnTo>
                    <a:pt x="1" y="2"/>
                  </a:lnTo>
                  <a:lnTo>
                    <a:pt x="1" y="4"/>
                  </a:lnTo>
                  <a:lnTo>
                    <a:pt x="0" y="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63530" name="Freeform 114">
              <a:extLst>
                <a:ext uri="{FF2B5EF4-FFF2-40B4-BE49-F238E27FC236}">
                  <a16:creationId xmlns:a16="http://schemas.microsoft.com/office/drawing/2014/main" id="{AB88AFDA-2AA2-4E92-B7B8-359813E94656}"/>
                </a:ext>
              </a:extLst>
            </p:cNvPr>
            <p:cNvSpPr>
              <a:spLocks/>
            </p:cNvSpPr>
            <p:nvPr/>
          </p:nvSpPr>
          <p:spPr bwMode="auto">
            <a:xfrm>
              <a:off x="5403850" y="3616325"/>
              <a:ext cx="1770062" cy="84138"/>
            </a:xfrm>
            <a:custGeom>
              <a:avLst/>
              <a:gdLst>
                <a:gd name="T0" fmla="*/ 0 w 125"/>
                <a:gd name="T1" fmla="*/ 0 h 6"/>
                <a:gd name="T2" fmla="*/ 2147483646 w 125"/>
                <a:gd name="T3" fmla="*/ 2147483646 h 6"/>
                <a:gd name="T4" fmla="*/ 2147483646 w 125"/>
                <a:gd name="T5" fmla="*/ 2147483646 h 6"/>
                <a:gd name="T6" fmla="*/ 2147483646 w 125"/>
                <a:gd name="T7" fmla="*/ 2147483646 h 6"/>
                <a:gd name="T8" fmla="*/ 2147483646 w 125"/>
                <a:gd name="T9" fmla="*/ 2147483646 h 6"/>
                <a:gd name="T10" fmla="*/ 2147483646 w 125"/>
                <a:gd name="T11" fmla="*/ 2147483646 h 6"/>
                <a:gd name="T12" fmla="*/ 2147483646 w 125"/>
                <a:gd name="T13" fmla="*/ 2147483646 h 6"/>
                <a:gd name="T14" fmla="*/ 2147483646 w 125"/>
                <a:gd name="T15" fmla="*/ 2147483646 h 6"/>
                <a:gd name="T16" fmla="*/ 2147483646 w 125"/>
                <a:gd name="T17" fmla="*/ 2147483646 h 6"/>
                <a:gd name="T18" fmla="*/ 2147483646 w 125"/>
                <a:gd name="T19" fmla="*/ 2147483646 h 6"/>
                <a:gd name="T20" fmla="*/ 2147483646 w 125"/>
                <a:gd name="T21" fmla="*/ 2147483646 h 6"/>
                <a:gd name="T22" fmla="*/ 2147483646 w 125"/>
                <a:gd name="T23" fmla="*/ 2147483646 h 6"/>
                <a:gd name="T24" fmla="*/ 2147483646 w 125"/>
                <a:gd name="T25" fmla="*/ 2147483646 h 6"/>
                <a:gd name="T26" fmla="*/ 2147483646 w 125"/>
                <a:gd name="T27" fmla="*/ 2147483646 h 6"/>
                <a:gd name="T28" fmla="*/ 2147483646 w 125"/>
                <a:gd name="T29" fmla="*/ 2147483646 h 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5"/>
                <a:gd name="T46" fmla="*/ 0 h 6"/>
                <a:gd name="T47" fmla="*/ 125 w 125"/>
                <a:gd name="T48" fmla="*/ 6 h 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5" h="6">
                  <a:moveTo>
                    <a:pt x="0" y="0"/>
                  </a:moveTo>
                  <a:lnTo>
                    <a:pt x="1" y="1"/>
                  </a:lnTo>
                  <a:lnTo>
                    <a:pt x="2" y="2"/>
                  </a:lnTo>
                  <a:lnTo>
                    <a:pt x="3" y="2"/>
                  </a:lnTo>
                  <a:lnTo>
                    <a:pt x="43" y="2"/>
                  </a:lnTo>
                  <a:lnTo>
                    <a:pt x="62" y="2"/>
                  </a:lnTo>
                  <a:lnTo>
                    <a:pt x="82" y="2"/>
                  </a:lnTo>
                  <a:lnTo>
                    <a:pt x="122" y="2"/>
                  </a:lnTo>
                  <a:lnTo>
                    <a:pt x="123" y="2"/>
                  </a:lnTo>
                  <a:lnTo>
                    <a:pt x="124" y="4"/>
                  </a:lnTo>
                  <a:lnTo>
                    <a:pt x="125" y="6"/>
                  </a:lnTo>
                </a:path>
              </a:pathLst>
            </a:custGeom>
            <a:noFill/>
            <a:ln w="142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FC12D185-14CB-4C6F-98B1-57AFF18C6FF5}"/>
              </a:ext>
            </a:extLst>
          </p:cNvPr>
          <p:cNvSpPr>
            <a:spLocks noGrp="1"/>
          </p:cNvSpPr>
          <p:nvPr>
            <p:ph type="title"/>
          </p:nvPr>
        </p:nvSpPr>
        <p:spPr>
          <a:xfrm>
            <a:off x="306388" y="533400"/>
            <a:ext cx="10975975" cy="5603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600"/>
              <a:t>Floating Point</a:t>
            </a:r>
          </a:p>
        </p:txBody>
      </p:sp>
      <p:sp>
        <p:nvSpPr>
          <p:cNvPr id="64515" name="Slide Number Placeholder 3">
            <a:extLst>
              <a:ext uri="{FF2B5EF4-FFF2-40B4-BE49-F238E27FC236}">
                <a16:creationId xmlns:a16="http://schemas.microsoft.com/office/drawing/2014/main" id="{955CBA43-0105-4EB5-8C9E-56B824EF0AF4}"/>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19810515-E327-4D3F-BEB7-8AE2427EDD7E}" type="slidenum">
              <a:rPr lang="en-US" altLang="en-US" sz="1800" smtClean="0">
                <a:solidFill>
                  <a:srgbClr val="898989"/>
                </a:solidFill>
                <a:latin typeface="Arial" panose="020B0604020202020204" pitchFamily="34" charset="0"/>
              </a:rPr>
              <a:pPr algn="l" eaLnBrk="0" hangingPunct="0">
                <a:spcBef>
                  <a:spcPct val="0"/>
                </a:spcBef>
                <a:buFontTx/>
                <a:buNone/>
              </a:pPr>
              <a:t>52</a:t>
            </a:fld>
            <a:endParaRPr lang="en-US" altLang="en-US" sz="1800">
              <a:solidFill>
                <a:srgbClr val="898989"/>
              </a:solidFill>
              <a:latin typeface="Arial" panose="020B0604020202020204" pitchFamily="34" charset="0"/>
            </a:endParaRPr>
          </a:p>
        </p:txBody>
      </p:sp>
      <p:sp>
        <p:nvSpPr>
          <p:cNvPr id="34820" name="Content Placeholder 2">
            <a:extLst>
              <a:ext uri="{FF2B5EF4-FFF2-40B4-BE49-F238E27FC236}">
                <a16:creationId xmlns:a16="http://schemas.microsoft.com/office/drawing/2014/main" id="{7FCE27C8-B650-48D7-BADE-031DF2956D6A}"/>
              </a:ext>
            </a:extLst>
          </p:cNvPr>
          <p:cNvSpPr>
            <a:spLocks noGrp="1"/>
          </p:cNvSpPr>
          <p:nvPr>
            <p:ph idx="1"/>
          </p:nvPr>
        </p:nvSpPr>
        <p:spPr>
          <a:xfrm>
            <a:off x="239713" y="1219200"/>
            <a:ext cx="11715750" cy="4824413"/>
          </a:xfrm>
        </p:spPr>
        <p:txBody>
          <a:bodyPr rtlCol="0"/>
          <a:lstStyle/>
          <a:p>
            <a:pPr lvl="1" eaLnBrk="1" fontAlgn="auto" hangingPunct="1">
              <a:defRPr/>
            </a:pPr>
            <a:r>
              <a:rPr lang="en-US" dirty="0"/>
              <a:t>The IEEE Standard requires these operations, at a minimum</a:t>
            </a:r>
          </a:p>
          <a:p>
            <a:pPr lvl="2" eaLnBrk="1" fontAlgn="auto" hangingPunct="1">
              <a:defRPr/>
            </a:pPr>
            <a:r>
              <a:rPr lang="en-US" dirty="0"/>
              <a:t>Add</a:t>
            </a:r>
          </a:p>
          <a:p>
            <a:pPr lvl="2" eaLnBrk="1" fontAlgn="auto" hangingPunct="1">
              <a:defRPr/>
            </a:pPr>
            <a:r>
              <a:rPr lang="en-US" dirty="0"/>
              <a:t>Subtract</a:t>
            </a:r>
          </a:p>
          <a:p>
            <a:pPr lvl="2" eaLnBrk="1" fontAlgn="auto" hangingPunct="1">
              <a:defRPr/>
            </a:pPr>
            <a:r>
              <a:rPr lang="en-US" dirty="0"/>
              <a:t>Multiply</a:t>
            </a:r>
          </a:p>
          <a:p>
            <a:pPr lvl="2" eaLnBrk="1" fontAlgn="auto" hangingPunct="1">
              <a:defRPr/>
            </a:pPr>
            <a:r>
              <a:rPr lang="en-US" dirty="0"/>
              <a:t>Divide</a:t>
            </a:r>
          </a:p>
          <a:p>
            <a:pPr lvl="2" eaLnBrk="1" fontAlgn="auto" hangingPunct="1">
              <a:defRPr/>
            </a:pPr>
            <a:r>
              <a:rPr lang="en-US" dirty="0"/>
              <a:t>Remainder</a:t>
            </a:r>
          </a:p>
          <a:p>
            <a:pPr lvl="2" eaLnBrk="1" fontAlgn="auto" hangingPunct="1">
              <a:defRPr/>
            </a:pPr>
            <a:r>
              <a:rPr lang="en-US" dirty="0"/>
              <a:t>Square Root</a:t>
            </a:r>
          </a:p>
          <a:p>
            <a:pPr lvl="2" eaLnBrk="1" fontAlgn="auto" hangingPunct="1">
              <a:defRPr/>
            </a:pPr>
            <a:r>
              <a:rPr lang="en-US" dirty="0"/>
              <a:t>Decimal/Binary Conversion</a:t>
            </a:r>
          </a:p>
          <a:p>
            <a:pPr lvl="1" eaLnBrk="1" fontAlgn="auto" hangingPunct="1">
              <a:defRPr/>
            </a:pPr>
            <a:r>
              <a:rPr lang="en-US" dirty="0"/>
              <a:t>Exceptions</a:t>
            </a:r>
          </a:p>
          <a:p>
            <a:pPr lvl="2" eaLnBrk="1" fontAlgn="auto" hangingPunct="1">
              <a:defRPr/>
            </a:pPr>
            <a:r>
              <a:rPr lang="en-US" dirty="0"/>
              <a:t>Underflow, Overflow, divide by 0, inexact, invalid</a:t>
            </a:r>
          </a:p>
          <a:p>
            <a:pPr lvl="1" eaLnBrk="1" fontAlgn="auto" hangingPunct="1">
              <a:defRPr/>
            </a:pPr>
            <a:endParaRPr lang="en-US" dirty="0"/>
          </a:p>
          <a:p>
            <a:pPr lvl="1" eaLnBrk="1" fontAlgn="auto" hangingPunct="1">
              <a:defRPr/>
            </a:pPr>
            <a:endParaRPr lang="en-US" dirty="0"/>
          </a:p>
          <a:p>
            <a:pPr lvl="1" eaLnBrk="1" fontAlgn="auto" hangingPunct="1">
              <a:defRPr/>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0C22BF27-0D81-4D6B-B2BF-3EC78D4713DB}"/>
              </a:ext>
            </a:extLst>
          </p:cNvPr>
          <p:cNvSpPr>
            <a:spLocks noGrp="1"/>
          </p:cNvSpPr>
          <p:nvPr>
            <p:ph type="title"/>
          </p:nvPr>
        </p:nvSpPr>
        <p:spPr>
          <a:xfrm>
            <a:off x="533400" y="228600"/>
            <a:ext cx="11279188" cy="86518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2400"/>
              <a:t>EXAMPLE:</a:t>
            </a:r>
            <a:r>
              <a:rPr lang="en-US" altLang="en-US" sz="2400">
                <a:solidFill>
                  <a:schemeClr val="tx1"/>
                </a:solidFill>
              </a:rPr>
              <a:t> Put the decimal number 64.2 into the IEEE single precision representation.</a:t>
            </a:r>
          </a:p>
        </p:txBody>
      </p:sp>
      <p:sp>
        <p:nvSpPr>
          <p:cNvPr id="3" name="Content Placeholder 2">
            <a:extLst>
              <a:ext uri="{FF2B5EF4-FFF2-40B4-BE49-F238E27FC236}">
                <a16:creationId xmlns:a16="http://schemas.microsoft.com/office/drawing/2014/main" id="{7C7A7151-7659-430E-BE25-A7DB0A5CBDA6}"/>
              </a:ext>
            </a:extLst>
          </p:cNvPr>
          <p:cNvSpPr>
            <a:spLocks noGrp="1"/>
          </p:cNvSpPr>
          <p:nvPr>
            <p:ph idx="1"/>
          </p:nvPr>
        </p:nvSpPr>
        <p:spPr>
          <a:xfrm>
            <a:off x="458788" y="1143000"/>
            <a:ext cx="11533187" cy="4876800"/>
          </a:xfrm>
        </p:spPr>
        <p:txBody>
          <a:bodyPr rtlCol="0">
            <a:normAutofit fontScale="92500" lnSpcReduction="10000"/>
          </a:bodyPr>
          <a:lstStyle/>
          <a:p>
            <a:pPr eaLnBrk="1" fontAlgn="auto" hangingPunct="1">
              <a:defRPr/>
            </a:pPr>
            <a:r>
              <a:rPr lang="en-US" sz="2200" b="1" dirty="0">
                <a:solidFill>
                  <a:srgbClr val="FF0000"/>
                </a:solidFill>
              </a:rPr>
              <a:t>STEP 1: </a:t>
            </a:r>
          </a:p>
          <a:p>
            <a:pPr lvl="1" eaLnBrk="1" fontAlgn="auto" hangingPunct="1">
              <a:defRPr/>
            </a:pPr>
            <a:r>
              <a:rPr lang="en-US" sz="2200" dirty="0"/>
              <a:t>get a binary representation for 64.2 </a:t>
            </a:r>
          </a:p>
          <a:p>
            <a:pPr lvl="2" eaLnBrk="1" fontAlgn="auto" hangingPunct="1">
              <a:defRPr/>
            </a:pPr>
            <a:r>
              <a:rPr lang="en-US" dirty="0"/>
              <a:t>64 is 1000000 </a:t>
            </a:r>
          </a:p>
          <a:p>
            <a:pPr lvl="2" eaLnBrk="1" fontAlgn="auto" hangingPunct="1">
              <a:defRPr/>
            </a:pPr>
            <a:r>
              <a:rPr lang="en-US" dirty="0"/>
              <a:t>.2 is :</a:t>
            </a:r>
          </a:p>
          <a:p>
            <a:pPr lvl="3" eaLnBrk="1" fontAlgn="auto" hangingPunct="1">
              <a:defRPr/>
            </a:pPr>
            <a:r>
              <a:rPr lang="en-US" sz="2200" dirty="0"/>
              <a:t> .2 x 2 = 0.4 0 (</a:t>
            </a:r>
            <a:r>
              <a:rPr lang="en-US" sz="2200" dirty="0" err="1"/>
              <a:t>msb</a:t>
            </a:r>
            <a:r>
              <a:rPr lang="en-US" sz="2200" dirty="0"/>
              <a:t>)</a:t>
            </a:r>
          </a:p>
          <a:p>
            <a:pPr lvl="3" eaLnBrk="1" fontAlgn="auto" hangingPunct="1">
              <a:defRPr/>
            </a:pPr>
            <a:r>
              <a:rPr lang="en-US" sz="2200" dirty="0"/>
              <a:t> .4 x 2 = 0.8 0 </a:t>
            </a:r>
          </a:p>
          <a:p>
            <a:pPr lvl="3" eaLnBrk="1" fontAlgn="auto" hangingPunct="1">
              <a:defRPr/>
            </a:pPr>
            <a:r>
              <a:rPr lang="en-US" sz="2200" dirty="0"/>
              <a:t>.8 x 2 = 1.6  1 </a:t>
            </a:r>
          </a:p>
          <a:p>
            <a:pPr lvl="3" eaLnBrk="1" fontAlgn="auto" hangingPunct="1">
              <a:defRPr/>
            </a:pPr>
            <a:r>
              <a:rPr lang="en-US" sz="2200" dirty="0"/>
              <a:t>.6 x 2 = 1.2  1 </a:t>
            </a:r>
          </a:p>
          <a:p>
            <a:pPr lvl="3" eaLnBrk="1" fontAlgn="auto" hangingPunct="1">
              <a:defRPr/>
            </a:pPr>
            <a:r>
              <a:rPr lang="en-US" sz="2200" dirty="0"/>
              <a:t>.2 x 2 = 0.4  0</a:t>
            </a:r>
          </a:p>
          <a:p>
            <a:pPr marL="457200" lvl="3" indent="-457200" eaLnBrk="1" fontAlgn="auto" hangingPunct="1">
              <a:defRPr/>
            </a:pPr>
            <a:r>
              <a:rPr lang="en-US" sz="2200" dirty="0"/>
              <a:t>now this whole pattern (0011) repeats. </a:t>
            </a:r>
          </a:p>
          <a:p>
            <a:pPr marL="457200" lvl="3" indent="-457200" eaLnBrk="1" fontAlgn="auto" hangingPunct="1">
              <a:defRPr/>
            </a:pPr>
            <a:r>
              <a:rPr lang="en-US" sz="2200" dirty="0"/>
              <a:t>so the binary representation for .2 is .001100110011. . .</a:t>
            </a:r>
          </a:p>
          <a:p>
            <a:pPr marL="457200" lvl="3" indent="-457200" eaLnBrk="1" fontAlgn="auto" hangingPunct="1">
              <a:defRPr/>
            </a:pPr>
            <a:r>
              <a:rPr lang="en-US" sz="2200" dirty="0"/>
              <a:t>Putting the halves back together again: </a:t>
            </a:r>
            <a:r>
              <a:rPr lang="en-US" sz="2200" b="1" dirty="0"/>
              <a:t>64.2</a:t>
            </a:r>
            <a:r>
              <a:rPr lang="en-US" sz="2200" dirty="0"/>
              <a:t> is </a:t>
            </a:r>
            <a:r>
              <a:rPr lang="en-US" sz="2200" b="1" dirty="0"/>
              <a:t>1000000.0011001100110011. . .</a:t>
            </a:r>
            <a:r>
              <a:rPr lang="en-US" sz="2200" dirty="0"/>
              <a:t>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6F3F0-4089-4C3D-853C-132D8598E77C}"/>
              </a:ext>
            </a:extLst>
          </p:cNvPr>
          <p:cNvSpPr>
            <a:spLocks noGrp="1"/>
          </p:cNvSpPr>
          <p:nvPr>
            <p:ph idx="1"/>
          </p:nvPr>
        </p:nvSpPr>
        <p:spPr>
          <a:xfrm>
            <a:off x="306388" y="533400"/>
            <a:ext cx="11658600" cy="5410200"/>
          </a:xfrm>
        </p:spPr>
        <p:txBody>
          <a:bodyPr rtlCol="0">
            <a:noAutofit/>
          </a:bodyPr>
          <a:lstStyle/>
          <a:p>
            <a:pPr eaLnBrk="1" fontAlgn="auto" hangingPunct="1">
              <a:defRPr/>
            </a:pPr>
            <a:r>
              <a:rPr lang="en-US" sz="2300" b="1" dirty="0">
                <a:solidFill>
                  <a:srgbClr val="FF0000"/>
                </a:solidFill>
              </a:rPr>
              <a:t>STEP 2</a:t>
            </a:r>
            <a:r>
              <a:rPr lang="en-US" sz="2300" dirty="0"/>
              <a:t>:  normalize the binary representation(make it look like scientific notation) 		</a:t>
            </a:r>
            <a:r>
              <a:rPr lang="en-US" sz="2300" b="1" dirty="0"/>
              <a:t>1.000000 00110011. . . x 2</a:t>
            </a:r>
            <a:r>
              <a:rPr lang="en-US" sz="2300" b="1" baseline="30000" dirty="0"/>
              <a:t>6</a:t>
            </a:r>
            <a:r>
              <a:rPr lang="en-US" sz="2300" dirty="0"/>
              <a:t> </a:t>
            </a:r>
          </a:p>
          <a:p>
            <a:pPr eaLnBrk="1" fontAlgn="auto" hangingPunct="1">
              <a:defRPr/>
            </a:pPr>
            <a:r>
              <a:rPr lang="en-US" sz="2300" b="1" dirty="0">
                <a:solidFill>
                  <a:srgbClr val="FF0000"/>
                </a:solidFill>
              </a:rPr>
              <a:t>STEP 3: </a:t>
            </a:r>
          </a:p>
          <a:p>
            <a:pPr lvl="1" eaLnBrk="1" fontAlgn="auto" hangingPunct="1">
              <a:defRPr/>
            </a:pPr>
            <a:r>
              <a:rPr lang="en-US" sz="2300" dirty="0">
                <a:solidFill>
                  <a:schemeClr val="tx1"/>
                </a:solidFill>
              </a:rPr>
              <a:t>6 is the true exponent. </a:t>
            </a:r>
          </a:p>
          <a:p>
            <a:pPr lvl="1" eaLnBrk="1" fontAlgn="auto" hangingPunct="1">
              <a:defRPr/>
            </a:pPr>
            <a:r>
              <a:rPr lang="en-US" sz="2300" dirty="0">
                <a:solidFill>
                  <a:schemeClr val="tx1"/>
                </a:solidFill>
              </a:rPr>
              <a:t>For the standard form, it needs to be in biased-127 form.</a:t>
            </a:r>
          </a:p>
          <a:p>
            <a:pPr lvl="1" eaLnBrk="1" fontAlgn="auto" hangingPunct="1">
              <a:defRPr/>
            </a:pPr>
            <a:r>
              <a:rPr lang="en-US" sz="2300" dirty="0">
                <a:solidFill>
                  <a:schemeClr val="tx1"/>
                </a:solidFill>
              </a:rPr>
              <a:t>6 + 127 = 133 (value of biased exponent) </a:t>
            </a:r>
          </a:p>
          <a:p>
            <a:pPr lvl="1" eaLnBrk="1" fontAlgn="auto" hangingPunct="1">
              <a:defRPr/>
            </a:pPr>
            <a:r>
              <a:rPr lang="en-US" sz="2300" dirty="0">
                <a:solidFill>
                  <a:schemeClr val="tx1"/>
                </a:solidFill>
              </a:rPr>
              <a:t>133 in 8 bit, unsigned representation is 1000 0101 this is bit pattern used for E in the standard form.</a:t>
            </a:r>
            <a:r>
              <a:rPr lang="en-US" sz="2300" dirty="0"/>
              <a:t> </a:t>
            </a:r>
          </a:p>
          <a:p>
            <a:pPr marL="346075" lvl="1" indent="-346075" eaLnBrk="1" fontAlgn="auto" hangingPunct="1">
              <a:defRPr/>
            </a:pPr>
            <a:r>
              <a:rPr lang="en-US" sz="2300" b="1" dirty="0">
                <a:solidFill>
                  <a:srgbClr val="FF0000"/>
                </a:solidFill>
              </a:rPr>
              <a:t>STEP 4:</a:t>
            </a:r>
            <a:r>
              <a:rPr lang="en-US" sz="2300" dirty="0"/>
              <a:t> </a:t>
            </a:r>
          </a:p>
          <a:p>
            <a:pPr lvl="1" eaLnBrk="1" fontAlgn="auto" hangingPunct="1">
              <a:defRPr/>
            </a:pPr>
            <a:r>
              <a:rPr lang="en-US" sz="2300" dirty="0">
                <a:solidFill>
                  <a:schemeClr val="tx1"/>
                </a:solidFill>
              </a:rPr>
              <a:t>the mantissa stored (F) is to the right of the radix point in the normal form. </a:t>
            </a:r>
          </a:p>
          <a:p>
            <a:pPr lvl="1" eaLnBrk="1" fontAlgn="auto" hangingPunct="1">
              <a:defRPr/>
            </a:pPr>
            <a:r>
              <a:rPr lang="en-US" sz="2300" dirty="0">
                <a:solidFill>
                  <a:schemeClr val="tx1"/>
                </a:solidFill>
              </a:rPr>
              <a:t>We need 23 bits of it. 000000 00110011001100110 put it all together (and include the correct sign bit)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8FCABCC1-FD18-4C9C-A05A-F1AE1380AF0D}"/>
              </a:ext>
            </a:extLst>
          </p:cNvPr>
          <p:cNvSpPr>
            <a:spLocks noGrp="1"/>
          </p:cNvSpPr>
          <p:nvPr>
            <p:ph idx="1"/>
          </p:nvPr>
        </p:nvSpPr>
        <p:spPr>
          <a:xfrm>
            <a:off x="382588" y="685800"/>
            <a:ext cx="11509375" cy="5486400"/>
          </a:xfrm>
        </p:spPr>
        <p:txBody>
          <a:bodyPr rtlCol="0">
            <a:noAutofit/>
          </a:bodyPr>
          <a:lstStyle/>
          <a:p>
            <a:pPr eaLnBrk="1" fontAlgn="auto" hangingPunct="1">
              <a:buFont typeface="Arial" panose="020B0604020202020204" pitchFamily="34" charset="0"/>
              <a:buNone/>
              <a:defRPr/>
            </a:pPr>
            <a:r>
              <a:rPr lang="en-US" sz="2400" b="1" dirty="0"/>
              <a:t>	</a:t>
            </a:r>
            <a:r>
              <a:rPr lang="en-US" sz="2400" b="1" dirty="0">
                <a:solidFill>
                  <a:srgbClr val="003399"/>
                </a:solidFill>
              </a:rPr>
              <a:t>S            E                                F </a:t>
            </a:r>
          </a:p>
          <a:p>
            <a:pPr eaLnBrk="1" fontAlgn="auto" hangingPunct="1">
              <a:buFont typeface="Wingdings" pitchFamily="2" charset="2"/>
              <a:buNone/>
              <a:defRPr/>
            </a:pPr>
            <a:r>
              <a:rPr lang="en-US" sz="2400" b="1" dirty="0"/>
              <a:t>	0     10000101      00000000110011001100110 </a:t>
            </a:r>
          </a:p>
          <a:p>
            <a:pPr eaLnBrk="1" fontAlgn="auto" hangingPunct="1">
              <a:buFont typeface="Wingdings" pitchFamily="2" charset="2"/>
              <a:buNone/>
              <a:defRPr/>
            </a:pPr>
            <a:r>
              <a:rPr lang="en-US" sz="2400" b="1" dirty="0">
                <a:solidFill>
                  <a:srgbClr val="FF0000"/>
                </a:solidFill>
              </a:rPr>
              <a:t>the values are often given in hex, so here it is </a:t>
            </a:r>
          </a:p>
          <a:p>
            <a:pPr eaLnBrk="1" fontAlgn="auto" hangingPunct="1">
              <a:buFont typeface="Wingdings" pitchFamily="2" charset="2"/>
              <a:buNone/>
              <a:defRPr/>
            </a:pPr>
            <a:r>
              <a:rPr lang="en-US" sz="2400" b="1" dirty="0"/>
              <a:t>	 0100 0010 1000 0000 0110 0110 0110 0110 </a:t>
            </a:r>
          </a:p>
          <a:p>
            <a:pPr eaLnBrk="1" fontAlgn="auto" hangingPunct="1">
              <a:buFont typeface="Wingdings" pitchFamily="2" charset="2"/>
              <a:buNone/>
              <a:defRPr/>
            </a:pPr>
            <a:r>
              <a:rPr lang="en-US" sz="2400" b="1" dirty="0">
                <a:solidFill>
                  <a:srgbClr val="002060"/>
                </a:solidFill>
              </a:rPr>
              <a:t>0x     4        2       8        0        6       6       6        6         or </a:t>
            </a:r>
          </a:p>
          <a:p>
            <a:pPr eaLnBrk="1" fontAlgn="auto" hangingPunct="1">
              <a:buFont typeface="Wingdings" pitchFamily="2" charset="2"/>
              <a:buNone/>
              <a:defRPr/>
            </a:pPr>
            <a:r>
              <a:rPr lang="en-US" sz="2400" b="1" dirty="0"/>
              <a:t>                             </a:t>
            </a:r>
            <a:r>
              <a:rPr lang="en-US" sz="2400" b="1" dirty="0">
                <a:solidFill>
                  <a:srgbClr val="002060"/>
                </a:solidFill>
              </a:rPr>
              <a:t>42806666h</a:t>
            </a:r>
          </a:p>
          <a:p>
            <a:pPr eaLnBrk="1" fontAlgn="auto" hangingPunct="1">
              <a:defRPr/>
            </a:pPr>
            <a:r>
              <a:rPr lang="en-US" sz="2400" b="1" dirty="0">
                <a:solidFill>
                  <a:srgbClr val="FF0000"/>
                </a:solidFill>
              </a:rPr>
              <a:t>Exercise</a:t>
            </a:r>
            <a:r>
              <a:rPr lang="en-US" sz="2400" b="1" dirty="0"/>
              <a:t>: Represent the following in IEEE format</a:t>
            </a:r>
          </a:p>
          <a:p>
            <a:pPr lvl="1" eaLnBrk="1" fontAlgn="auto" hangingPunct="1">
              <a:defRPr/>
            </a:pPr>
            <a:r>
              <a:rPr lang="en-US" b="1" dirty="0"/>
              <a:t>10.5</a:t>
            </a:r>
            <a:r>
              <a:rPr lang="en-US" b="1" baseline="-25000" dirty="0"/>
              <a:t>10</a:t>
            </a:r>
            <a:r>
              <a:rPr lang="en-US" b="1" dirty="0"/>
              <a:t> </a:t>
            </a:r>
          </a:p>
          <a:p>
            <a:pPr lvl="1" eaLnBrk="1" fontAlgn="auto" hangingPunct="1">
              <a:defRPr/>
            </a:pPr>
            <a:r>
              <a:rPr lang="en-US" b="1" dirty="0"/>
              <a:t>9.999 x 10</a:t>
            </a:r>
            <a:r>
              <a:rPr lang="en-US" b="1" baseline="30000" dirty="0"/>
              <a:t>1</a:t>
            </a:r>
            <a:r>
              <a:rPr lang="en-US" b="1" dirty="0"/>
              <a:t>  + 1.610 x 10</a:t>
            </a:r>
            <a:r>
              <a:rPr lang="en-US" b="1" baseline="30000" dirty="0"/>
              <a:t>-1</a:t>
            </a:r>
            <a:r>
              <a:rPr lang="en-US" b="1" dirty="0"/>
              <a:t> </a:t>
            </a:r>
          </a:p>
          <a:p>
            <a:pPr lvl="1" eaLnBrk="1" fontAlgn="auto" hangingPunct="1">
              <a:defRPr/>
            </a:pPr>
            <a:r>
              <a:rPr lang="en-US" dirty="0"/>
              <a:t>.</a:t>
            </a:r>
            <a:r>
              <a:rPr lang="en-US" b="1" dirty="0"/>
              <a:t>5</a:t>
            </a:r>
            <a:r>
              <a:rPr lang="en-US" b="1" baseline="-25000" dirty="0"/>
              <a:t>10</a:t>
            </a:r>
            <a:r>
              <a:rPr lang="en-US" b="1" dirty="0"/>
              <a:t> x  -0.4375</a:t>
            </a:r>
            <a:r>
              <a:rPr lang="en-US" b="1" baseline="-25000" dirty="0"/>
              <a:t>10</a:t>
            </a:r>
            <a:r>
              <a:rPr lang="en-US" b="1" dirty="0"/>
              <a:t>  </a:t>
            </a:r>
          </a:p>
          <a:p>
            <a:pPr lvl="1" eaLnBrk="1" fontAlgn="auto" hangingPunct="1">
              <a:defRPr/>
            </a:pPr>
            <a:r>
              <a:rPr lang="en-US" b="1" dirty="0"/>
              <a:t>(1.10 x 10</a:t>
            </a:r>
            <a:r>
              <a:rPr lang="en-US" b="1" baseline="30000" dirty="0"/>
              <a:t>10</a:t>
            </a:r>
            <a:r>
              <a:rPr lang="en-US" b="1" dirty="0"/>
              <a:t>) x (9.2 x 10</a:t>
            </a:r>
            <a:r>
              <a:rPr lang="en-US" b="1" baseline="30000" dirty="0"/>
              <a:t>-5</a:t>
            </a:r>
            <a:r>
              <a:rPr lang="en-US" b="1" dirty="0"/>
              <a:t>)</a:t>
            </a:r>
            <a:r>
              <a:rPr lang="en-US" dirty="0"/>
              <a:t> </a:t>
            </a:r>
            <a:endParaRPr lang="en-US" b="1" dirty="0"/>
          </a:p>
          <a:p>
            <a:pPr eaLnBrk="1" fontAlgn="auto" hangingPunct="1">
              <a:buFont typeface="Wingdings" pitchFamily="2" charset="2"/>
              <a:buNone/>
              <a:defRPr/>
            </a:pPr>
            <a:endParaRPr lang="en-US" sz="2400" b="1" dirty="0"/>
          </a:p>
        </p:txBody>
      </p:sp>
      <p:sp>
        <p:nvSpPr>
          <p:cNvPr id="67587" name="Slide Number Placeholder 3">
            <a:extLst>
              <a:ext uri="{FF2B5EF4-FFF2-40B4-BE49-F238E27FC236}">
                <a16:creationId xmlns:a16="http://schemas.microsoft.com/office/drawing/2014/main" id="{F953CC37-0CF9-49F2-B196-21C2F51C1EBF}"/>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C5FB0E99-D6F0-422E-95DE-93352F33B125}" type="slidenum">
              <a:rPr lang="en-US" altLang="en-US" sz="1800" smtClean="0">
                <a:solidFill>
                  <a:srgbClr val="898989"/>
                </a:solidFill>
                <a:latin typeface="Arial" panose="020B0604020202020204" pitchFamily="34" charset="0"/>
              </a:rPr>
              <a:pPr algn="l" eaLnBrk="0" hangingPunct="0">
                <a:spcBef>
                  <a:spcPct val="0"/>
                </a:spcBef>
                <a:buFontTx/>
                <a:buNone/>
              </a:pPr>
              <a:t>55</a:t>
            </a:fld>
            <a:endParaRPr lang="en-US" altLang="en-US" sz="1800">
              <a:solidFill>
                <a:srgbClr val="898989"/>
              </a:solidFill>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711256B6-F853-4F45-9E12-F1A4E691A68A}"/>
              </a:ext>
            </a:extLst>
          </p:cNvPr>
          <p:cNvSpPr>
            <a:spLocks noGrp="1"/>
          </p:cNvSpPr>
          <p:nvPr>
            <p:ph type="title"/>
          </p:nvPr>
        </p:nvSpPr>
        <p:spPr>
          <a:xfrm>
            <a:off x="609600" y="5826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200"/>
              <a:t>ALPHANUMERIC CODES</a:t>
            </a:r>
            <a:endParaRPr lang="en-US" altLang="en-US" sz="1800"/>
          </a:p>
        </p:txBody>
      </p:sp>
      <p:sp>
        <p:nvSpPr>
          <p:cNvPr id="38915" name="Content Placeholder 2">
            <a:extLst>
              <a:ext uri="{FF2B5EF4-FFF2-40B4-BE49-F238E27FC236}">
                <a16:creationId xmlns:a16="http://schemas.microsoft.com/office/drawing/2014/main" id="{3F493F6B-11E6-40D6-B28B-2FC958A4ABEE}"/>
              </a:ext>
            </a:extLst>
          </p:cNvPr>
          <p:cNvSpPr>
            <a:spLocks noGrp="1"/>
          </p:cNvSpPr>
          <p:nvPr>
            <p:ph idx="1"/>
          </p:nvPr>
        </p:nvSpPr>
        <p:spPr>
          <a:xfrm>
            <a:off x="306388" y="1524000"/>
            <a:ext cx="11583987" cy="4495800"/>
          </a:xfrm>
        </p:spPr>
        <p:txBody>
          <a:bodyPr rtlCol="0">
            <a:noAutofit/>
          </a:bodyPr>
          <a:lstStyle/>
          <a:p>
            <a:pPr algn="just" eaLnBrk="1" fontAlgn="auto" hangingPunct="1">
              <a:defRPr/>
            </a:pPr>
            <a:r>
              <a:rPr lang="en-GB" sz="2600" dirty="0"/>
              <a:t>Earlier computers were used only for the purpose of calculations i.e. they were only used as a calculating device. </a:t>
            </a:r>
          </a:p>
          <a:p>
            <a:pPr algn="just" eaLnBrk="1" fontAlgn="auto" hangingPunct="1">
              <a:defRPr/>
            </a:pPr>
            <a:r>
              <a:rPr lang="en-GB" sz="2600" dirty="0"/>
              <a:t>Computers now represent numbers and other information such as names, addresses, item descriptions etc. </a:t>
            </a:r>
          </a:p>
          <a:p>
            <a:pPr algn="just" eaLnBrk="1" fontAlgn="auto" hangingPunct="1">
              <a:defRPr/>
            </a:pPr>
            <a:r>
              <a:rPr lang="en-GB" sz="2600" dirty="0"/>
              <a:t>Such information is represented using letters and symbols. </a:t>
            </a:r>
          </a:p>
          <a:p>
            <a:pPr algn="just" eaLnBrk="1" fontAlgn="auto" hangingPunct="1">
              <a:defRPr/>
            </a:pPr>
            <a:r>
              <a:rPr lang="en-GB" sz="2600" dirty="0"/>
              <a:t>Computer is a digital system and can only deal with 1's and 0’s. </a:t>
            </a:r>
          </a:p>
          <a:p>
            <a:pPr algn="just" eaLnBrk="1" fontAlgn="auto" hangingPunct="1">
              <a:defRPr/>
            </a:pPr>
            <a:r>
              <a:rPr lang="en-GB" sz="2600" dirty="0"/>
              <a:t>So to deal with letters and symbols they use alphanumeric codes. </a:t>
            </a:r>
            <a:endParaRPr lang="en-US" sz="2600" dirty="0"/>
          </a:p>
          <a:p>
            <a:pPr algn="just" eaLnBrk="1" fontAlgn="auto" hangingPunct="1">
              <a:defRPr/>
            </a:pPr>
            <a:endParaRPr lang="en-US" sz="2600" dirty="0"/>
          </a:p>
        </p:txBody>
      </p:sp>
      <p:sp>
        <p:nvSpPr>
          <p:cNvPr id="68612" name="Slide Number Placeholder 3">
            <a:extLst>
              <a:ext uri="{FF2B5EF4-FFF2-40B4-BE49-F238E27FC236}">
                <a16:creationId xmlns:a16="http://schemas.microsoft.com/office/drawing/2014/main" id="{E1376532-EC6B-408B-97FB-A248FD1CB21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F2B7959E-CEFA-41A0-912A-9F7EFC63F5A3}" type="slidenum">
              <a:rPr lang="en-US" altLang="en-US" sz="1800" smtClean="0">
                <a:solidFill>
                  <a:srgbClr val="898989"/>
                </a:solidFill>
                <a:latin typeface="Arial" panose="020B0604020202020204" pitchFamily="34" charset="0"/>
              </a:rPr>
              <a:pPr algn="l" eaLnBrk="0" hangingPunct="0">
                <a:spcBef>
                  <a:spcPct val="0"/>
                </a:spcBef>
                <a:buFontTx/>
                <a:buNone/>
              </a:pPr>
              <a:t>56</a:t>
            </a:fld>
            <a:endParaRPr lang="en-US" altLang="en-US" sz="1800">
              <a:solidFill>
                <a:srgbClr val="898989"/>
              </a:solidFill>
              <a:latin typeface="Arial" panose="020B0604020202020204" pitchFamily="34"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368FBE5A-89D6-416A-B850-6ECD9A8FD4B4}"/>
              </a:ext>
            </a:extLst>
          </p:cNvPr>
          <p:cNvSpPr>
            <a:spLocks noGrp="1"/>
          </p:cNvSpPr>
          <p:nvPr>
            <p:ph type="title"/>
          </p:nvPr>
        </p:nvSpPr>
        <p:spPr>
          <a:xfrm>
            <a:off x="609600" y="228600"/>
            <a:ext cx="11126788" cy="609600"/>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2800"/>
              <a:t>Alphanumeric Code (Cont’d)</a:t>
            </a:r>
          </a:p>
        </p:txBody>
      </p:sp>
      <p:sp>
        <p:nvSpPr>
          <p:cNvPr id="39939" name="Content Placeholder 2">
            <a:extLst>
              <a:ext uri="{FF2B5EF4-FFF2-40B4-BE49-F238E27FC236}">
                <a16:creationId xmlns:a16="http://schemas.microsoft.com/office/drawing/2014/main" id="{F64C9DC4-DB1D-460D-B64C-2ED58992553B}"/>
              </a:ext>
            </a:extLst>
          </p:cNvPr>
          <p:cNvSpPr>
            <a:spLocks noGrp="1"/>
          </p:cNvSpPr>
          <p:nvPr>
            <p:ph idx="1"/>
          </p:nvPr>
        </p:nvSpPr>
        <p:spPr>
          <a:xfrm>
            <a:off x="306388" y="914400"/>
            <a:ext cx="11482387" cy="5105400"/>
          </a:xfrm>
        </p:spPr>
        <p:txBody>
          <a:bodyPr rtlCol="0">
            <a:noAutofit/>
          </a:bodyPr>
          <a:lstStyle/>
          <a:p>
            <a:pPr algn="just" eaLnBrk="1" fontAlgn="auto" hangingPunct="1">
              <a:defRPr/>
            </a:pPr>
            <a:r>
              <a:rPr lang="en-GB" sz="2400" dirty="0"/>
              <a:t>Alphanumeric codes, also called character codes, are binary codes used to represent alphanumeric data.</a:t>
            </a:r>
          </a:p>
          <a:p>
            <a:pPr algn="just" eaLnBrk="1" fontAlgn="auto" hangingPunct="1">
              <a:defRPr/>
            </a:pPr>
            <a:r>
              <a:rPr lang="en-GB" sz="2400" dirty="0"/>
              <a:t>The codes write alphanumeric data, including letters of the alphabet, numbers, mathematical symbols and punctuation marks, in a form that is understandable and process able by a computer.</a:t>
            </a:r>
          </a:p>
          <a:p>
            <a:pPr algn="just" eaLnBrk="1" fontAlgn="auto" hangingPunct="1">
              <a:defRPr/>
            </a:pPr>
            <a:r>
              <a:rPr lang="en-GB" sz="2400" dirty="0"/>
              <a:t>Using these codes, we can interface input-output devices such as keyboards, monitors, printers etc. with computer. </a:t>
            </a:r>
            <a:endParaRPr lang="en-US" sz="2400" dirty="0"/>
          </a:p>
          <a:p>
            <a:pPr algn="just" eaLnBrk="1" fontAlgn="auto" hangingPunct="1">
              <a:defRPr/>
            </a:pPr>
            <a:r>
              <a:rPr lang="en-US" sz="2400" dirty="0"/>
              <a:t>Examples include</a:t>
            </a:r>
            <a:r>
              <a:rPr lang="en-US" dirty="0"/>
              <a:t>:</a:t>
            </a:r>
          </a:p>
          <a:p>
            <a:pPr lvl="1" algn="just" eaLnBrk="1" fontAlgn="auto" hangingPunct="1">
              <a:spcBef>
                <a:spcPts val="0"/>
              </a:spcBef>
              <a:spcAft>
                <a:spcPts val="0"/>
              </a:spcAft>
              <a:defRPr/>
            </a:pPr>
            <a:r>
              <a:rPr lang="en-US" sz="2000" dirty="0"/>
              <a:t>Morse code</a:t>
            </a:r>
          </a:p>
          <a:p>
            <a:pPr lvl="1" algn="just" eaLnBrk="1" fontAlgn="auto" hangingPunct="1">
              <a:spcBef>
                <a:spcPts val="0"/>
              </a:spcBef>
              <a:spcAft>
                <a:spcPts val="0"/>
              </a:spcAft>
              <a:defRPr/>
            </a:pPr>
            <a:r>
              <a:rPr lang="en-US" sz="2000" dirty="0"/>
              <a:t>Hollerith code</a:t>
            </a:r>
          </a:p>
          <a:p>
            <a:pPr lvl="1" algn="just" eaLnBrk="1" fontAlgn="auto" hangingPunct="1">
              <a:spcBef>
                <a:spcPts val="0"/>
              </a:spcBef>
              <a:spcAft>
                <a:spcPts val="0"/>
              </a:spcAft>
              <a:defRPr/>
            </a:pPr>
            <a:r>
              <a:rPr lang="en-US" sz="2000" dirty="0"/>
              <a:t>ASCII code</a:t>
            </a:r>
          </a:p>
          <a:p>
            <a:pPr lvl="1" algn="just" eaLnBrk="1" fontAlgn="auto" hangingPunct="1">
              <a:spcBef>
                <a:spcPts val="0"/>
              </a:spcBef>
              <a:spcAft>
                <a:spcPts val="0"/>
              </a:spcAft>
              <a:defRPr/>
            </a:pPr>
            <a:r>
              <a:rPr lang="en-US" sz="2000" dirty="0"/>
              <a:t>EBCDIC code</a:t>
            </a:r>
          </a:p>
          <a:p>
            <a:pPr lvl="1" algn="just" eaLnBrk="1" fontAlgn="auto" hangingPunct="1">
              <a:spcBef>
                <a:spcPts val="0"/>
              </a:spcBef>
              <a:spcAft>
                <a:spcPts val="0"/>
              </a:spcAft>
              <a:defRPr/>
            </a:pPr>
            <a:r>
              <a:rPr lang="en-US" sz="2000" dirty="0"/>
              <a:t>Unicode </a:t>
            </a:r>
          </a:p>
        </p:txBody>
      </p:sp>
      <p:sp>
        <p:nvSpPr>
          <p:cNvPr id="69636" name="Slide Number Placeholder 3">
            <a:extLst>
              <a:ext uri="{FF2B5EF4-FFF2-40B4-BE49-F238E27FC236}">
                <a16:creationId xmlns:a16="http://schemas.microsoft.com/office/drawing/2014/main" id="{D9F855F1-DBC5-4F67-A79A-7845EBF74EAB}"/>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BA1F4E3-C290-4F8C-85FA-B44C9E7DA6F1}" type="slidenum">
              <a:rPr lang="en-US" altLang="en-US" sz="1800" smtClean="0">
                <a:solidFill>
                  <a:srgbClr val="898989"/>
                </a:solidFill>
                <a:latin typeface="Arial" panose="020B0604020202020204" pitchFamily="34" charset="0"/>
              </a:rPr>
              <a:pPr algn="l" eaLnBrk="0" hangingPunct="0">
                <a:spcBef>
                  <a:spcPct val="0"/>
                </a:spcBef>
                <a:buFontTx/>
                <a:buNone/>
              </a:pPr>
              <a:t>57</a:t>
            </a:fld>
            <a:endParaRPr lang="en-US" altLang="en-US" sz="1800">
              <a:solidFill>
                <a:srgbClr val="898989"/>
              </a:solidFill>
              <a:latin typeface="Arial" panose="020B060402020202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C5504E32-B416-461D-AD1C-E31988536C28}"/>
              </a:ext>
            </a:extLst>
          </p:cNvPr>
          <p:cNvSpPr>
            <a:spLocks noGrp="1"/>
          </p:cNvSpPr>
          <p:nvPr>
            <p:ph type="title"/>
          </p:nvPr>
        </p:nvSpPr>
        <p:spPr>
          <a:xfrm>
            <a:off x="609600" y="354013"/>
            <a:ext cx="10975975" cy="5603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defRPr/>
            </a:pPr>
            <a:r>
              <a:rPr lang="en-US" sz="3600"/>
              <a:t>Morse Code</a:t>
            </a:r>
          </a:p>
        </p:txBody>
      </p:sp>
      <p:sp>
        <p:nvSpPr>
          <p:cNvPr id="70659" name="Slide Number Placeholder 3">
            <a:extLst>
              <a:ext uri="{FF2B5EF4-FFF2-40B4-BE49-F238E27FC236}">
                <a16:creationId xmlns:a16="http://schemas.microsoft.com/office/drawing/2014/main" id="{C4070DFC-26C9-496D-87EA-D64E405DE821}"/>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CC922809-3876-4993-B6B1-CAF3DBB409F5}" type="slidenum">
              <a:rPr lang="en-US" altLang="en-US" sz="1800" smtClean="0">
                <a:solidFill>
                  <a:srgbClr val="898989"/>
                </a:solidFill>
                <a:latin typeface="Arial" panose="020B0604020202020204" pitchFamily="34" charset="0"/>
              </a:rPr>
              <a:pPr algn="l" eaLnBrk="0" hangingPunct="0">
                <a:spcBef>
                  <a:spcPct val="0"/>
                </a:spcBef>
                <a:buFontTx/>
                <a:buNone/>
              </a:pPr>
              <a:t>58</a:t>
            </a:fld>
            <a:endParaRPr lang="en-US" altLang="en-US" sz="1800">
              <a:solidFill>
                <a:srgbClr val="898989"/>
              </a:solidFill>
              <a:latin typeface="Arial" panose="020B0604020202020204" pitchFamily="34" charset="0"/>
            </a:endParaRPr>
          </a:p>
        </p:txBody>
      </p:sp>
      <p:pic>
        <p:nvPicPr>
          <p:cNvPr id="70660" name="Picture 2" descr="http://www.bekkahwalker.net/comt111a/websites_12/mohammady_site/images/morsecode.jpg">
            <a:extLst>
              <a:ext uri="{FF2B5EF4-FFF2-40B4-BE49-F238E27FC236}">
                <a16:creationId xmlns:a16="http://schemas.microsoft.com/office/drawing/2014/main" id="{8F250060-087C-4455-827E-89A86DD4DAF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151188" y="1143000"/>
            <a:ext cx="5289550" cy="47244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9FAFCDB6-FADD-410A-9D6E-6B611188A579}"/>
              </a:ext>
            </a:extLst>
          </p:cNvPr>
          <p:cNvSpPr>
            <a:spLocks noGrp="1"/>
          </p:cNvSpPr>
          <p:nvPr>
            <p:ph type="title"/>
          </p:nvPr>
        </p:nvSpPr>
        <p:spPr>
          <a:xfrm>
            <a:off x="534988" y="457200"/>
            <a:ext cx="10975975" cy="6365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defRPr/>
            </a:pPr>
            <a:r>
              <a:rPr lang="en-US" sz="3600"/>
              <a:t>ASCII Code</a:t>
            </a:r>
          </a:p>
        </p:txBody>
      </p:sp>
      <p:sp>
        <p:nvSpPr>
          <p:cNvPr id="41987" name="Content Placeholder 2">
            <a:extLst>
              <a:ext uri="{FF2B5EF4-FFF2-40B4-BE49-F238E27FC236}">
                <a16:creationId xmlns:a16="http://schemas.microsoft.com/office/drawing/2014/main" id="{8FA24E84-0FB7-4F4F-B20C-4BA1E488F977}"/>
              </a:ext>
            </a:extLst>
          </p:cNvPr>
          <p:cNvSpPr>
            <a:spLocks noGrp="1"/>
          </p:cNvSpPr>
          <p:nvPr>
            <p:ph idx="1"/>
          </p:nvPr>
        </p:nvSpPr>
        <p:spPr>
          <a:xfrm>
            <a:off x="382588" y="1219200"/>
            <a:ext cx="11382375" cy="4683125"/>
          </a:xfrm>
        </p:spPr>
        <p:txBody>
          <a:bodyPr rtlCol="0">
            <a:noAutofit/>
          </a:bodyPr>
          <a:lstStyle/>
          <a:p>
            <a:pPr algn="just" eaLnBrk="1" fontAlgn="auto" hangingPunct="1">
              <a:defRPr/>
            </a:pPr>
            <a:r>
              <a:rPr lang="en-US" b="1" dirty="0"/>
              <a:t>ASCII</a:t>
            </a:r>
            <a:r>
              <a:rPr lang="en-US" dirty="0"/>
              <a:t> stands for American Standard Code for Information Interchange. </a:t>
            </a:r>
          </a:p>
          <a:p>
            <a:pPr lvl="1" algn="just" eaLnBrk="1" fontAlgn="auto" hangingPunct="1">
              <a:defRPr/>
            </a:pPr>
            <a:r>
              <a:rPr lang="en-US" sz="2000" dirty="0"/>
              <a:t>It's a 7-bit character code where every single bit represents a unique character. </a:t>
            </a:r>
          </a:p>
          <a:p>
            <a:pPr algn="just" eaLnBrk="1" fontAlgn="auto" hangingPunct="1">
              <a:defRPr/>
            </a:pPr>
            <a:r>
              <a:rPr lang="en-US" b="1" dirty="0"/>
              <a:t>ASCII printable characters (character code 32-127)</a:t>
            </a:r>
          </a:p>
          <a:p>
            <a:pPr lvl="1" algn="just" eaLnBrk="1" fontAlgn="auto" hangingPunct="1">
              <a:defRPr/>
            </a:pPr>
            <a:r>
              <a:rPr lang="en-US" sz="2000" dirty="0"/>
              <a:t>Codes 32-127 are common for all the different variations of the ASCII table, they are called printable characters, represent letters, digits, punctuation marks, and a few miscellaneous symbols.</a:t>
            </a:r>
          </a:p>
          <a:p>
            <a:pPr lvl="1" algn="just" eaLnBrk="1" fontAlgn="auto" hangingPunct="1">
              <a:defRPr/>
            </a:pPr>
            <a:r>
              <a:rPr lang="en-US" sz="2000" dirty="0"/>
              <a:t>Character 127 represents the command DEL. </a:t>
            </a:r>
          </a:p>
          <a:p>
            <a:pPr algn="just" eaLnBrk="1" fontAlgn="auto" hangingPunct="1">
              <a:defRPr/>
            </a:pPr>
            <a:r>
              <a:rPr lang="en-US" b="1" dirty="0"/>
              <a:t>The extended ASCII codes (character code 128-255)</a:t>
            </a:r>
          </a:p>
          <a:p>
            <a:pPr lvl="1" algn="just" eaLnBrk="1" fontAlgn="auto" hangingPunct="1">
              <a:defRPr/>
            </a:pPr>
            <a:r>
              <a:rPr lang="en-US" sz="2000" dirty="0"/>
              <a:t>There are several different variations of the 8-bit ASCII table e.g. ISO 8859-1, also called ISO Latin-1. Codes 129-159 contain the Microsoft® Windows Latin-1 extended characters. </a:t>
            </a:r>
            <a:endParaRPr lang="en-US" sz="1000" dirty="0"/>
          </a:p>
        </p:txBody>
      </p:sp>
      <p:sp>
        <p:nvSpPr>
          <p:cNvPr id="71684" name="Slide Number Placeholder 3">
            <a:extLst>
              <a:ext uri="{FF2B5EF4-FFF2-40B4-BE49-F238E27FC236}">
                <a16:creationId xmlns:a16="http://schemas.microsoft.com/office/drawing/2014/main" id="{C88E4CFA-DF0C-447B-B87D-6CD9B074D1EB}"/>
              </a:ext>
            </a:extLst>
          </p:cNvPr>
          <p:cNvSpPr>
            <a:spLocks noGrp="1" noChangeArrowheads="1"/>
          </p:cNvSpPr>
          <p:nvPr>
            <p:ph type="sldNum" sz="quarter" idx="4"/>
          </p:nvPr>
        </p:nvSpPr>
        <p:spPr bwMode="auto">
          <a:xfrm>
            <a:off x="10772775" y="6400800"/>
            <a:ext cx="8128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B24F82D2-F11E-4793-B332-EAFF0F91D639}" type="slidenum">
              <a:rPr lang="en-US" altLang="en-US" sz="1800" smtClean="0">
                <a:solidFill>
                  <a:srgbClr val="898989"/>
                </a:solidFill>
                <a:latin typeface="Arial" panose="020B0604020202020204" pitchFamily="34" charset="0"/>
              </a:rPr>
              <a:pPr algn="l" eaLnBrk="0" hangingPunct="0">
                <a:spcBef>
                  <a:spcPct val="0"/>
                </a:spcBef>
                <a:buFontTx/>
                <a:buNone/>
              </a:pPr>
              <a:t>59</a:t>
            </a:fld>
            <a:endParaRPr lang="en-US" altLang="en-US" sz="1800">
              <a:solidFill>
                <a:srgbClr val="898989"/>
              </a:solidFill>
              <a:latin typeface="Arial" panose="020B0604020202020204" pitchFamily="34"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a:extLst>
              <a:ext uri="{FF2B5EF4-FFF2-40B4-BE49-F238E27FC236}">
                <a16:creationId xmlns:a16="http://schemas.microsoft.com/office/drawing/2014/main" id="{9F7CDB17-589A-4AE9-8ECC-E6F70E5C47A2}"/>
              </a:ext>
            </a:extLst>
          </p:cNvPr>
          <p:cNvSpPr>
            <a:spLocks noGrp="1"/>
          </p:cNvSpPr>
          <p:nvPr>
            <p:ph type="title"/>
          </p:nvPr>
        </p:nvSpPr>
        <p:spPr>
          <a:xfrm>
            <a:off x="609600" y="277813"/>
            <a:ext cx="10975975" cy="636587"/>
          </a:xfrm>
        </p:spPr>
        <p:txBody>
          <a:bodyPr rtlCol="0">
            <a:normAutofit fontScale="90000"/>
          </a:bodyPr>
          <a:lstStyle/>
          <a:p>
            <a:pPr algn="ctr" eaLnBrk="1" fontAlgn="auto" hangingPunct="1">
              <a:spcAft>
                <a:spcPts val="0"/>
              </a:spcAft>
              <a:defRPr/>
            </a:pPr>
            <a:r>
              <a:rPr lang="en-US" sz="3600" dirty="0"/>
              <a:t>ASCII Code</a:t>
            </a:r>
          </a:p>
        </p:txBody>
      </p:sp>
      <p:sp>
        <p:nvSpPr>
          <p:cNvPr id="72707" name="Slide Number Placeholder 3">
            <a:extLst>
              <a:ext uri="{FF2B5EF4-FFF2-40B4-BE49-F238E27FC236}">
                <a16:creationId xmlns:a16="http://schemas.microsoft.com/office/drawing/2014/main" id="{03D1512A-BA6A-43B3-8150-FF0915FF725B}"/>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9188E162-BF59-4D65-B8C4-39ED6FEE39D9}" type="slidenum">
              <a:rPr lang="en-US" altLang="en-US" sz="1800" smtClean="0">
                <a:solidFill>
                  <a:srgbClr val="898989"/>
                </a:solidFill>
                <a:latin typeface="Arial" panose="020B0604020202020204" pitchFamily="34" charset="0"/>
              </a:rPr>
              <a:pPr algn="l" eaLnBrk="0" hangingPunct="0">
                <a:spcBef>
                  <a:spcPct val="0"/>
                </a:spcBef>
                <a:buFontTx/>
                <a:buNone/>
              </a:pPr>
              <a:t>60</a:t>
            </a:fld>
            <a:endParaRPr lang="en-US" altLang="en-US" sz="1800">
              <a:solidFill>
                <a:srgbClr val="898989"/>
              </a:solidFill>
              <a:latin typeface="Arial" panose="020B0604020202020204" pitchFamily="34" charset="0"/>
            </a:endParaRPr>
          </a:p>
        </p:txBody>
      </p:sp>
      <p:pic>
        <p:nvPicPr>
          <p:cNvPr id="72708" name="Picture 2" descr="http://www.asciitable.com/index/asciifull.gif">
            <a:extLst>
              <a:ext uri="{FF2B5EF4-FFF2-40B4-BE49-F238E27FC236}">
                <a16:creationId xmlns:a16="http://schemas.microsoft.com/office/drawing/2014/main" id="{43F431CC-9C89-4E07-A4F1-F1A3E7932C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8000" y="1004888"/>
            <a:ext cx="11280775" cy="5126037"/>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74DA36D5-38EA-4A5E-8FCB-892787143E00}"/>
              </a:ext>
            </a:extLst>
          </p:cNvPr>
          <p:cNvSpPr>
            <a:spLocks noGrp="1"/>
          </p:cNvSpPr>
          <p:nvPr>
            <p:ph type="title"/>
          </p:nvPr>
        </p:nvSpPr>
        <p:spPr>
          <a:xfrm>
            <a:off x="609600" y="5826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algn="ctr" eaLnBrk="1" hangingPunct="1">
              <a:defRPr/>
            </a:pPr>
            <a:r>
              <a:rPr lang="en-US" sz="3600"/>
              <a:t>EBCDIC</a:t>
            </a:r>
          </a:p>
        </p:txBody>
      </p:sp>
      <p:sp>
        <p:nvSpPr>
          <p:cNvPr id="3" name="Content Placeholder 2">
            <a:extLst>
              <a:ext uri="{FF2B5EF4-FFF2-40B4-BE49-F238E27FC236}">
                <a16:creationId xmlns:a16="http://schemas.microsoft.com/office/drawing/2014/main" id="{3C2189FD-689C-4F7E-BE21-46AABC834DF3}"/>
              </a:ext>
            </a:extLst>
          </p:cNvPr>
          <p:cNvSpPr>
            <a:spLocks noGrp="1"/>
          </p:cNvSpPr>
          <p:nvPr>
            <p:ph idx="1"/>
          </p:nvPr>
        </p:nvSpPr>
        <p:spPr>
          <a:xfrm>
            <a:off x="609600" y="1600200"/>
            <a:ext cx="10974388" cy="3962400"/>
          </a:xfrm>
        </p:spPr>
        <p:txBody>
          <a:bodyPr rtlCol="0">
            <a:noAutofit/>
          </a:bodyPr>
          <a:lstStyle/>
          <a:p>
            <a:pPr algn="just" eaLnBrk="1" fontAlgn="auto" hangingPunct="1">
              <a:defRPr/>
            </a:pPr>
            <a:r>
              <a:rPr lang="en-US" b="1" dirty="0"/>
              <a:t>Extended Binary Coded Decimal Interchange Code</a:t>
            </a:r>
            <a:r>
              <a:rPr lang="en-US" dirty="0"/>
              <a:t> (</a:t>
            </a:r>
            <a:r>
              <a:rPr lang="en-US" b="1" dirty="0"/>
              <a:t>EBCDIC</a:t>
            </a:r>
            <a:r>
              <a:rPr lang="en-US" dirty="0"/>
              <a:t>) is an 8-bit character encoding used mainly on IBM mainframe and IBM midrange computer operating systems.</a:t>
            </a:r>
          </a:p>
          <a:p>
            <a:pPr marL="0" indent="0" algn="just" eaLnBrk="1" fontAlgn="auto" hangingPunct="1">
              <a:buFont typeface="Wingdings" pitchFamily="2" charset="2"/>
              <a:buNone/>
              <a:defRPr/>
            </a:pPr>
            <a:endParaRPr lang="en-US" dirty="0"/>
          </a:p>
          <a:p>
            <a:pPr algn="just" eaLnBrk="1" fontAlgn="auto" hangingPunct="1">
              <a:defRPr/>
            </a:pPr>
            <a:r>
              <a:rPr lang="en-US" b="1" dirty="0"/>
              <a:t>EBCDIC</a:t>
            </a:r>
            <a:r>
              <a:rPr lang="en-US" dirty="0"/>
              <a:t> descended from the code used with punched cards and the corresponding 6-bit binary-coded decimal code used with most of IBM's computer peripherals of the late 1950s and early 1960s.</a:t>
            </a:r>
          </a:p>
        </p:txBody>
      </p:sp>
      <p:sp>
        <p:nvSpPr>
          <p:cNvPr id="73732" name="Slide Number Placeholder 3">
            <a:extLst>
              <a:ext uri="{FF2B5EF4-FFF2-40B4-BE49-F238E27FC236}">
                <a16:creationId xmlns:a16="http://schemas.microsoft.com/office/drawing/2014/main" id="{90F606A6-BF3B-4BBD-828F-4A559B20CE6F}"/>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8D189F8-5071-4C12-A0FD-584272081F56}" type="slidenum">
              <a:rPr lang="en-US" altLang="en-US" sz="1800" smtClean="0">
                <a:solidFill>
                  <a:srgbClr val="898989"/>
                </a:solidFill>
                <a:latin typeface="Arial" panose="020B0604020202020204" pitchFamily="34" charset="0"/>
              </a:rPr>
              <a:pPr algn="l" eaLnBrk="0" hangingPunct="0">
                <a:spcBef>
                  <a:spcPct val="0"/>
                </a:spcBef>
                <a:buFontTx/>
                <a:buNone/>
              </a:pPr>
              <a:t>61</a:t>
            </a:fld>
            <a:endParaRPr lang="en-US" altLang="en-US" sz="1800">
              <a:solidFill>
                <a:srgbClr val="898989"/>
              </a:solidFill>
              <a:latin typeface="Arial" panose="020B0604020202020204" pitchFamily="34"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EEDE2094-A6FE-4D66-8248-5CEE0F501FAC}"/>
              </a:ext>
            </a:extLst>
          </p:cNvPr>
          <p:cNvSpPr>
            <a:spLocks noGrp="1"/>
          </p:cNvSpPr>
          <p:nvPr>
            <p:ph type="title"/>
          </p:nvPr>
        </p:nvSpPr>
        <p:spPr>
          <a:xfrm>
            <a:off x="609600" y="277813"/>
            <a:ext cx="10975975" cy="6365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200"/>
              <a:t>ASCII &amp; EBCDIC</a:t>
            </a:r>
          </a:p>
        </p:txBody>
      </p:sp>
      <p:sp>
        <p:nvSpPr>
          <p:cNvPr id="74755" name="Slide Number Placeholder 3">
            <a:extLst>
              <a:ext uri="{FF2B5EF4-FFF2-40B4-BE49-F238E27FC236}">
                <a16:creationId xmlns:a16="http://schemas.microsoft.com/office/drawing/2014/main" id="{87731264-43B7-4922-93D1-B60B2277768C}"/>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1CE84E2-D901-4341-B133-CEECFAA5D666}" type="slidenum">
              <a:rPr lang="en-US" altLang="en-US" sz="1800" smtClean="0">
                <a:solidFill>
                  <a:srgbClr val="898989"/>
                </a:solidFill>
                <a:latin typeface="Arial" panose="020B0604020202020204" pitchFamily="34" charset="0"/>
              </a:rPr>
              <a:pPr algn="l" eaLnBrk="0" hangingPunct="0">
                <a:spcBef>
                  <a:spcPct val="0"/>
                </a:spcBef>
                <a:buFontTx/>
                <a:buNone/>
              </a:pPr>
              <a:t>62</a:t>
            </a:fld>
            <a:endParaRPr lang="en-US" altLang="en-US" sz="1800">
              <a:solidFill>
                <a:srgbClr val="898989"/>
              </a:solidFill>
              <a:latin typeface="Arial" panose="020B0604020202020204" pitchFamily="34" charset="0"/>
            </a:endParaRPr>
          </a:p>
        </p:txBody>
      </p:sp>
      <p:pic>
        <p:nvPicPr>
          <p:cNvPr id="74756" name="Picture 2" descr="http://www.barrcentral.com/help/rje/screenB-1.gif">
            <a:extLst>
              <a:ext uri="{FF2B5EF4-FFF2-40B4-BE49-F238E27FC236}">
                <a16:creationId xmlns:a16="http://schemas.microsoft.com/office/drawing/2014/main" id="{6B7FD2B4-9E81-4E30-93A5-E88116A3C1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19200" y="990600"/>
            <a:ext cx="9553575" cy="53340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86205133-6A01-4651-B1C2-CE8BAF75B282}"/>
              </a:ext>
            </a:extLst>
          </p:cNvPr>
          <p:cNvSpPr>
            <a:spLocks noGrp="1"/>
          </p:cNvSpPr>
          <p:nvPr>
            <p:ph type="title"/>
          </p:nvPr>
        </p:nvSpPr>
        <p:spPr>
          <a:xfrm>
            <a:off x="230188" y="152400"/>
            <a:ext cx="11714162" cy="1116013"/>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a:t>Quiz 3- Answer All Questions – 10mins</a:t>
            </a:r>
          </a:p>
        </p:txBody>
      </p:sp>
      <p:sp>
        <p:nvSpPr>
          <p:cNvPr id="3" name="Content Placeholder 2">
            <a:extLst>
              <a:ext uri="{FF2B5EF4-FFF2-40B4-BE49-F238E27FC236}">
                <a16:creationId xmlns:a16="http://schemas.microsoft.com/office/drawing/2014/main" id="{59DE5E0E-8FA3-40D4-9523-09A9E57BD775}"/>
              </a:ext>
            </a:extLst>
          </p:cNvPr>
          <p:cNvSpPr>
            <a:spLocks noGrp="1"/>
          </p:cNvSpPr>
          <p:nvPr>
            <p:ph idx="1"/>
          </p:nvPr>
        </p:nvSpPr>
        <p:spPr>
          <a:xfrm>
            <a:off x="230188" y="1219200"/>
            <a:ext cx="11715750" cy="2743200"/>
          </a:xfrm>
        </p:spPr>
        <p:txBody>
          <a:bodyPr/>
          <a:lstStyle/>
          <a:p>
            <a:pPr eaLnBrk="1" hangingPunct="1">
              <a:defRPr/>
            </a:pPr>
            <a:r>
              <a:rPr lang="en-US" dirty="0"/>
              <a:t>Determine the  decimal value of the following hexadecimal value represented using IEEE Single precision format.</a:t>
            </a:r>
          </a:p>
          <a:p>
            <a:pPr marL="0" indent="0" eaLnBrk="1" hangingPunct="1">
              <a:buFont typeface="Arial" panose="020B0604020202020204" pitchFamily="34" charset="0"/>
              <a:buNone/>
              <a:defRPr/>
            </a:pPr>
            <a:r>
              <a:rPr lang="en-US" dirty="0"/>
              <a:t>				</a:t>
            </a:r>
            <a:r>
              <a:rPr lang="en-US" sz="3200" b="1" dirty="0">
                <a:solidFill>
                  <a:srgbClr val="0000FF"/>
                </a:solidFill>
              </a:rPr>
              <a:t>BE7BAC10h</a:t>
            </a:r>
          </a:p>
          <a:p>
            <a:pPr eaLnBrk="1" hangingPunct="1">
              <a:defRPr/>
            </a:pPr>
            <a:r>
              <a:rPr lang="en-US" dirty="0"/>
              <a:t>Represent   </a:t>
            </a:r>
            <a:r>
              <a:rPr lang="en-US" b="1" dirty="0">
                <a:solidFill>
                  <a:srgbClr val="0000FF"/>
                </a:solidFill>
              </a:rPr>
              <a:t>-82 </a:t>
            </a:r>
            <a:r>
              <a:rPr lang="en-US" dirty="0"/>
              <a:t> using </a:t>
            </a:r>
            <a:r>
              <a:rPr lang="en-US" b="1" dirty="0"/>
              <a:t>S-M, 1’s and 2’s Complement</a:t>
            </a:r>
          </a:p>
          <a:p>
            <a:pPr marL="0" indent="0" eaLnBrk="1" hangingPunct="1">
              <a:buFont typeface="Arial" panose="020B0604020202020204" pitchFamily="34" charset="0"/>
              <a:buNone/>
              <a:defRPr/>
            </a:pPr>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C5A500B3-1321-4C58-810B-B079453E3DD9}"/>
              </a:ext>
            </a:extLst>
          </p:cNvPr>
          <p:cNvSpPr>
            <a:spLocks noGrp="1"/>
          </p:cNvSpPr>
          <p:nvPr>
            <p:ph type="title"/>
          </p:nvPr>
        </p:nvSpPr>
        <p:spPr>
          <a:xfrm>
            <a:off x="306388" y="2693988"/>
            <a:ext cx="11714162" cy="1116012"/>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4800"/>
              <a:t>REPRESENTATION OF GRAPHICAL OBJECTS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34CB050B-7A17-4BCC-9E2D-3AB47A2EA611}"/>
              </a:ext>
            </a:extLst>
          </p:cNvPr>
          <p:cNvSpPr>
            <a:spLocks noGrp="1"/>
          </p:cNvSpPr>
          <p:nvPr>
            <p:ph type="title"/>
          </p:nvPr>
        </p:nvSpPr>
        <p:spPr>
          <a:xfrm>
            <a:off x="609600" y="381000"/>
            <a:ext cx="10975975" cy="636588"/>
          </a:xfrm>
        </p:spPr>
        <p:txBody>
          <a:bodyPr rtlCol="0">
            <a:normAutofit fontScale="90000"/>
          </a:bodyPr>
          <a:lstStyle/>
          <a:p>
            <a:pPr algn="ctr" eaLnBrk="1" fontAlgn="auto" hangingPunct="1">
              <a:spcAft>
                <a:spcPts val="0"/>
              </a:spcAft>
              <a:defRPr/>
            </a:pPr>
            <a:r>
              <a:rPr lang="en-US" sz="3600" dirty="0"/>
              <a:t>REPRESENTATION OF GRAPHICAL OBJECTS</a:t>
            </a:r>
          </a:p>
        </p:txBody>
      </p:sp>
      <p:sp>
        <p:nvSpPr>
          <p:cNvPr id="46083" name="Content Placeholder 2">
            <a:extLst>
              <a:ext uri="{FF2B5EF4-FFF2-40B4-BE49-F238E27FC236}">
                <a16:creationId xmlns:a16="http://schemas.microsoft.com/office/drawing/2014/main" id="{85D3E4AE-9316-4262-A5C3-A5C452D1BD1A}"/>
              </a:ext>
            </a:extLst>
          </p:cNvPr>
          <p:cNvSpPr>
            <a:spLocks noGrp="1"/>
          </p:cNvSpPr>
          <p:nvPr>
            <p:ph idx="1"/>
          </p:nvPr>
        </p:nvSpPr>
        <p:spPr>
          <a:xfrm>
            <a:off x="382588" y="1219200"/>
            <a:ext cx="11506200" cy="3657600"/>
          </a:xfrm>
        </p:spPr>
        <p:txBody>
          <a:bodyPr rtlCol="0">
            <a:noAutofit/>
          </a:bodyPr>
          <a:lstStyle/>
          <a:p>
            <a:pPr eaLnBrk="1" fontAlgn="auto" hangingPunct="1">
              <a:defRPr/>
            </a:pPr>
            <a:r>
              <a:rPr lang="en-US" dirty="0"/>
              <a:t>2 types of graphics can be represented</a:t>
            </a:r>
          </a:p>
          <a:p>
            <a:pPr lvl="1" eaLnBrk="1" fontAlgn="auto" hangingPunct="1">
              <a:defRPr/>
            </a:pPr>
            <a:r>
              <a:rPr lang="en-US" dirty="0"/>
              <a:t>Vector graphics</a:t>
            </a:r>
          </a:p>
          <a:p>
            <a:pPr lvl="1" eaLnBrk="1" fontAlgn="auto" hangingPunct="1">
              <a:defRPr/>
            </a:pPr>
            <a:r>
              <a:rPr lang="en-US" dirty="0"/>
              <a:t>Bitmap graphics</a:t>
            </a:r>
          </a:p>
          <a:p>
            <a:pPr eaLnBrk="1" fontAlgn="auto" hangingPunct="1">
              <a:defRPr/>
            </a:pPr>
            <a:r>
              <a:rPr lang="en-US" dirty="0"/>
              <a:t>Any graphic is made up from a series of pixels (Picture Elements). </a:t>
            </a:r>
          </a:p>
          <a:p>
            <a:pPr eaLnBrk="1" fontAlgn="auto" hangingPunct="1">
              <a:defRPr/>
            </a:pPr>
            <a:r>
              <a:rPr lang="en-US" dirty="0"/>
              <a:t>Each pixel is an individual point on the screen</a:t>
            </a:r>
          </a:p>
          <a:p>
            <a:pPr lvl="1" eaLnBrk="1" fontAlgn="auto" hangingPunct="1">
              <a:defRPr/>
            </a:pPr>
            <a:endParaRPr lang="en-US" dirty="0"/>
          </a:p>
        </p:txBody>
      </p:sp>
      <p:sp>
        <p:nvSpPr>
          <p:cNvPr id="77828" name="Slide Number Placeholder 3">
            <a:extLst>
              <a:ext uri="{FF2B5EF4-FFF2-40B4-BE49-F238E27FC236}">
                <a16:creationId xmlns:a16="http://schemas.microsoft.com/office/drawing/2014/main" id="{AAB132BE-7951-4684-A93C-C59EE639783F}"/>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2872B7A-3CC0-4555-8B9D-4EB6DA572EF3}" type="slidenum">
              <a:rPr lang="en-US" altLang="en-US" sz="1800" smtClean="0">
                <a:solidFill>
                  <a:srgbClr val="898989"/>
                </a:solidFill>
                <a:latin typeface="Arial" panose="020B0604020202020204" pitchFamily="34" charset="0"/>
              </a:rPr>
              <a:pPr algn="l" eaLnBrk="0" hangingPunct="0">
                <a:spcBef>
                  <a:spcPct val="0"/>
                </a:spcBef>
                <a:buFontTx/>
                <a:buNone/>
              </a:pPr>
              <a:t>65</a:t>
            </a:fld>
            <a:endParaRPr lang="en-US" altLang="en-US" sz="1800">
              <a:solidFill>
                <a:srgbClr val="898989"/>
              </a:solidFill>
              <a:latin typeface="Arial" panose="020B060402020202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12010F9E-C5FE-4591-B938-4AB9E24414A8}"/>
              </a:ext>
            </a:extLst>
          </p:cNvPr>
          <p:cNvSpPr>
            <a:spLocks noGrp="1"/>
          </p:cNvSpPr>
          <p:nvPr>
            <p:ph type="title"/>
          </p:nvPr>
        </p:nvSpPr>
        <p:spPr>
          <a:xfrm>
            <a:off x="609600" y="506413"/>
            <a:ext cx="10975975" cy="788987"/>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200"/>
              <a:t>BITMAP GRAPHICS</a:t>
            </a:r>
          </a:p>
        </p:txBody>
      </p:sp>
      <p:sp>
        <p:nvSpPr>
          <p:cNvPr id="78851" name="Slide Number Placeholder 3">
            <a:extLst>
              <a:ext uri="{FF2B5EF4-FFF2-40B4-BE49-F238E27FC236}">
                <a16:creationId xmlns:a16="http://schemas.microsoft.com/office/drawing/2014/main" id="{3A433C3E-9398-4F2A-A723-C28271AFEF4B}"/>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5FC5C61A-2FD2-4C6B-9C38-92F6C3353D23}" type="slidenum">
              <a:rPr lang="en-US" altLang="en-US" sz="1800" smtClean="0">
                <a:solidFill>
                  <a:srgbClr val="898989"/>
                </a:solidFill>
                <a:latin typeface="Arial" panose="020B0604020202020204" pitchFamily="34" charset="0"/>
              </a:rPr>
              <a:pPr algn="l" eaLnBrk="0" hangingPunct="0">
                <a:spcBef>
                  <a:spcPct val="0"/>
                </a:spcBef>
                <a:buFontTx/>
                <a:buNone/>
              </a:pPr>
              <a:t>66</a:t>
            </a:fld>
            <a:endParaRPr lang="en-US" altLang="en-US" sz="1800">
              <a:solidFill>
                <a:srgbClr val="898989"/>
              </a:solidFill>
              <a:latin typeface="Arial" panose="020B0604020202020204" pitchFamily="34" charset="0"/>
            </a:endParaRPr>
          </a:p>
        </p:txBody>
      </p:sp>
      <p:sp>
        <p:nvSpPr>
          <p:cNvPr id="47108" name="AutoShape 3">
            <a:extLst>
              <a:ext uri="{FF2B5EF4-FFF2-40B4-BE49-F238E27FC236}">
                <a16:creationId xmlns:a16="http://schemas.microsoft.com/office/drawing/2014/main" id="{1B580907-B85F-4D24-857B-57F4CCD42E7D}"/>
              </a:ext>
            </a:extLst>
          </p:cNvPr>
          <p:cNvSpPr>
            <a:spLocks noGrp="1" noChangeArrowheads="1"/>
          </p:cNvSpPr>
          <p:nvPr>
            <p:ph idx="1"/>
          </p:nvPr>
        </p:nvSpPr>
        <p:spPr>
          <a:xfrm>
            <a:off x="239713" y="1412875"/>
            <a:ext cx="11715750" cy="1101725"/>
          </a:xfrm>
        </p:spPr>
        <p:txBody>
          <a:bodyPr rtlCol="0"/>
          <a:lstStyle/>
          <a:p>
            <a:pPr eaLnBrk="1" fontAlgn="auto" hangingPunct="1">
              <a:defRPr/>
            </a:pPr>
            <a:r>
              <a:rPr lang="en-US" dirty="0"/>
              <a:t>Assuming only black and white (1 or 0) for each pixel the image below would be stored as shown</a:t>
            </a:r>
          </a:p>
        </p:txBody>
      </p:sp>
      <p:pic>
        <p:nvPicPr>
          <p:cNvPr id="78853" name="Picture 2">
            <a:extLst>
              <a:ext uri="{FF2B5EF4-FFF2-40B4-BE49-F238E27FC236}">
                <a16:creationId xmlns:a16="http://schemas.microsoft.com/office/drawing/2014/main" id="{02D0B0BE-C1E9-475C-A117-D3E63D4F59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068" t="46875" r="25037" b="22917"/>
          <a:stretch>
            <a:fillRect/>
          </a:stretch>
        </p:blipFill>
        <p:spPr bwMode="auto">
          <a:xfrm>
            <a:off x="1260475" y="2514600"/>
            <a:ext cx="97155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C61A35B4-20D2-41F8-8970-0D3E69E739FF}"/>
              </a:ext>
            </a:extLst>
          </p:cNvPr>
          <p:cNvSpPr>
            <a:spLocks noGrp="1"/>
          </p:cNvSpPr>
          <p:nvPr>
            <p:ph type="title"/>
          </p:nvPr>
        </p:nvSpPr>
        <p:spPr>
          <a:xfrm>
            <a:off x="609600" y="533400"/>
            <a:ext cx="10975975" cy="63658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200"/>
              <a:t>Bitmap - Resolution </a:t>
            </a:r>
          </a:p>
        </p:txBody>
      </p:sp>
      <p:sp>
        <p:nvSpPr>
          <p:cNvPr id="79875" name="Slide Number Placeholder 3">
            <a:extLst>
              <a:ext uri="{FF2B5EF4-FFF2-40B4-BE49-F238E27FC236}">
                <a16:creationId xmlns:a16="http://schemas.microsoft.com/office/drawing/2014/main" id="{20A437D8-D843-4159-9E23-1DCA4A8B7EEC}"/>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590E9B7-380E-4BEA-A327-699C404C6F34}" type="slidenum">
              <a:rPr lang="en-US" altLang="en-US" sz="1800" smtClean="0">
                <a:solidFill>
                  <a:srgbClr val="898989"/>
                </a:solidFill>
                <a:latin typeface="Arial" panose="020B0604020202020204" pitchFamily="34" charset="0"/>
              </a:rPr>
              <a:pPr algn="l" eaLnBrk="0" hangingPunct="0">
                <a:spcBef>
                  <a:spcPct val="0"/>
                </a:spcBef>
                <a:buFontTx/>
                <a:buNone/>
              </a:pPr>
              <a:t>67</a:t>
            </a:fld>
            <a:endParaRPr lang="en-US" altLang="en-US" sz="1800">
              <a:solidFill>
                <a:srgbClr val="898989"/>
              </a:solidFill>
              <a:latin typeface="Arial" panose="020B0604020202020204" pitchFamily="34" charset="0"/>
            </a:endParaRPr>
          </a:p>
        </p:txBody>
      </p:sp>
      <p:pic>
        <p:nvPicPr>
          <p:cNvPr id="79876" name="Picture 2">
            <a:extLst>
              <a:ext uri="{FF2B5EF4-FFF2-40B4-BE49-F238E27FC236}">
                <a16:creationId xmlns:a16="http://schemas.microsoft.com/office/drawing/2014/main" id="{C4479EB9-610F-4E65-8BE6-F3C360A1DAD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38654" t="52138" r="21632" b="15907"/>
          <a:stretch>
            <a:fillRect/>
          </a:stretch>
        </p:blipFill>
        <p:spPr>
          <a:xfrm>
            <a:off x="1016000" y="2590800"/>
            <a:ext cx="10334625" cy="3505200"/>
          </a:xfrm>
          <a:noFill/>
          <a:extLst>
            <a:ext uri="{909E8E84-426E-40DD-AFC4-6F175D3DCCD1}">
              <a14:hiddenFill xmlns:a14="http://schemas.microsoft.com/office/drawing/2010/main">
                <a:solidFill>
                  <a:srgbClr val="FFFFFF"/>
                </a:solidFill>
              </a14:hiddenFill>
            </a:ext>
          </a:extLst>
        </p:spPr>
      </p:pic>
      <p:sp>
        <p:nvSpPr>
          <p:cNvPr id="79877" name="TextBox 5">
            <a:extLst>
              <a:ext uri="{FF2B5EF4-FFF2-40B4-BE49-F238E27FC236}">
                <a16:creationId xmlns:a16="http://schemas.microsoft.com/office/drawing/2014/main" id="{12BF484E-1903-466E-BED0-1DFFC35A67C6}"/>
              </a:ext>
            </a:extLst>
          </p:cNvPr>
          <p:cNvSpPr txBox="1">
            <a:spLocks noChangeArrowheads="1"/>
          </p:cNvSpPr>
          <p:nvPr/>
        </p:nvSpPr>
        <p:spPr bwMode="auto">
          <a:xfrm>
            <a:off x="406400" y="1390650"/>
            <a:ext cx="112807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en-US" sz="2800"/>
              <a:t>The quality of the image depends on the number of pixels</a:t>
            </a:r>
          </a:p>
          <a:p>
            <a:pPr eaLnBrk="1" hangingPunct="1">
              <a:spcBef>
                <a:spcPct val="0"/>
              </a:spcBef>
            </a:pPr>
            <a:r>
              <a:rPr lang="en-US" altLang="en-US" sz="2800"/>
              <a:t>More pixels means higher resolution and clearer image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a:extLst>
              <a:ext uri="{FF2B5EF4-FFF2-40B4-BE49-F238E27FC236}">
                <a16:creationId xmlns:a16="http://schemas.microsoft.com/office/drawing/2014/main" id="{2CD88869-DCDE-4976-9C34-28B2EDACCB29}"/>
              </a:ext>
            </a:extLst>
          </p:cNvPr>
          <p:cNvSpPr>
            <a:spLocks noGrp="1"/>
          </p:cNvSpPr>
          <p:nvPr>
            <p:ph type="title"/>
          </p:nvPr>
        </p:nvSpPr>
        <p:spPr>
          <a:xfrm>
            <a:off x="609600" y="381000"/>
            <a:ext cx="10975975" cy="63658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200"/>
              <a:t>Memory Storage for Graphical Object</a:t>
            </a:r>
          </a:p>
        </p:txBody>
      </p:sp>
      <p:sp>
        <p:nvSpPr>
          <p:cNvPr id="49155" name="Content Placeholder 2">
            <a:extLst>
              <a:ext uri="{FF2B5EF4-FFF2-40B4-BE49-F238E27FC236}">
                <a16:creationId xmlns:a16="http://schemas.microsoft.com/office/drawing/2014/main" id="{2A82F559-4BA3-4383-B003-67288F382D14}"/>
              </a:ext>
            </a:extLst>
          </p:cNvPr>
          <p:cNvSpPr>
            <a:spLocks noGrp="1"/>
          </p:cNvSpPr>
          <p:nvPr>
            <p:ph idx="1"/>
          </p:nvPr>
        </p:nvSpPr>
        <p:spPr>
          <a:xfrm>
            <a:off x="609600" y="1066800"/>
            <a:ext cx="11280775" cy="5257800"/>
          </a:xfrm>
        </p:spPr>
        <p:txBody>
          <a:bodyPr rtlCol="0"/>
          <a:lstStyle/>
          <a:p>
            <a:pPr algn="just" eaLnBrk="1" fontAlgn="auto" hangingPunct="1">
              <a:defRPr/>
            </a:pPr>
            <a:r>
              <a:rPr lang="en-US" sz="2400" dirty="0"/>
              <a:t>The image below is 4 inches x 6 inches. The resolution is 300 </a:t>
            </a:r>
            <a:r>
              <a:rPr lang="en-US" sz="2400" dirty="0" err="1"/>
              <a:t>d.p.i</a:t>
            </a:r>
            <a:r>
              <a:rPr lang="en-US" sz="2400" dirty="0"/>
              <a:t>. (dots per linear inch) and the image is black and white. Calculate the memory requirements</a:t>
            </a:r>
          </a:p>
        </p:txBody>
      </p:sp>
      <p:sp>
        <p:nvSpPr>
          <p:cNvPr id="80900" name="Slide Number Placeholder 3">
            <a:extLst>
              <a:ext uri="{FF2B5EF4-FFF2-40B4-BE49-F238E27FC236}">
                <a16:creationId xmlns:a16="http://schemas.microsoft.com/office/drawing/2014/main" id="{F1A2BC40-062E-4AE5-B9A0-ACF631152F87}"/>
              </a:ext>
            </a:extLst>
          </p:cNvPr>
          <p:cNvSpPr>
            <a:spLocks noGrp="1" noChangeArrowheads="1"/>
          </p:cNvSpPr>
          <p:nvPr>
            <p:ph type="sldNum" sz="quarter" idx="4"/>
          </p:nvPr>
        </p:nvSpPr>
        <p:spPr bwMode="auto">
          <a:xfrm>
            <a:off x="10671175" y="6324600"/>
            <a:ext cx="9144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6557B871-568E-4B49-BD08-6323C1F992C9}" type="slidenum">
              <a:rPr lang="en-US" altLang="en-US" sz="1800" smtClean="0">
                <a:solidFill>
                  <a:srgbClr val="898989"/>
                </a:solidFill>
                <a:latin typeface="Arial" panose="020B0604020202020204" pitchFamily="34" charset="0"/>
              </a:rPr>
              <a:pPr algn="l" eaLnBrk="0" hangingPunct="0">
                <a:spcBef>
                  <a:spcPct val="0"/>
                </a:spcBef>
                <a:buFontTx/>
                <a:buNone/>
              </a:pPr>
              <a:t>68</a:t>
            </a:fld>
            <a:endParaRPr lang="en-US" altLang="en-US" sz="1800">
              <a:solidFill>
                <a:srgbClr val="898989"/>
              </a:solidFill>
              <a:latin typeface="Arial" panose="020B0604020202020204" pitchFamily="34" charset="0"/>
            </a:endParaRPr>
          </a:p>
        </p:txBody>
      </p:sp>
      <p:sp>
        <p:nvSpPr>
          <p:cNvPr id="80901" name="Text Box 5">
            <a:extLst>
              <a:ext uri="{FF2B5EF4-FFF2-40B4-BE49-F238E27FC236}">
                <a16:creationId xmlns:a16="http://schemas.microsoft.com/office/drawing/2014/main" id="{4B497826-39E9-4206-8627-1C2C04800143}"/>
              </a:ext>
            </a:extLst>
          </p:cNvPr>
          <p:cNvSpPr txBox="1">
            <a:spLocks noChangeArrowheads="1"/>
          </p:cNvSpPr>
          <p:nvPr/>
        </p:nvSpPr>
        <p:spPr bwMode="auto">
          <a:xfrm>
            <a:off x="3327400" y="2057400"/>
            <a:ext cx="4751388"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400" b="1"/>
              <a:t>Length:    	6x300 = 1800 pixels</a:t>
            </a:r>
          </a:p>
          <a:p>
            <a:pPr>
              <a:spcBef>
                <a:spcPct val="50000"/>
              </a:spcBef>
              <a:buFontTx/>
              <a:buNone/>
            </a:pPr>
            <a:r>
              <a:rPr lang="en-US" altLang="en-US" sz="2400" b="1"/>
              <a:t>Breadth:   	4x300 = 1200 pixels</a:t>
            </a:r>
          </a:p>
          <a:p>
            <a:pPr>
              <a:spcBef>
                <a:spcPct val="50000"/>
              </a:spcBef>
              <a:buFontTx/>
              <a:buNone/>
            </a:pPr>
            <a:r>
              <a:rPr lang="en-US" altLang="en-US" sz="2400" b="1"/>
              <a:t>Total no pixels = 1800 x 1200</a:t>
            </a:r>
          </a:p>
          <a:p>
            <a:pPr>
              <a:spcBef>
                <a:spcPct val="50000"/>
              </a:spcBef>
              <a:buFontTx/>
              <a:buNone/>
            </a:pPr>
            <a:r>
              <a:rPr lang="en-US" altLang="en-US" sz="2400" b="1"/>
              <a:t>		= 2,160,000 pixels</a:t>
            </a:r>
          </a:p>
          <a:p>
            <a:pPr>
              <a:spcBef>
                <a:spcPct val="50000"/>
              </a:spcBef>
              <a:buFontTx/>
              <a:buNone/>
            </a:pPr>
            <a:r>
              <a:rPr lang="en-US" altLang="en-US" sz="2400" b="1"/>
              <a:t> (1 or 0) means 1 bit per pixel</a:t>
            </a:r>
          </a:p>
          <a:p>
            <a:pPr>
              <a:spcBef>
                <a:spcPct val="50000"/>
              </a:spcBef>
              <a:buFontTx/>
              <a:buNone/>
            </a:pPr>
            <a:r>
              <a:rPr lang="en-US" altLang="en-US" sz="2400" b="1"/>
              <a:t>Storage 	= 2,160,000 bits</a:t>
            </a:r>
          </a:p>
          <a:p>
            <a:pPr>
              <a:spcBef>
                <a:spcPct val="50000"/>
              </a:spcBef>
              <a:buFontTx/>
              <a:buNone/>
            </a:pPr>
            <a:r>
              <a:rPr lang="en-US" altLang="en-US" sz="2400" b="1"/>
              <a:t>		= 270,000 bytes</a:t>
            </a:r>
          </a:p>
          <a:p>
            <a:pPr>
              <a:spcBef>
                <a:spcPct val="50000"/>
              </a:spcBef>
              <a:buFontTx/>
              <a:buNone/>
            </a:pPr>
            <a:r>
              <a:rPr lang="en-US" altLang="en-US" sz="2400" b="1"/>
              <a:t>		= 263.4 KBytes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C126E31D-2284-4B4D-B797-F3D2DBD7CCA2}"/>
              </a:ext>
            </a:extLst>
          </p:cNvPr>
          <p:cNvSpPr>
            <a:spLocks noGrp="1"/>
          </p:cNvSpPr>
          <p:nvPr>
            <p:ph type="title"/>
          </p:nvPr>
        </p:nvSpPr>
        <p:spPr>
          <a:xfrm>
            <a:off x="382588" y="457200"/>
            <a:ext cx="10975975" cy="560388"/>
          </a:xfrm>
          <a:ln w="9525"/>
          <a:extLst>
            <a:ext uri="{91240B29-F687-4F45-9708-019B960494DF}">
              <a14:hiddenLine xmlns:a14="http://schemas.microsoft.com/office/drawing/2010/main" w="57150">
                <a:solidFill>
                  <a:srgbClr val="000000"/>
                </a:solidFill>
                <a:miter lim="800000"/>
                <a:headEnd/>
                <a:tailEnd/>
              </a14:hiddenLine>
            </a:ext>
          </a:extLst>
        </p:spPr>
        <p:txBody>
          <a:bodyPr>
            <a:normAutofit fontScale="90000"/>
          </a:bodyPr>
          <a:lstStyle/>
          <a:p>
            <a:pPr eaLnBrk="1" hangingPunct="1">
              <a:defRPr/>
            </a:pPr>
            <a:r>
              <a:rPr lang="en-US" sz="3200">
                <a:latin typeface="Rockwell" pitchFamily="18" charset="0"/>
              </a:rPr>
              <a:t>Vector Graphics</a:t>
            </a:r>
          </a:p>
        </p:txBody>
      </p:sp>
      <p:sp>
        <p:nvSpPr>
          <p:cNvPr id="50179" name="Content Placeholder 2">
            <a:extLst>
              <a:ext uri="{FF2B5EF4-FFF2-40B4-BE49-F238E27FC236}">
                <a16:creationId xmlns:a16="http://schemas.microsoft.com/office/drawing/2014/main" id="{F6F23202-E540-457F-A6AA-AD9EC5978B91}"/>
              </a:ext>
            </a:extLst>
          </p:cNvPr>
          <p:cNvSpPr>
            <a:spLocks noGrp="1"/>
          </p:cNvSpPr>
          <p:nvPr>
            <p:ph idx="1"/>
          </p:nvPr>
        </p:nvSpPr>
        <p:spPr>
          <a:xfrm>
            <a:off x="306388" y="1143000"/>
            <a:ext cx="11734800" cy="4953000"/>
          </a:xfrm>
        </p:spPr>
        <p:txBody>
          <a:bodyPr rtlCol="0"/>
          <a:lstStyle/>
          <a:p>
            <a:pPr eaLnBrk="1" fontAlgn="auto" hangingPunct="1">
              <a:defRPr/>
            </a:pPr>
            <a:r>
              <a:rPr lang="en-US" sz="3200" dirty="0"/>
              <a:t>Each Image is made from objects (</a:t>
            </a:r>
            <a:r>
              <a:rPr lang="en-US" sz="3200" dirty="0" err="1"/>
              <a:t>line,rect,circle</a:t>
            </a:r>
            <a:r>
              <a:rPr lang="en-US" sz="3200" dirty="0"/>
              <a:t>)</a:t>
            </a:r>
          </a:p>
          <a:p>
            <a:pPr lvl="1" eaLnBrk="1" fontAlgn="auto" hangingPunct="1">
              <a:defRPr/>
            </a:pPr>
            <a:r>
              <a:rPr lang="en-US" sz="2800" dirty="0"/>
              <a:t>Every object has </a:t>
            </a:r>
            <a:r>
              <a:rPr lang="en-US" sz="2800" b="1" dirty="0"/>
              <a:t>ATTRIBUTES</a:t>
            </a:r>
            <a:r>
              <a:rPr lang="en-US" sz="2800" dirty="0"/>
              <a:t> which define it</a:t>
            </a:r>
          </a:p>
          <a:p>
            <a:pPr lvl="2" eaLnBrk="1" fontAlgn="auto" hangingPunct="1">
              <a:buFontTx/>
              <a:buNone/>
              <a:defRPr/>
            </a:pPr>
            <a:r>
              <a:rPr lang="en-US" sz="2400" b="1" dirty="0"/>
              <a:t>To draw the rectangle below we need to know:</a:t>
            </a:r>
          </a:p>
        </p:txBody>
      </p:sp>
      <p:sp>
        <p:nvSpPr>
          <p:cNvPr id="81924" name="Slide Number Placeholder 3">
            <a:extLst>
              <a:ext uri="{FF2B5EF4-FFF2-40B4-BE49-F238E27FC236}">
                <a16:creationId xmlns:a16="http://schemas.microsoft.com/office/drawing/2014/main" id="{67A61C2F-4FFA-4885-B53A-3261091A90A8}"/>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C1361C23-98C8-48C8-AAF4-3175B08EE5DA}" type="slidenum">
              <a:rPr lang="en-US" altLang="en-US" sz="1800" smtClean="0">
                <a:solidFill>
                  <a:srgbClr val="898989"/>
                </a:solidFill>
                <a:latin typeface="Arial" panose="020B0604020202020204" pitchFamily="34" charset="0"/>
              </a:rPr>
              <a:pPr algn="l" eaLnBrk="0" hangingPunct="0">
                <a:spcBef>
                  <a:spcPct val="0"/>
                </a:spcBef>
                <a:buFontTx/>
                <a:buNone/>
              </a:pPr>
              <a:t>69</a:t>
            </a:fld>
            <a:endParaRPr lang="en-US" altLang="en-US" sz="1800">
              <a:solidFill>
                <a:srgbClr val="898989"/>
              </a:solidFill>
              <a:latin typeface="Arial" panose="020B0604020202020204" pitchFamily="34" charset="0"/>
            </a:endParaRPr>
          </a:p>
        </p:txBody>
      </p:sp>
      <p:sp>
        <p:nvSpPr>
          <p:cNvPr id="81925" name="Rectangle 4">
            <a:extLst>
              <a:ext uri="{FF2B5EF4-FFF2-40B4-BE49-F238E27FC236}">
                <a16:creationId xmlns:a16="http://schemas.microsoft.com/office/drawing/2014/main" id="{92512D6F-33A1-431F-AE68-22B3F06470CF}"/>
              </a:ext>
            </a:extLst>
          </p:cNvPr>
          <p:cNvSpPr>
            <a:spLocks noChangeArrowheads="1"/>
          </p:cNvSpPr>
          <p:nvPr/>
        </p:nvSpPr>
        <p:spPr bwMode="auto">
          <a:xfrm>
            <a:off x="1373188" y="3200400"/>
            <a:ext cx="3659187" cy="2438400"/>
          </a:xfrm>
          <a:prstGeom prst="rect">
            <a:avLst/>
          </a:prstGeom>
          <a:solidFill>
            <a:schemeClr val="hlink"/>
          </a:solidFill>
          <a:ln w="76200">
            <a:solidFill>
              <a:srgbClr val="000000"/>
            </a:solidFill>
            <a:prstDash val="lgDash"/>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81926" name="Text Box 5">
            <a:extLst>
              <a:ext uri="{FF2B5EF4-FFF2-40B4-BE49-F238E27FC236}">
                <a16:creationId xmlns:a16="http://schemas.microsoft.com/office/drawing/2014/main" id="{3F1EEA21-0D51-4282-A731-7D48675E1721}"/>
              </a:ext>
            </a:extLst>
          </p:cNvPr>
          <p:cNvSpPr txBox="1">
            <a:spLocks noChangeArrowheads="1"/>
          </p:cNvSpPr>
          <p:nvPr/>
        </p:nvSpPr>
        <p:spPr bwMode="auto">
          <a:xfrm>
            <a:off x="5487988" y="3200400"/>
            <a:ext cx="4114800"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b="1"/>
              <a:t>Start  X and Y coordinates</a:t>
            </a:r>
          </a:p>
          <a:p>
            <a:pPr>
              <a:spcBef>
                <a:spcPct val="50000"/>
              </a:spcBef>
              <a:buFontTx/>
              <a:buNone/>
            </a:pPr>
            <a:r>
              <a:rPr lang="en-US" altLang="en-US" sz="1800" b="1"/>
              <a:t>The length</a:t>
            </a:r>
          </a:p>
          <a:p>
            <a:pPr>
              <a:spcBef>
                <a:spcPct val="50000"/>
              </a:spcBef>
              <a:buFontTx/>
              <a:buNone/>
            </a:pPr>
            <a:r>
              <a:rPr lang="en-US" altLang="en-US" sz="1800" b="1"/>
              <a:t>The breadth</a:t>
            </a:r>
          </a:p>
          <a:p>
            <a:pPr>
              <a:spcBef>
                <a:spcPct val="50000"/>
              </a:spcBef>
              <a:buFontTx/>
              <a:buNone/>
            </a:pPr>
            <a:r>
              <a:rPr lang="en-US" altLang="en-US" sz="1800" b="1"/>
              <a:t>The thickness and colour of the lines</a:t>
            </a:r>
          </a:p>
          <a:p>
            <a:pPr>
              <a:spcBef>
                <a:spcPct val="50000"/>
              </a:spcBef>
              <a:buFontTx/>
              <a:buNone/>
            </a:pPr>
            <a:r>
              <a:rPr lang="en-US" altLang="en-US" sz="1800" b="1"/>
              <a:t>The type of line (dashed)</a:t>
            </a:r>
          </a:p>
          <a:p>
            <a:pPr>
              <a:spcBef>
                <a:spcPct val="50000"/>
              </a:spcBef>
              <a:buFontTx/>
              <a:buNone/>
            </a:pPr>
            <a:r>
              <a:rPr lang="en-US" altLang="en-US" sz="1800" b="1"/>
              <a:t>The fill colour</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3">
            <a:extLst>
              <a:ext uri="{FF2B5EF4-FFF2-40B4-BE49-F238E27FC236}">
                <a16:creationId xmlns:a16="http://schemas.microsoft.com/office/drawing/2014/main" id="{D9DB72FE-9C0D-4E18-8E06-25927E84FC6A}"/>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D1710884-0D13-482B-8DA4-55194ED1FFDE}" type="slidenum">
              <a:rPr lang="en-US" altLang="en-US" sz="1800" smtClean="0">
                <a:solidFill>
                  <a:srgbClr val="898989"/>
                </a:solidFill>
                <a:latin typeface="Arial" panose="020B0604020202020204" pitchFamily="34" charset="0"/>
              </a:rPr>
              <a:pPr algn="l" eaLnBrk="0" hangingPunct="0">
                <a:spcBef>
                  <a:spcPct val="0"/>
                </a:spcBef>
                <a:buFontTx/>
                <a:buNone/>
              </a:pPr>
              <a:t>70</a:t>
            </a:fld>
            <a:endParaRPr lang="en-US" altLang="en-US" sz="1800">
              <a:solidFill>
                <a:srgbClr val="898989"/>
              </a:solidFill>
              <a:latin typeface="Arial" panose="020B0604020202020204" pitchFamily="34" charset="0"/>
            </a:endParaRPr>
          </a:p>
        </p:txBody>
      </p:sp>
      <p:pic>
        <p:nvPicPr>
          <p:cNvPr id="82947" name="Content Placeholder 4">
            <a:extLst>
              <a:ext uri="{FF2B5EF4-FFF2-40B4-BE49-F238E27FC236}">
                <a16:creationId xmlns:a16="http://schemas.microsoft.com/office/drawing/2014/main" id="{D099FDD4-30A0-43E8-8DFF-45885FA811F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30400" y="838200"/>
            <a:ext cx="8410575" cy="5105400"/>
          </a:xfr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9B650A31-BF02-429E-8ABF-BE0C540E792F}"/>
              </a:ext>
            </a:extLst>
          </p:cNvPr>
          <p:cNvSpPr>
            <a:spLocks noGrp="1"/>
          </p:cNvSpPr>
          <p:nvPr>
            <p:ph type="title"/>
          </p:nvPr>
        </p:nvSpPr>
        <p:spPr>
          <a:xfrm>
            <a:off x="611188" y="381000"/>
            <a:ext cx="10975975" cy="63658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US" altLang="en-US" sz="3200"/>
              <a:t>Vector vs Bit-Mapped Graphics</a:t>
            </a:r>
          </a:p>
        </p:txBody>
      </p:sp>
      <p:sp>
        <p:nvSpPr>
          <p:cNvPr id="52227" name="Content Placeholder 2">
            <a:extLst>
              <a:ext uri="{FF2B5EF4-FFF2-40B4-BE49-F238E27FC236}">
                <a16:creationId xmlns:a16="http://schemas.microsoft.com/office/drawing/2014/main" id="{7ED8467E-730E-4243-9150-2C5A14FC8711}"/>
              </a:ext>
            </a:extLst>
          </p:cNvPr>
          <p:cNvSpPr>
            <a:spLocks noGrp="1"/>
          </p:cNvSpPr>
          <p:nvPr>
            <p:ph idx="1"/>
          </p:nvPr>
        </p:nvSpPr>
        <p:spPr>
          <a:xfrm>
            <a:off x="458788" y="1219200"/>
            <a:ext cx="11253787" cy="4800600"/>
          </a:xfrm>
        </p:spPr>
        <p:txBody>
          <a:bodyPr rtlCol="0">
            <a:normAutofit lnSpcReduction="10000"/>
          </a:bodyPr>
          <a:lstStyle/>
          <a:p>
            <a:pPr eaLnBrk="1" fontAlgn="auto" hangingPunct="1">
              <a:lnSpc>
                <a:spcPct val="80000"/>
              </a:lnSpc>
              <a:defRPr/>
            </a:pPr>
            <a:r>
              <a:rPr lang="en-US" sz="2300" b="1" dirty="0"/>
              <a:t>Advantages of vector graphics (draw packages)</a:t>
            </a:r>
          </a:p>
          <a:p>
            <a:pPr eaLnBrk="1" fontAlgn="auto" hangingPunct="1">
              <a:lnSpc>
                <a:spcPct val="80000"/>
              </a:lnSpc>
              <a:buFont typeface="Wingdings" pitchFamily="2" charset="2"/>
              <a:buNone/>
              <a:defRPr/>
            </a:pPr>
            <a:endParaRPr lang="en-US" sz="2300" b="1" dirty="0"/>
          </a:p>
          <a:p>
            <a:pPr lvl="1" eaLnBrk="1" fontAlgn="auto" hangingPunct="1">
              <a:lnSpc>
                <a:spcPct val="80000"/>
              </a:lnSpc>
              <a:defRPr/>
            </a:pPr>
            <a:r>
              <a:rPr lang="en-US" sz="2300" b="1" dirty="0"/>
              <a:t>Images can be enlarged without losing resolution</a:t>
            </a:r>
          </a:p>
          <a:p>
            <a:pPr lvl="1" eaLnBrk="1" fontAlgn="auto" hangingPunct="1">
              <a:lnSpc>
                <a:spcPct val="80000"/>
              </a:lnSpc>
              <a:defRPr/>
            </a:pPr>
            <a:r>
              <a:rPr lang="en-US" sz="2300" b="1" dirty="0"/>
              <a:t>Objects can be edited by changing their attributes</a:t>
            </a:r>
          </a:p>
          <a:p>
            <a:pPr lvl="1" eaLnBrk="1" fontAlgn="auto" hangingPunct="1">
              <a:lnSpc>
                <a:spcPct val="80000"/>
              </a:lnSpc>
              <a:defRPr/>
            </a:pPr>
            <a:r>
              <a:rPr lang="en-US" sz="2300" b="1" dirty="0"/>
              <a:t>Objects can be layered on top/behind</a:t>
            </a:r>
          </a:p>
          <a:p>
            <a:pPr lvl="1" eaLnBrk="1" fontAlgn="auto" hangingPunct="1">
              <a:lnSpc>
                <a:spcPct val="80000"/>
              </a:lnSpc>
              <a:defRPr/>
            </a:pPr>
            <a:r>
              <a:rPr lang="en-US" sz="2300" b="1" dirty="0"/>
              <a:t>Images take up less disc space</a:t>
            </a:r>
          </a:p>
          <a:p>
            <a:pPr lvl="1" eaLnBrk="1" fontAlgn="auto" hangingPunct="1">
              <a:lnSpc>
                <a:spcPct val="80000"/>
              </a:lnSpc>
              <a:defRPr/>
            </a:pPr>
            <a:r>
              <a:rPr lang="en-US" sz="2300" b="1" dirty="0"/>
              <a:t>Ideal for drawing plans; use library of objects</a:t>
            </a:r>
          </a:p>
          <a:p>
            <a:pPr lvl="1" eaLnBrk="1" fontAlgn="auto" hangingPunct="1">
              <a:lnSpc>
                <a:spcPct val="80000"/>
              </a:lnSpc>
              <a:defRPr/>
            </a:pPr>
            <a:endParaRPr lang="en-US" sz="2300" b="1" dirty="0"/>
          </a:p>
          <a:p>
            <a:pPr eaLnBrk="1" fontAlgn="auto" hangingPunct="1">
              <a:lnSpc>
                <a:spcPct val="80000"/>
              </a:lnSpc>
              <a:defRPr/>
            </a:pPr>
            <a:r>
              <a:rPr lang="en-US" sz="2300" b="1" dirty="0"/>
              <a:t>Advantages of bit-mapped graphics (paint packages)</a:t>
            </a:r>
          </a:p>
          <a:p>
            <a:pPr eaLnBrk="1" fontAlgn="auto" hangingPunct="1">
              <a:lnSpc>
                <a:spcPct val="80000"/>
              </a:lnSpc>
              <a:defRPr/>
            </a:pPr>
            <a:endParaRPr lang="en-US" sz="2300" b="1" dirty="0"/>
          </a:p>
          <a:p>
            <a:pPr lvl="1" eaLnBrk="1" fontAlgn="auto" hangingPunct="1">
              <a:lnSpc>
                <a:spcPct val="80000"/>
              </a:lnSpc>
              <a:defRPr/>
            </a:pPr>
            <a:r>
              <a:rPr lang="en-US" sz="2300" b="1" dirty="0"/>
              <a:t>Each pixel can be altered</a:t>
            </a:r>
          </a:p>
          <a:p>
            <a:pPr lvl="1" eaLnBrk="1" fontAlgn="auto" hangingPunct="1">
              <a:lnSpc>
                <a:spcPct val="80000"/>
              </a:lnSpc>
              <a:defRPr/>
            </a:pPr>
            <a:r>
              <a:rPr lang="en-US" sz="2300" b="1" dirty="0"/>
              <a:t>More realistic when used for photos/real life</a:t>
            </a:r>
          </a:p>
          <a:p>
            <a:pPr eaLnBrk="1" fontAlgn="auto" hangingPunct="1">
              <a:defRPr/>
            </a:pPr>
            <a:endParaRPr lang="en-US" sz="2300" b="1" dirty="0"/>
          </a:p>
        </p:txBody>
      </p:sp>
      <p:sp>
        <p:nvSpPr>
          <p:cNvPr id="83972" name="Slide Number Placeholder 3">
            <a:extLst>
              <a:ext uri="{FF2B5EF4-FFF2-40B4-BE49-F238E27FC236}">
                <a16:creationId xmlns:a16="http://schemas.microsoft.com/office/drawing/2014/main" id="{D8EE3557-D15E-4C17-B365-D82E617CFE42}"/>
              </a:ext>
            </a:extLst>
          </p:cNvPr>
          <p:cNvSpPr>
            <a:spLocks noGrp="1" noChangeArrowheads="1"/>
          </p:cNvSpPr>
          <p:nvPr>
            <p:ph type="sldNum" sz="quarter" idx="4"/>
          </p:nvPr>
        </p:nvSpPr>
        <p:spPr bwMode="auto">
          <a:xfrm>
            <a:off x="8739188" y="6248400"/>
            <a:ext cx="2846387"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32FB2661-7602-42DE-B315-DD2419A588C8}" type="slidenum">
              <a:rPr lang="en-US" altLang="en-US" sz="1800" smtClean="0">
                <a:solidFill>
                  <a:srgbClr val="898989"/>
                </a:solidFill>
                <a:latin typeface="Arial" panose="020B0604020202020204" pitchFamily="34" charset="0"/>
              </a:rPr>
              <a:pPr algn="l" eaLnBrk="0" hangingPunct="0">
                <a:spcBef>
                  <a:spcPct val="0"/>
                </a:spcBef>
                <a:buFontTx/>
                <a:buNone/>
              </a:pPr>
              <a:t>71</a:t>
            </a:fld>
            <a:endParaRPr lang="en-US" altLang="en-US" sz="1800">
              <a:solidFill>
                <a:srgbClr val="898989"/>
              </a:solidFill>
              <a:latin typeface="Arial" panose="020B0604020202020204" pitchFamily="34"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5BD68EC-1C36-4693-A05B-ECD167AEA1BE}"/>
              </a:ext>
            </a:extLst>
          </p:cNvPr>
          <p:cNvSpPr>
            <a:spLocks noGrp="1"/>
          </p:cNvSpPr>
          <p:nvPr>
            <p:ph type="title"/>
          </p:nvPr>
        </p:nvSpPr>
        <p:spPr>
          <a:xfrm>
            <a:off x="609600" y="457200"/>
            <a:ext cx="10745788" cy="712788"/>
          </a:xfrm>
          <a:ln w="9525"/>
          <a:extLst>
            <a:ext uri="{91240B29-F687-4F45-9708-019B960494DF}">
              <a14:hiddenLine xmlns:a14="http://schemas.microsoft.com/office/drawing/2010/main" w="57150">
                <a:solidFill>
                  <a:srgbClr val="000000"/>
                </a:solidFill>
                <a:miter lim="800000"/>
                <a:headEnd/>
                <a:tailEnd/>
              </a14:hiddenLine>
            </a:ext>
          </a:extLst>
        </p:spPr>
        <p:txBody>
          <a:bodyPr/>
          <a:lstStyle/>
          <a:p>
            <a:pPr algn="ctr" eaLnBrk="1" hangingPunct="1"/>
            <a:r>
              <a:rPr lang="en-US" altLang="en-US" sz="3600">
                <a:latin typeface="Calisto MT" panose="02040603050505030304" pitchFamily="18" charset="0"/>
              </a:rPr>
              <a:t>HOME WORK </a:t>
            </a:r>
          </a:p>
        </p:txBody>
      </p:sp>
      <p:sp>
        <p:nvSpPr>
          <p:cNvPr id="53251" name="Content Placeholder 2">
            <a:extLst>
              <a:ext uri="{FF2B5EF4-FFF2-40B4-BE49-F238E27FC236}">
                <a16:creationId xmlns:a16="http://schemas.microsoft.com/office/drawing/2014/main" id="{D7FEDFFB-8E1D-40BE-9646-4F70A7865753}"/>
              </a:ext>
            </a:extLst>
          </p:cNvPr>
          <p:cNvSpPr>
            <a:spLocks noGrp="1"/>
          </p:cNvSpPr>
          <p:nvPr>
            <p:ph idx="1"/>
          </p:nvPr>
        </p:nvSpPr>
        <p:spPr>
          <a:xfrm>
            <a:off x="306388" y="1295400"/>
            <a:ext cx="11482387" cy="4191000"/>
          </a:xfrm>
        </p:spPr>
        <p:txBody>
          <a:bodyPr rtlCol="0"/>
          <a:lstStyle/>
          <a:p>
            <a:pPr eaLnBrk="1" fontAlgn="auto" hangingPunct="1">
              <a:defRPr/>
            </a:pPr>
            <a:r>
              <a:rPr lang="en-US" sz="2400" b="1" dirty="0">
                <a:latin typeface="Calisto MT" pitchFamily="18" charset="0"/>
              </a:rPr>
              <a:t>Write '-89' in S-M, 1’s  and 2’s Complements representations, using an 8-bit register.</a:t>
            </a:r>
          </a:p>
          <a:p>
            <a:pPr eaLnBrk="1" fontAlgn="auto" hangingPunct="1">
              <a:defRPr/>
            </a:pPr>
            <a:r>
              <a:rPr lang="en-US" sz="2400" b="1" dirty="0">
                <a:latin typeface="Calisto MT" pitchFamily="18" charset="0"/>
              </a:rPr>
              <a:t>Give the range of possible numbers which can be represented in a 16-bit register, using the S-M method. i.e. from ……. to …..… </a:t>
            </a:r>
          </a:p>
          <a:p>
            <a:pPr eaLnBrk="1" fontAlgn="auto" hangingPunct="1">
              <a:defRPr/>
            </a:pPr>
            <a:r>
              <a:rPr lang="en-US" sz="2400" b="1" dirty="0">
                <a:latin typeface="Calisto MT" pitchFamily="18" charset="0"/>
              </a:rPr>
              <a:t>What is the value of 10111011</a:t>
            </a:r>
            <a:r>
              <a:rPr lang="en-US" sz="2400" b="1" baseline="-25000" dirty="0">
                <a:latin typeface="Calisto MT" pitchFamily="18" charset="0"/>
              </a:rPr>
              <a:t>2</a:t>
            </a:r>
            <a:r>
              <a:rPr lang="en-US" sz="2400" b="1" dirty="0">
                <a:latin typeface="Calisto MT" pitchFamily="18" charset="0"/>
              </a:rPr>
              <a:t>  in S-M, 1’s , 2’s Complement?</a:t>
            </a:r>
          </a:p>
          <a:p>
            <a:pPr eaLnBrk="1" fontAlgn="auto" hangingPunct="1">
              <a:defRPr/>
            </a:pPr>
            <a:r>
              <a:rPr lang="en-US" sz="2400" b="1" dirty="0">
                <a:latin typeface="Calisto MT" pitchFamily="18" charset="0"/>
              </a:rPr>
              <a:t>Represent  23.5</a:t>
            </a:r>
            <a:r>
              <a:rPr lang="en-US" sz="2400" b="1" baseline="-25000" dirty="0">
                <a:latin typeface="Calisto MT" pitchFamily="18" charset="0"/>
              </a:rPr>
              <a:t>10 in</a:t>
            </a:r>
            <a:r>
              <a:rPr lang="en-US" sz="2400" b="1" dirty="0">
                <a:latin typeface="Calisto MT" pitchFamily="18" charset="0"/>
              </a:rPr>
              <a:t> IEEE Single Precision format. Express your answer in Hexadecimal (base 16).</a:t>
            </a:r>
            <a:endParaRPr lang="en-US" sz="2400" b="1" baseline="-25000" dirty="0">
              <a:latin typeface="Calisto MT" pitchFamily="18" charset="0"/>
            </a:endParaRPr>
          </a:p>
        </p:txBody>
      </p:sp>
      <p:sp>
        <p:nvSpPr>
          <p:cNvPr id="84996" name="Slide Number Placeholder 3">
            <a:extLst>
              <a:ext uri="{FF2B5EF4-FFF2-40B4-BE49-F238E27FC236}">
                <a16:creationId xmlns:a16="http://schemas.microsoft.com/office/drawing/2014/main" id="{04CCFEA7-106F-4BCE-9DCE-BCA35F979931}"/>
              </a:ext>
            </a:extLst>
          </p:cNvPr>
          <p:cNvSpPr>
            <a:spLocks noGrp="1"/>
          </p:cNvSpPr>
          <p:nvPr>
            <p:ph type="sldNum" sz="quarter" idx="4"/>
          </p:nvPr>
        </p:nvSpPr>
        <p:spPr bwMode="auto">
          <a:xfrm>
            <a:off x="10467975" y="6248400"/>
            <a:ext cx="11176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3D7AAF5-7F88-4FEF-93BE-3317CB6719FA}" type="slidenum">
              <a:rPr lang="en-US" altLang="en-US" sz="1800" smtClean="0">
                <a:solidFill>
                  <a:srgbClr val="000000"/>
                </a:solidFill>
                <a:latin typeface="Arial" panose="020B0604020202020204" pitchFamily="34" charset="0"/>
              </a:rPr>
              <a:pPr algn="l" eaLnBrk="0" hangingPunct="0">
                <a:spcBef>
                  <a:spcPct val="0"/>
                </a:spcBef>
                <a:buFontTx/>
                <a:buNone/>
              </a:pPr>
              <a:t>72</a:t>
            </a:fld>
            <a:endParaRPr lang="en-US" altLang="en-US" sz="1800">
              <a:solidFill>
                <a:srgbClr val="000000"/>
              </a:solidFill>
              <a:latin typeface="Arial" panose="020B060402020202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a:extLst>
              <a:ext uri="{FF2B5EF4-FFF2-40B4-BE49-F238E27FC236}">
                <a16:creationId xmlns:a16="http://schemas.microsoft.com/office/drawing/2014/main" id="{55BD68EC-1C36-4693-A05B-ECD167AEA1BE}"/>
              </a:ext>
            </a:extLst>
          </p:cNvPr>
          <p:cNvSpPr>
            <a:spLocks noGrp="1"/>
          </p:cNvSpPr>
          <p:nvPr>
            <p:ph type="title"/>
          </p:nvPr>
        </p:nvSpPr>
        <p:spPr>
          <a:xfrm>
            <a:off x="724693" y="2438400"/>
            <a:ext cx="10745788" cy="1600200"/>
          </a:xfrm>
          <a:solidFill>
            <a:schemeClr val="tx2">
              <a:lumMod val="40000"/>
              <a:lumOff val="60000"/>
            </a:schemeClr>
          </a:solidFill>
          <a:ln w="9525"/>
          <a:extLst>
            <a:ext uri="{91240B29-F687-4F45-9708-019B960494DF}">
              <a14:hiddenLine xmlns:a14="http://schemas.microsoft.com/office/drawing/2010/main" w="57150">
                <a:solidFill>
                  <a:srgbClr val="000000"/>
                </a:solidFill>
                <a:miter lim="800000"/>
                <a:headEnd/>
                <a:tailEnd/>
              </a14:hiddenLine>
            </a:ext>
          </a:extLst>
        </p:spPr>
        <p:txBody>
          <a:bodyPr>
            <a:normAutofit/>
          </a:bodyPr>
          <a:lstStyle/>
          <a:p>
            <a:pPr algn="ctr" eaLnBrk="1" hangingPunct="1"/>
            <a:r>
              <a:rPr lang="en-US" altLang="en-US" sz="4800" dirty="0">
                <a:latin typeface="Calisto MT" panose="02040603050505030304" pitchFamily="18" charset="0"/>
              </a:rPr>
              <a:t>END OF UNIT 2</a:t>
            </a:r>
          </a:p>
        </p:txBody>
      </p:sp>
      <p:sp>
        <p:nvSpPr>
          <p:cNvPr id="84996" name="Slide Number Placeholder 3">
            <a:extLst>
              <a:ext uri="{FF2B5EF4-FFF2-40B4-BE49-F238E27FC236}">
                <a16:creationId xmlns:a16="http://schemas.microsoft.com/office/drawing/2014/main" id="{04CCFEA7-106F-4BCE-9DCE-BCA35F979931}"/>
              </a:ext>
            </a:extLst>
          </p:cNvPr>
          <p:cNvSpPr>
            <a:spLocks noGrp="1"/>
          </p:cNvSpPr>
          <p:nvPr>
            <p:ph type="sldNum" sz="quarter" idx="4"/>
          </p:nvPr>
        </p:nvSpPr>
        <p:spPr bwMode="auto">
          <a:xfrm>
            <a:off x="10467975" y="6248400"/>
            <a:ext cx="1117600" cy="30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t"/>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eaLnBrk="0" hangingPunct="0">
              <a:spcBef>
                <a:spcPct val="0"/>
              </a:spcBef>
              <a:buFontTx/>
              <a:buNone/>
            </a:pPr>
            <a:fld id="{73D7AAF5-7F88-4FEF-93BE-3317CB6719FA}" type="slidenum">
              <a:rPr lang="en-US" altLang="en-US" sz="1800" smtClean="0">
                <a:solidFill>
                  <a:srgbClr val="000000"/>
                </a:solidFill>
                <a:latin typeface="Arial" panose="020B0604020202020204" pitchFamily="34" charset="0"/>
              </a:rPr>
              <a:pPr algn="l" eaLnBrk="0" hangingPunct="0">
                <a:spcBef>
                  <a:spcPct val="0"/>
                </a:spcBef>
                <a:buFontTx/>
                <a:buNone/>
              </a:pPr>
              <a:t>73</a:t>
            </a:fld>
            <a:endParaRPr lang="en-US" altLang="en-US" sz="1800">
              <a:solidFill>
                <a:srgbClr val="000000"/>
              </a:solidFill>
              <a:latin typeface="Arial" panose="020B0604020202020204" pitchFamily="34" charset="0"/>
            </a:endParaRPr>
          </a:p>
        </p:txBody>
      </p:sp>
    </p:spTree>
    <p:extLst>
      <p:ext uri="{BB962C8B-B14F-4D97-AF65-F5344CB8AC3E}">
        <p14:creationId xmlns:p14="http://schemas.microsoft.com/office/powerpoint/2010/main" val="42849994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1888015</TotalTime>
  <Words>3189</Words>
  <Application>Microsoft Office PowerPoint</Application>
  <PresentationFormat>Custom</PresentationFormat>
  <Paragraphs>566</Paragraphs>
  <Slides>73</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73</vt:i4>
      </vt:variant>
    </vt:vector>
  </HeadingPairs>
  <TitlesOfParts>
    <vt:vector size="86" baseType="lpstr">
      <vt:lpstr>Arial</vt:lpstr>
      <vt:lpstr>Calibri</vt:lpstr>
      <vt:lpstr>Calisto MT</vt:lpstr>
      <vt:lpstr>Georgia</vt:lpstr>
      <vt:lpstr>Nimbus Roman No9 L</vt:lpstr>
      <vt:lpstr>Nimbus Sans L</vt:lpstr>
      <vt:lpstr>Rockwell</vt:lpstr>
      <vt:lpstr>Rockwell Condensed</vt:lpstr>
      <vt:lpstr>Symbol</vt:lpstr>
      <vt:lpstr>Times New Roman</vt:lpstr>
      <vt:lpstr>Wingdings</vt:lpstr>
      <vt:lpstr>Office Theme</vt:lpstr>
      <vt:lpstr>Custom Design</vt:lpstr>
      <vt:lpstr>IFT222 Computer Architecture and Organization</vt:lpstr>
      <vt:lpstr>Introduction</vt:lpstr>
      <vt:lpstr>PowerPoint Presentation</vt:lpstr>
      <vt:lpstr>PowerPoint Presentation</vt:lpstr>
      <vt:lpstr>Base Conversion</vt:lpstr>
      <vt:lpstr>PowerPoint Presentation</vt:lpstr>
      <vt:lpstr>Example</vt:lpstr>
      <vt:lpstr>Conversion from a base into decimal form</vt:lpstr>
      <vt:lpstr>PowerPoint Presentation</vt:lpstr>
      <vt:lpstr>Example</vt:lpstr>
      <vt:lpstr>Conversion between binary and hexadecimal</vt:lpstr>
      <vt:lpstr>PowerPoint Presentation</vt:lpstr>
      <vt:lpstr>PowerPoint Presentation</vt:lpstr>
      <vt:lpstr>REPRESENTATION OF SIGNED &amp; UNSIGNED NUMBERS</vt:lpstr>
      <vt:lpstr>Introduction</vt:lpstr>
      <vt:lpstr>PowerPoint Presentation</vt:lpstr>
      <vt:lpstr>UNSIGNED</vt:lpstr>
      <vt:lpstr>PowerPoint Presentation</vt:lpstr>
      <vt:lpstr>SIGN MAGNITUDE</vt:lpstr>
      <vt:lpstr>Example</vt:lpstr>
      <vt:lpstr>PowerPoint Presentation</vt:lpstr>
      <vt:lpstr>Problem of Sign-Magnitude</vt:lpstr>
      <vt:lpstr>1’s Complement Representation</vt:lpstr>
      <vt:lpstr>Example</vt:lpstr>
      <vt:lpstr>1’s Complement (Cont’d)</vt:lpstr>
      <vt:lpstr>PowerPoint Presentation</vt:lpstr>
      <vt:lpstr>PowerPoint Presentation</vt:lpstr>
      <vt:lpstr>PowerPoint Presentation</vt:lpstr>
      <vt:lpstr>Two’s Complement Representation</vt:lpstr>
      <vt:lpstr>PowerPoint Presentation</vt:lpstr>
      <vt:lpstr>PowerPoint Presentation</vt:lpstr>
      <vt:lpstr>MID-LECTURE QUIZ</vt:lpstr>
      <vt:lpstr>ATTEMPT ALL QUESTIONS – 10 MINUTES</vt:lpstr>
      <vt:lpstr>PowerPoint Presentation</vt:lpstr>
      <vt:lpstr>Overflow Example</vt:lpstr>
      <vt:lpstr>Underflow </vt:lpstr>
      <vt:lpstr>Solving Overflow/Underflow Problem</vt:lpstr>
      <vt:lpstr>PowerPoint Presentation</vt:lpstr>
      <vt:lpstr>PowerPoint Presentation</vt:lpstr>
      <vt:lpstr>Vancouver Stock Exchange</vt:lpstr>
      <vt:lpstr>Binary Coded Decimal (BCD)</vt:lpstr>
      <vt:lpstr>PowerPoint Presentation</vt:lpstr>
      <vt:lpstr>PowerPoint Presentation</vt:lpstr>
      <vt:lpstr>Excess-3 Code</vt:lpstr>
      <vt:lpstr>Excess-3 (Cont’d)</vt:lpstr>
      <vt:lpstr>Excess-3 (Cont’d)</vt:lpstr>
      <vt:lpstr>Convert from Excess-3 to Decimal</vt:lpstr>
      <vt:lpstr>Representation of Floating Point Numbers</vt:lpstr>
      <vt:lpstr>Floating Point – Single Precision</vt:lpstr>
      <vt:lpstr>PowerPoint Presentation</vt:lpstr>
      <vt:lpstr>Floating Point – Double Precision</vt:lpstr>
      <vt:lpstr>Floating Point</vt:lpstr>
      <vt:lpstr>EXAMPLE: Put the decimal number 64.2 into the IEEE single precision representation.</vt:lpstr>
      <vt:lpstr>PowerPoint Presentation</vt:lpstr>
      <vt:lpstr>PowerPoint Presentation</vt:lpstr>
      <vt:lpstr>ALPHANUMERIC CODES</vt:lpstr>
      <vt:lpstr>Alphanumeric Code (Cont’d)</vt:lpstr>
      <vt:lpstr>Morse Code</vt:lpstr>
      <vt:lpstr>ASCII Code</vt:lpstr>
      <vt:lpstr>ASCII Code</vt:lpstr>
      <vt:lpstr>EBCDIC</vt:lpstr>
      <vt:lpstr>ASCII &amp; EBCDIC</vt:lpstr>
      <vt:lpstr>Quiz 3- Answer All Questions – 10mins</vt:lpstr>
      <vt:lpstr>REPRESENTATION OF GRAPHICAL OBJECTS</vt:lpstr>
      <vt:lpstr>REPRESENTATION OF GRAPHICAL OBJECTS</vt:lpstr>
      <vt:lpstr>BITMAP GRAPHICS</vt:lpstr>
      <vt:lpstr>Bitmap - Resolution </vt:lpstr>
      <vt:lpstr>Memory Storage for Graphical Object</vt:lpstr>
      <vt:lpstr>Vector Graphics</vt:lpstr>
      <vt:lpstr>PowerPoint Presentation</vt:lpstr>
      <vt:lpstr>Vector vs Bit-Mapped Graphics</vt:lpstr>
      <vt:lpstr>HOME WORK </vt:lpstr>
      <vt:lpstr>END OF UNIT 2</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Micah Jonathan</cp:lastModifiedBy>
  <cp:revision>209</cp:revision>
  <cp:lastPrinted>2015-08-03T07:22:59Z</cp:lastPrinted>
  <dcterms:created xsi:type="dcterms:W3CDTF">2014-01-31T21:42:27Z</dcterms:created>
  <dcterms:modified xsi:type="dcterms:W3CDTF">2026-04-07T06:04:47Z</dcterms:modified>
</cp:coreProperties>
</file>