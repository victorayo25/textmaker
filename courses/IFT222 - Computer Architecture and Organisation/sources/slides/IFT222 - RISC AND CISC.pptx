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9"/>
  </p:notesMasterIdLst>
  <p:handoutMasterIdLst>
    <p:handoutMasterId r:id="rId40"/>
  </p:handoutMasterIdLst>
  <p:sldIdLst>
    <p:sldId id="281" r:id="rId3"/>
    <p:sldId id="313" r:id="rId4"/>
    <p:sldId id="342" r:id="rId5"/>
    <p:sldId id="343" r:id="rId6"/>
    <p:sldId id="314" r:id="rId7"/>
    <p:sldId id="344" r:id="rId8"/>
    <p:sldId id="345" r:id="rId9"/>
    <p:sldId id="346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49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47" r:id="rId31"/>
    <p:sldId id="348" r:id="rId32"/>
    <p:sldId id="340" r:id="rId33"/>
    <p:sldId id="334" r:id="rId34"/>
    <p:sldId id="341" r:id="rId35"/>
    <p:sldId id="335" r:id="rId36"/>
    <p:sldId id="336" r:id="rId37"/>
    <p:sldId id="337" r:id="rId38"/>
  </p:sldIdLst>
  <p:sldSz cx="12195175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A0000"/>
    <a:srgbClr val="003399"/>
    <a:srgbClr val="FFFFFF"/>
    <a:srgbClr val="DDDDDD"/>
    <a:srgbClr val="662C5B"/>
    <a:srgbClr val="000000"/>
    <a:srgbClr val="660033"/>
    <a:srgbClr val="CC0066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3263" autoAdjust="0"/>
  </p:normalViewPr>
  <p:slideViewPr>
    <p:cSldViewPr>
      <p:cViewPr varScale="1">
        <p:scale>
          <a:sx n="80" d="100"/>
          <a:sy n="80" d="100"/>
        </p:scale>
        <p:origin x="775" y="50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22F73B2-7CF1-4832-BF09-2E3D082F4856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702B329-9B4F-43B9-920A-39268306AF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3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EDA5C1-9818-47C9-A79E-B4D4158DD3E3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4813" y="696913"/>
            <a:ext cx="62007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D498802-2017-4E9A-A8AF-781802F703C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22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4813" y="696913"/>
            <a:ext cx="6200775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98802-2017-4E9A-A8AF-781802F703C5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8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1003" y="570166"/>
            <a:ext cx="743452" cy="792088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9003276" y="0"/>
            <a:ext cx="323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www.covenantuniversity.edu.ng</a:t>
            </a:r>
            <a:endParaRPr lang="en-GB" sz="1800" dirty="0"/>
          </a:p>
        </p:txBody>
      </p:sp>
      <p:pic>
        <p:nvPicPr>
          <p:cNvPr id="10" name="Picture 2" descr="C:\Users\Ours\Desktop\Picture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45059" y="570169"/>
            <a:ext cx="4608512" cy="74377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1844828"/>
            <a:ext cx="10366375" cy="2448271"/>
          </a:xfrm>
          <a:solidFill>
            <a:srgbClr val="660033">
              <a:alpha val="61961"/>
            </a:srgbClr>
          </a:solidFill>
        </p:spPr>
        <p:txBody>
          <a:bodyPr>
            <a:noAutofit/>
          </a:bodyPr>
          <a:lstStyle>
            <a:lvl1pPr>
              <a:defRPr sz="5400" b="0">
                <a:solidFill>
                  <a:schemeClr val="bg1"/>
                </a:solidFill>
                <a:latin typeface="Rockwell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509120"/>
            <a:ext cx="8537575" cy="1752600"/>
          </a:xfrm>
          <a:solidFill>
            <a:srgbClr val="FFFFFF">
              <a:alpha val="74118"/>
            </a:srgbClr>
          </a:solidFill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  <a:latin typeface="Rockwell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633093" y="1074222"/>
            <a:ext cx="3220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662C5B"/>
                </a:solidFill>
              </a:rPr>
              <a:t>Raising a new Generation of Leaders</a:t>
            </a:r>
            <a:endParaRPr lang="en-GB" sz="1600" dirty="0">
              <a:solidFill>
                <a:srgbClr val="662C5B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2" y="-54768"/>
            <a:ext cx="12281948" cy="6912768"/>
          </a:xfrm>
          <a:prstGeom prst="rect">
            <a:avLst/>
          </a:prstGeom>
          <a:noFill/>
        </p:spPr>
      </p:pic>
      <p:pic>
        <p:nvPicPr>
          <p:cNvPr id="8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941" y="548680"/>
            <a:ext cx="1216557" cy="1296144"/>
          </a:xfrm>
          <a:prstGeom prst="rect">
            <a:avLst/>
          </a:prstGeom>
          <a:noFill/>
        </p:spPr>
      </p:pic>
      <p:sp>
        <p:nvSpPr>
          <p:cNvPr id="10" name="Title 1"/>
          <p:cNvSpPr>
            <a:spLocks noGrp="1"/>
          </p:cNvSpPr>
          <p:nvPr userDrawn="1">
            <p:ph type="ctrTitle"/>
          </p:nvPr>
        </p:nvSpPr>
        <p:spPr>
          <a:xfrm>
            <a:off x="914638" y="2204865"/>
            <a:ext cx="10365899" cy="2520280"/>
          </a:xfrm>
          <a:solidFill>
            <a:srgbClr val="CC3399">
              <a:alpha val="83137"/>
            </a:srgbClr>
          </a:solidFill>
        </p:spPr>
        <p:txBody>
          <a:bodyPr>
            <a:normAutofit/>
          </a:bodyPr>
          <a:lstStyle/>
          <a:p>
            <a:endParaRPr lang="en-GB" sz="6600" b="1" dirty="0">
              <a:solidFill>
                <a:schemeClr val="bg1"/>
              </a:solidFill>
              <a:latin typeface="Rockwell" pitchFamily="18" charset="0"/>
            </a:endParaRPr>
          </a:p>
        </p:txBody>
      </p:sp>
      <p:sp>
        <p:nvSpPr>
          <p:cNvPr id="11" name="Subtitle 2"/>
          <p:cNvSpPr>
            <a:spLocks noGrp="1"/>
          </p:cNvSpPr>
          <p:nvPr userDrawn="1">
            <p:ph type="subTitle" idx="1"/>
          </p:nvPr>
        </p:nvSpPr>
        <p:spPr>
          <a:xfrm>
            <a:off x="1705101" y="4869160"/>
            <a:ext cx="8536623" cy="1752600"/>
          </a:xfrm>
          <a:solidFill>
            <a:srgbClr val="FFFFFF">
              <a:alpha val="63137"/>
            </a:srgbClr>
          </a:solidFill>
        </p:spPr>
        <p:txBody>
          <a:bodyPr>
            <a:normAutofit/>
          </a:bodyPr>
          <a:lstStyle>
            <a:lvl1pPr algn="ctr">
              <a:buNone/>
              <a:defRPr sz="4000">
                <a:ln>
                  <a:noFill/>
                </a:ln>
                <a:solidFill>
                  <a:srgbClr val="002060"/>
                </a:solidFill>
              </a:defRPr>
            </a:lvl1pPr>
          </a:lstStyle>
          <a:p>
            <a:endParaRPr lang="en-GB" dirty="0">
              <a:solidFill>
                <a:schemeClr val="bg1"/>
              </a:solidFill>
              <a:latin typeface="Rockwell" pitchFamily="18" charset="0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345059" y="1268760"/>
            <a:ext cx="3979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662C5B"/>
                </a:solidFill>
              </a:rPr>
              <a:t>Raising a new Generation of Leaders</a:t>
            </a:r>
            <a:endParaRPr lang="en-GB" sz="2000" dirty="0">
              <a:solidFill>
                <a:srgbClr val="662C5B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9003276" y="0"/>
            <a:ext cx="323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www.covenantuniversity.edu.ng</a:t>
            </a:r>
            <a:endParaRPr lang="en-GB" sz="1800" dirty="0"/>
          </a:p>
        </p:txBody>
      </p:sp>
      <p:pic>
        <p:nvPicPr>
          <p:cNvPr id="3074" name="Picture 2" descr="C:\Users\Ours\Desktop\Picture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29035" y="692700"/>
            <a:ext cx="5065714" cy="81756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387" y="153144"/>
            <a:ext cx="11738670" cy="837456"/>
          </a:xfrm>
          <a:solidFill>
            <a:schemeClr val="bg1"/>
          </a:solidFill>
          <a:ln w="57150">
            <a:noFill/>
          </a:ln>
        </p:spPr>
        <p:txBody>
          <a:bodyPr>
            <a:normAutofit/>
          </a:bodyPr>
          <a:lstStyle>
            <a:lvl1pPr algn="l">
              <a:defRPr sz="3600" b="1">
                <a:solidFill>
                  <a:srgbClr val="FF0000"/>
                </a:solidFill>
                <a:latin typeface="Rockwell Condensed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2" descr="C:\Users\Ours\Desktop\flash\c.u..jpg"/>
          <p:cNvPicPr>
            <a:picLocks noChangeAspect="1" noChangeArrowheads="1"/>
          </p:cNvPicPr>
          <p:nvPr userDrawn="1"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41294" b="49226"/>
          <a:stretch>
            <a:fillRect/>
          </a:stretch>
        </p:blipFill>
        <p:spPr bwMode="auto">
          <a:xfrm>
            <a:off x="2" y="6309320"/>
            <a:ext cx="12281948" cy="773752"/>
          </a:xfrm>
          <a:prstGeom prst="rect">
            <a:avLst/>
          </a:prstGeom>
          <a:noFill/>
        </p:spPr>
      </p:pic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10778109" y="6336704"/>
            <a:ext cx="1045349" cy="548680"/>
          </a:xfrm>
          <a:prstGeom prst="rect">
            <a:avLst/>
          </a:prstGeom>
          <a:solidFill>
            <a:srgbClr val="F7F7F7">
              <a:alpha val="45098"/>
            </a:srgbClr>
          </a:solidFill>
        </p:spPr>
        <p:txBody>
          <a:bodyPr vert="horz" lIns="91440" tIns="45720" rIns="91440" bIns="45720" rtlCol="0" anchor="ctr"/>
          <a:lstStyle>
            <a:lvl1pPr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18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E708FE-ED12-4ACB-81C9-F40A112777FF}" type="slidenum">
              <a:rPr kumimoji="0" lang="en-GB" sz="28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eorgia" pitchFamily="18" charset="0"/>
              <a:ea typeface="+mn-ea"/>
              <a:cs typeface="+mn-cs"/>
            </a:endParaRPr>
          </a:p>
        </p:txBody>
      </p:sp>
      <p:pic>
        <p:nvPicPr>
          <p:cNvPr id="10" name="Picture 2" descr="C:\Users\Ours\Desktop\my stuffs\1 NTFS_000\LostFiles2\INSPIRATION\PROJECTS\MIND PROJECTS\cu_logo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016" y="6363534"/>
            <a:ext cx="624979" cy="665866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12" y="1066800"/>
            <a:ext cx="11716352" cy="5170512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1pPr>
            <a:lvl2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Wingdings" pitchFamily="2" charset="2"/>
              <a:buChar char="§"/>
              <a:defRPr sz="2400">
                <a:solidFill>
                  <a:srgbClr val="7A0000"/>
                </a:solidFill>
                <a:latin typeface="Rockwell" pitchFamily="18" charset="0"/>
              </a:defRPr>
            </a:lvl2pPr>
            <a:lvl3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Calibri" pitchFamily="34" charset="0"/>
              <a:buChar char="‒"/>
              <a:defRPr sz="2000">
                <a:solidFill>
                  <a:schemeClr val="accent4">
                    <a:lumMod val="50000"/>
                  </a:schemeClr>
                </a:solidFill>
                <a:latin typeface="Rockwell" pitchFamily="18" charset="0"/>
              </a:defRPr>
            </a:lvl3pPr>
            <a:lvl4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defRPr sz="2800">
                <a:latin typeface="Rockwell" pitchFamily="18" charset="0"/>
              </a:defRPr>
            </a:lvl4pPr>
            <a:lvl5pPr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defRPr sz="2800">
                <a:latin typeface="Rockwell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026" name="Picture 2" descr="C:\Users\Ours\Desktop\Picture1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2972" y="6317328"/>
            <a:ext cx="5976665" cy="640064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 userDrawn="1"/>
        </p:nvSpPr>
        <p:spPr>
          <a:xfrm>
            <a:off x="724026" y="6707435"/>
            <a:ext cx="2215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www.covenantuniversity.edu.ng</a:t>
            </a:r>
            <a:endParaRPr lang="en-GB" sz="1200" dirty="0"/>
          </a:p>
        </p:txBody>
      </p:sp>
      <p:cxnSp>
        <p:nvCxnSpPr>
          <p:cNvPr id="19" name="Straight Connector 18"/>
          <p:cNvCxnSpPr/>
          <p:nvPr userDrawn="1"/>
        </p:nvCxnSpPr>
        <p:spPr>
          <a:xfrm flipV="1">
            <a:off x="8689876" y="1340768"/>
            <a:ext cx="1800001" cy="0"/>
          </a:xfrm>
          <a:prstGeom prst="line">
            <a:avLst/>
          </a:prstGeom>
          <a:ln w="28575">
            <a:solidFill>
              <a:srgbClr val="662C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 flipV="1">
            <a:off x="10526061" y="1340768"/>
            <a:ext cx="719999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 flipV="1">
            <a:off x="11282245" y="1340768"/>
            <a:ext cx="719999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336" y="4406905"/>
            <a:ext cx="103658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336" y="2906713"/>
            <a:ext cx="103658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759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214" y="1600205"/>
            <a:ext cx="538620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535113"/>
            <a:ext cx="53883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59" y="2174875"/>
            <a:ext cx="53883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983" y="1535113"/>
            <a:ext cx="539043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983" y="2174875"/>
            <a:ext cx="53904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62" y="273050"/>
            <a:ext cx="40121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974" y="273055"/>
            <a:ext cx="681744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62" y="1435103"/>
            <a:ext cx="40121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341" y="4800600"/>
            <a:ext cx="731710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341" y="612775"/>
            <a:ext cx="731710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341" y="5367338"/>
            <a:ext cx="731710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1502" y="274643"/>
            <a:ext cx="27439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759" y="274643"/>
            <a:ext cx="802849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3" y="2130429"/>
            <a:ext cx="1036637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757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5" y="4406904"/>
            <a:ext cx="1036637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5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788" y="1600204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79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5" y="1535113"/>
            <a:ext cx="539115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425" y="2174875"/>
            <a:ext cx="539115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61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4"/>
            <a:ext cx="68183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61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776" y="4800600"/>
            <a:ext cx="731678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776" y="612775"/>
            <a:ext cx="731678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776" y="5367338"/>
            <a:ext cx="731678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2375" y="27464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74642"/>
            <a:ext cx="8080374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759" y="274638"/>
            <a:ext cx="1097565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59" y="1600205"/>
            <a:ext cx="1097565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760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2E69B-9B3B-437C-9ADF-D56F423A0581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6685" y="6356355"/>
            <a:ext cx="38618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875" y="6356355"/>
            <a:ext cx="28455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FEC63-AC9E-491C-B008-E83D881192CD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4"/>
            <a:ext cx="1097597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4"/>
            <a:ext cx="2846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A4263-B01D-4F49-B558-EEB448DAF4C2}" type="datetimeFigureOut">
              <a:rPr lang="en-GB" smtClean="0"/>
              <a:pPr/>
              <a:t>24/07/2026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188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9189" y="6356354"/>
            <a:ext cx="28463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D965-F460-422A-A842-9BE9972FC43E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6387" y="1447801"/>
            <a:ext cx="11734800" cy="1600199"/>
          </a:xfr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</a:rPr>
              <a:t>IFT222</a:t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4000" b="1" dirty="0">
                <a:solidFill>
                  <a:schemeClr val="tx1"/>
                </a:solidFill>
              </a:rPr>
              <a:t>Computer Architecture and Organization I</a:t>
            </a:r>
          </a:p>
        </p:txBody>
      </p:sp>
      <p:sp>
        <p:nvSpPr>
          <p:cNvPr id="3" name="Title 7"/>
          <p:cNvSpPr txBox="1">
            <a:spLocks/>
          </p:cNvSpPr>
          <p:nvPr/>
        </p:nvSpPr>
        <p:spPr>
          <a:xfrm>
            <a:off x="230187" y="4156650"/>
            <a:ext cx="11734800" cy="129540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5400" b="0" kern="1200">
                <a:solidFill>
                  <a:schemeClr val="bg1"/>
                </a:solidFill>
                <a:latin typeface="Rockwell" pitchFamily="18" charset="0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1"/>
                </a:solidFill>
              </a:rPr>
              <a:t>MODULE5: PROCESSOR TYPES – RISC VERSUS CISC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4880" y="992188"/>
            <a:ext cx="11555775" cy="5561012"/>
          </a:xfrm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342900" indent="-342900" algn="just">
              <a:buFontTx/>
              <a:buChar char="•"/>
              <a:defRPr/>
            </a:pPr>
            <a:r>
              <a:rPr lang="en-GB" sz="2800" b="1" dirty="0">
                <a:solidFill>
                  <a:schemeClr val="tx1"/>
                </a:solidFill>
                <a:latin typeface="+mj-lt"/>
              </a:rPr>
              <a:t>At the end of this lesson, students should be able to:</a:t>
            </a:r>
          </a:p>
          <a:p>
            <a:pPr marL="342900" indent="-342900" algn="just">
              <a:buFontTx/>
              <a:buChar char="•"/>
              <a:defRPr/>
            </a:pPr>
            <a:r>
              <a:rPr lang="en-GB" sz="2800" dirty="0">
                <a:solidFill>
                  <a:schemeClr val="tx1"/>
                </a:solidFill>
                <a:latin typeface="+mj-lt"/>
              </a:rPr>
              <a:t>Define Instruction Set Architecture (ISA).</a:t>
            </a:r>
          </a:p>
          <a:p>
            <a:pPr marL="342900" indent="-342900" algn="just">
              <a:buFontTx/>
              <a:buChar char="•"/>
              <a:defRPr/>
            </a:pPr>
            <a:r>
              <a:rPr lang="en-GB" sz="2800" dirty="0">
                <a:solidFill>
                  <a:schemeClr val="tx1"/>
                </a:solidFill>
                <a:latin typeface="+mj-lt"/>
              </a:rPr>
              <a:t>Explain the concepts of RISC and CISC architectures.</a:t>
            </a:r>
          </a:p>
          <a:p>
            <a:pPr marL="342900" indent="-342900" algn="just">
              <a:buFontTx/>
              <a:buChar char="•"/>
              <a:defRPr/>
            </a:pPr>
            <a:r>
              <a:rPr lang="en-GB" sz="2800" dirty="0">
                <a:solidFill>
                  <a:schemeClr val="tx1"/>
                </a:solidFill>
                <a:latin typeface="+mj-lt"/>
              </a:rPr>
              <a:t>Describe the characteristics of RISC processors.</a:t>
            </a:r>
          </a:p>
          <a:p>
            <a:pPr marL="342900" indent="-342900" algn="just">
              <a:buFontTx/>
              <a:buChar char="•"/>
              <a:defRPr/>
            </a:pPr>
            <a:r>
              <a:rPr lang="en-GB" sz="2800" dirty="0">
                <a:solidFill>
                  <a:schemeClr val="tx1"/>
                </a:solidFill>
                <a:latin typeface="+mj-lt"/>
              </a:rPr>
              <a:t>Describe the characteristics of CISC processors.</a:t>
            </a:r>
          </a:p>
          <a:p>
            <a:pPr marL="342900" indent="-342900" algn="just">
              <a:buFontTx/>
              <a:buChar char="•"/>
              <a:defRPr/>
            </a:pPr>
            <a:r>
              <a:rPr lang="en-GB" sz="2800" dirty="0">
                <a:solidFill>
                  <a:schemeClr val="tx1"/>
                </a:solidFill>
                <a:latin typeface="+mj-lt"/>
              </a:rPr>
              <a:t>Compare RISC and CISC architectures based on design principles and performance.</a:t>
            </a:r>
          </a:p>
          <a:p>
            <a:pPr marL="342900" indent="-342900" algn="just">
              <a:buFontTx/>
              <a:buChar char="•"/>
              <a:defRPr/>
            </a:pPr>
            <a:r>
              <a:rPr lang="en-GB" sz="2800" dirty="0">
                <a:solidFill>
                  <a:schemeClr val="tx1"/>
                </a:solidFill>
                <a:latin typeface="+mj-lt"/>
              </a:rPr>
              <a:t>Identify advantages and disadvantages of both architectures.</a:t>
            </a:r>
          </a:p>
          <a:p>
            <a:pPr marL="342900" indent="-342900" algn="just">
              <a:buFontTx/>
              <a:buChar char="•"/>
              <a:defRPr/>
            </a:pPr>
            <a:r>
              <a:rPr lang="en-GB" sz="2800" dirty="0" err="1">
                <a:solidFill>
                  <a:schemeClr val="tx1"/>
                </a:solidFill>
                <a:latin typeface="+mj-lt"/>
              </a:rPr>
              <a:t>Analyze</a:t>
            </a:r>
            <a:r>
              <a:rPr lang="en-GB" sz="2800" dirty="0">
                <a:solidFill>
                  <a:schemeClr val="tx1"/>
                </a:solidFill>
                <a:latin typeface="+mj-lt"/>
              </a:rPr>
              <a:t> practical applications of RISC and CISC processors.</a:t>
            </a:r>
          </a:p>
          <a:p>
            <a:pPr marL="342900" indent="-342900" algn="just">
              <a:buFontTx/>
              <a:buChar char="•"/>
              <a:defRPr/>
            </a:pPr>
            <a:r>
              <a:rPr lang="en-GB" sz="2800" dirty="0">
                <a:solidFill>
                  <a:schemeClr val="tx1"/>
                </a:solidFill>
                <a:latin typeface="+mj-lt"/>
              </a:rPr>
              <a:t>Differentiate between modern processor implementations of RISC and CISC.</a:t>
            </a:r>
            <a:r>
              <a:rPr lang="en-US" sz="2800" dirty="0">
                <a:solidFill>
                  <a:schemeClr val="tx1"/>
                </a:solidFill>
                <a:latin typeface="+mj-lt"/>
                <a:ea typeface="+mn-ea"/>
              </a:rPr>
              <a:t>	  </a:t>
            </a:r>
          </a:p>
        </p:txBody>
      </p:sp>
      <p:sp>
        <p:nvSpPr>
          <p:cNvPr id="4099" name="Rectangle 1"/>
          <p:cNvSpPr>
            <a:spLocks noChangeArrowheads="1"/>
          </p:cNvSpPr>
          <p:nvPr/>
        </p:nvSpPr>
        <p:spPr bwMode="auto">
          <a:xfrm>
            <a:off x="304880" y="115888"/>
            <a:ext cx="113553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135808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04880" y="1295400"/>
            <a:ext cx="11555775" cy="4876800"/>
          </a:xfrm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342900" indent="-342900" algn="just">
              <a:spcBef>
                <a:spcPts val="0"/>
              </a:spcBef>
              <a:spcAft>
                <a:spcPts val="2400"/>
              </a:spcAft>
              <a:buFontTx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+mj-lt"/>
                <a:ea typeface="+mn-ea"/>
              </a:rPr>
              <a:t>A processor is the logic circuitry that responds to and processes the basic instructions that drive a computer.</a:t>
            </a:r>
          </a:p>
          <a:p>
            <a:pPr marL="342900" indent="-342900" algn="just">
              <a:spcBef>
                <a:spcPts val="0"/>
              </a:spcBef>
              <a:spcAft>
                <a:spcPts val="2400"/>
              </a:spcAft>
              <a:buFontTx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+mj-lt"/>
                <a:ea typeface="+mn-ea"/>
              </a:rPr>
              <a:t>CPU instructions are numbers stored in memory.</a:t>
            </a:r>
          </a:p>
          <a:p>
            <a:pPr marL="342900" indent="-342900" algn="just">
              <a:spcBef>
                <a:spcPts val="0"/>
              </a:spcBef>
              <a:spcAft>
                <a:spcPts val="2400"/>
              </a:spcAft>
              <a:buFontTx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+mj-lt"/>
                <a:ea typeface="+mn-ea"/>
              </a:rPr>
              <a:t>Instruction set is a set of instructions a programmer can give to a machine to perform operations.</a:t>
            </a:r>
          </a:p>
          <a:p>
            <a:pPr marL="342900" indent="-342900" algn="just">
              <a:spcBef>
                <a:spcPts val="0"/>
              </a:spcBef>
              <a:spcAft>
                <a:spcPts val="2400"/>
              </a:spcAft>
              <a:buFontTx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+mj-lt"/>
                <a:ea typeface="+mn-ea"/>
              </a:rPr>
              <a:t>The instructions are specific to CPU architecture.</a:t>
            </a:r>
          </a:p>
          <a:p>
            <a:pPr marL="342900" indent="-342900" algn="just">
              <a:spcBef>
                <a:spcPts val="0"/>
              </a:spcBef>
              <a:spcAft>
                <a:spcPts val="2400"/>
              </a:spcAft>
              <a:buFontTx/>
              <a:buChar char="•"/>
              <a:defRPr/>
            </a:pPr>
            <a:r>
              <a:rPr lang="en-US" sz="2800" dirty="0">
                <a:solidFill>
                  <a:schemeClr val="tx1"/>
                </a:solidFill>
                <a:latin typeface="+mj-lt"/>
                <a:ea typeface="+mn-ea"/>
              </a:rPr>
              <a:t>Basic operations: read instruction from memory, decode, execute ,write back. 	  </a:t>
            </a:r>
          </a:p>
        </p:txBody>
      </p:sp>
      <p:sp>
        <p:nvSpPr>
          <p:cNvPr id="4099" name="Rectangle 1"/>
          <p:cNvSpPr>
            <a:spLocks noChangeArrowheads="1"/>
          </p:cNvSpPr>
          <p:nvPr/>
        </p:nvSpPr>
        <p:spPr bwMode="auto">
          <a:xfrm>
            <a:off x="304880" y="115888"/>
            <a:ext cx="1135530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152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431913" y="404813"/>
            <a:ext cx="116092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431912" y="1524000"/>
            <a:ext cx="11331350" cy="293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Over the years, two major processor design philosophies emerged: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b="1" dirty="0"/>
              <a:t>Complex Instruction Set Computer (CISC)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b="1" dirty="0"/>
              <a:t>Reduced Instruction Set Computer (RISC)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These architectures were developed to address different challenges in processor design and performance optimization.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8454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431913" y="404813"/>
            <a:ext cx="115330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Historical Background</a:t>
            </a:r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431912" y="1524000"/>
            <a:ext cx="11331350" cy="598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During the 1960s and 1970s, memory was expensive while processor hardware was relatively cheap.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Engineers attempted to reduce program size by creating processors with powerful instructions capable of performing complex tasks in a single instruction. 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This led to the development of CISC architectures.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By the early 1980s, researchers discovered that: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Most programs used only a small subset of available instructions.</a:t>
            </a:r>
          </a:p>
          <a:p>
            <a:pPr marL="457200" indent="-457200" algn="just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Complex instructions often required multiple clock </a:t>
            </a:r>
            <a:r>
              <a:rPr lang="en-GB" sz="2800" dirty="0" err="1"/>
              <a:t>cycles.Simpler</a:t>
            </a:r>
            <a:r>
              <a:rPr lang="en-GB" sz="2800" dirty="0"/>
              <a:t> instructions could be executed much </a:t>
            </a:r>
            <a:r>
              <a:rPr lang="en-GB" sz="2800" dirty="0" err="1"/>
              <a:t>faster.This</a:t>
            </a:r>
            <a:r>
              <a:rPr lang="en-GB" sz="2800" dirty="0"/>
              <a:t> observation led to the development of RISC architectures.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913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431912" y="228600"/>
            <a:ext cx="115330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Historical Background</a:t>
            </a:r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431912" y="1143000"/>
            <a:ext cx="11331350" cy="5370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During the 1960s and 1970s, memory was expensive while processor hardware was relatively cheap.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Engineers attempted to reduce program size by creating processors with powerful instructions capable of performing complex tasks in a single instruction. 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b="1" dirty="0"/>
              <a:t>This led to the development of CISC architectures</a:t>
            </a:r>
            <a:r>
              <a:rPr lang="en-GB" sz="2800" dirty="0"/>
              <a:t>.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By the early 1980s, researchers discovered that: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Most programs used only a small subset of available instructions.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Complex instructions often required multiple clock cycles.</a:t>
            </a:r>
          </a:p>
          <a:p>
            <a:pPr marL="914400" lvl="1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dirty="0"/>
              <a:t>Simpler instructions could be executed much faster.</a:t>
            </a:r>
          </a:p>
          <a:p>
            <a:pPr marL="457200" indent="-4572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800" b="1" dirty="0"/>
              <a:t>This observation led to the development of RISC architectures.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865072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431912" y="381000"/>
            <a:ext cx="1153307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Question</a:t>
            </a:r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431912" y="2286000"/>
            <a:ext cx="113313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4000" b="1" dirty="0"/>
              <a:t>Why were CISC architectures initially popular?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34952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431912" y="228600"/>
            <a:ext cx="1153307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418509" y="1850886"/>
            <a:ext cx="1133135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GB" sz="3600" b="1" dirty="0"/>
              <a:t>Because memory was expensive, and CISC instructions could perform complex operations using fewer instructions, thereby reducing program size.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28737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ChangeArrowheads="1"/>
          </p:cNvSpPr>
          <p:nvPr/>
        </p:nvSpPr>
        <p:spPr bwMode="auto">
          <a:xfrm>
            <a:off x="383218" y="188913"/>
            <a:ext cx="11765379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CISC: Complex Instruction Set Computers</a:t>
            </a: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239246" y="1023199"/>
            <a:ext cx="11619292" cy="545380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indent="-342900" algn="just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800" dirty="0">
                <a:latin typeface="+mj-lt"/>
                <a:ea typeface="宋体" pitchFamily="2" charset="-122"/>
              </a:rPr>
              <a:t>CISC existed close to the beginning of general computing. </a:t>
            </a:r>
          </a:p>
          <a:p>
            <a:pPr algn="just">
              <a:lnSpc>
                <a:spcPct val="90000"/>
              </a:lnSpc>
              <a:defRPr/>
            </a:pPr>
            <a:endParaRPr lang="en-US" sz="2800" dirty="0">
              <a:latin typeface="+mj-lt"/>
              <a:ea typeface="宋体" pitchFamily="2" charset="-122"/>
            </a:endParaRPr>
          </a:p>
          <a:p>
            <a:pPr marL="342900" indent="-342900" algn="just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800" dirty="0">
                <a:latin typeface="+mj-lt"/>
                <a:ea typeface="宋体" pitchFamily="2" charset="-122"/>
              </a:rPr>
              <a:t>Since the earliest machines were programmed in assembly language and memory was slow and expensive, IBM designed an instruction set to allow early programmer to easily program a hundred complex instruction rather than thousands of individual instructions.</a:t>
            </a:r>
          </a:p>
          <a:p>
            <a:pPr algn="just">
              <a:lnSpc>
                <a:spcPct val="90000"/>
              </a:lnSpc>
              <a:defRPr/>
            </a:pPr>
            <a:endParaRPr lang="en-US" sz="2800" dirty="0">
              <a:latin typeface="+mj-lt"/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+mj-lt"/>
                <a:ea typeface="宋体" charset="-122"/>
              </a:rPr>
              <a:t>CISC was developed to make compiler development simpler.</a:t>
            </a:r>
            <a:r>
              <a:rPr lang="en-US" altLang="zh-CN" sz="2800" dirty="0">
                <a:latin typeface="+mj-lt"/>
                <a:ea typeface="宋体" charset="-122"/>
              </a:rPr>
              <a:t> It shifts most of the burden of generating machine instructions to the processor.</a:t>
            </a:r>
          </a:p>
          <a:p>
            <a:pPr marL="342900" indent="-342900" algn="just">
              <a:buFont typeface="Arial" pitchFamily="34" charset="0"/>
              <a:buChar char="•"/>
              <a:defRPr/>
            </a:pPr>
            <a:endParaRPr lang="en-US" altLang="zh-CN" sz="2800" dirty="0">
              <a:latin typeface="+mj-lt"/>
              <a:ea typeface="宋体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altLang="zh-CN" sz="2800" b="1" dirty="0">
                <a:solidFill>
                  <a:srgbClr val="7A0000"/>
                </a:solidFill>
                <a:latin typeface="+mj-lt"/>
                <a:ea typeface="宋体" charset="-122"/>
              </a:rPr>
              <a:t>For example, instead of having to make a compiler write long machine instructions to calculate a square-root, a CISC processor would have a built-in ability to do this</a:t>
            </a:r>
            <a:r>
              <a:rPr lang="en-US" altLang="zh-CN" sz="3200" b="1" dirty="0">
                <a:solidFill>
                  <a:srgbClr val="7A0000"/>
                </a:solidFill>
                <a:latin typeface="+mj-lt"/>
                <a:ea typeface="宋体" charset="-122"/>
              </a:rPr>
              <a:t>. </a:t>
            </a:r>
            <a:endParaRPr lang="en-US" sz="2800" b="1" dirty="0">
              <a:solidFill>
                <a:srgbClr val="7A0000"/>
              </a:solidFill>
              <a:latin typeface="+mj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1990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624580" y="188914"/>
            <a:ext cx="10975658" cy="719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000" b="1" dirty="0"/>
              <a:t>CISC Architecture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 bwMode="auto">
          <a:xfrm>
            <a:off x="334521" y="981075"/>
            <a:ext cx="11526134" cy="53435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algn="just">
              <a:defRPr/>
            </a:pPr>
            <a:r>
              <a:rPr lang="en-US" sz="2400" b="1" dirty="0">
                <a:solidFill>
                  <a:srgbClr val="0000FF"/>
                </a:solidFill>
                <a:ea typeface="+mn-ea"/>
              </a:rPr>
              <a:t>Complex instruction set computing</a:t>
            </a:r>
            <a:r>
              <a:rPr lang="en-US" sz="2400" dirty="0">
                <a:ea typeface="+mn-ea"/>
              </a:rPr>
              <a:t> is a CPU design where single instructions can execute several low-level operations (such as a load from memory, an arithmetic operation, and a memory store) or </a:t>
            </a:r>
            <a:r>
              <a:rPr lang="en-US" sz="2400" b="1" dirty="0">
                <a:solidFill>
                  <a:srgbClr val="0000FF"/>
                </a:solidFill>
                <a:ea typeface="+mn-ea"/>
              </a:rPr>
              <a:t>are capable of multi-step operations or addressing modes within single instructions</a:t>
            </a:r>
            <a:r>
              <a:rPr lang="en-US" sz="2400" dirty="0">
                <a:ea typeface="+mn-ea"/>
              </a:rPr>
              <a:t>.</a:t>
            </a:r>
          </a:p>
          <a:p>
            <a:pPr algn="just">
              <a:defRPr/>
            </a:pPr>
            <a:endParaRPr lang="en-US" sz="1050" dirty="0">
              <a:ea typeface="+mn-ea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400" b="1" kern="1200" dirty="0">
                <a:latin typeface="+mj-lt"/>
                <a:ea typeface="Verdana" pitchFamily="34" charset="0"/>
                <a:cs typeface="Verdana" pitchFamily="34" charset="0"/>
              </a:rPr>
              <a:t>Called </a:t>
            </a:r>
            <a:r>
              <a:rPr lang="en-US" sz="2400" b="1" kern="1200" dirty="0">
                <a:solidFill>
                  <a:srgbClr val="FF0000"/>
                </a:solidFill>
                <a:latin typeface="+mj-lt"/>
                <a:ea typeface="Verdana" pitchFamily="34" charset="0"/>
                <a:cs typeface="Verdana" pitchFamily="34" charset="0"/>
              </a:rPr>
              <a:t>“complex</a:t>
            </a:r>
            <a:r>
              <a:rPr lang="en-US" sz="2400" b="1" kern="1200" dirty="0">
                <a:latin typeface="+mj-lt"/>
                <a:ea typeface="Verdana" pitchFamily="34" charset="0"/>
                <a:cs typeface="Verdana" pitchFamily="34" charset="0"/>
              </a:rPr>
              <a:t>” because of the </a:t>
            </a:r>
            <a:r>
              <a:rPr lang="en-US" sz="2400" b="1" kern="1200" dirty="0">
                <a:solidFill>
                  <a:srgbClr val="0000FF"/>
                </a:solidFill>
                <a:latin typeface="+mj-lt"/>
                <a:ea typeface="Verdana" pitchFamily="34" charset="0"/>
                <a:cs typeface="Verdana" pitchFamily="34" charset="0"/>
              </a:rPr>
              <a:t>complex work performed per instruction</a:t>
            </a:r>
            <a:r>
              <a:rPr lang="en-US" sz="2400" b="1" kern="1200" dirty="0">
                <a:latin typeface="+mj-lt"/>
                <a:ea typeface="Verdana" pitchFamily="34" charset="0"/>
                <a:cs typeface="Verdana" pitchFamily="34" charset="0"/>
              </a:rPr>
              <a:t>. </a:t>
            </a:r>
            <a:endParaRPr lang="en-US" sz="2400" b="1" dirty="0">
              <a:latin typeface="+mj-lt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Concept: </a:t>
            </a:r>
            <a:r>
              <a:rPr lang="en-US" sz="2400" b="1" dirty="0">
                <a:solidFill>
                  <a:srgbClr val="FF0000"/>
                </a:solidFill>
              </a:rPr>
              <a:t>Encode the intention directly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400" dirty="0" err="1"/>
              <a:t>Eg</a:t>
            </a:r>
            <a:r>
              <a:rPr lang="en-US" sz="2400" dirty="0"/>
              <a:t>:” add X and Y and put the result in Z” (for X,Y,Z memory address)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Problem: Some instruction take more time then others.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Examples: x86, s390.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/>
            </a:pPr>
            <a:r>
              <a:rPr lang="en-US" sz="2400" dirty="0"/>
              <a:t>Small number of general purpose registers</a:t>
            </a:r>
          </a:p>
        </p:txBody>
      </p:sp>
    </p:spTree>
    <p:extLst>
      <p:ext uri="{BB962C8B-B14F-4D97-AF65-F5344CB8AC3E}">
        <p14:creationId xmlns:p14="http://schemas.microsoft.com/office/powerpoint/2010/main" val="4072511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382587" y="859065"/>
            <a:ext cx="11621410" cy="513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sz="3600" b="1" dirty="0" err="1">
                <a:solidFill>
                  <a:srgbClr val="FF0000"/>
                </a:solidFill>
              </a:rPr>
              <a:t>cont</a:t>
            </a:r>
            <a:r>
              <a:rPr lang="en-US" sz="3600" b="1" dirty="0">
                <a:solidFill>
                  <a:srgbClr val="FF0000"/>
                </a:solidFill>
              </a:rPr>
              <a:t>….</a:t>
            </a:r>
            <a:endParaRPr lang="en-US" sz="2000" dirty="0">
              <a:solidFill>
                <a:srgbClr val="FF0000"/>
              </a:solidFill>
            </a:endParaRPr>
          </a:p>
          <a:p>
            <a:pPr algn="just"/>
            <a:r>
              <a:rPr lang="en-US" sz="2800" dirty="0"/>
              <a:t>• Computers typically use CISC while tablets, smartphones and other devices use RISC.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• So, the higher efficiency of the RISC architecture makes it desirable in these applications where cycles and power are usually in short supply.</a:t>
            </a:r>
          </a:p>
          <a:p>
            <a:pPr algn="just"/>
            <a:endParaRPr lang="en-US" sz="2800" dirty="0"/>
          </a:p>
          <a:p>
            <a:pPr algn="just"/>
            <a:r>
              <a:rPr lang="en-US" sz="3200" dirty="0"/>
              <a:t>• </a:t>
            </a:r>
            <a:r>
              <a:rPr lang="en-US" sz="2800" dirty="0"/>
              <a:t>In CISC instructions are executed by microcode.</a:t>
            </a:r>
          </a:p>
          <a:p>
            <a:pPr algn="just"/>
            <a:endParaRPr lang="en-US" sz="2800" dirty="0"/>
          </a:p>
          <a:p>
            <a:pPr algn="just"/>
            <a:r>
              <a:rPr lang="en-US" sz="3200" dirty="0"/>
              <a:t>• </a:t>
            </a:r>
            <a:r>
              <a:rPr lang="en-US" sz="2800" dirty="0"/>
              <a:t>A CISC instruction set typically includes many instructions with different sizes and execution cycles, which makes CISC instructions harder to pipeline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7445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 bwMode="auto">
          <a:xfrm>
            <a:off x="230187" y="188914"/>
            <a:ext cx="11734800" cy="7191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/>
            <a:r>
              <a:rPr lang="en-US" sz="4400" b="1" dirty="0"/>
              <a:t>Characteristic of CISC Processors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 bwMode="auto">
          <a:xfrm>
            <a:off x="249263" y="1212056"/>
            <a:ext cx="11734800" cy="4433887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just"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>
                <a:solidFill>
                  <a:srgbClr val="000000"/>
                </a:solidFill>
                <a:latin typeface="+mj-lt"/>
                <a:ea typeface="+mn-ea"/>
              </a:rPr>
              <a:t>A CISC instruction can be thought to contain many different type of instructions bundled into one simple instruction.</a:t>
            </a:r>
            <a:endParaRPr lang="en-US" dirty="0">
              <a:latin typeface="+mj-lt"/>
              <a:ea typeface="+mn-ea"/>
            </a:endParaRPr>
          </a:p>
          <a:p>
            <a:pPr algn="just"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>
                <a:latin typeface="+mj-lt"/>
                <a:ea typeface="+mn-ea"/>
              </a:rPr>
              <a:t>A large number of instructions - typically from 100 to 250 instructions.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>
                <a:latin typeface="+mj-lt"/>
                <a:ea typeface="+mn-ea"/>
              </a:rPr>
              <a:t>Some instructions that perform specialized tasks and are used infrequently.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>
                <a:latin typeface="+mj-lt"/>
                <a:ea typeface="+mn-ea"/>
              </a:rPr>
              <a:t>A large variety of addressing modes - typically 5 to 20 different modes.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>
                <a:latin typeface="+mj-lt"/>
                <a:ea typeface="+mn-ea"/>
              </a:rPr>
              <a:t>Variable-length instruction formats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  <a:defRPr/>
            </a:pPr>
            <a:r>
              <a:rPr lang="en-US" dirty="0">
                <a:latin typeface="+mj-lt"/>
                <a:ea typeface="+mn-ea"/>
              </a:rPr>
              <a:t>Instructions that manipulate operands in memory.</a:t>
            </a:r>
          </a:p>
        </p:txBody>
      </p:sp>
    </p:spTree>
    <p:extLst>
      <p:ext uri="{BB962C8B-B14F-4D97-AF65-F5344CB8AC3E}">
        <p14:creationId xmlns:p14="http://schemas.microsoft.com/office/powerpoint/2010/main" val="1686028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/>
          <p:cNvSpPr>
            <a:spLocks noChangeArrowheads="1"/>
          </p:cNvSpPr>
          <p:nvPr/>
        </p:nvSpPr>
        <p:spPr bwMode="auto">
          <a:xfrm>
            <a:off x="334519" y="115888"/>
            <a:ext cx="1163046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Properties of a CISC Processor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832" y="1295400"/>
            <a:ext cx="11231840" cy="44627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7188" indent="-357188" algn="just">
              <a:spcAft>
                <a:spcPts val="1200"/>
              </a:spcAft>
              <a:buFontTx/>
              <a:buAutoNum type="arabicPeriod"/>
              <a:defRPr/>
            </a:pPr>
            <a:r>
              <a:rPr lang="en-US" sz="2800" dirty="0">
                <a:ea typeface="宋体" pitchFamily="2" charset="-122"/>
              </a:rPr>
              <a:t>Richer instruction set, some simple, some very complex.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2. Instructions generally take more than 1 clock to execute.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3. Instructions of a variable size.</a:t>
            </a:r>
          </a:p>
          <a:p>
            <a:pPr marL="447675" indent="-447675"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4. Instructions is an interface with memory in multiple mechanisms with complex addressing modes.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5. No pipelining.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6. Microcode control make CISC instruction set possible &amp; flexible. 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7. Work well with simpler compiler.</a:t>
            </a:r>
          </a:p>
        </p:txBody>
      </p:sp>
    </p:spTree>
    <p:extLst>
      <p:ext uri="{BB962C8B-B14F-4D97-AF65-F5344CB8AC3E}">
        <p14:creationId xmlns:p14="http://schemas.microsoft.com/office/powerpoint/2010/main" val="2395016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ChangeArrowheads="1"/>
          </p:cNvSpPr>
          <p:nvPr/>
        </p:nvSpPr>
        <p:spPr bwMode="auto">
          <a:xfrm>
            <a:off x="207488" y="381000"/>
            <a:ext cx="1162503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Advantages</a:t>
            </a: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306387" y="1320730"/>
            <a:ext cx="11526134" cy="421653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b="1" dirty="0">
                <a:solidFill>
                  <a:srgbClr val="0000FF"/>
                </a:solidFill>
                <a:ea typeface="宋体" pitchFamily="2" charset="-122"/>
              </a:rPr>
              <a:t>Microprogramming </a:t>
            </a:r>
            <a:r>
              <a:rPr lang="en-US" sz="2800" dirty="0">
                <a:ea typeface="宋体" pitchFamily="2" charset="-122"/>
              </a:rPr>
              <a:t>is as easy as assembly language to implement, and much less expensive than hardwiring a control unit.</a:t>
            </a: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As each instruction became more capable, </a:t>
            </a:r>
            <a:r>
              <a:rPr lang="en-US" sz="2800" b="1" dirty="0">
                <a:ea typeface="宋体" pitchFamily="2" charset="-122"/>
              </a:rPr>
              <a:t>fewer instructions could be used</a:t>
            </a:r>
            <a:r>
              <a:rPr lang="en-US" sz="2800" dirty="0">
                <a:ea typeface="宋体" pitchFamily="2" charset="-122"/>
              </a:rPr>
              <a:t> to implement a given task. This made more efficient use of the relatively slow main memory. </a:t>
            </a: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Because micro-program instruction sets can be written to match the constructs of high-level languages, </a:t>
            </a:r>
            <a:r>
              <a:rPr lang="en-US" sz="2800" b="1" dirty="0">
                <a:solidFill>
                  <a:srgbClr val="0000FF"/>
                </a:solidFill>
                <a:ea typeface="宋体" pitchFamily="2" charset="-122"/>
              </a:rPr>
              <a:t>the compiler does not have to be as complicated</a:t>
            </a:r>
            <a:r>
              <a:rPr lang="en-US" sz="2800" dirty="0">
                <a:solidFill>
                  <a:srgbClr val="0000FF"/>
                </a:solidFill>
                <a:ea typeface="宋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5732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"/>
          <p:cNvSpPr>
            <a:spLocks noChangeArrowheads="1"/>
          </p:cNvSpPr>
          <p:nvPr/>
        </p:nvSpPr>
        <p:spPr bwMode="auto">
          <a:xfrm>
            <a:off x="233042" y="231087"/>
            <a:ext cx="1172908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Disadvantages</a:t>
            </a: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227134" y="1336119"/>
            <a:ext cx="11555775" cy="418576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Complex instructions are infrequently used by programmers and compilers.</a:t>
            </a:r>
          </a:p>
          <a:p>
            <a:pPr algn="just">
              <a:defRPr/>
            </a:pPr>
            <a:endParaRPr lang="en-US" sz="2800" b="1" dirty="0"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Memory references, loads and stores, are slow and account for a significant fraction of all instructions.</a:t>
            </a:r>
            <a:endParaRPr lang="en-US" sz="2800" b="1" dirty="0">
              <a:ea typeface="宋体" pitchFamily="2" charset="-122"/>
            </a:endParaRPr>
          </a:p>
          <a:p>
            <a:pPr algn="just">
              <a:defRPr/>
            </a:pPr>
            <a:endParaRPr lang="en-US" sz="2800" b="1" dirty="0">
              <a:ea typeface="宋体" pitchFamily="2" charset="-122"/>
            </a:endParaRPr>
          </a:p>
          <a:p>
            <a:pPr marL="342900" indent="-342900" algn="just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Procedure and function calls are a major bottleneck, passing arguments, storing and retrieving values in registers.</a:t>
            </a:r>
          </a:p>
          <a:p>
            <a:pPr algn="just">
              <a:lnSpc>
                <a:spcPct val="90000"/>
              </a:lnSpc>
              <a:defRPr/>
            </a:pPr>
            <a:endParaRPr lang="en-US" sz="2800" dirty="0">
              <a:ea typeface="宋体" pitchFamily="2" charset="-122"/>
            </a:endParaRPr>
          </a:p>
          <a:p>
            <a:pPr marL="342900" indent="-342900" algn="just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Instruction set &amp; chip of new generation hardware become more complex with each generation of computers.</a:t>
            </a:r>
          </a:p>
        </p:txBody>
      </p:sp>
    </p:spTree>
    <p:extLst>
      <p:ext uri="{BB962C8B-B14F-4D97-AF65-F5344CB8AC3E}">
        <p14:creationId xmlns:p14="http://schemas.microsoft.com/office/powerpoint/2010/main" val="2521672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ChangeArrowheads="1"/>
          </p:cNvSpPr>
          <p:nvPr/>
        </p:nvSpPr>
        <p:spPr bwMode="auto">
          <a:xfrm>
            <a:off x="687387" y="1828800"/>
            <a:ext cx="10296030" cy="267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800" b="1" dirty="0"/>
              <a:t>A CISC could multiply 5 by 10 as follows:</a:t>
            </a:r>
          </a:p>
          <a:p>
            <a:r>
              <a:rPr lang="en-US" sz="2800" b="1" dirty="0"/>
              <a:t> </a:t>
            </a:r>
          </a:p>
          <a:p>
            <a:r>
              <a:rPr lang="en-US" sz="2800" b="1" dirty="0"/>
              <a:t>Mov ax,10</a:t>
            </a:r>
          </a:p>
          <a:p>
            <a:r>
              <a:rPr lang="en-US" sz="2800" b="1" dirty="0"/>
              <a:t>Mov bx,5</a:t>
            </a:r>
          </a:p>
          <a:p>
            <a:r>
              <a:rPr lang="en-US" sz="2800" b="1" dirty="0" err="1"/>
              <a:t>Mul</a:t>
            </a:r>
            <a:r>
              <a:rPr lang="en-US" sz="2800" b="1" dirty="0"/>
              <a:t> bx</a:t>
            </a:r>
          </a:p>
          <a:p>
            <a:r>
              <a:rPr lang="en-US" sz="2800" b="1" dirty="0"/>
              <a:t> </a:t>
            </a:r>
          </a:p>
        </p:txBody>
      </p:sp>
      <p:sp>
        <p:nvSpPr>
          <p:cNvPr id="13315" name="Rectangle 1"/>
          <p:cNvSpPr>
            <a:spLocks noChangeArrowheads="1"/>
          </p:cNvSpPr>
          <p:nvPr/>
        </p:nvSpPr>
        <p:spPr bwMode="auto">
          <a:xfrm>
            <a:off x="230187" y="533400"/>
            <a:ext cx="11734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CISC Instruction Example</a:t>
            </a:r>
          </a:p>
        </p:txBody>
      </p:sp>
    </p:spTree>
    <p:extLst>
      <p:ext uri="{BB962C8B-B14F-4D97-AF65-F5344CB8AC3E}">
        <p14:creationId xmlns:p14="http://schemas.microsoft.com/office/powerpoint/2010/main" val="2184540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249833" y="188913"/>
            <a:ext cx="118013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RISC:</a:t>
            </a:r>
            <a:r>
              <a:rPr lang="en-US" sz="3600" b="1" i="1" dirty="0">
                <a:solidFill>
                  <a:srgbClr val="FF0000"/>
                </a:solidFill>
              </a:rPr>
              <a:t> Reduced Instruction Set Computer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34521" y="981076"/>
            <a:ext cx="11428742" cy="5435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defRPr/>
            </a:pPr>
            <a:r>
              <a:rPr lang="en-US" sz="2800" b="1" dirty="0">
                <a:solidFill>
                  <a:srgbClr val="0000FF"/>
                </a:solidFill>
                <a:ea typeface="宋体" pitchFamily="2" charset="-122"/>
              </a:rPr>
              <a:t>History</a:t>
            </a:r>
          </a:p>
          <a:p>
            <a:pPr algn="just">
              <a:lnSpc>
                <a:spcPct val="80000"/>
              </a:lnSpc>
              <a:defRPr/>
            </a:pPr>
            <a:br>
              <a:rPr lang="en-US" sz="1600" dirty="0">
                <a:ea typeface="宋体" pitchFamily="2" charset="-122"/>
              </a:rPr>
            </a:br>
            <a:r>
              <a:rPr lang="en-US" sz="2800" dirty="0">
                <a:ea typeface="宋体" pitchFamily="2" charset="-122"/>
              </a:rPr>
              <a:t>The first RISC projects came from IBM, Stanford, and UC-Berkeley in the </a:t>
            </a:r>
            <a:r>
              <a:rPr lang="en-US" sz="2800" b="1" dirty="0">
                <a:solidFill>
                  <a:srgbClr val="0000FF"/>
                </a:solidFill>
                <a:ea typeface="宋体" pitchFamily="2" charset="-122"/>
              </a:rPr>
              <a:t>late 70s and early 80s.</a:t>
            </a:r>
          </a:p>
          <a:p>
            <a:pPr algn="just">
              <a:lnSpc>
                <a:spcPct val="80000"/>
              </a:lnSpc>
              <a:defRPr/>
            </a:pPr>
            <a:endParaRPr lang="en-US" sz="2800" dirty="0">
              <a:ea typeface="宋体" pitchFamily="2" charset="-122"/>
            </a:endParaRPr>
          </a:p>
          <a:p>
            <a:pPr algn="just">
              <a:lnSpc>
                <a:spcPct val="80000"/>
              </a:lnSpc>
              <a:defRPr/>
            </a:pPr>
            <a:r>
              <a:rPr lang="en-US" sz="2800" dirty="0">
                <a:ea typeface="宋体" pitchFamily="2" charset="-122"/>
              </a:rPr>
              <a:t> The IBM 801, Stanford MIPS, and Berkeley RISC 1 and 2 were all designed with a similar philosophy which has become known as RISC.</a:t>
            </a:r>
          </a:p>
          <a:p>
            <a:pPr algn="just">
              <a:lnSpc>
                <a:spcPct val="80000"/>
              </a:lnSpc>
              <a:defRPr/>
            </a:pPr>
            <a:r>
              <a:rPr lang="en-US" sz="2800" dirty="0">
                <a:ea typeface="宋体" pitchFamily="2" charset="-122"/>
              </a:rPr>
              <a:t> </a:t>
            </a:r>
          </a:p>
          <a:p>
            <a:pPr algn="just">
              <a:defRPr/>
            </a:pPr>
            <a:r>
              <a:rPr lang="en-US" sz="2800" dirty="0">
                <a:ea typeface="宋体" pitchFamily="2" charset="-122"/>
              </a:rPr>
              <a:t>When designers create a new generation of processors, improving performance is the key goal. There are three main factors that affect performance; they are :</a:t>
            </a:r>
          </a:p>
          <a:p>
            <a:pPr lvl="1" algn="just">
              <a:defRPr/>
            </a:pPr>
            <a:r>
              <a:rPr lang="en-US" sz="2800" dirty="0">
                <a:ea typeface="宋体" pitchFamily="2" charset="-122"/>
              </a:rPr>
              <a:t>• </a:t>
            </a:r>
            <a:r>
              <a:rPr lang="en-US" sz="2800" b="1" dirty="0">
                <a:solidFill>
                  <a:srgbClr val="7A0000"/>
                </a:solidFill>
                <a:ea typeface="宋体" pitchFamily="2" charset="-122"/>
              </a:rPr>
              <a:t>How fast you can crank up the clock.</a:t>
            </a:r>
          </a:p>
          <a:p>
            <a:pPr lvl="1" algn="just">
              <a:defRPr/>
            </a:pPr>
            <a:r>
              <a:rPr lang="en-US" sz="2800" b="1" dirty="0">
                <a:solidFill>
                  <a:srgbClr val="7A0000"/>
                </a:solidFill>
                <a:ea typeface="宋体" pitchFamily="2" charset="-122"/>
              </a:rPr>
              <a:t>• How much work you can do per cycle.</a:t>
            </a:r>
          </a:p>
          <a:p>
            <a:pPr lvl="1" algn="just">
              <a:defRPr/>
            </a:pPr>
            <a:r>
              <a:rPr lang="en-US" sz="2800" b="1" dirty="0">
                <a:solidFill>
                  <a:srgbClr val="7A0000"/>
                </a:solidFill>
                <a:ea typeface="宋体" pitchFamily="2" charset="-122"/>
              </a:rPr>
              <a:t>• How many instructions you need to perform a task.</a:t>
            </a:r>
            <a:endParaRPr lang="en-US" sz="2400" b="1" dirty="0">
              <a:solidFill>
                <a:srgbClr val="7A0000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45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249833" y="188913"/>
            <a:ext cx="118013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Philosophy of </a:t>
            </a:r>
            <a:r>
              <a:rPr lang="en-US" sz="3600" b="1" i="1" dirty="0">
                <a:solidFill>
                  <a:srgbClr val="FF0000"/>
                </a:solidFill>
              </a:rPr>
              <a:t>RISC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383216" y="1191785"/>
            <a:ext cx="11428742" cy="447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algn="just">
              <a:lnSpc>
                <a:spcPct val="8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b="1" dirty="0">
                <a:ea typeface="宋体" pitchFamily="2" charset="-122"/>
              </a:rPr>
              <a:t>Instead of one complex instruction:</a:t>
            </a:r>
          </a:p>
          <a:p>
            <a:pPr marL="457200" indent="-457200" algn="just">
              <a:lnSpc>
                <a:spcPct val="8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b="1" dirty="0">
                <a:ea typeface="宋体" pitchFamily="2" charset="-122"/>
              </a:rPr>
              <a:t>MULT A, B</a:t>
            </a:r>
          </a:p>
          <a:p>
            <a:pPr marL="457200" indent="-457200" algn="just">
              <a:lnSpc>
                <a:spcPct val="8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b="1" dirty="0">
                <a:ea typeface="宋体" pitchFamily="2" charset="-122"/>
              </a:rPr>
              <a:t>RISC breaks the operation into simple instructions:</a:t>
            </a:r>
          </a:p>
          <a:p>
            <a:pPr marL="914400" lvl="1" indent="-457200" algn="just">
              <a:lnSpc>
                <a:spcPct val="8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b="1" dirty="0">
                <a:solidFill>
                  <a:srgbClr val="C00000"/>
                </a:solidFill>
                <a:ea typeface="宋体" pitchFamily="2" charset="-122"/>
              </a:rPr>
              <a:t>LOAD R1, A</a:t>
            </a:r>
          </a:p>
          <a:p>
            <a:pPr marL="914400" lvl="1" indent="-457200" algn="just">
              <a:lnSpc>
                <a:spcPct val="8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b="1" dirty="0">
                <a:solidFill>
                  <a:srgbClr val="C00000"/>
                </a:solidFill>
                <a:ea typeface="宋体" pitchFamily="2" charset="-122"/>
              </a:rPr>
              <a:t>LOAD R2, B</a:t>
            </a:r>
          </a:p>
          <a:p>
            <a:pPr marL="914400" lvl="1" indent="-457200" algn="just">
              <a:lnSpc>
                <a:spcPct val="8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b="1" dirty="0">
                <a:solidFill>
                  <a:srgbClr val="C00000"/>
                </a:solidFill>
                <a:ea typeface="宋体" pitchFamily="2" charset="-122"/>
              </a:rPr>
              <a:t>MUL R3, R1, R2</a:t>
            </a:r>
          </a:p>
          <a:p>
            <a:pPr marL="914400" lvl="1" indent="-457200" algn="just">
              <a:lnSpc>
                <a:spcPct val="8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b="1" dirty="0">
                <a:solidFill>
                  <a:srgbClr val="C00000"/>
                </a:solidFill>
                <a:ea typeface="宋体" pitchFamily="2" charset="-122"/>
              </a:rPr>
              <a:t>STORE R3, C</a:t>
            </a:r>
          </a:p>
          <a:p>
            <a:pPr marL="457200" indent="-457200" algn="just">
              <a:lnSpc>
                <a:spcPct val="80000"/>
              </a:lnSpc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en-GB" sz="2800" b="1" dirty="0">
                <a:solidFill>
                  <a:srgbClr val="0000FF"/>
                </a:solidFill>
                <a:ea typeface="宋体" pitchFamily="2" charset="-122"/>
              </a:rPr>
              <a:t>Although more instructions are required, each executes very quickly.</a:t>
            </a:r>
            <a:endParaRPr lang="en-US" sz="2400" b="1" dirty="0">
              <a:solidFill>
                <a:srgbClr val="0000FF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2759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ChangeArrowheads="1"/>
          </p:cNvSpPr>
          <p:nvPr/>
        </p:nvSpPr>
        <p:spPr bwMode="auto">
          <a:xfrm>
            <a:off x="368397" y="188913"/>
            <a:ext cx="1152039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RISC Architecture</a:t>
            </a:r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368397" y="981076"/>
            <a:ext cx="11428742" cy="540147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latin typeface="+mj-lt"/>
                <a:ea typeface="Verdana" pitchFamily="34" charset="0"/>
                <a:cs typeface="Verdana" pitchFamily="34" charset="0"/>
              </a:rPr>
              <a:t>Called “</a:t>
            </a:r>
            <a:r>
              <a:rPr lang="en-US" sz="2800" b="1" dirty="0">
                <a:solidFill>
                  <a:srgbClr val="0000FF"/>
                </a:solidFill>
                <a:latin typeface="+mj-lt"/>
                <a:ea typeface="Verdana" pitchFamily="34" charset="0"/>
                <a:cs typeface="Verdana" pitchFamily="34" charset="0"/>
              </a:rPr>
              <a:t>reduced</a:t>
            </a:r>
            <a:r>
              <a:rPr lang="en-US" sz="2800" dirty="0">
                <a:latin typeface="+mj-lt"/>
                <a:ea typeface="Verdana" pitchFamily="34" charset="0"/>
                <a:cs typeface="Verdana" pitchFamily="34" charset="0"/>
              </a:rPr>
              <a:t>” because of the </a:t>
            </a:r>
            <a:r>
              <a:rPr lang="en-US" sz="2800" b="1" dirty="0">
                <a:solidFill>
                  <a:srgbClr val="0000FF"/>
                </a:solidFill>
                <a:latin typeface="+mj-lt"/>
                <a:ea typeface="Verdana" pitchFamily="34" charset="0"/>
                <a:cs typeface="Verdana" pitchFamily="34" charset="0"/>
              </a:rPr>
              <a:t>reduction of work performed by an instruction</a:t>
            </a:r>
            <a:r>
              <a:rPr lang="en-US" sz="2800" dirty="0">
                <a:latin typeface="+mj-lt"/>
                <a:ea typeface="Verdana" pitchFamily="34" charset="0"/>
                <a:cs typeface="Verdana" pitchFamily="34" charset="0"/>
              </a:rPr>
              <a:t>.</a:t>
            </a:r>
          </a:p>
          <a:p>
            <a:pPr algn="just">
              <a:defRPr/>
            </a:pPr>
            <a:endParaRPr lang="en-US" sz="1100" dirty="0">
              <a:latin typeface="+mj-lt"/>
              <a:ea typeface="Verdana" pitchFamily="34" charset="0"/>
              <a:cs typeface="Verdana" pitchFamily="34" charset="0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latin typeface="+mj-lt"/>
                <a:ea typeface="宋体" pitchFamily="2" charset="-122"/>
              </a:rPr>
              <a:t>It is a type of microprocessor architecture that utilizes a small, </a:t>
            </a:r>
            <a:r>
              <a:rPr lang="en-US" sz="2800" b="1" dirty="0">
                <a:solidFill>
                  <a:srgbClr val="0000FF"/>
                </a:solidFill>
                <a:latin typeface="+mj-lt"/>
                <a:ea typeface="宋体" pitchFamily="2" charset="-122"/>
              </a:rPr>
              <a:t>highly-optimized set of instructions</a:t>
            </a:r>
            <a:r>
              <a:rPr lang="en-US" sz="2800" dirty="0">
                <a:latin typeface="+mj-lt"/>
                <a:ea typeface="宋体" pitchFamily="2" charset="-122"/>
              </a:rPr>
              <a:t>, rather than a more specialized set of instructions often found in other types of architectures.</a:t>
            </a:r>
          </a:p>
          <a:p>
            <a:pPr algn="just">
              <a:defRPr/>
            </a:pPr>
            <a:endParaRPr lang="en-US" sz="1100" dirty="0">
              <a:latin typeface="+mj-lt"/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latin typeface="+mj-lt"/>
                <a:ea typeface="宋体" pitchFamily="2" charset="-122"/>
              </a:rPr>
              <a:t>RISC's original goals was to limit the number of instructions on the chip so that each could be allocated enough transistors to make it execute in one cycle.</a:t>
            </a:r>
            <a:endParaRPr lang="en-US" sz="1100" dirty="0">
              <a:latin typeface="+mj-lt"/>
              <a:ea typeface="宋体" pitchFamily="2" charset="-122"/>
            </a:endParaRPr>
          </a:p>
          <a:p>
            <a:pPr algn="just">
              <a:defRPr/>
            </a:pPr>
            <a:endParaRPr lang="en-US" sz="1100" dirty="0">
              <a:latin typeface="+mj-lt"/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latin typeface="+mj-lt"/>
                <a:ea typeface="宋体" pitchFamily="2" charset="-122"/>
              </a:rPr>
              <a:t>Small set of instructions of a typical RISC processor consists mostly of register-to-register operations, with only simple load and store operations for memory access</a:t>
            </a:r>
            <a:r>
              <a:rPr lang="en-US" sz="3200" dirty="0">
                <a:latin typeface="+mj-lt"/>
                <a:ea typeface="宋体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8808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520" y="1295400"/>
            <a:ext cx="11526134" cy="50321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Thus each operand is brought into a processor register with a load instruction</a:t>
            </a:r>
          </a:p>
          <a:p>
            <a:pPr algn="just">
              <a:defRPr/>
            </a:pPr>
            <a:r>
              <a:rPr lang="en-US" sz="3200" dirty="0">
                <a:ea typeface="宋体" pitchFamily="2" charset="-122"/>
              </a:rPr>
              <a:t>• </a:t>
            </a:r>
            <a:r>
              <a:rPr lang="en-US" sz="2800" dirty="0">
                <a:ea typeface="宋体" pitchFamily="2" charset="-122"/>
              </a:rPr>
              <a:t>All computations are done among the data stored in processor registers.</a:t>
            </a: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defRPr/>
            </a:pPr>
            <a:r>
              <a:rPr lang="en-US" sz="3200" dirty="0">
                <a:ea typeface="宋体" pitchFamily="2" charset="-122"/>
              </a:rPr>
              <a:t>•</a:t>
            </a:r>
            <a:r>
              <a:rPr lang="en-US" sz="2800" dirty="0">
                <a:ea typeface="宋体" pitchFamily="2" charset="-122"/>
              </a:rPr>
              <a:t> Results are transferred to memory by means of store instructions.</a:t>
            </a: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b="1" dirty="0">
                <a:solidFill>
                  <a:srgbClr val="0000FF"/>
                </a:solidFill>
                <a:ea typeface="宋体" pitchFamily="2" charset="-122"/>
              </a:rPr>
              <a:t>Concepts:</a:t>
            </a:r>
            <a:r>
              <a:rPr lang="en-US" sz="2800" dirty="0">
                <a:ea typeface="宋体" pitchFamily="2" charset="-122"/>
              </a:rPr>
              <a:t> Break operation into simpler sub operations.</a:t>
            </a: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dirty="0" err="1">
                <a:ea typeface="宋体" pitchFamily="2" charset="-122"/>
              </a:rPr>
              <a:t>Eg</a:t>
            </a:r>
            <a:r>
              <a:rPr lang="en-US" sz="2800" dirty="0">
                <a:ea typeface="宋体" pitchFamily="2" charset="-122"/>
              </a:rPr>
              <a:t>: instruction: </a:t>
            </a: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rgbClr val="0000FF"/>
                </a:solidFill>
                <a:ea typeface="宋体" pitchFamily="2" charset="-122"/>
              </a:rPr>
              <a:t>load X, </a:t>
            </a: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rgbClr val="0000FF"/>
                </a:solidFill>
                <a:ea typeface="宋体" pitchFamily="2" charset="-122"/>
              </a:rPr>
              <a:t>load Y, </a:t>
            </a: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rgbClr val="0000FF"/>
                </a:solidFill>
                <a:ea typeface="宋体" pitchFamily="2" charset="-122"/>
              </a:rPr>
              <a:t>add X and Y, </a:t>
            </a:r>
          </a:p>
          <a:p>
            <a:pPr marL="800100" lvl="1" indent="-342900" algn="just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rgbClr val="0000FF"/>
                </a:solidFill>
                <a:ea typeface="宋体" pitchFamily="2" charset="-122"/>
              </a:rPr>
              <a:t>store Z</a:t>
            </a:r>
          </a:p>
        </p:txBody>
      </p:sp>
      <p:sp>
        <p:nvSpPr>
          <p:cNvPr id="16387" name="Rectangle 1"/>
          <p:cNvSpPr>
            <a:spLocks noChangeArrowheads="1"/>
          </p:cNvSpPr>
          <p:nvPr/>
        </p:nvSpPr>
        <p:spPr bwMode="auto">
          <a:xfrm>
            <a:off x="458787" y="304800"/>
            <a:ext cx="58964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</a:rPr>
              <a:t>cont</a:t>
            </a:r>
            <a:r>
              <a:rPr lang="en-US" sz="3600" b="1" dirty="0">
                <a:solidFill>
                  <a:srgbClr val="FF0000"/>
                </a:solidFill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3628783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ChangeArrowheads="1"/>
          </p:cNvSpPr>
          <p:nvPr/>
        </p:nvSpPr>
        <p:spPr bwMode="auto">
          <a:xfrm>
            <a:off x="334521" y="228601"/>
            <a:ext cx="1163046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Characteristic of RISC Processors</a:t>
            </a: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334521" y="981075"/>
            <a:ext cx="11428742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Aft>
                <a:spcPts val="300"/>
              </a:spcAft>
              <a:defRPr/>
            </a:pPr>
            <a:r>
              <a:rPr lang="en-US" sz="3200" dirty="0">
                <a:ea typeface="宋体" pitchFamily="2" charset="-122"/>
              </a:rPr>
              <a:t>• </a:t>
            </a:r>
            <a:r>
              <a:rPr lang="en-US" sz="2800" dirty="0">
                <a:ea typeface="宋体" pitchFamily="2" charset="-122"/>
              </a:rPr>
              <a:t>Simplifies the instruction set</a:t>
            </a:r>
            <a:r>
              <a:rPr lang="en-US" sz="3200" dirty="0">
                <a:ea typeface="宋体" pitchFamily="2" charset="-122"/>
              </a:rPr>
              <a:t>.</a:t>
            </a:r>
            <a:r>
              <a:rPr lang="en-US" sz="2800" dirty="0">
                <a:ea typeface="宋体" pitchFamily="2" charset="-122"/>
              </a:rPr>
              <a:t>.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3200" dirty="0">
                <a:ea typeface="宋体" pitchFamily="2" charset="-122"/>
              </a:rPr>
              <a:t>•</a:t>
            </a:r>
            <a:r>
              <a:rPr lang="en-US" sz="2800" dirty="0">
                <a:ea typeface="宋体" pitchFamily="2" charset="-122"/>
              </a:rPr>
              <a:t> The use of only a few addressing modes results from the fact that almost all instructions have simple register addressing.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3200" dirty="0">
                <a:ea typeface="宋体" pitchFamily="2" charset="-122"/>
              </a:rPr>
              <a:t>•</a:t>
            </a:r>
            <a:r>
              <a:rPr lang="en-US" sz="2800" dirty="0">
                <a:ea typeface="宋体" pitchFamily="2" charset="-122"/>
              </a:rPr>
              <a:t> Other addressing modes may be included, such as immediate operands.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3200" dirty="0">
                <a:ea typeface="宋体" pitchFamily="2" charset="-122"/>
              </a:rPr>
              <a:t>•</a:t>
            </a:r>
            <a:r>
              <a:rPr lang="en-US" sz="2800" dirty="0">
                <a:ea typeface="宋体" pitchFamily="2" charset="-122"/>
              </a:rPr>
              <a:t> By using a relatively simple instruction format, the instruction length can be fixed and aligned on word boundaries.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2800" dirty="0">
                <a:ea typeface="宋体" pitchFamily="2" charset="-122"/>
              </a:rPr>
              <a:t>• An important aspect of RISC instruction format is that it is easy to decode.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3200" dirty="0">
                <a:ea typeface="宋体" pitchFamily="2" charset="-122"/>
              </a:rPr>
              <a:t>• </a:t>
            </a:r>
            <a:r>
              <a:rPr lang="en-US" sz="2800" dirty="0">
                <a:ea typeface="宋体" pitchFamily="2" charset="-122"/>
              </a:rPr>
              <a:t>Shorter Instructions - Breaking the complex instruction into several short simpler instructions</a:t>
            </a:r>
          </a:p>
        </p:txBody>
      </p:sp>
    </p:spTree>
    <p:extLst>
      <p:ext uri="{BB962C8B-B14F-4D97-AF65-F5344CB8AC3E}">
        <p14:creationId xmlns:p14="http://schemas.microsoft.com/office/powerpoint/2010/main" val="2821901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 noChangeArrowheads="1"/>
          </p:cNvSpPr>
          <p:nvPr/>
        </p:nvSpPr>
        <p:spPr bwMode="auto">
          <a:xfrm>
            <a:off x="489079" y="115888"/>
            <a:ext cx="58964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</a:rPr>
              <a:t>cont</a:t>
            </a:r>
            <a:r>
              <a:rPr lang="en-US" sz="3600" b="1" dirty="0">
                <a:solidFill>
                  <a:srgbClr val="FF0000"/>
                </a:solidFill>
              </a:rPr>
              <a:t>….</a:t>
            </a:r>
          </a:p>
        </p:txBody>
      </p:sp>
      <p:sp>
        <p:nvSpPr>
          <p:cNvPr id="9219" name="Rectangle 2"/>
          <p:cNvSpPr>
            <a:spLocks noChangeArrowheads="1"/>
          </p:cNvSpPr>
          <p:nvPr/>
        </p:nvSpPr>
        <p:spPr bwMode="auto">
          <a:xfrm>
            <a:off x="468181" y="914400"/>
            <a:ext cx="11630466" cy="567078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spcAft>
                <a:spcPts val="300"/>
              </a:spcAft>
              <a:defRPr/>
            </a:pPr>
            <a:r>
              <a:rPr lang="en-US" sz="2800" dirty="0">
                <a:ea typeface="宋体" pitchFamily="2" charset="-122"/>
              </a:rPr>
              <a:t>• It has the ability to execute one instruction per clock cycle.</a:t>
            </a:r>
          </a:p>
          <a:p>
            <a:pPr marL="342900" indent="-342900" algn="just">
              <a:spcAft>
                <a:spcPts val="300"/>
              </a:spcAft>
              <a:buFont typeface="Wingdings" pitchFamily="2" charset="2"/>
              <a:buChar char="Ø"/>
              <a:defRPr/>
            </a:pPr>
            <a:r>
              <a:rPr lang="en-US" sz="2800" dirty="0">
                <a:ea typeface="宋体" pitchFamily="2" charset="-122"/>
              </a:rPr>
              <a:t>This is done by overlapping the fetch, decode and execute phases of two or three instructions by using a procedure referred to as pipelining.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2800" dirty="0">
                <a:ea typeface="宋体" pitchFamily="2" charset="-122"/>
              </a:rPr>
              <a:t>• The advantage of register storage as opposed to memory storage is that registers can transfer information to other registers much faster than the transfer of information to and from memory.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2800" dirty="0">
                <a:ea typeface="宋体" pitchFamily="2" charset="-122"/>
              </a:rPr>
              <a:t>• Relatively few instructions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2800" dirty="0">
                <a:ea typeface="宋体" pitchFamily="2" charset="-122"/>
              </a:rPr>
              <a:t>• Relatively few addressing modes.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2800" dirty="0">
                <a:ea typeface="宋体" pitchFamily="2" charset="-122"/>
              </a:rPr>
              <a:t>• Memory access limited to load and store instructions</a:t>
            </a:r>
          </a:p>
          <a:p>
            <a:pPr algn="just">
              <a:spcAft>
                <a:spcPts val="300"/>
              </a:spcAft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spcAft>
                <a:spcPts val="300"/>
              </a:spcAft>
              <a:defRPr/>
            </a:pPr>
            <a:r>
              <a:rPr lang="en-US" sz="2800" dirty="0">
                <a:ea typeface="宋体" pitchFamily="2" charset="-122"/>
              </a:rPr>
              <a:t>• Can run several instructions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420136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ChangeArrowheads="1"/>
          </p:cNvSpPr>
          <p:nvPr/>
        </p:nvSpPr>
        <p:spPr bwMode="auto">
          <a:xfrm>
            <a:off x="207488" y="115888"/>
            <a:ext cx="1174844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Properties of a RISC Processor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229062" y="1259175"/>
            <a:ext cx="11748443" cy="43396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7188" indent="-357188" algn="just">
              <a:spcAft>
                <a:spcPts val="1200"/>
              </a:spcAft>
              <a:buFontTx/>
              <a:buAutoNum type="arabicPeriod"/>
              <a:defRPr/>
            </a:pPr>
            <a:r>
              <a:rPr lang="en-US" sz="2800" dirty="0">
                <a:ea typeface="宋体" pitchFamily="2" charset="-122"/>
              </a:rPr>
              <a:t>Simple primitive instructions and addressing modes.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3200" dirty="0">
                <a:ea typeface="宋体" pitchFamily="2" charset="-122"/>
              </a:rPr>
              <a:t>2. </a:t>
            </a:r>
            <a:r>
              <a:rPr lang="en-US" sz="2800" dirty="0">
                <a:ea typeface="宋体" pitchFamily="2" charset="-122"/>
              </a:rPr>
              <a:t>Instructions execute in one clock cycle.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3200" dirty="0">
                <a:ea typeface="宋体" pitchFamily="2" charset="-122"/>
              </a:rPr>
              <a:t>3. </a:t>
            </a:r>
            <a:r>
              <a:rPr lang="en-US" sz="2800" dirty="0">
                <a:ea typeface="宋体" pitchFamily="2" charset="-122"/>
              </a:rPr>
              <a:t>Uniformed length instructions and fixed instruction format.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3200" dirty="0">
                <a:ea typeface="宋体" pitchFamily="2" charset="-122"/>
              </a:rPr>
              <a:t>4. </a:t>
            </a:r>
            <a:r>
              <a:rPr lang="en-US" sz="2800" dirty="0">
                <a:ea typeface="宋体" pitchFamily="2" charset="-122"/>
              </a:rPr>
              <a:t>Instructions interface with memory via fixed mechanisms(load/store).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3200" dirty="0">
                <a:ea typeface="宋体" pitchFamily="2" charset="-122"/>
              </a:rPr>
              <a:t>5. </a:t>
            </a:r>
            <a:r>
              <a:rPr lang="en-US" sz="2800" dirty="0">
                <a:ea typeface="宋体" pitchFamily="2" charset="-122"/>
              </a:rPr>
              <a:t>Pipelining.</a:t>
            </a:r>
          </a:p>
          <a:p>
            <a:pPr marL="357188" indent="-357188" algn="just">
              <a:spcAft>
                <a:spcPts val="1200"/>
              </a:spcAft>
              <a:buFontTx/>
              <a:buAutoNum type="arabicPeriod" startAt="6"/>
              <a:defRPr/>
            </a:pPr>
            <a:r>
              <a:rPr lang="en-US" sz="2800" dirty="0">
                <a:ea typeface="宋体" pitchFamily="2" charset="-122"/>
              </a:rPr>
              <a:t>Hardwired control</a:t>
            </a:r>
            <a:r>
              <a:rPr lang="en-US" sz="3200" dirty="0">
                <a:ea typeface="宋体" pitchFamily="2" charset="-122"/>
              </a:rPr>
              <a:t>.</a:t>
            </a:r>
          </a:p>
          <a:p>
            <a:pPr marL="357188" indent="-357188" algn="just">
              <a:spcAft>
                <a:spcPts val="1200"/>
              </a:spcAft>
              <a:buFontTx/>
              <a:buAutoNum type="arabicPeriod" startAt="6"/>
              <a:defRPr/>
            </a:pPr>
            <a:r>
              <a:rPr lang="en-US" sz="2800" dirty="0">
                <a:ea typeface="宋体" pitchFamily="2" charset="-122"/>
              </a:rPr>
              <a:t>Complexity pushed to the compiler.</a:t>
            </a:r>
          </a:p>
        </p:txBody>
      </p:sp>
    </p:spTree>
    <p:extLst>
      <p:ext uri="{BB962C8B-B14F-4D97-AF65-F5344CB8AC3E}">
        <p14:creationId xmlns:p14="http://schemas.microsoft.com/office/powerpoint/2010/main" val="3453949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ChangeArrowheads="1"/>
          </p:cNvSpPr>
          <p:nvPr/>
        </p:nvSpPr>
        <p:spPr bwMode="auto">
          <a:xfrm>
            <a:off x="207488" y="115888"/>
            <a:ext cx="1175749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Advantages of RISC</a:t>
            </a:r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207488" y="1105287"/>
            <a:ext cx="11299591" cy="464742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b="1" dirty="0">
                <a:solidFill>
                  <a:srgbClr val="0000FF"/>
                </a:solidFill>
                <a:ea typeface="宋体" pitchFamily="2" charset="-122"/>
              </a:rPr>
              <a:t>Speed</a:t>
            </a:r>
            <a:r>
              <a:rPr lang="en-US" sz="2800" dirty="0">
                <a:solidFill>
                  <a:srgbClr val="0000FF"/>
                </a:solidFill>
                <a:ea typeface="宋体" pitchFamily="2" charset="-122"/>
              </a:rPr>
              <a:t>:</a:t>
            </a:r>
            <a:r>
              <a:rPr lang="en-US" sz="2800" dirty="0">
                <a:ea typeface="宋体" pitchFamily="2" charset="-122"/>
              </a:rPr>
              <a:t> RISC processors often achieve 2 to 4 times the performance of CISC processors using comparable semiconductor technology and the same clock rates.</a:t>
            </a: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b="1" dirty="0">
                <a:solidFill>
                  <a:srgbClr val="0000FF"/>
                </a:solidFill>
                <a:ea typeface="宋体" pitchFamily="2" charset="-122"/>
              </a:rPr>
              <a:t>Simpler hardware</a:t>
            </a:r>
            <a:r>
              <a:rPr lang="en-US" sz="2800" dirty="0">
                <a:solidFill>
                  <a:srgbClr val="0000FF"/>
                </a:solidFill>
                <a:ea typeface="宋体" pitchFamily="2" charset="-122"/>
              </a:rPr>
              <a:t>.</a:t>
            </a:r>
            <a:r>
              <a:rPr lang="en-US" sz="2800" dirty="0">
                <a:ea typeface="宋体" pitchFamily="2" charset="-122"/>
              </a:rPr>
              <a:t> Because the instruction set of a RISC processor is so simple, it uses up much less chip space and simple hardware requirements. </a:t>
            </a: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algn="just">
              <a:defRPr/>
            </a:pPr>
            <a:endParaRPr lang="en-US" sz="1100" dirty="0"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800" b="1" dirty="0">
                <a:solidFill>
                  <a:srgbClr val="0000FF"/>
                </a:solidFill>
                <a:ea typeface="宋体" pitchFamily="2" charset="-122"/>
              </a:rPr>
              <a:t>Shorter design cycle</a:t>
            </a:r>
            <a:r>
              <a:rPr lang="en-US" sz="2800" dirty="0">
                <a:ea typeface="宋体" pitchFamily="2" charset="-122"/>
              </a:rPr>
              <a:t>. Since RISC processors are simpler than corresponding CISC processors, they can be designed more quickly, and can complete there work in 1 clock cycle</a:t>
            </a:r>
          </a:p>
        </p:txBody>
      </p:sp>
    </p:spTree>
    <p:extLst>
      <p:ext uri="{BB962C8B-B14F-4D97-AF65-F5344CB8AC3E}">
        <p14:creationId xmlns:p14="http://schemas.microsoft.com/office/powerpoint/2010/main" val="2002013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ChangeArrowheads="1"/>
          </p:cNvSpPr>
          <p:nvPr/>
        </p:nvSpPr>
        <p:spPr bwMode="auto">
          <a:xfrm>
            <a:off x="207488" y="345043"/>
            <a:ext cx="1175749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Disadvantages of RISC</a:t>
            </a:r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207488" y="1219200"/>
            <a:ext cx="11757499" cy="529375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600" b="1" dirty="0">
                <a:solidFill>
                  <a:srgbClr val="0000FF"/>
                </a:solidFill>
                <a:ea typeface="宋体" pitchFamily="2" charset="-122"/>
              </a:rPr>
              <a:t>Code Quality</a:t>
            </a:r>
            <a:r>
              <a:rPr lang="en-US" sz="2600" b="1" dirty="0">
                <a:ea typeface="宋体" pitchFamily="2" charset="-122"/>
              </a:rPr>
              <a:t>: </a:t>
            </a:r>
            <a:r>
              <a:rPr lang="en-US" sz="2600" dirty="0">
                <a:ea typeface="宋体" pitchFamily="2" charset="-122"/>
              </a:rPr>
              <a:t>The performance of a RISC processor depends greatly on the code that it is executing. If the programmer (or compiler) does a poor job of instruction scheduling, the processor can spend quite a bit of time </a:t>
            </a:r>
            <a:r>
              <a:rPr lang="en-US" sz="2600" b="1" dirty="0">
                <a:solidFill>
                  <a:srgbClr val="0000FF"/>
                </a:solidFill>
                <a:ea typeface="宋体" pitchFamily="2" charset="-122"/>
              </a:rPr>
              <a:t>stalling </a:t>
            </a:r>
            <a:r>
              <a:rPr lang="en-US" sz="2600" dirty="0">
                <a:ea typeface="宋体" pitchFamily="2" charset="-122"/>
              </a:rPr>
              <a:t>(waiting for the result of one instruction before it can proceed with a subsequent instruction).</a:t>
            </a:r>
          </a:p>
          <a:p>
            <a:pPr algn="just">
              <a:defRPr/>
            </a:pPr>
            <a:endParaRPr lang="en-US" sz="2600" b="1" dirty="0"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600" b="1" dirty="0">
                <a:solidFill>
                  <a:srgbClr val="0000FF"/>
                </a:solidFill>
                <a:ea typeface="宋体" pitchFamily="2" charset="-122"/>
              </a:rPr>
              <a:t>Code expansion</a:t>
            </a:r>
            <a:r>
              <a:rPr lang="en-US" sz="2600" b="1" dirty="0">
                <a:ea typeface="宋体" pitchFamily="2" charset="-122"/>
              </a:rPr>
              <a:t>: </a:t>
            </a:r>
            <a:r>
              <a:rPr lang="en-US" sz="2600" dirty="0">
                <a:ea typeface="宋体" pitchFamily="2" charset="-122"/>
              </a:rPr>
              <a:t>Since CISC machines perform complex actions with a single instruction, where RISC machines may require multiple instructions for the same action, code expansion can be a problem.</a:t>
            </a:r>
            <a:endParaRPr lang="en-US" sz="2600" b="1" dirty="0">
              <a:ea typeface="宋体" pitchFamily="2" charset="-122"/>
            </a:endParaRPr>
          </a:p>
          <a:p>
            <a:pPr algn="just">
              <a:defRPr/>
            </a:pPr>
            <a:endParaRPr lang="en-US" sz="2600" b="1" dirty="0">
              <a:ea typeface="宋体" pitchFamily="2" charset="-122"/>
            </a:endParaRPr>
          </a:p>
          <a:p>
            <a:pPr marL="342900" indent="-342900" algn="just">
              <a:buFont typeface="Arial" pitchFamily="34" charset="0"/>
              <a:buChar char="•"/>
              <a:defRPr/>
            </a:pPr>
            <a:r>
              <a:rPr lang="en-US" sz="2600" b="1" dirty="0">
                <a:solidFill>
                  <a:srgbClr val="0000FF"/>
                </a:solidFill>
                <a:ea typeface="宋体" pitchFamily="2" charset="-122"/>
              </a:rPr>
              <a:t>System Design</a:t>
            </a:r>
            <a:r>
              <a:rPr lang="en-US" sz="2600" b="1" dirty="0">
                <a:ea typeface="宋体" pitchFamily="2" charset="-122"/>
              </a:rPr>
              <a:t>: </a:t>
            </a:r>
            <a:r>
              <a:rPr lang="en-US" sz="2600" dirty="0">
                <a:ea typeface="宋体" pitchFamily="2" charset="-122"/>
              </a:rPr>
              <a:t>Another problem that faces RISC machines is that they require very fast memory systems to feed their instructions. RISC-based systems typically contain large memory caches, usually on the chip itself. This is known as a first-level cache.</a:t>
            </a:r>
            <a:endParaRPr lang="en-US" sz="2600" b="1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0363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ChangeArrowheads="1"/>
          </p:cNvSpPr>
          <p:nvPr/>
        </p:nvSpPr>
        <p:spPr bwMode="auto">
          <a:xfrm>
            <a:off x="207488" y="115888"/>
            <a:ext cx="1175749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RISC Instruction Example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323170" y="1371600"/>
            <a:ext cx="11526134" cy="513986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In RISC the microprocessor's designers might make sure that add executes in one clock. </a:t>
            </a:r>
          </a:p>
          <a:p>
            <a:pPr marL="342900" indent="-342900" algn="just"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Then a compiler could </a:t>
            </a:r>
            <a:r>
              <a:rPr lang="en-US" sz="2800" b="1" dirty="0">
                <a:solidFill>
                  <a:srgbClr val="0000FF"/>
                </a:solidFill>
                <a:ea typeface="宋体" pitchFamily="2" charset="-122"/>
              </a:rPr>
              <a:t>multiply a and b </a:t>
            </a:r>
            <a:r>
              <a:rPr lang="en-US" sz="2800" dirty="0">
                <a:ea typeface="宋体" pitchFamily="2" charset="-122"/>
              </a:rPr>
              <a:t>by adding a to itself b times or b to itself a times.</a:t>
            </a:r>
          </a:p>
          <a:p>
            <a:pPr algn="just">
              <a:defRPr/>
            </a:pPr>
            <a:r>
              <a:rPr lang="en-US" sz="2800" dirty="0">
                <a:ea typeface="宋体" pitchFamily="2" charset="-122"/>
              </a:rPr>
              <a:t> </a:t>
            </a:r>
            <a:r>
              <a:rPr lang="en-US" sz="2800" b="1" dirty="0">
                <a:ea typeface="宋体" pitchFamily="2" charset="-122"/>
              </a:rPr>
              <a:t>     Mov ax,0</a:t>
            </a:r>
          </a:p>
          <a:p>
            <a:pPr lvl="1" algn="just">
              <a:defRPr/>
            </a:pPr>
            <a:r>
              <a:rPr lang="en-US" sz="2800" b="1" dirty="0" err="1">
                <a:ea typeface="宋体" pitchFamily="2" charset="-122"/>
              </a:rPr>
              <a:t>Mov</a:t>
            </a:r>
            <a:r>
              <a:rPr lang="en-US" sz="2800" b="1" dirty="0">
                <a:ea typeface="宋体" pitchFamily="2" charset="-122"/>
              </a:rPr>
              <a:t> bx,10</a:t>
            </a:r>
          </a:p>
          <a:p>
            <a:pPr lvl="1" algn="just">
              <a:defRPr/>
            </a:pPr>
            <a:r>
              <a:rPr lang="en-US" sz="2800" b="1" dirty="0" err="1">
                <a:ea typeface="宋体" pitchFamily="2" charset="-122"/>
              </a:rPr>
              <a:t>Mov</a:t>
            </a:r>
            <a:r>
              <a:rPr lang="en-US" sz="2800" b="1" dirty="0">
                <a:ea typeface="宋体" pitchFamily="2" charset="-122"/>
              </a:rPr>
              <a:t> cx,5</a:t>
            </a:r>
          </a:p>
          <a:p>
            <a:pPr lvl="1" algn="just">
              <a:defRPr/>
            </a:pPr>
            <a:r>
              <a:rPr lang="en-US" sz="2800" b="1" dirty="0">
                <a:ea typeface="宋体" pitchFamily="2" charset="-122"/>
              </a:rPr>
              <a:t>Begin:</a:t>
            </a:r>
          </a:p>
          <a:p>
            <a:pPr lvl="1" algn="just">
              <a:defRPr/>
            </a:pPr>
            <a:r>
              <a:rPr lang="en-US" sz="2800" b="1" dirty="0">
                <a:ea typeface="宋体" pitchFamily="2" charset="-122"/>
              </a:rPr>
              <a:t>Add </a:t>
            </a:r>
            <a:r>
              <a:rPr lang="en-US" sz="2800" b="1" dirty="0" err="1">
                <a:ea typeface="宋体" pitchFamily="2" charset="-122"/>
              </a:rPr>
              <a:t>ax,bx</a:t>
            </a:r>
            <a:endParaRPr lang="en-US" sz="2800" b="1" dirty="0">
              <a:ea typeface="宋体" pitchFamily="2" charset="-122"/>
            </a:endParaRPr>
          </a:p>
          <a:p>
            <a:pPr lvl="1" algn="just">
              <a:defRPr/>
            </a:pPr>
            <a:r>
              <a:rPr lang="en-US" sz="2800" b="1" dirty="0">
                <a:ea typeface="宋体" pitchFamily="2" charset="-122"/>
              </a:rPr>
              <a:t>Loop Begin </a:t>
            </a:r>
          </a:p>
          <a:p>
            <a:pPr lvl="1" algn="just">
              <a:defRPr/>
            </a:pPr>
            <a:r>
              <a:rPr lang="en-US" sz="2800" b="1" dirty="0">
                <a:ea typeface="宋体" pitchFamily="2" charset="-122"/>
              </a:rPr>
              <a:t>loop cx times</a:t>
            </a:r>
          </a:p>
        </p:txBody>
      </p:sp>
    </p:spTree>
    <p:extLst>
      <p:ext uri="{BB962C8B-B14F-4D97-AF65-F5344CB8AC3E}">
        <p14:creationId xmlns:p14="http://schemas.microsoft.com/office/powerpoint/2010/main" val="2513133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ChangeArrowheads="1"/>
          </p:cNvSpPr>
          <p:nvPr/>
        </p:nvSpPr>
        <p:spPr bwMode="auto">
          <a:xfrm>
            <a:off x="230187" y="188913"/>
            <a:ext cx="11734799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RISC 5 Stage Pipelining</a:t>
            </a: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382586" y="1066800"/>
            <a:ext cx="11582400" cy="5116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sz="2400" b="1" i="1" dirty="0" err="1">
                <a:solidFill>
                  <a:srgbClr val="0000FF"/>
                </a:solidFill>
              </a:rPr>
              <a:t>Fivestage</a:t>
            </a:r>
            <a:r>
              <a:rPr lang="en-US" sz="2400" b="1" i="1" dirty="0">
                <a:solidFill>
                  <a:srgbClr val="0000FF"/>
                </a:solidFill>
              </a:rPr>
              <a:t> “RISC” load-‐store architecture</a:t>
            </a:r>
          </a:p>
          <a:p>
            <a:endParaRPr lang="en-US" sz="1050" b="1" i="1" dirty="0"/>
          </a:p>
          <a:p>
            <a:r>
              <a:rPr lang="en-US" sz="2400" b="1" i="1" dirty="0"/>
              <a:t>1. Instruction fetch (IF)</a:t>
            </a:r>
          </a:p>
          <a:p>
            <a:r>
              <a:rPr lang="en-US" sz="2400" dirty="0"/>
              <a:t>• Get instruction from memory, increment PC.</a:t>
            </a:r>
          </a:p>
          <a:p>
            <a:endParaRPr lang="en-US" sz="1400" dirty="0"/>
          </a:p>
          <a:p>
            <a:r>
              <a:rPr lang="en-US" sz="2400" b="1" i="1" dirty="0"/>
              <a:t>2. Instruction Decode (ID)</a:t>
            </a:r>
          </a:p>
          <a:p>
            <a:r>
              <a:rPr lang="en-US" sz="2400" dirty="0"/>
              <a:t>• Translate </a:t>
            </a:r>
            <a:r>
              <a:rPr lang="en-US" sz="2400" dirty="0" err="1"/>
              <a:t>opcode</a:t>
            </a:r>
            <a:r>
              <a:rPr lang="en-US" sz="2400" dirty="0"/>
              <a:t> into control signals and read registers.</a:t>
            </a:r>
          </a:p>
          <a:p>
            <a:endParaRPr lang="en-US" sz="1200" dirty="0"/>
          </a:p>
          <a:p>
            <a:r>
              <a:rPr lang="en-US" sz="2400" b="1" i="1" dirty="0"/>
              <a:t>3. Execute (EX)</a:t>
            </a:r>
          </a:p>
          <a:p>
            <a:r>
              <a:rPr lang="en-US" sz="2400" dirty="0"/>
              <a:t>• Perform ALU operation, compute jump/branch target</a:t>
            </a:r>
          </a:p>
          <a:p>
            <a:endParaRPr lang="en-US" sz="1200" dirty="0"/>
          </a:p>
          <a:p>
            <a:r>
              <a:rPr lang="en-US" sz="2400" b="1" i="1" dirty="0"/>
              <a:t>4. Memory (MEM)</a:t>
            </a:r>
          </a:p>
          <a:p>
            <a:r>
              <a:rPr lang="en-US" sz="2400" dirty="0"/>
              <a:t>• Access memory if needed</a:t>
            </a:r>
          </a:p>
          <a:p>
            <a:endParaRPr lang="en-US" sz="1400" dirty="0"/>
          </a:p>
          <a:p>
            <a:r>
              <a:rPr lang="en-US" sz="2400" b="1" i="1" dirty="0"/>
              <a:t>5. </a:t>
            </a:r>
            <a:r>
              <a:rPr lang="en-US" sz="2400" b="1" i="1" dirty="0" err="1"/>
              <a:t>Writeback</a:t>
            </a:r>
            <a:r>
              <a:rPr lang="en-US" sz="2400" b="1" i="1" dirty="0"/>
              <a:t> (WB)</a:t>
            </a:r>
          </a:p>
          <a:p>
            <a:r>
              <a:rPr lang="en-US" sz="2400" dirty="0"/>
              <a:t>• Update register file</a:t>
            </a:r>
          </a:p>
        </p:txBody>
      </p:sp>
    </p:spTree>
    <p:extLst>
      <p:ext uri="{BB962C8B-B14F-4D97-AF65-F5344CB8AC3E}">
        <p14:creationId xmlns:p14="http://schemas.microsoft.com/office/powerpoint/2010/main" val="1672122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ChangeArrowheads="1"/>
          </p:cNvSpPr>
          <p:nvPr/>
        </p:nvSpPr>
        <p:spPr bwMode="auto">
          <a:xfrm>
            <a:off x="382587" y="188913"/>
            <a:ext cx="11506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RISC 5 Stage Pipelining</a:t>
            </a:r>
          </a:p>
        </p:txBody>
      </p:sp>
      <p:pic>
        <p:nvPicPr>
          <p:cNvPr id="24579" name="Picture 4" descr="C:\Users\kinshyz\Desktop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44" y="1143000"/>
            <a:ext cx="11582400" cy="519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017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ChangeArrowheads="1"/>
          </p:cNvSpPr>
          <p:nvPr/>
        </p:nvSpPr>
        <p:spPr bwMode="auto">
          <a:xfrm>
            <a:off x="230187" y="188913"/>
            <a:ext cx="1173479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Question</a:t>
            </a: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387921" y="2133600"/>
            <a:ext cx="11582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Why is pipelining more difficult in CISC processors?</a:t>
            </a:r>
          </a:p>
        </p:txBody>
      </p:sp>
    </p:spTree>
    <p:extLst>
      <p:ext uri="{BB962C8B-B14F-4D97-AF65-F5344CB8AC3E}">
        <p14:creationId xmlns:p14="http://schemas.microsoft.com/office/powerpoint/2010/main" val="1564572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ChangeArrowheads="1"/>
          </p:cNvSpPr>
          <p:nvPr/>
        </p:nvSpPr>
        <p:spPr bwMode="auto">
          <a:xfrm>
            <a:off x="230187" y="188913"/>
            <a:ext cx="1173479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306386" y="1676400"/>
            <a:ext cx="115824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GB" sz="4000" b="1" dirty="0"/>
              <a:t>Because instructions have varying lengths and execution times, making it harder to process instructions uniformly through the pipeline stages.</a:t>
            </a:r>
          </a:p>
        </p:txBody>
      </p:sp>
    </p:spTree>
    <p:extLst>
      <p:ext uri="{BB962C8B-B14F-4D97-AF65-F5344CB8AC3E}">
        <p14:creationId xmlns:p14="http://schemas.microsoft.com/office/powerpoint/2010/main" val="2935975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ChangeArrowheads="1"/>
          </p:cNvSpPr>
          <p:nvPr/>
        </p:nvSpPr>
        <p:spPr bwMode="auto">
          <a:xfrm>
            <a:off x="334521" y="115888"/>
            <a:ext cx="117166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Example: CISC and RISC Instructions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5" t="19877" r="43892" b="31762"/>
          <a:stretch/>
        </p:blipFill>
        <p:spPr bwMode="auto">
          <a:xfrm>
            <a:off x="230187" y="762220"/>
            <a:ext cx="11716684" cy="560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1228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ChangeArrowheads="1"/>
          </p:cNvSpPr>
          <p:nvPr/>
        </p:nvSpPr>
        <p:spPr bwMode="auto">
          <a:xfrm>
            <a:off x="383217" y="914400"/>
            <a:ext cx="11380045" cy="38779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itchFamily="34" charset="0"/>
              <a:buChar char="•"/>
              <a:defRPr/>
            </a:pPr>
            <a:r>
              <a:rPr lang="en-US" sz="2800" dirty="0">
                <a:ea typeface="宋体" pitchFamily="2" charset="-122"/>
              </a:rPr>
              <a:t>Instructions utilize more cycles in CISC than RISC.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• CISC has more complex instructions than RISC.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• CISC typically has fewer instructions than RISC.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• CISC implementations tend to be slower than RISC implementations.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• RISC design is approximately twice as cost-effective as CISC.</a:t>
            </a:r>
          </a:p>
          <a:p>
            <a:pPr algn="just">
              <a:spcAft>
                <a:spcPts val="1200"/>
              </a:spcAft>
              <a:defRPr/>
            </a:pPr>
            <a:r>
              <a:rPr lang="en-US" sz="2800" dirty="0">
                <a:ea typeface="宋体" pitchFamily="2" charset="-122"/>
              </a:rPr>
              <a:t>• RISC architectures are designed for a good cost/performance, whereas CISC architectures are designed for a good performance on slow memories.</a:t>
            </a:r>
          </a:p>
        </p:txBody>
      </p:sp>
      <p:sp>
        <p:nvSpPr>
          <p:cNvPr id="25603" name="Rectangle 1"/>
          <p:cNvSpPr>
            <a:spLocks noChangeArrowheads="1"/>
          </p:cNvSpPr>
          <p:nvPr/>
        </p:nvSpPr>
        <p:spPr bwMode="auto">
          <a:xfrm>
            <a:off x="334521" y="241301"/>
            <a:ext cx="117166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Comparisons between CISC and RISC Processors</a:t>
            </a:r>
          </a:p>
        </p:txBody>
      </p:sp>
    </p:spTree>
    <p:extLst>
      <p:ext uri="{BB962C8B-B14F-4D97-AF65-F5344CB8AC3E}">
        <p14:creationId xmlns:p14="http://schemas.microsoft.com/office/powerpoint/2010/main" val="3852969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1"/>
          <p:cNvSpPr>
            <a:spLocks noChangeArrowheads="1"/>
          </p:cNvSpPr>
          <p:nvPr/>
        </p:nvSpPr>
        <p:spPr bwMode="auto">
          <a:xfrm>
            <a:off x="334521" y="241301"/>
            <a:ext cx="117166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Comparisons between CISC and RISC Processors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51" t="38116" r="46773" b="20491"/>
          <a:stretch/>
        </p:blipFill>
        <p:spPr bwMode="auto">
          <a:xfrm>
            <a:off x="1087463" y="887632"/>
            <a:ext cx="10210800" cy="5621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996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179569"/>
              </p:ext>
            </p:extLst>
          </p:nvPr>
        </p:nvGraphicFramePr>
        <p:xfrm>
          <a:off x="431913" y="1052513"/>
          <a:ext cx="11428742" cy="5505450"/>
        </p:xfrm>
        <a:graphic>
          <a:graphicData uri="http://schemas.openxmlformats.org/drawingml/2006/table">
            <a:tbl>
              <a:tblPr/>
              <a:tblGrid>
                <a:gridCol w="5606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2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18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CISC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RISC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Emphasis on hardware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Emphasis on software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Includes multi-clock, complex instructions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Single-clock, reduced instruction only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066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Memory-to-memory:</a:t>
                      </a:r>
                      <a:b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"LOAD" and "STORE"</a:t>
                      </a:r>
                      <a:b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incorporated in instructions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Register to register:</a:t>
                      </a:r>
                      <a:b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"LOAD" and "STORE"</a:t>
                      </a:r>
                      <a:b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</a:b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are independent instructions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0662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chemeClr val="tx1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Slower since instruction can take more than 1 cycle</a:t>
                      </a: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2000" b="1" dirty="0">
                        <a:solidFill>
                          <a:srgbClr val="0000FF"/>
                        </a:solidFill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Faster since instructions usually take 1 instruction cycle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53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Main objective is less code.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rgbClr val="0000FF"/>
                        </a:solidFill>
                        <a:latin typeface="Constantia" pitchFamily="16" charset="0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Main objective is speed.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61" marR="12196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639" name="Rectangle 1"/>
          <p:cNvSpPr>
            <a:spLocks noChangeArrowheads="1"/>
          </p:cNvSpPr>
          <p:nvPr/>
        </p:nvSpPr>
        <p:spPr bwMode="auto">
          <a:xfrm>
            <a:off x="458787" y="266700"/>
            <a:ext cx="58964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</a:rPr>
              <a:t>cont</a:t>
            </a:r>
            <a:r>
              <a:rPr lang="en-US" sz="3600" b="1" dirty="0">
                <a:solidFill>
                  <a:srgbClr val="FF0000"/>
                </a:solidFill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4054452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0021442"/>
              </p:ext>
            </p:extLst>
          </p:nvPr>
        </p:nvGraphicFramePr>
        <p:xfrm>
          <a:off x="239246" y="981076"/>
          <a:ext cx="11763262" cy="3798887"/>
        </p:xfrm>
        <a:graphic>
          <a:graphicData uri="http://schemas.openxmlformats.org/drawingml/2006/table">
            <a:tbl>
              <a:tblPr/>
              <a:tblGrid>
                <a:gridCol w="5770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3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32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</a:rPr>
                        <a:t>CISC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marL="121952" marR="121952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Verdana" pitchFamily="34" charset="0"/>
                        </a:rPr>
                        <a:t>RISC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 </a:t>
                      </a:r>
                    </a:p>
                  </a:txBody>
                  <a:tcPr marL="121952" marR="121952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73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More hardware oriented.</a:t>
                      </a:r>
                    </a:p>
                  </a:txBody>
                  <a:tcPr marL="121952" marR="121952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More software oriented since the compiler deals with translations.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52" marR="121952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1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Instruction size is mostly varied in size.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52" marR="121952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Instruction size is always a set size.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52" marR="121952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914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Addressing Modes can be complex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52" marR="121952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FF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Addressing Modes are simple.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Verdana" pitchFamily="34" charset="0"/>
                        <a:ea typeface="Verdana" pitchFamily="34" charset="0"/>
                        <a:cs typeface="Verdana" pitchFamily="34" charset="0"/>
                      </a:endParaRPr>
                    </a:p>
                  </a:txBody>
                  <a:tcPr marL="121952" marR="121952" marT="45727" marB="4572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659" name="Rectangle 1"/>
          <p:cNvSpPr>
            <a:spLocks noChangeArrowheads="1"/>
          </p:cNvSpPr>
          <p:nvPr/>
        </p:nvSpPr>
        <p:spPr bwMode="auto">
          <a:xfrm>
            <a:off x="489079" y="115888"/>
            <a:ext cx="58964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</a:rPr>
              <a:t>cont</a:t>
            </a:r>
            <a:r>
              <a:rPr lang="en-US" sz="3600" b="1" dirty="0">
                <a:solidFill>
                  <a:srgbClr val="FF0000"/>
                </a:solidFill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8574602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ChangeArrowheads="1"/>
          </p:cNvSpPr>
          <p:nvPr/>
        </p:nvSpPr>
        <p:spPr bwMode="auto">
          <a:xfrm>
            <a:off x="304800" y="188913"/>
            <a:ext cx="105171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Examples of CISC and RISC Processors</a:t>
            </a:r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86" y="848277"/>
            <a:ext cx="10517186" cy="533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4062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1891437</TotalTime>
  <Words>2270</Words>
  <Application>Microsoft Office PowerPoint</Application>
  <PresentationFormat>Custom</PresentationFormat>
  <Paragraphs>261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Calibri</vt:lpstr>
      <vt:lpstr>Constantia</vt:lpstr>
      <vt:lpstr>Georgia</vt:lpstr>
      <vt:lpstr>Rockwell</vt:lpstr>
      <vt:lpstr>Rockwell Condensed</vt:lpstr>
      <vt:lpstr>Verdana</vt:lpstr>
      <vt:lpstr>Wingdings</vt:lpstr>
      <vt:lpstr>Office Theme</vt:lpstr>
      <vt:lpstr>Custom Design</vt:lpstr>
      <vt:lpstr>IFT222 Computer Architecture and Organization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CISC Architecture </vt:lpstr>
      <vt:lpstr>PowerPoint Presentation</vt:lpstr>
      <vt:lpstr>Characteristic of CISC Processors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Driving Administrative Quality For Vision 10: 2022</dc:title>
  <dc:creator>HP</dc:creator>
  <cp:lastModifiedBy>Oluranti Jonathan</cp:lastModifiedBy>
  <cp:revision>200</cp:revision>
  <cp:lastPrinted>2015-08-03T07:22:59Z</cp:lastPrinted>
  <dcterms:created xsi:type="dcterms:W3CDTF">2014-01-31T21:42:27Z</dcterms:created>
  <dcterms:modified xsi:type="dcterms:W3CDTF">2026-07-24T17:24:36Z</dcterms:modified>
</cp:coreProperties>
</file>