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68"/>
  </p:notesMasterIdLst>
  <p:handoutMasterIdLst>
    <p:handoutMasterId r:id="rId69"/>
  </p:handoutMasterIdLst>
  <p:sldIdLst>
    <p:sldId id="313" r:id="rId3"/>
    <p:sldId id="567" r:id="rId4"/>
    <p:sldId id="428" r:id="rId5"/>
    <p:sldId id="390" r:id="rId6"/>
    <p:sldId id="512" r:id="rId7"/>
    <p:sldId id="513" r:id="rId8"/>
    <p:sldId id="514" r:id="rId9"/>
    <p:sldId id="515" r:id="rId10"/>
    <p:sldId id="388" r:id="rId11"/>
    <p:sldId id="516" r:id="rId12"/>
    <p:sldId id="468" r:id="rId13"/>
    <p:sldId id="517" r:id="rId14"/>
    <p:sldId id="519" r:id="rId15"/>
    <p:sldId id="520" r:id="rId16"/>
    <p:sldId id="521" r:id="rId17"/>
    <p:sldId id="431" r:id="rId18"/>
    <p:sldId id="469" r:id="rId19"/>
    <p:sldId id="522" r:id="rId20"/>
    <p:sldId id="523" r:id="rId21"/>
    <p:sldId id="467" r:id="rId22"/>
    <p:sldId id="568" r:id="rId23"/>
    <p:sldId id="470" r:id="rId24"/>
    <p:sldId id="477" r:id="rId25"/>
    <p:sldId id="471" r:id="rId26"/>
    <p:sldId id="524" r:id="rId27"/>
    <p:sldId id="525" r:id="rId28"/>
    <p:sldId id="526" r:id="rId29"/>
    <p:sldId id="527" r:id="rId30"/>
    <p:sldId id="528" r:id="rId31"/>
    <p:sldId id="472" r:id="rId32"/>
    <p:sldId id="473" r:id="rId33"/>
    <p:sldId id="529" r:id="rId34"/>
    <p:sldId id="478" r:id="rId35"/>
    <p:sldId id="429" r:id="rId36"/>
    <p:sldId id="530" r:id="rId37"/>
    <p:sldId id="531" r:id="rId38"/>
    <p:sldId id="532" r:id="rId39"/>
    <p:sldId id="533" r:id="rId40"/>
    <p:sldId id="534" r:id="rId41"/>
    <p:sldId id="535" r:id="rId42"/>
    <p:sldId id="536" r:id="rId43"/>
    <p:sldId id="541" r:id="rId44"/>
    <p:sldId id="474" r:id="rId45"/>
    <p:sldId id="542" r:id="rId46"/>
    <p:sldId id="543" r:id="rId47"/>
    <p:sldId id="537" r:id="rId48"/>
    <p:sldId id="538" r:id="rId49"/>
    <p:sldId id="551" r:id="rId50"/>
    <p:sldId id="539" r:id="rId51"/>
    <p:sldId id="475" r:id="rId52"/>
    <p:sldId id="544" r:id="rId53"/>
    <p:sldId id="545" r:id="rId54"/>
    <p:sldId id="546" r:id="rId55"/>
    <p:sldId id="547" r:id="rId56"/>
    <p:sldId id="548" r:id="rId57"/>
    <p:sldId id="549" r:id="rId58"/>
    <p:sldId id="550" r:id="rId59"/>
    <p:sldId id="560" r:id="rId60"/>
    <p:sldId id="561" r:id="rId61"/>
    <p:sldId id="563" r:id="rId62"/>
    <p:sldId id="562" r:id="rId63"/>
    <p:sldId id="564" r:id="rId64"/>
    <p:sldId id="565" r:id="rId65"/>
    <p:sldId id="566" r:id="rId66"/>
    <p:sldId id="377" r:id="rId67"/>
  </p:sldIdLst>
  <p:sldSz cx="12195175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7A0000"/>
    <a:srgbClr val="003399"/>
    <a:srgbClr val="FFFFFF"/>
    <a:srgbClr val="DDDDDD"/>
    <a:srgbClr val="662C5B"/>
    <a:srgbClr val="000000"/>
    <a:srgbClr val="660033"/>
    <a:srgbClr val="CC0066"/>
    <a:srgbClr val="CC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41" autoAdjust="0"/>
    <p:restoredTop sz="93250" autoAdjust="0"/>
  </p:normalViewPr>
  <p:slideViewPr>
    <p:cSldViewPr>
      <p:cViewPr varScale="1">
        <p:scale>
          <a:sx n="80" d="100"/>
          <a:sy n="80" d="100"/>
        </p:scale>
        <p:origin x="881" y="-62"/>
      </p:cViewPr>
      <p:guideLst>
        <p:guide orient="horz" pos="2160"/>
        <p:guide pos="38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7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22F73B2-7CF1-4832-BF09-2E3D082F4856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702B329-9B4F-43B9-920A-39268306AF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2632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AEDA5C1-9818-47C9-A79E-B4D4158DD3E3}" type="datetimeFigureOut">
              <a:rPr lang="en-GB" smtClean="0"/>
              <a:pPr/>
              <a:t>05/07/2026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4813" y="696913"/>
            <a:ext cx="6200775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9D498802-2017-4E9A-A8AF-781802F703C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3224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5C4CCD0-7B21-4367-A13A-889F04172198}" type="slidenum">
              <a:rPr lang="en-US" smtClean="0">
                <a:latin typeface="Arial" pitchFamily="34" charset="0"/>
              </a:rPr>
              <a:pPr/>
              <a:t>1</a:t>
            </a:fld>
            <a:endParaRPr lang="en-US">
              <a:latin typeface="Arial" pitchFamily="34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Ours\Desktop\flash\c.u.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prstClr val="black"/>
              <a:srgbClr val="800080">
                <a:alpha val="78824"/>
                <a:tint val="45000"/>
                <a:satMod val="400000"/>
              </a:srgbClr>
            </a:duotone>
          </a:blip>
          <a:srcRect t="-169" b="15477"/>
          <a:stretch>
            <a:fillRect/>
          </a:stretch>
        </p:blipFill>
        <p:spPr bwMode="auto">
          <a:xfrm>
            <a:off x="2" y="-54768"/>
            <a:ext cx="12281948" cy="6912768"/>
          </a:xfrm>
          <a:prstGeom prst="rect">
            <a:avLst/>
          </a:prstGeom>
          <a:noFill/>
        </p:spPr>
      </p:pic>
      <p:pic>
        <p:nvPicPr>
          <p:cNvPr id="8" name="Picture 2" descr="C:\Users\Ours\Desktop\my stuffs\1 NTFS_000\LostFiles2\INSPIRATION\PROJECTS\MIND PROJECTS\cu_logo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1003" y="570166"/>
            <a:ext cx="743452" cy="792088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 userDrawn="1"/>
        </p:nvSpPr>
        <p:spPr>
          <a:xfrm>
            <a:off x="9003276" y="0"/>
            <a:ext cx="3230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www.covenantuniversity.edu.ng</a:t>
            </a:r>
            <a:endParaRPr lang="en-GB" sz="1800" dirty="0"/>
          </a:p>
        </p:txBody>
      </p:sp>
      <p:pic>
        <p:nvPicPr>
          <p:cNvPr id="10" name="Picture 2" descr="C:\Users\Ours\Desktop\Picture3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45059" y="570169"/>
            <a:ext cx="4608512" cy="743775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3" y="1844828"/>
            <a:ext cx="10366375" cy="2448271"/>
          </a:xfrm>
          <a:solidFill>
            <a:srgbClr val="660033">
              <a:alpha val="61961"/>
            </a:srgbClr>
          </a:solidFill>
        </p:spPr>
        <p:txBody>
          <a:bodyPr>
            <a:noAutofit/>
          </a:bodyPr>
          <a:lstStyle>
            <a:lvl1pPr>
              <a:defRPr sz="5400" b="0">
                <a:solidFill>
                  <a:schemeClr val="bg1"/>
                </a:solidFill>
                <a:latin typeface="Rockwell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509120"/>
            <a:ext cx="8537575" cy="1752600"/>
          </a:xfrm>
          <a:solidFill>
            <a:srgbClr val="FFFFFF">
              <a:alpha val="74118"/>
            </a:srgbClr>
          </a:solidFill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tx1"/>
                </a:solidFill>
                <a:latin typeface="Rockwell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1633093" y="1074222"/>
            <a:ext cx="32206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662C5B"/>
                </a:solidFill>
              </a:rPr>
              <a:t>Raising a new Generation of Leaders</a:t>
            </a:r>
            <a:endParaRPr lang="en-GB" sz="1600" dirty="0">
              <a:solidFill>
                <a:srgbClr val="662C5B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:\Users\Ours\Desktop\flash\c.u.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prstClr val="black"/>
              <a:srgbClr val="800080">
                <a:alpha val="78824"/>
                <a:tint val="45000"/>
                <a:satMod val="400000"/>
              </a:srgbClr>
            </a:duotone>
          </a:blip>
          <a:srcRect t="-169" b="15477"/>
          <a:stretch>
            <a:fillRect/>
          </a:stretch>
        </p:blipFill>
        <p:spPr bwMode="auto">
          <a:xfrm>
            <a:off x="2" y="-54768"/>
            <a:ext cx="12281948" cy="6912768"/>
          </a:xfrm>
          <a:prstGeom prst="rect">
            <a:avLst/>
          </a:prstGeom>
          <a:noFill/>
        </p:spPr>
      </p:pic>
      <p:pic>
        <p:nvPicPr>
          <p:cNvPr id="8" name="Picture 2" descr="C:\Users\Ours\Desktop\my stuffs\1 NTFS_000\LostFiles2\INSPIRATION\PROJECTS\MIND PROJECTS\cu_logo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4941" y="548680"/>
            <a:ext cx="1216557" cy="1296144"/>
          </a:xfrm>
          <a:prstGeom prst="rect">
            <a:avLst/>
          </a:prstGeom>
          <a:noFill/>
        </p:spPr>
      </p:pic>
      <p:sp>
        <p:nvSpPr>
          <p:cNvPr id="10" name="Title 1"/>
          <p:cNvSpPr>
            <a:spLocks noGrp="1"/>
          </p:cNvSpPr>
          <p:nvPr userDrawn="1">
            <p:ph type="ctrTitle"/>
          </p:nvPr>
        </p:nvSpPr>
        <p:spPr>
          <a:xfrm>
            <a:off x="914638" y="2204865"/>
            <a:ext cx="10365899" cy="2520280"/>
          </a:xfrm>
          <a:solidFill>
            <a:srgbClr val="CC3399">
              <a:alpha val="83137"/>
            </a:srgbClr>
          </a:solidFill>
        </p:spPr>
        <p:txBody>
          <a:bodyPr>
            <a:normAutofit/>
          </a:bodyPr>
          <a:lstStyle/>
          <a:p>
            <a:endParaRPr lang="en-GB" sz="6600" b="1" dirty="0">
              <a:solidFill>
                <a:schemeClr val="bg1"/>
              </a:solidFill>
              <a:latin typeface="Rockwell" pitchFamily="18" charset="0"/>
            </a:endParaRPr>
          </a:p>
        </p:txBody>
      </p:sp>
      <p:sp>
        <p:nvSpPr>
          <p:cNvPr id="11" name="Subtitle 2"/>
          <p:cNvSpPr>
            <a:spLocks noGrp="1"/>
          </p:cNvSpPr>
          <p:nvPr userDrawn="1">
            <p:ph type="subTitle" idx="1"/>
          </p:nvPr>
        </p:nvSpPr>
        <p:spPr>
          <a:xfrm>
            <a:off x="1705101" y="4869160"/>
            <a:ext cx="8536623" cy="1752600"/>
          </a:xfrm>
          <a:solidFill>
            <a:srgbClr val="FFFFFF">
              <a:alpha val="63137"/>
            </a:srgbClr>
          </a:solidFill>
        </p:spPr>
        <p:txBody>
          <a:bodyPr>
            <a:normAutofit/>
          </a:bodyPr>
          <a:lstStyle>
            <a:lvl1pPr algn="ctr">
              <a:buNone/>
              <a:defRPr sz="4000">
                <a:ln>
                  <a:noFill/>
                </a:ln>
                <a:solidFill>
                  <a:srgbClr val="002060"/>
                </a:solidFill>
              </a:defRPr>
            </a:lvl1pPr>
          </a:lstStyle>
          <a:p>
            <a:endParaRPr lang="en-GB" dirty="0">
              <a:solidFill>
                <a:schemeClr val="bg1"/>
              </a:solidFill>
              <a:latin typeface="Rockwell" pitchFamily="18" charset="0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1345059" y="1268760"/>
            <a:ext cx="39796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662C5B"/>
                </a:solidFill>
              </a:rPr>
              <a:t>Raising a new Generation of Leaders</a:t>
            </a:r>
            <a:endParaRPr lang="en-GB" sz="2000" dirty="0">
              <a:solidFill>
                <a:srgbClr val="662C5B"/>
              </a:solidFill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9003276" y="0"/>
            <a:ext cx="3230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www.covenantuniversity.edu.ng</a:t>
            </a:r>
            <a:endParaRPr lang="en-GB" sz="1800" dirty="0"/>
          </a:p>
        </p:txBody>
      </p:sp>
      <p:pic>
        <p:nvPicPr>
          <p:cNvPr id="3074" name="Picture 2" descr="C:\Users\Ours\Desktop\Picture3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29035" y="692700"/>
            <a:ext cx="5065714" cy="817563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0963" y="153144"/>
            <a:ext cx="11714212" cy="1115616"/>
          </a:xfrm>
          <a:solidFill>
            <a:schemeClr val="bg1"/>
          </a:solidFill>
          <a:ln w="57150">
            <a:noFill/>
          </a:ln>
        </p:spPr>
        <p:txBody>
          <a:bodyPr>
            <a:normAutofit/>
          </a:bodyPr>
          <a:lstStyle>
            <a:lvl1pPr algn="ctr">
              <a:defRPr sz="4000" b="1">
                <a:solidFill>
                  <a:srgbClr val="FF0000"/>
                </a:solidFill>
                <a:latin typeface="Rockwell" pitchFamily="18" charset="0"/>
                <a:cs typeface="Times New Roman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05/07/2026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2" descr="C:\Users\Ours\Desktop\flash\c.u.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prstClr val="black"/>
              <a:srgbClr val="800080">
                <a:alpha val="78824"/>
                <a:tint val="45000"/>
                <a:satMod val="400000"/>
              </a:srgbClr>
            </a:duotone>
          </a:blip>
          <a:srcRect t="41294" b="49226"/>
          <a:stretch>
            <a:fillRect/>
          </a:stretch>
        </p:blipFill>
        <p:spPr bwMode="auto">
          <a:xfrm>
            <a:off x="2" y="6309320"/>
            <a:ext cx="12195173" cy="773752"/>
          </a:xfrm>
          <a:prstGeom prst="rect">
            <a:avLst/>
          </a:prstGeom>
          <a:noFill/>
        </p:spPr>
      </p:pic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0778109" y="6336704"/>
            <a:ext cx="1045349" cy="548680"/>
          </a:xfrm>
          <a:prstGeom prst="rect">
            <a:avLst/>
          </a:prstGeom>
          <a:solidFill>
            <a:srgbClr val="F7F7F7">
              <a:alpha val="45098"/>
            </a:srgbClr>
          </a:solidFill>
        </p:spPr>
        <p:txBody>
          <a:bodyPr vert="horz" lIns="91440" tIns="45720" rIns="91440" bIns="45720" rtlCol="0" anchor="ctr"/>
          <a:lstStyle>
            <a:lvl1pPr>
              <a:defRPr sz="1400" b="1">
                <a:solidFill>
                  <a:schemeClr val="tx1">
                    <a:lumMod val="95000"/>
                    <a:lumOff val="5000"/>
                  </a:schemeClr>
                </a:solidFill>
                <a:latin typeface="Georgia" pitchFamily="18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E708FE-ED12-4ACB-81C9-F40A112777FF}" type="slidenum">
              <a:rPr kumimoji="0" lang="en-GB" sz="2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eorgia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eorgia" pitchFamily="18" charset="0"/>
              <a:ea typeface="+mn-ea"/>
              <a:cs typeface="+mn-cs"/>
            </a:endParaRPr>
          </a:p>
        </p:txBody>
      </p:sp>
      <p:pic>
        <p:nvPicPr>
          <p:cNvPr id="10" name="Picture 2" descr="C:\Users\Ours\Desktop\my stuffs\1 NTFS_000\LostFiles2\INSPIRATION\PROJECTS\MIND PROJECTS\cu_logo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4016" y="6363534"/>
            <a:ext cx="624979" cy="665866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412" y="1412776"/>
            <a:ext cx="11716352" cy="4824536"/>
          </a:xfr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defRPr sz="2800">
                <a:solidFill>
                  <a:srgbClr val="003399"/>
                </a:solidFill>
                <a:latin typeface="Rockwell" pitchFamily="18" charset="0"/>
              </a:defRPr>
            </a:lvl1pPr>
            <a:lvl2pPr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Wingdings" pitchFamily="2" charset="2"/>
              <a:buChar char="§"/>
              <a:defRPr sz="2400">
                <a:solidFill>
                  <a:srgbClr val="7A0000"/>
                </a:solidFill>
                <a:latin typeface="Rockwell" pitchFamily="18" charset="0"/>
              </a:defRPr>
            </a:lvl2pPr>
            <a:lvl3pPr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alibri" pitchFamily="34" charset="0"/>
              <a:buChar char="‒"/>
              <a:defRPr sz="2000">
                <a:solidFill>
                  <a:schemeClr val="accent4">
                    <a:lumMod val="50000"/>
                  </a:schemeClr>
                </a:solidFill>
                <a:latin typeface="Rockwell" pitchFamily="18" charset="0"/>
              </a:defRPr>
            </a:lvl3pPr>
            <a:lvl4pPr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defRPr sz="2800">
                <a:latin typeface="Rockwell" pitchFamily="18" charset="0"/>
              </a:defRPr>
            </a:lvl4pPr>
            <a:lvl5pPr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defRPr sz="2800">
                <a:latin typeface="Rockwell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1026" name="Picture 2" descr="C:\Users\Ours\Desktop\Picture1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2972" y="6317328"/>
            <a:ext cx="5976665" cy="640064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 userDrawn="1"/>
        </p:nvSpPr>
        <p:spPr>
          <a:xfrm>
            <a:off x="724026" y="6707435"/>
            <a:ext cx="22154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www.covenantuniversity.edu.ng</a:t>
            </a:r>
            <a:endParaRPr lang="en-GB" sz="1200" dirty="0"/>
          </a:p>
        </p:txBody>
      </p:sp>
      <p:cxnSp>
        <p:nvCxnSpPr>
          <p:cNvPr id="19" name="Straight Connector 18"/>
          <p:cNvCxnSpPr/>
          <p:nvPr userDrawn="1"/>
        </p:nvCxnSpPr>
        <p:spPr>
          <a:xfrm flipV="1">
            <a:off x="8689876" y="1340768"/>
            <a:ext cx="1800001" cy="0"/>
          </a:xfrm>
          <a:prstGeom prst="line">
            <a:avLst/>
          </a:prstGeom>
          <a:ln w="28575">
            <a:solidFill>
              <a:srgbClr val="662C5B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 userDrawn="1"/>
        </p:nvCxnSpPr>
        <p:spPr>
          <a:xfrm flipV="1">
            <a:off x="10526061" y="1340768"/>
            <a:ext cx="719999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 flipV="1">
            <a:off x="11282245" y="1340768"/>
            <a:ext cx="719999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336" y="4406905"/>
            <a:ext cx="1036589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336" y="2906713"/>
            <a:ext cx="1036589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05/07/2026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759" y="1600205"/>
            <a:ext cx="538620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9214" y="1600205"/>
            <a:ext cx="538620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05/07/2026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759" y="1535113"/>
            <a:ext cx="538832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759" y="2174875"/>
            <a:ext cx="53883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4983" y="1535113"/>
            <a:ext cx="539043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4983" y="2174875"/>
            <a:ext cx="539043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05/07/2026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05/07/2026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05/07/2026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762" y="273050"/>
            <a:ext cx="401212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974" y="273055"/>
            <a:ext cx="681744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762" y="1435103"/>
            <a:ext cx="401212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05/07/2026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0341" y="4800600"/>
            <a:ext cx="731710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90341" y="612775"/>
            <a:ext cx="731710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90341" y="5367338"/>
            <a:ext cx="731710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05/07/2026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05/07/2026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41502" y="274643"/>
            <a:ext cx="2743914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759" y="274643"/>
            <a:ext cx="802849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05/07/2026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3" y="2130429"/>
            <a:ext cx="10366375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7575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05/07/2026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05/07/2026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615" y="4406904"/>
            <a:ext cx="1036637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615" y="2906713"/>
            <a:ext cx="1036637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05/07/2026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4"/>
            <a:ext cx="541178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788" y="1600204"/>
            <a:ext cx="541178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05/07/2026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79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79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4425" y="1535113"/>
            <a:ext cx="539115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4425" y="2174875"/>
            <a:ext cx="539115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05/07/2026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05/07/2026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05/07/2026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612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263" y="273054"/>
            <a:ext cx="68183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612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05/07/2026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0776" y="4800600"/>
            <a:ext cx="731678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90776" y="612775"/>
            <a:ext cx="7316788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90776" y="5367338"/>
            <a:ext cx="731678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05/07/2026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05/07/2026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42375" y="274642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2" y="274642"/>
            <a:ext cx="8080374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05/07/2026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759" y="274638"/>
            <a:ext cx="1097565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759" y="1600205"/>
            <a:ext cx="1097565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760" y="6356355"/>
            <a:ext cx="28455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62E69B-9B3B-437C-9ADF-D56F423A0581}" type="datetimeFigureOut">
              <a:rPr lang="en-GB" smtClean="0"/>
              <a:pPr/>
              <a:t>05/07/2026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6685" y="6356355"/>
            <a:ext cx="38618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9875" y="6356355"/>
            <a:ext cx="28455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597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4"/>
            <a:ext cx="1097597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2" y="6356354"/>
            <a:ext cx="28463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FA4263-B01D-4F49-B558-EEB448DAF4C2}" type="datetimeFigureOut">
              <a:rPr lang="en-GB" smtClean="0"/>
              <a:pPr/>
              <a:t>05/07/2026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7188" y="6356354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9189" y="6356354"/>
            <a:ext cx="28463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6"/>
          <p:cNvSpPr>
            <a:spLocks noGrp="1" noChangeArrowheads="1"/>
          </p:cNvSpPr>
          <p:nvPr>
            <p:ph type="ctrTitle" idx="4294967295"/>
          </p:nvPr>
        </p:nvSpPr>
        <p:spPr>
          <a:xfrm>
            <a:off x="230187" y="2438400"/>
            <a:ext cx="11734800" cy="1524000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algn="ctr">
              <a:defRPr/>
            </a:pPr>
            <a:r>
              <a:rPr lang="en-US" b="1" dirty="0">
                <a:latin typeface="Rockwell" panose="02060803030505020403" pitchFamily="18" charset="0"/>
              </a:rPr>
              <a:t>IFT222</a:t>
            </a:r>
            <a:br>
              <a:rPr lang="en-US" b="1" dirty="0">
                <a:latin typeface="Rockwell" panose="02060803030505020403" pitchFamily="18" charset="0"/>
              </a:rPr>
            </a:br>
            <a:r>
              <a:rPr lang="en-US" b="1" dirty="0">
                <a:latin typeface="Rockwell" panose="02060803030505020403" pitchFamily="18" charset="0"/>
              </a:rPr>
              <a:t>Computer Architecture and Organization</a:t>
            </a:r>
            <a:endParaRPr lang="en-US" sz="5400" b="1" dirty="0">
              <a:latin typeface="Rockwell" panose="02060803030505020403" pitchFamily="18" charset="0"/>
            </a:endParaRPr>
          </a:p>
        </p:txBody>
      </p:sp>
      <p:sp>
        <p:nvSpPr>
          <p:cNvPr id="15363" name="Rectangle 7"/>
          <p:cNvSpPr>
            <a:spLocks noGrp="1" noChangeArrowheads="1"/>
          </p:cNvSpPr>
          <p:nvPr>
            <p:ph type="subTitle" idx="4294967295"/>
          </p:nvPr>
        </p:nvSpPr>
        <p:spPr>
          <a:xfrm>
            <a:off x="534987" y="4192249"/>
            <a:ext cx="10972800" cy="1371600"/>
          </a:xfrm>
          <a:solidFill>
            <a:srgbClr val="92D050"/>
          </a:solidFill>
        </p:spPr>
        <p:txBody>
          <a:bodyPr>
            <a:noAutofit/>
          </a:bodyPr>
          <a:lstStyle/>
          <a:p>
            <a:pPr marL="0" indent="0" algn="ctr">
              <a:buFont typeface="Wingdings" pitchFamily="2" charset="2"/>
              <a:buNone/>
            </a:pPr>
            <a:r>
              <a:rPr lang="en-US" sz="4000" b="1" dirty="0">
                <a:latin typeface="Rockwell" panose="02060803030505020403" pitchFamily="18" charset="0"/>
              </a:rPr>
              <a:t>MEMORY HIERARCHY  AND CACHE MEMORY DESIGN</a:t>
            </a:r>
          </a:p>
        </p:txBody>
      </p:sp>
      <p:pic>
        <p:nvPicPr>
          <p:cNvPr id="15364" name="Picture 3" descr="C:\Users\AZUBUIKE-REBIRTH\Desktop\logo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90774" y="304800"/>
            <a:ext cx="1909731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914638" y="1752600"/>
            <a:ext cx="10365899" cy="4572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b="1"/>
            </a:lvl1pPr>
          </a:lstStyle>
          <a:p>
            <a:pPr algn="ctr" fontAlgn="auto">
              <a:spcAft>
                <a:spcPts val="0"/>
              </a:spcAft>
              <a:defRPr/>
            </a:pPr>
            <a:r>
              <a:rPr lang="en-US" sz="2400" i="1" dirty="0">
                <a:solidFill>
                  <a:srgbClr val="C00000"/>
                </a:solidFill>
                <a:latin typeface="Calibri"/>
                <a:ea typeface="+mj-ea"/>
                <a:cs typeface="+mj-cs"/>
              </a:rPr>
              <a:t>Department of Computer and Information Sciences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6E01-DABD-4B6A-B206-649396EDB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14E80-3E4B-49C6-9F16-C2AF78482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Memory Access Methods</a:t>
            </a:r>
          </a:p>
          <a:p>
            <a:r>
              <a:rPr lang="en-US" b="1" dirty="0"/>
              <a:t>Sequential</a:t>
            </a:r>
            <a:r>
              <a:rPr lang="en-US" dirty="0"/>
              <a:t> =  </a:t>
            </a:r>
            <a:r>
              <a:rPr lang="en-US" b="1" dirty="0">
                <a:solidFill>
                  <a:srgbClr val="7A0000"/>
                </a:solidFill>
              </a:rPr>
              <a:t>A,B, C, </a:t>
            </a:r>
            <a:r>
              <a:rPr lang="en-US" b="1" dirty="0">
                <a:solidFill>
                  <a:srgbClr val="0000FF"/>
                </a:solidFill>
              </a:rPr>
              <a:t>D</a:t>
            </a:r>
            <a:r>
              <a:rPr lang="en-US" b="1" dirty="0">
                <a:solidFill>
                  <a:srgbClr val="7A0000"/>
                </a:solidFill>
              </a:rPr>
              <a:t> ,E  access by sequence one after other (magnetic 		       tape)</a:t>
            </a:r>
          </a:p>
          <a:p>
            <a:r>
              <a:rPr lang="en-US" b="1" dirty="0"/>
              <a:t>Random</a:t>
            </a:r>
            <a:r>
              <a:rPr lang="en-US" dirty="0"/>
              <a:t> =      </a:t>
            </a:r>
            <a:r>
              <a:rPr lang="en-US" b="1" dirty="0">
                <a:solidFill>
                  <a:srgbClr val="7A0000"/>
                </a:solidFill>
              </a:rPr>
              <a:t>A,B, C, </a:t>
            </a:r>
            <a:r>
              <a:rPr lang="en-US" b="1" dirty="0">
                <a:solidFill>
                  <a:srgbClr val="0000FF"/>
                </a:solidFill>
              </a:rPr>
              <a:t>D</a:t>
            </a:r>
            <a:r>
              <a:rPr lang="en-US" b="1" dirty="0">
                <a:solidFill>
                  <a:srgbClr val="7A0000"/>
                </a:solidFill>
              </a:rPr>
              <a:t>,E = all locations can be accessed at constant 			       time (RAM)</a:t>
            </a:r>
            <a:endParaRPr lang="en-US" dirty="0"/>
          </a:p>
          <a:p>
            <a:r>
              <a:rPr lang="en-US" dirty="0"/>
              <a:t>Direct = </a:t>
            </a:r>
            <a:r>
              <a:rPr lang="en-US" b="1" dirty="0">
                <a:solidFill>
                  <a:srgbClr val="0000FF"/>
                </a:solidFill>
              </a:rPr>
              <a:t>Street</a:t>
            </a:r>
            <a:r>
              <a:rPr lang="en-US" dirty="0"/>
              <a:t>   locating the vicinity (</a:t>
            </a:r>
            <a:r>
              <a:rPr lang="en-US" b="1" dirty="0">
                <a:solidFill>
                  <a:srgbClr val="0000FF"/>
                </a:solidFill>
              </a:rPr>
              <a:t>Block</a:t>
            </a:r>
            <a:r>
              <a:rPr lang="en-US" dirty="0"/>
              <a:t>) </a:t>
            </a:r>
            <a:r>
              <a:rPr lang="en-US" b="1" dirty="0">
                <a:solidFill>
                  <a:srgbClr val="7A0000"/>
                </a:solidFill>
              </a:rPr>
              <a:t>A,B, C, </a:t>
            </a:r>
            <a:r>
              <a:rPr lang="en-US" b="1" dirty="0">
                <a:solidFill>
                  <a:srgbClr val="0000FF"/>
                </a:solidFill>
              </a:rPr>
              <a:t>D</a:t>
            </a:r>
            <a:r>
              <a:rPr lang="en-US" b="1" dirty="0">
                <a:solidFill>
                  <a:srgbClr val="7A0000"/>
                </a:solidFill>
              </a:rPr>
              <a:t>,E  (HDD)</a:t>
            </a:r>
            <a:endParaRPr lang="en-US" dirty="0"/>
          </a:p>
          <a:p>
            <a:r>
              <a:rPr lang="en-US" dirty="0"/>
              <a:t>Associative =  address + content  are together = </a:t>
            </a:r>
            <a:r>
              <a:rPr lang="en-US" b="1" dirty="0">
                <a:solidFill>
                  <a:srgbClr val="7A0000"/>
                </a:solidFill>
              </a:rPr>
              <a:t>Cache </a:t>
            </a:r>
          </a:p>
          <a:p>
            <a:r>
              <a:rPr lang="en-US" b="1" dirty="0">
                <a:solidFill>
                  <a:srgbClr val="0000FF"/>
                </a:solidFill>
              </a:rPr>
              <a:t>Computer Memory exhibits a number of </a:t>
            </a:r>
            <a:r>
              <a:rPr lang="en-US" b="1" dirty="0" err="1">
                <a:solidFill>
                  <a:srgbClr val="0000FF"/>
                </a:solidFill>
              </a:rPr>
              <a:t>xtics</a:t>
            </a:r>
            <a:endParaRPr lang="en-US" b="1" dirty="0">
              <a:solidFill>
                <a:srgbClr val="0000FF"/>
              </a:solidFill>
            </a:endParaRPr>
          </a:p>
          <a:p>
            <a:pPr lvl="1"/>
            <a:r>
              <a:rPr lang="en-US" b="1" dirty="0"/>
              <a:t>Location</a:t>
            </a:r>
          </a:p>
          <a:p>
            <a:pPr lvl="1"/>
            <a:r>
              <a:rPr lang="en-US" b="1" dirty="0"/>
              <a:t>Access methods</a:t>
            </a:r>
          </a:p>
          <a:p>
            <a:pPr lvl="1"/>
            <a:r>
              <a:rPr lang="en-US" b="1" dirty="0"/>
              <a:t>Performance ( transfer rate, ……)</a:t>
            </a:r>
          </a:p>
          <a:p>
            <a:pPr lvl="1"/>
            <a:r>
              <a:rPr lang="en-US" b="1" dirty="0"/>
              <a:t>Capacity/size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506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687387" y="381000"/>
            <a:ext cx="10975658" cy="71278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LEARNING OUTCOMES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382587" y="1219200"/>
            <a:ext cx="11582400" cy="48768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sz="2400" dirty="0">
                <a:solidFill>
                  <a:schemeClr val="tx1"/>
                </a:solidFill>
              </a:rPr>
              <a:t>By the end of this lecture, students should be able to: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sz="2400" dirty="0">
                <a:solidFill>
                  <a:schemeClr val="tx1"/>
                </a:solidFill>
              </a:rPr>
              <a:t>Explain the concept and importance of </a:t>
            </a:r>
            <a:r>
              <a:rPr lang="en-GB" sz="2400" b="1" dirty="0">
                <a:solidFill>
                  <a:schemeClr val="tx1"/>
                </a:solidFill>
              </a:rPr>
              <a:t>memory hierarchy</a:t>
            </a:r>
            <a:r>
              <a:rPr lang="en-GB" sz="2400" dirty="0">
                <a:solidFill>
                  <a:schemeClr val="tx1"/>
                </a:solidFill>
              </a:rPr>
              <a:t> 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sz="2400" dirty="0">
                <a:solidFill>
                  <a:schemeClr val="tx1"/>
                </a:solidFill>
              </a:rPr>
              <a:t>Describe the different levels of memory and their characteristics 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sz="2400" dirty="0" err="1">
                <a:solidFill>
                  <a:schemeClr val="tx1"/>
                </a:solidFill>
              </a:rPr>
              <a:t>Analyze</a:t>
            </a:r>
            <a:r>
              <a:rPr lang="en-GB" sz="2400" dirty="0">
                <a:solidFill>
                  <a:schemeClr val="tx1"/>
                </a:solidFill>
              </a:rPr>
              <a:t> trade-offs between </a:t>
            </a:r>
            <a:r>
              <a:rPr lang="en-GB" sz="2400" b="1" dirty="0">
                <a:solidFill>
                  <a:schemeClr val="tx1"/>
                </a:solidFill>
              </a:rPr>
              <a:t>speed, cost, and capacity</a:t>
            </a:r>
            <a:r>
              <a:rPr lang="en-GB" sz="2400" dirty="0">
                <a:solidFill>
                  <a:schemeClr val="tx1"/>
                </a:solidFill>
              </a:rPr>
              <a:t> 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sz="2400" dirty="0">
                <a:solidFill>
                  <a:schemeClr val="tx1"/>
                </a:solidFill>
              </a:rPr>
              <a:t>Explain the principles and operation of </a:t>
            </a:r>
            <a:r>
              <a:rPr lang="en-GB" sz="2400" b="1" dirty="0">
                <a:solidFill>
                  <a:schemeClr val="tx1"/>
                </a:solidFill>
              </a:rPr>
              <a:t>cache memory</a:t>
            </a:r>
            <a:r>
              <a:rPr lang="en-GB" sz="2400" dirty="0">
                <a:solidFill>
                  <a:schemeClr val="tx1"/>
                </a:solidFill>
              </a:rPr>
              <a:t> 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sz="2400" dirty="0">
                <a:solidFill>
                  <a:schemeClr val="tx1"/>
                </a:solidFill>
              </a:rPr>
              <a:t>Differentiate cache mapping techniques: 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GB" b="1" dirty="0"/>
              <a:t>Direct mapping 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GB" b="1" dirty="0"/>
              <a:t>Associative mapping 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GB" b="1" dirty="0"/>
              <a:t>Set-associative mapping 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sz="2400" dirty="0">
                <a:solidFill>
                  <a:schemeClr val="tx1"/>
                </a:solidFill>
              </a:rPr>
              <a:t>Evaluate cache performance using key metrics 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sz="2400" dirty="0">
                <a:solidFill>
                  <a:schemeClr val="tx1"/>
                </a:solidFill>
              </a:rPr>
              <a:t>Solve practical problems involving cache organization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3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4711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382587" y="228600"/>
            <a:ext cx="11277600" cy="71278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INTRODUCTION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230187" y="1120588"/>
            <a:ext cx="11582400" cy="4616824"/>
          </a:xfrm>
        </p:spPr>
        <p:txBody>
          <a:bodyPr>
            <a:noAutofit/>
          </a:bodyPr>
          <a:lstStyle/>
          <a:p>
            <a:pPr algn="just">
              <a:spcAft>
                <a:spcPts val="1200"/>
              </a:spcAft>
            </a:pPr>
            <a:r>
              <a:rPr lang="en-GB" b="1" dirty="0">
                <a:solidFill>
                  <a:schemeClr val="tx1"/>
                </a:solidFill>
              </a:rPr>
              <a:t>Memory hierarchy </a:t>
            </a:r>
            <a:r>
              <a:rPr lang="en-GB" dirty="0">
                <a:solidFill>
                  <a:schemeClr val="tx1"/>
                </a:solidFill>
              </a:rPr>
              <a:t>is a structured arrangement of different storage types in a computer system, designed to </a:t>
            </a:r>
            <a:r>
              <a:rPr lang="en-GB" b="1" dirty="0">
                <a:solidFill>
                  <a:schemeClr val="tx1"/>
                </a:solidFill>
              </a:rPr>
              <a:t>optimize performance and cost</a:t>
            </a:r>
            <a:r>
              <a:rPr lang="en-GB" dirty="0">
                <a:solidFill>
                  <a:schemeClr val="tx1"/>
                </a:solidFill>
              </a:rPr>
              <a:t>.</a:t>
            </a:r>
          </a:p>
          <a:p>
            <a:pPr algn="just">
              <a:spcAft>
                <a:spcPts val="1200"/>
              </a:spcAft>
            </a:pPr>
            <a:r>
              <a:rPr lang="en-GB" b="1" dirty="0"/>
              <a:t>Memory trade-offs are a sad part of reality </a:t>
            </a:r>
          </a:p>
          <a:p>
            <a:pPr algn="just">
              <a:spcAft>
                <a:spcPts val="1200"/>
              </a:spcAft>
            </a:pPr>
            <a:r>
              <a:rPr lang="en-GB" dirty="0">
                <a:solidFill>
                  <a:schemeClr val="tx1"/>
                </a:solidFill>
              </a:rPr>
              <a:t>Faster access time, greater cost per bit;  </a:t>
            </a:r>
            <a:r>
              <a:rPr lang="en-GB" b="1" dirty="0">
                <a:solidFill>
                  <a:srgbClr val="7A0000"/>
                </a:solidFill>
              </a:rPr>
              <a:t>faster, the expensive </a:t>
            </a:r>
          </a:p>
          <a:p>
            <a:pPr algn="just">
              <a:spcAft>
                <a:spcPts val="1200"/>
              </a:spcAft>
            </a:pPr>
            <a:r>
              <a:rPr lang="en-GB" dirty="0">
                <a:solidFill>
                  <a:schemeClr val="tx1"/>
                </a:solidFill>
              </a:rPr>
              <a:t>Greater capacity:  </a:t>
            </a:r>
            <a:r>
              <a:rPr lang="en-GB" b="1" dirty="0">
                <a:solidFill>
                  <a:srgbClr val="7A0000"/>
                </a:solidFill>
              </a:rPr>
              <a:t>slower in terms of access</a:t>
            </a:r>
          </a:p>
          <a:p>
            <a:pPr algn="just">
              <a:spcAft>
                <a:spcPts val="1200"/>
              </a:spcAft>
            </a:pPr>
            <a:r>
              <a:rPr lang="en-GB" dirty="0">
                <a:solidFill>
                  <a:schemeClr val="tx1"/>
                </a:solidFill>
              </a:rPr>
              <a:t>Smaller cost per bit;  </a:t>
            </a:r>
            <a:r>
              <a:rPr lang="en-GB" b="1" dirty="0">
                <a:solidFill>
                  <a:srgbClr val="7A0000"/>
                </a:solidFill>
              </a:rPr>
              <a:t>slower in terms of access</a:t>
            </a:r>
          </a:p>
          <a:p>
            <a:pPr algn="just">
              <a:spcAft>
                <a:spcPts val="1200"/>
              </a:spcAft>
            </a:pPr>
            <a:r>
              <a:rPr lang="en-GB" dirty="0">
                <a:solidFill>
                  <a:schemeClr val="tx1"/>
                </a:solidFill>
              </a:rPr>
              <a:t>Slower access time  - </a:t>
            </a:r>
            <a:r>
              <a:rPr lang="en-GB" b="1" dirty="0">
                <a:solidFill>
                  <a:srgbClr val="7A0000"/>
                </a:solidFill>
              </a:rPr>
              <a:t>larger capacity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4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2992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382587" y="94938"/>
            <a:ext cx="11277600" cy="71278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INTRODUCTION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382587" y="1219200"/>
            <a:ext cx="11430000" cy="4710906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  <a:spcAft>
                <a:spcPts val="600"/>
              </a:spcAft>
            </a:pPr>
            <a:r>
              <a:rPr lang="en-GB" sz="2600" dirty="0">
                <a:solidFill>
                  <a:schemeClr val="tx1"/>
                </a:solidFill>
              </a:rPr>
              <a:t>Design constraints on memory can be summed up by three questions:</a:t>
            </a:r>
          </a:p>
          <a:p>
            <a:pPr algn="just">
              <a:spcBef>
                <a:spcPts val="0"/>
              </a:spcBef>
              <a:spcAft>
                <a:spcPts val="600"/>
              </a:spcAft>
            </a:pPr>
            <a:r>
              <a:rPr lang="en-GB" sz="2600" b="1" dirty="0">
                <a:solidFill>
                  <a:srgbClr val="0000FF"/>
                </a:solidFill>
              </a:rPr>
              <a:t>How much space?</a:t>
            </a:r>
          </a:p>
          <a:p>
            <a:pPr algn="just">
              <a:spcBef>
                <a:spcPts val="0"/>
              </a:spcBef>
              <a:spcAft>
                <a:spcPts val="600"/>
              </a:spcAft>
            </a:pPr>
            <a:r>
              <a:rPr lang="en-GB" sz="2600" dirty="0">
                <a:solidFill>
                  <a:schemeClr val="tx1"/>
                </a:solidFill>
              </a:rPr>
              <a:t>If memory exists, applications will likely be developed to use it.</a:t>
            </a:r>
          </a:p>
          <a:p>
            <a:pPr algn="just">
              <a:spcBef>
                <a:spcPts val="0"/>
              </a:spcBef>
              <a:spcAft>
                <a:spcPts val="600"/>
              </a:spcAft>
            </a:pPr>
            <a:r>
              <a:rPr lang="en-GB" sz="2600" b="1" dirty="0">
                <a:solidFill>
                  <a:srgbClr val="0000FF"/>
                </a:solidFill>
              </a:rPr>
              <a:t>How fast – access time?</a:t>
            </a:r>
          </a:p>
          <a:p>
            <a:pPr algn="just">
              <a:spcBef>
                <a:spcPts val="0"/>
              </a:spcBef>
              <a:spcAft>
                <a:spcPts val="600"/>
              </a:spcAft>
            </a:pPr>
            <a:r>
              <a:rPr lang="en-GB" sz="2600" dirty="0">
                <a:solidFill>
                  <a:schemeClr val="tx1"/>
                </a:solidFill>
              </a:rPr>
              <a:t>Best performance achieved when memory keeps up with the processor;</a:t>
            </a:r>
          </a:p>
          <a:p>
            <a:pPr algn="just">
              <a:spcBef>
                <a:spcPts val="0"/>
              </a:spcBef>
              <a:spcAft>
                <a:spcPts val="600"/>
              </a:spcAft>
            </a:pPr>
            <a:r>
              <a:rPr lang="en-GB" sz="2600" dirty="0">
                <a:solidFill>
                  <a:schemeClr val="tx1"/>
                </a:solidFill>
              </a:rPr>
              <a:t>i.e. as the processor execute instructions, memory should minimize pausing / waiting for instructions or operands.</a:t>
            </a:r>
          </a:p>
          <a:p>
            <a:pPr algn="just">
              <a:spcBef>
                <a:spcPts val="0"/>
              </a:spcBef>
              <a:spcAft>
                <a:spcPts val="600"/>
              </a:spcAft>
            </a:pPr>
            <a:r>
              <a:rPr lang="en-GB" sz="2600" b="1" dirty="0">
                <a:solidFill>
                  <a:srgbClr val="0000FF"/>
                </a:solidFill>
              </a:rPr>
              <a:t>How expensive?</a:t>
            </a:r>
          </a:p>
          <a:p>
            <a:pPr algn="just">
              <a:spcBef>
                <a:spcPts val="0"/>
              </a:spcBef>
              <a:spcAft>
                <a:spcPts val="600"/>
              </a:spcAft>
            </a:pPr>
            <a:r>
              <a:rPr lang="en-GB" sz="2600" dirty="0">
                <a:solidFill>
                  <a:schemeClr val="tx1"/>
                </a:solidFill>
              </a:rPr>
              <a:t>Cost of memory must be reasonable in relationship to other components;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5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5451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382587" y="94938"/>
            <a:ext cx="11277600" cy="71278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THE WAY OUT 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153987" y="1059436"/>
            <a:ext cx="6705600" cy="5002212"/>
          </a:xfrm>
        </p:spPr>
        <p:txBody>
          <a:bodyPr>
            <a:noAutofit/>
          </a:bodyPr>
          <a:lstStyle/>
          <a:p>
            <a:pPr algn="just">
              <a:spcAft>
                <a:spcPts val="2400"/>
              </a:spcAft>
            </a:pPr>
            <a:r>
              <a:rPr lang="en-GB" dirty="0">
                <a:solidFill>
                  <a:schemeClr val="tx1"/>
                </a:solidFill>
              </a:rPr>
              <a:t>The way out of this dilemma: </a:t>
            </a:r>
          </a:p>
          <a:p>
            <a:pPr algn="just">
              <a:spcAft>
                <a:spcPts val="2400"/>
              </a:spcAft>
            </a:pPr>
            <a:r>
              <a:rPr lang="en-GB" b="1" dirty="0">
                <a:solidFill>
                  <a:srgbClr val="7A0000"/>
                </a:solidFill>
              </a:rPr>
              <a:t>Don’t rely on a single memory; </a:t>
            </a:r>
          </a:p>
          <a:p>
            <a:pPr algn="just">
              <a:spcAft>
                <a:spcPts val="2400"/>
              </a:spcAft>
            </a:pPr>
            <a:r>
              <a:rPr lang="en-GB" dirty="0">
                <a:solidFill>
                  <a:schemeClr val="tx1"/>
                </a:solidFill>
              </a:rPr>
              <a:t>Instead employ a </a:t>
            </a:r>
            <a:r>
              <a:rPr lang="en-GB" b="1" dirty="0">
                <a:solidFill>
                  <a:srgbClr val="0000FF"/>
                </a:solidFill>
              </a:rPr>
              <a:t>memory hierarchy; </a:t>
            </a:r>
          </a:p>
          <a:p>
            <a:pPr algn="just">
              <a:spcAft>
                <a:spcPts val="2400"/>
              </a:spcAft>
            </a:pPr>
            <a:r>
              <a:rPr lang="en-GB" b="1" dirty="0">
                <a:solidFill>
                  <a:srgbClr val="7A0000"/>
                </a:solidFill>
              </a:rPr>
              <a:t>Supplement: </a:t>
            </a:r>
          </a:p>
          <a:p>
            <a:pPr algn="just">
              <a:spcAft>
                <a:spcPts val="2400"/>
              </a:spcAft>
            </a:pPr>
            <a:r>
              <a:rPr lang="en-GB" dirty="0">
                <a:solidFill>
                  <a:schemeClr val="tx1"/>
                </a:solidFill>
              </a:rPr>
              <a:t>smaller, more expensive, faster memories with larger, cheaper, slower memories; 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6</a:t>
            </a:fld>
            <a:endParaRPr lang="en-US">
              <a:latin typeface="Arial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9CFC96-F739-461B-BD6D-47BD78A96F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507" t="16029" r="18131" b="25258"/>
          <a:stretch/>
        </p:blipFill>
        <p:spPr>
          <a:xfrm>
            <a:off x="6872417" y="820219"/>
            <a:ext cx="5322758" cy="5113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550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382587" y="94938"/>
            <a:ext cx="11277600" cy="71278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THE WAY OUT 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153987" y="1059436"/>
            <a:ext cx="6705600" cy="5002212"/>
          </a:xfrm>
        </p:spPr>
        <p:txBody>
          <a:bodyPr>
            <a:noAutofit/>
          </a:bodyPr>
          <a:lstStyle/>
          <a:p>
            <a:pPr algn="just">
              <a:spcAft>
                <a:spcPts val="2400"/>
              </a:spcAft>
            </a:pPr>
            <a:r>
              <a:rPr lang="en-GB" b="1" dirty="0">
                <a:solidFill>
                  <a:srgbClr val="0000FF"/>
                </a:solidFill>
              </a:rPr>
              <a:t>As one goes down the hierarchy</a:t>
            </a:r>
            <a:r>
              <a:rPr lang="en-GB" dirty="0">
                <a:solidFill>
                  <a:schemeClr val="tx1"/>
                </a:solidFill>
              </a:rPr>
              <a:t>: </a:t>
            </a:r>
          </a:p>
          <a:p>
            <a:pPr algn="just">
              <a:spcAft>
                <a:spcPts val="2400"/>
              </a:spcAft>
            </a:pPr>
            <a:r>
              <a:rPr lang="en-GB" dirty="0">
                <a:solidFill>
                  <a:schemeClr val="tx1"/>
                </a:solidFill>
              </a:rPr>
              <a:t>Decreasing cost per bit; </a:t>
            </a:r>
          </a:p>
          <a:p>
            <a:pPr algn="just">
              <a:spcAft>
                <a:spcPts val="2400"/>
              </a:spcAft>
            </a:pPr>
            <a:r>
              <a:rPr lang="en-GB" dirty="0">
                <a:solidFill>
                  <a:schemeClr val="tx1"/>
                </a:solidFill>
              </a:rPr>
              <a:t>Increasing capacity; </a:t>
            </a:r>
          </a:p>
          <a:p>
            <a:pPr algn="just">
              <a:spcAft>
                <a:spcPts val="2400"/>
              </a:spcAft>
            </a:pPr>
            <a:r>
              <a:rPr lang="en-GB" dirty="0">
                <a:solidFill>
                  <a:schemeClr val="tx1"/>
                </a:solidFill>
              </a:rPr>
              <a:t>Increasing access time; </a:t>
            </a:r>
          </a:p>
          <a:p>
            <a:pPr algn="just">
              <a:spcAft>
                <a:spcPts val="2400"/>
              </a:spcAft>
            </a:pPr>
            <a:r>
              <a:rPr lang="en-GB" b="1" dirty="0">
                <a:solidFill>
                  <a:srgbClr val="0000FF"/>
                </a:solidFill>
              </a:rPr>
              <a:t>Decreasing frequency of access of memory by processor – very key to the performance of the CPU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7</a:t>
            </a:fld>
            <a:endParaRPr lang="en-US">
              <a:latin typeface="Arial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9CFC96-F739-461B-BD6D-47BD78A96F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507" t="16029" r="18131" b="25258"/>
          <a:stretch/>
        </p:blipFill>
        <p:spPr>
          <a:xfrm>
            <a:off x="6872417" y="820219"/>
            <a:ext cx="5322758" cy="5113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899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382587" y="94938"/>
            <a:ext cx="11277600" cy="712788"/>
          </a:xfrm>
        </p:spPr>
        <p:txBody>
          <a:bodyPr>
            <a:normAutofit/>
          </a:bodyPr>
          <a:lstStyle/>
          <a:p>
            <a:r>
              <a:rPr lang="en-GB" dirty="0"/>
              <a:t>Typical Memory Hierarchy (Top → Bottom)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8</a:t>
            </a:fld>
            <a:endParaRPr lang="en-US">
              <a:latin typeface="Arial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03BBF38-EE1F-4F47-B462-FC8BCCCC6E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610764"/>
              </p:ext>
            </p:extLst>
          </p:nvPr>
        </p:nvGraphicFramePr>
        <p:xfrm>
          <a:off x="382587" y="1066801"/>
          <a:ext cx="11353800" cy="502920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043656">
                  <a:extLst>
                    <a:ext uri="{9D8B030D-6E8A-4147-A177-3AD203B41FA5}">
                      <a16:colId xmlns:a16="http://schemas.microsoft.com/office/drawing/2014/main" val="2435035227"/>
                    </a:ext>
                  </a:extLst>
                </a:gridCol>
                <a:gridCol w="3589303">
                  <a:extLst>
                    <a:ext uri="{9D8B030D-6E8A-4147-A177-3AD203B41FA5}">
                      <a16:colId xmlns:a16="http://schemas.microsoft.com/office/drawing/2014/main" val="3966347104"/>
                    </a:ext>
                  </a:extLst>
                </a:gridCol>
                <a:gridCol w="2316480">
                  <a:extLst>
                    <a:ext uri="{9D8B030D-6E8A-4147-A177-3AD203B41FA5}">
                      <a16:colId xmlns:a16="http://schemas.microsoft.com/office/drawing/2014/main" val="301937062"/>
                    </a:ext>
                  </a:extLst>
                </a:gridCol>
                <a:gridCol w="2316480">
                  <a:extLst>
                    <a:ext uri="{9D8B030D-6E8A-4147-A177-3AD203B41FA5}">
                      <a16:colId xmlns:a16="http://schemas.microsoft.com/office/drawing/2014/main" val="332550127"/>
                    </a:ext>
                  </a:extLst>
                </a:gridCol>
                <a:gridCol w="2087881">
                  <a:extLst>
                    <a:ext uri="{9D8B030D-6E8A-4147-A177-3AD203B41FA5}">
                      <a16:colId xmlns:a16="http://schemas.microsoft.com/office/drawing/2014/main" val="2166008828"/>
                    </a:ext>
                  </a:extLst>
                </a:gridCol>
              </a:tblGrid>
              <a:tr h="745067">
                <a:tc>
                  <a:txBody>
                    <a:bodyPr/>
                    <a:lstStyle/>
                    <a:p>
                      <a:r>
                        <a:rPr lang="en-GB" sz="2600" b="1">
                          <a:solidFill>
                            <a:srgbClr val="7A0000"/>
                          </a:solidFill>
                        </a:rPr>
                        <a:t>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600" b="1">
                          <a:solidFill>
                            <a:srgbClr val="7A0000"/>
                          </a:solidFill>
                        </a:rPr>
                        <a:t>Memory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600" b="1">
                          <a:solidFill>
                            <a:srgbClr val="7A0000"/>
                          </a:solidFill>
                        </a:rPr>
                        <a:t>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600" b="1">
                          <a:solidFill>
                            <a:srgbClr val="7A0000"/>
                          </a:solidFill>
                        </a:rPr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600" b="1" dirty="0">
                          <a:solidFill>
                            <a:srgbClr val="7A0000"/>
                          </a:solidFill>
                        </a:rPr>
                        <a:t>Capacity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9967648"/>
                  </a:ext>
                </a:extLst>
              </a:tr>
              <a:tr h="745067">
                <a:tc>
                  <a:txBody>
                    <a:bodyPr/>
                    <a:lstStyle/>
                    <a:p>
                      <a:r>
                        <a:rPr lang="en-GB" sz="26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600"/>
                        <a:t>Registers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600"/>
                        <a:t>Fastest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600"/>
                        <a:t>Highest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600"/>
                        <a:t>Smallest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8599608"/>
                  </a:ext>
                </a:extLst>
              </a:tr>
              <a:tr h="745067">
                <a:tc>
                  <a:txBody>
                    <a:bodyPr/>
                    <a:lstStyle/>
                    <a:p>
                      <a:r>
                        <a:rPr lang="en-GB" sz="26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600"/>
                        <a:t>Cache 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600"/>
                        <a:t>Very Fast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60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600"/>
                        <a:t>Small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32532"/>
                  </a:ext>
                </a:extLst>
              </a:tr>
              <a:tr h="745067">
                <a:tc>
                  <a:txBody>
                    <a:bodyPr/>
                    <a:lstStyle/>
                    <a:p>
                      <a:r>
                        <a:rPr lang="en-GB" sz="26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600"/>
                        <a:t>Main Memory (RAM)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600"/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60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600"/>
                        <a:t>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6366889"/>
                  </a:ext>
                </a:extLst>
              </a:tr>
              <a:tr h="1303867">
                <a:tc>
                  <a:txBody>
                    <a:bodyPr/>
                    <a:lstStyle/>
                    <a:p>
                      <a:r>
                        <a:rPr lang="en-GB" sz="26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600"/>
                        <a:t>Secondary Storage (SSD/HDD)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600"/>
                        <a:t>Slow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60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600"/>
                        <a:t>Large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0236733"/>
                  </a:ext>
                </a:extLst>
              </a:tr>
              <a:tr h="745067">
                <a:tc>
                  <a:txBody>
                    <a:bodyPr/>
                    <a:lstStyle/>
                    <a:p>
                      <a:r>
                        <a:rPr lang="en-GB" sz="26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600"/>
                        <a:t>Tertiary 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600"/>
                        <a:t>Slowest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600"/>
                        <a:t>Lowest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Very Large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9822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8346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382586" y="152400"/>
            <a:ext cx="11202829" cy="71278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Question 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230187" y="2286000"/>
            <a:ext cx="11734800" cy="1371600"/>
          </a:xfrm>
          <a:noFill/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GB" sz="4000" b="1" dirty="0">
                <a:solidFill>
                  <a:schemeClr val="tx1"/>
                </a:solidFill>
              </a:rPr>
              <a:t>Why don’t we use only cache memory in a computer system?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9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841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382586" y="152400"/>
            <a:ext cx="11202829" cy="71278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Answer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442912" y="1752600"/>
            <a:ext cx="11445875" cy="1524000"/>
          </a:xfrm>
          <a:noFill/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GB" sz="4000" b="1" dirty="0">
                <a:solidFill>
                  <a:schemeClr val="tx1"/>
                </a:solidFill>
              </a:rPr>
              <a:t>Because cache is very expensive and has limited capacity.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10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6689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268287" y="1752600"/>
            <a:ext cx="11658599" cy="1676400"/>
          </a:xfrm>
        </p:spPr>
        <p:txBody>
          <a:bodyPr>
            <a:normAutofit/>
          </a:bodyPr>
          <a:lstStyle/>
          <a:p>
            <a:r>
              <a:rPr lang="en-GB" sz="4800" dirty="0"/>
              <a:t>Strategies to minimize frequent accesses to slower memories</a:t>
            </a:r>
            <a:endParaRPr lang="en-US" sz="4800" b="1" dirty="0">
              <a:solidFill>
                <a:srgbClr val="FF0000"/>
              </a:solidFill>
            </a:endParaRP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11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295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153987" y="94938"/>
            <a:ext cx="11887200" cy="712788"/>
          </a:xfrm>
        </p:spPr>
        <p:txBody>
          <a:bodyPr>
            <a:normAutofit/>
          </a:bodyPr>
          <a:lstStyle/>
          <a:p>
            <a:pPr>
              <a:spcAft>
                <a:spcPts val="2400"/>
              </a:spcAft>
            </a:pPr>
            <a:r>
              <a:rPr lang="en-GB" dirty="0">
                <a:solidFill>
                  <a:srgbClr val="7A0000"/>
                </a:solidFill>
              </a:rPr>
              <a:t>Space and Time </a:t>
            </a:r>
            <a:r>
              <a:rPr lang="en-GB" dirty="0">
                <a:solidFill>
                  <a:srgbClr val="0000FF"/>
                </a:solidFill>
              </a:rPr>
              <a:t>locality of reference principle</a:t>
            </a:r>
            <a:r>
              <a:rPr lang="en-GB" dirty="0"/>
              <a:t>: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153987" y="1290768"/>
            <a:ext cx="11887200" cy="4426964"/>
          </a:xfrm>
        </p:spPr>
        <p:txBody>
          <a:bodyPr>
            <a:noAutofit/>
          </a:bodyPr>
          <a:lstStyle/>
          <a:p>
            <a:pPr algn="just">
              <a:spcAft>
                <a:spcPts val="2400"/>
              </a:spcAft>
            </a:pPr>
            <a:r>
              <a:rPr lang="en-GB" b="1" dirty="0">
                <a:solidFill>
                  <a:srgbClr val="0000FF"/>
                </a:solidFill>
              </a:rPr>
              <a:t>Space (Spatial):</a:t>
            </a:r>
          </a:p>
          <a:p>
            <a:pPr algn="just">
              <a:spcAft>
                <a:spcPts val="2400"/>
              </a:spcAft>
            </a:pPr>
            <a:r>
              <a:rPr lang="en-GB" b="1" dirty="0">
                <a:solidFill>
                  <a:schemeClr val="tx1"/>
                </a:solidFill>
              </a:rPr>
              <a:t>If we access a memory location, close by addresses will very likely be accessed; loop operation </a:t>
            </a:r>
          </a:p>
          <a:p>
            <a:pPr algn="just">
              <a:spcAft>
                <a:spcPts val="2400"/>
              </a:spcAft>
            </a:pP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b="1" dirty="0">
                <a:solidFill>
                  <a:srgbClr val="0000FF"/>
                </a:solidFill>
              </a:rPr>
              <a:t>Time (Temporal):</a:t>
            </a:r>
          </a:p>
          <a:p>
            <a:pPr algn="just">
              <a:spcAft>
                <a:spcPts val="2400"/>
              </a:spcAft>
            </a:pPr>
            <a:r>
              <a:rPr lang="en-GB" b="1" dirty="0">
                <a:solidFill>
                  <a:schemeClr val="tx1"/>
                </a:solidFill>
              </a:rPr>
              <a:t>If we access a memory location, we will very likely access it again;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12</a:t>
            </a:fld>
            <a:endParaRPr lang="en-US">
              <a:latin typeface="Arial" pitchFamily="34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D34D793-B8B9-4AD0-BE0F-11D882DFA37D}"/>
              </a:ext>
            </a:extLst>
          </p:cNvPr>
          <p:cNvSpPr/>
          <p:nvPr/>
        </p:nvSpPr>
        <p:spPr>
          <a:xfrm>
            <a:off x="4284661" y="2826894"/>
            <a:ext cx="381000" cy="5259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F1C4E9B-0722-470E-B6A3-33CDCD177350}"/>
              </a:ext>
            </a:extLst>
          </p:cNvPr>
          <p:cNvSpPr/>
          <p:nvPr/>
        </p:nvSpPr>
        <p:spPr>
          <a:xfrm>
            <a:off x="4952997" y="3028000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9A752CF-7503-49DC-A880-EB2A455C5BA2}"/>
              </a:ext>
            </a:extLst>
          </p:cNvPr>
          <p:cNvSpPr/>
          <p:nvPr/>
        </p:nvSpPr>
        <p:spPr>
          <a:xfrm>
            <a:off x="4306887" y="3424237"/>
            <a:ext cx="5334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3195903-861C-4860-9B25-60774B812FDA}"/>
              </a:ext>
            </a:extLst>
          </p:cNvPr>
          <p:cNvSpPr/>
          <p:nvPr/>
        </p:nvSpPr>
        <p:spPr>
          <a:xfrm>
            <a:off x="5522907" y="2785112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198F21A-6072-4FB1-8903-609068BE128D}"/>
              </a:ext>
            </a:extLst>
          </p:cNvPr>
          <p:cNvSpPr/>
          <p:nvPr/>
        </p:nvSpPr>
        <p:spPr>
          <a:xfrm>
            <a:off x="5640387" y="3505200"/>
            <a:ext cx="3810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383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153987" y="94938"/>
            <a:ext cx="11887200" cy="712788"/>
          </a:xfrm>
        </p:spPr>
        <p:txBody>
          <a:bodyPr>
            <a:normAutofit/>
          </a:bodyPr>
          <a:lstStyle/>
          <a:p>
            <a:pPr>
              <a:spcAft>
                <a:spcPts val="2400"/>
              </a:spcAft>
            </a:pPr>
            <a:r>
              <a:rPr lang="en-GB" dirty="0"/>
              <a:t>Space and Time locality of reference principle: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153987" y="1516636"/>
            <a:ext cx="11887200" cy="2521964"/>
          </a:xfrm>
        </p:spPr>
        <p:txBody>
          <a:bodyPr>
            <a:noAutofit/>
          </a:bodyPr>
          <a:lstStyle/>
          <a:p>
            <a:pPr algn="just">
              <a:spcAft>
                <a:spcPts val="2400"/>
              </a:spcAft>
            </a:pPr>
            <a:r>
              <a:rPr lang="en-GB" b="1" dirty="0">
                <a:solidFill>
                  <a:schemeClr val="tx1"/>
                </a:solidFill>
              </a:rPr>
              <a:t>This a consequence of using iterative loops and subroutines:</a:t>
            </a:r>
          </a:p>
          <a:p>
            <a:pPr algn="just">
              <a:spcAft>
                <a:spcPts val="2400"/>
              </a:spcAft>
            </a:pPr>
            <a:r>
              <a:rPr lang="en-GB" b="1" dirty="0">
                <a:solidFill>
                  <a:schemeClr val="tx1"/>
                </a:solidFill>
              </a:rPr>
              <a:t>Instructions and data will be accessed multiple times;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13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81524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153987" y="94938"/>
            <a:ext cx="11887200" cy="712788"/>
          </a:xfrm>
        </p:spPr>
        <p:txBody>
          <a:bodyPr>
            <a:normAutofit/>
          </a:bodyPr>
          <a:lstStyle/>
          <a:p>
            <a:pPr>
              <a:spcAft>
                <a:spcPts val="2400"/>
              </a:spcAft>
            </a:pPr>
            <a:r>
              <a:rPr lang="en-GB" dirty="0"/>
              <a:t>Example (p1)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382587" y="990600"/>
            <a:ext cx="11430000" cy="5257800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n-GB" b="1" dirty="0">
                <a:solidFill>
                  <a:srgbClr val="7A0000"/>
                </a:solidFill>
              </a:rPr>
              <a:t>Suppose that the processor has access to two levels of memory: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n-GB" b="1" dirty="0">
                <a:solidFill>
                  <a:schemeClr val="tx1"/>
                </a:solidFill>
              </a:rPr>
              <a:t>Level 1- L1</a:t>
            </a:r>
            <a:r>
              <a:rPr lang="en-GB" dirty="0">
                <a:solidFill>
                  <a:schemeClr val="tx1"/>
                </a:solidFill>
              </a:rPr>
              <a:t>: contains </a:t>
            </a:r>
            <a:r>
              <a:rPr lang="en-GB" b="1" dirty="0">
                <a:solidFill>
                  <a:schemeClr val="tx1"/>
                </a:solidFill>
              </a:rPr>
              <a:t>1000 words/bytes </a:t>
            </a:r>
            <a:r>
              <a:rPr lang="en-GB" dirty="0">
                <a:solidFill>
                  <a:schemeClr val="tx1"/>
                </a:solidFill>
              </a:rPr>
              <a:t>and has an access time of </a:t>
            </a:r>
            <a:r>
              <a:rPr lang="en-GB" b="1" dirty="0">
                <a:solidFill>
                  <a:schemeClr val="tx1"/>
                </a:solidFill>
              </a:rPr>
              <a:t>0.01µs;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n-GB" dirty="0">
                <a:solidFill>
                  <a:schemeClr val="tx1"/>
                </a:solidFill>
              </a:rPr>
              <a:t>Level 2- </a:t>
            </a:r>
            <a:r>
              <a:rPr lang="en-GB" b="1" dirty="0">
                <a:solidFill>
                  <a:schemeClr val="tx1"/>
                </a:solidFill>
              </a:rPr>
              <a:t>L2: contains 100,000/words/bytes </a:t>
            </a:r>
            <a:r>
              <a:rPr lang="en-GB" dirty="0">
                <a:solidFill>
                  <a:schemeClr val="tx1"/>
                </a:solidFill>
              </a:rPr>
              <a:t>and has an access time of </a:t>
            </a:r>
            <a:r>
              <a:rPr lang="en-GB" b="1" dirty="0">
                <a:solidFill>
                  <a:schemeClr val="tx1"/>
                </a:solidFill>
              </a:rPr>
              <a:t>0.1µs.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n-GB" b="1" dirty="0">
                <a:solidFill>
                  <a:schemeClr val="tx1"/>
                </a:solidFill>
              </a:rPr>
              <a:t>Assume that: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n-GB" dirty="0">
                <a:solidFill>
                  <a:schemeClr val="tx1"/>
                </a:solidFill>
              </a:rPr>
              <a:t>if </a:t>
            </a:r>
            <a:r>
              <a:rPr lang="en-GB" b="1" dirty="0">
                <a:solidFill>
                  <a:schemeClr val="tx1"/>
                </a:solidFill>
              </a:rPr>
              <a:t>word ∈ L1</a:t>
            </a:r>
            <a:r>
              <a:rPr lang="en-GB" dirty="0">
                <a:solidFill>
                  <a:schemeClr val="tx1"/>
                </a:solidFill>
              </a:rPr>
              <a:t>, then the </a:t>
            </a:r>
            <a:r>
              <a:rPr lang="en-GB" b="1" dirty="0">
                <a:solidFill>
                  <a:schemeClr val="tx1"/>
                </a:solidFill>
              </a:rPr>
              <a:t>processor accesses it directly = 0.0.1µs</a:t>
            </a:r>
            <a:r>
              <a:rPr lang="en-GB" dirty="0">
                <a:solidFill>
                  <a:schemeClr val="tx1"/>
                </a:solidFill>
              </a:rPr>
              <a:t>;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n-GB" dirty="0">
                <a:solidFill>
                  <a:schemeClr val="tx1"/>
                </a:solidFill>
              </a:rPr>
              <a:t>If </a:t>
            </a:r>
            <a:r>
              <a:rPr lang="en-GB" b="1" dirty="0">
                <a:solidFill>
                  <a:schemeClr val="tx1"/>
                </a:solidFill>
              </a:rPr>
              <a:t>word ∈ L2</a:t>
            </a:r>
            <a:r>
              <a:rPr lang="en-GB" dirty="0">
                <a:solidFill>
                  <a:schemeClr val="tx1"/>
                </a:solidFill>
              </a:rPr>
              <a:t>, then word is transferred to L1 and then accessed by the processor. = </a:t>
            </a:r>
            <a:r>
              <a:rPr lang="en-GB" b="1" dirty="0">
                <a:solidFill>
                  <a:schemeClr val="tx1"/>
                </a:solidFill>
              </a:rPr>
              <a:t>0.01 + 0.1</a:t>
            </a:r>
          </a:p>
          <a:p>
            <a:pPr marL="0" indent="0" algn="just">
              <a:spcBef>
                <a:spcPts val="0"/>
              </a:spcBef>
              <a:spcAft>
                <a:spcPts val="1200"/>
              </a:spcAft>
              <a:buNone/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14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96513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153987" y="94938"/>
            <a:ext cx="11887200" cy="712788"/>
          </a:xfrm>
        </p:spPr>
        <p:txBody>
          <a:bodyPr>
            <a:normAutofit/>
          </a:bodyPr>
          <a:lstStyle/>
          <a:p>
            <a:pPr>
              <a:spcAft>
                <a:spcPts val="2400"/>
              </a:spcAft>
            </a:pPr>
            <a:r>
              <a:rPr lang="en-GB" dirty="0"/>
              <a:t>Example(p2)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153987" y="990600"/>
            <a:ext cx="11887200" cy="5105400"/>
          </a:xfrm>
        </p:spPr>
        <p:txBody>
          <a:bodyPr>
            <a:noAutofit/>
          </a:bodyPr>
          <a:lstStyle/>
          <a:p>
            <a:pPr algn="just">
              <a:spcAft>
                <a:spcPts val="1200"/>
              </a:spcAft>
            </a:pPr>
            <a:r>
              <a:rPr lang="en-GB" dirty="0">
                <a:solidFill>
                  <a:schemeClr val="tx1"/>
                </a:solidFill>
              </a:rPr>
              <a:t>For simplicity:</a:t>
            </a:r>
          </a:p>
          <a:p>
            <a:pPr algn="just">
              <a:spcAft>
                <a:spcPts val="1200"/>
              </a:spcAft>
            </a:pPr>
            <a:r>
              <a:rPr lang="en-GB" dirty="0">
                <a:solidFill>
                  <a:schemeClr val="tx1"/>
                </a:solidFill>
              </a:rPr>
              <a:t>ignore time required for processor to determine whether word is in L1 or L2.</a:t>
            </a:r>
          </a:p>
          <a:p>
            <a:pPr algn="just">
              <a:spcAft>
                <a:spcPts val="1200"/>
              </a:spcAft>
            </a:pPr>
            <a:r>
              <a:rPr lang="en-GB" dirty="0">
                <a:solidFill>
                  <a:schemeClr val="tx1"/>
                </a:solidFill>
              </a:rPr>
              <a:t>Also, let:</a:t>
            </a:r>
          </a:p>
          <a:p>
            <a:pPr algn="just">
              <a:spcAft>
                <a:spcPts val="1200"/>
              </a:spcAft>
            </a:pPr>
            <a:r>
              <a:rPr lang="en-GB" dirty="0">
                <a:solidFill>
                  <a:schemeClr val="tx1"/>
                </a:solidFill>
              </a:rPr>
              <a:t>• H define the fraction of all memory accesses that are found L1;</a:t>
            </a:r>
          </a:p>
          <a:p>
            <a:pPr algn="just">
              <a:spcAft>
                <a:spcPts val="1200"/>
              </a:spcAft>
            </a:pPr>
            <a:r>
              <a:rPr lang="en-GB" dirty="0">
                <a:solidFill>
                  <a:schemeClr val="tx1"/>
                </a:solidFill>
              </a:rPr>
              <a:t>• T1 is the access time to L1;</a:t>
            </a:r>
          </a:p>
          <a:p>
            <a:pPr algn="just">
              <a:spcAft>
                <a:spcPts val="1200"/>
              </a:spcAft>
            </a:pPr>
            <a:r>
              <a:rPr lang="en-GB" dirty="0">
                <a:solidFill>
                  <a:schemeClr val="tx1"/>
                </a:solidFill>
              </a:rPr>
              <a:t>• T2 is the access time to L2 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15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9949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609758" y="152400"/>
            <a:ext cx="10975658" cy="712788"/>
          </a:xfrm>
        </p:spPr>
        <p:txBody>
          <a:bodyPr>
            <a:normAutofit/>
          </a:bodyPr>
          <a:lstStyle/>
          <a:p>
            <a:r>
              <a:rPr lang="en-GB" dirty="0"/>
              <a:t>Example(p3)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16</a:t>
            </a:fld>
            <a:endParaRPr lang="en-US">
              <a:latin typeface="Arial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F3C058-F7EB-457F-8456-A1573A7E0D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881" t="23327" r="32504" b="15548"/>
          <a:stretch/>
        </p:blipFill>
        <p:spPr>
          <a:xfrm>
            <a:off x="3047771" y="1064161"/>
            <a:ext cx="6858000" cy="44958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6E22CC3-8B16-4B00-A7E6-3E599C947281}"/>
              </a:ext>
            </a:extLst>
          </p:cNvPr>
          <p:cNvSpPr/>
          <p:nvPr/>
        </p:nvSpPr>
        <p:spPr>
          <a:xfrm>
            <a:off x="2741155" y="5758934"/>
            <a:ext cx="74712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latin typeface="Rockwell" panose="02060603020205020403" pitchFamily="18" charset="0"/>
              </a:rPr>
              <a:t>Figure: Performance of accesses involving only L1</a:t>
            </a:r>
          </a:p>
        </p:txBody>
      </p:sp>
    </p:spTree>
    <p:extLst>
      <p:ext uri="{BB962C8B-B14F-4D97-AF65-F5344CB8AC3E}">
        <p14:creationId xmlns:p14="http://schemas.microsoft.com/office/powerpoint/2010/main" val="11056224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153987" y="152400"/>
            <a:ext cx="11808142" cy="71278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Explanation of the Graph on previous slide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306387" y="1219200"/>
            <a:ext cx="11582400" cy="5029200"/>
          </a:xfrm>
        </p:spPr>
        <p:txBody>
          <a:bodyPr>
            <a:noAutofit/>
          </a:bodyPr>
          <a:lstStyle/>
          <a:p>
            <a:pPr algn="just">
              <a:spcAft>
                <a:spcPts val="1800"/>
              </a:spcAft>
            </a:pPr>
            <a:r>
              <a:rPr lang="en-GB" sz="2700" dirty="0">
                <a:solidFill>
                  <a:schemeClr val="tx1"/>
                </a:solidFill>
              </a:rPr>
              <a:t>For high percentages of L1 access, the average total access time is much closer to that of L1 than that of L2;</a:t>
            </a:r>
          </a:p>
          <a:p>
            <a:pPr marL="0" indent="0" algn="just">
              <a:spcAft>
                <a:spcPts val="1800"/>
              </a:spcAft>
              <a:buNone/>
            </a:pPr>
            <a:r>
              <a:rPr lang="en-GB" sz="2700" dirty="0">
                <a:solidFill>
                  <a:schemeClr val="tx1"/>
                </a:solidFill>
              </a:rPr>
              <a:t>Now lets consider the following scenario:</a:t>
            </a:r>
          </a:p>
          <a:p>
            <a:pPr algn="just">
              <a:spcAft>
                <a:spcPts val="1800"/>
              </a:spcAft>
            </a:pPr>
            <a:r>
              <a:rPr lang="en-GB" sz="2700" b="1" dirty="0">
                <a:solidFill>
                  <a:srgbClr val="7A0000"/>
                </a:solidFill>
              </a:rPr>
              <a:t>Suppose 95% of the memory accesses are found in L1 - </a:t>
            </a:r>
            <a:r>
              <a:rPr lang="en-GB" sz="2700" b="1" dirty="0">
                <a:solidFill>
                  <a:srgbClr val="0000FF"/>
                </a:solidFill>
              </a:rPr>
              <a:t>0.01µs</a:t>
            </a:r>
            <a:r>
              <a:rPr lang="en-GB" sz="2700" b="1" dirty="0">
                <a:solidFill>
                  <a:srgbClr val="7A0000"/>
                </a:solidFill>
              </a:rPr>
              <a:t>.</a:t>
            </a:r>
          </a:p>
          <a:p>
            <a:pPr algn="just">
              <a:spcAft>
                <a:spcPts val="1800"/>
              </a:spcAft>
            </a:pPr>
            <a:r>
              <a:rPr lang="en-GB" sz="2700" b="1" dirty="0">
                <a:solidFill>
                  <a:schemeClr val="tx1"/>
                </a:solidFill>
              </a:rPr>
              <a:t>Average time to access a word is:</a:t>
            </a:r>
          </a:p>
          <a:p>
            <a:pPr algn="just">
              <a:spcAft>
                <a:spcPts val="1800"/>
              </a:spcAft>
            </a:pPr>
            <a:r>
              <a:rPr lang="en-GB" sz="2700" b="1" dirty="0">
                <a:solidFill>
                  <a:srgbClr val="0000FF"/>
                </a:solidFill>
              </a:rPr>
              <a:t>(0.95)(0.01µs) </a:t>
            </a:r>
            <a:r>
              <a:rPr lang="en-GB" sz="2700" dirty="0">
                <a:solidFill>
                  <a:schemeClr val="tx1"/>
                </a:solidFill>
              </a:rPr>
              <a:t>+ </a:t>
            </a:r>
            <a:r>
              <a:rPr lang="en-GB" sz="2700" b="1" dirty="0">
                <a:solidFill>
                  <a:srgbClr val="7A0000"/>
                </a:solidFill>
              </a:rPr>
              <a:t>(0.05)(0.01µs + 0.1µs) </a:t>
            </a:r>
            <a:r>
              <a:rPr lang="en-GB" sz="2700" dirty="0">
                <a:solidFill>
                  <a:schemeClr val="tx1"/>
                </a:solidFill>
              </a:rPr>
              <a:t>= </a:t>
            </a:r>
            <a:r>
              <a:rPr lang="en-GB" sz="2700" b="1" dirty="0">
                <a:solidFill>
                  <a:schemeClr val="tx1"/>
                </a:solidFill>
              </a:rPr>
              <a:t>0.0095 + 0.0055 </a:t>
            </a:r>
            <a:r>
              <a:rPr lang="en-GB" sz="2700" dirty="0">
                <a:solidFill>
                  <a:schemeClr val="tx1"/>
                </a:solidFill>
              </a:rPr>
              <a:t>= </a:t>
            </a:r>
            <a:r>
              <a:rPr lang="en-GB" sz="2700" b="1" dirty="0">
                <a:solidFill>
                  <a:srgbClr val="7A0000"/>
                </a:solidFill>
              </a:rPr>
              <a:t>0.015µs</a:t>
            </a:r>
          </a:p>
          <a:p>
            <a:pPr algn="just">
              <a:spcAft>
                <a:spcPts val="1800"/>
              </a:spcAft>
            </a:pPr>
            <a:r>
              <a:rPr lang="en-GB" sz="2700" dirty="0">
                <a:solidFill>
                  <a:schemeClr val="tx1"/>
                </a:solidFill>
              </a:rPr>
              <a:t>Average access time is much closer to 0.01µs than to 0.1µs, as desired.</a:t>
            </a:r>
            <a:endParaRPr lang="en-GB" sz="2700" b="1" dirty="0">
              <a:solidFill>
                <a:schemeClr val="tx1"/>
              </a:solidFill>
            </a:endParaRP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17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65176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153987" y="152400"/>
            <a:ext cx="11808142" cy="71278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Strategy to minimize accesses should be: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379729" y="1270794"/>
            <a:ext cx="11582400" cy="4749006"/>
          </a:xfrm>
        </p:spPr>
        <p:txBody>
          <a:bodyPr>
            <a:noAutofit/>
          </a:bodyPr>
          <a:lstStyle/>
          <a:p>
            <a:pPr algn="just"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Organize data across the hierarchy such that</a:t>
            </a:r>
          </a:p>
          <a:p>
            <a:pPr algn="just"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% of accesses to lower levels is substantially less than that of upper levels</a:t>
            </a:r>
          </a:p>
          <a:p>
            <a:pPr algn="just"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i.e. L2 memory contains all program instructions and data:</a:t>
            </a:r>
          </a:p>
          <a:p>
            <a:pPr algn="just"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Data that is currently being used should be in L1;</a:t>
            </a:r>
          </a:p>
          <a:p>
            <a:pPr algn="just"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Eventually:</a:t>
            </a:r>
          </a:p>
          <a:p>
            <a:pPr algn="just"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Data ∈ L1 will be swapped to L2 to make room for new data;</a:t>
            </a:r>
          </a:p>
          <a:p>
            <a:pPr algn="just"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On average, most references will be to data contained in L1.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18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33168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153987" y="152400"/>
            <a:ext cx="11808142" cy="71278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Strategy to minimize accesses…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379729" y="914400"/>
            <a:ext cx="11582400" cy="5334000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n-GB" sz="2600" dirty="0">
                <a:solidFill>
                  <a:schemeClr val="tx1"/>
                </a:solidFill>
              </a:rPr>
              <a:t>This principle can be applied across more than two levels of memory: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n-GB" sz="2600" b="1" dirty="0">
                <a:solidFill>
                  <a:schemeClr val="tx1"/>
                </a:solidFill>
              </a:rPr>
              <a:t>Processor registers</a:t>
            </a:r>
            <a:r>
              <a:rPr lang="en-GB" sz="2600" dirty="0">
                <a:solidFill>
                  <a:schemeClr val="tx1"/>
                </a:solidFill>
              </a:rPr>
              <a:t>: fastest, smallest, and most expensive type of memory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n-GB" sz="2600" b="1" dirty="0">
                <a:solidFill>
                  <a:schemeClr val="tx1"/>
                </a:solidFill>
              </a:rPr>
              <a:t>Followed immediately by the cache</a:t>
            </a:r>
            <a:r>
              <a:rPr lang="en-GB" sz="2600" dirty="0">
                <a:solidFill>
                  <a:schemeClr val="tx1"/>
                </a:solidFill>
              </a:rPr>
              <a:t>: stages data movement between registers and main memory;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n-GB" sz="2600" dirty="0">
                <a:solidFill>
                  <a:schemeClr val="tx1"/>
                </a:solidFill>
              </a:rPr>
              <a:t>Improves performance;</a:t>
            </a:r>
          </a:p>
          <a:p>
            <a:pPr lvl="1" algn="just">
              <a:spcBef>
                <a:spcPts val="0"/>
              </a:spcBef>
              <a:spcAft>
                <a:spcPts val="1200"/>
              </a:spcAft>
            </a:pPr>
            <a:r>
              <a:rPr lang="en-GB" b="1" dirty="0"/>
              <a:t>Is not usually visible to the processor;</a:t>
            </a:r>
          </a:p>
          <a:p>
            <a:pPr lvl="1" algn="just">
              <a:spcBef>
                <a:spcPts val="0"/>
              </a:spcBef>
              <a:spcAft>
                <a:spcPts val="1200"/>
              </a:spcAft>
            </a:pPr>
            <a:r>
              <a:rPr lang="en-GB" b="1" dirty="0"/>
              <a:t>Is not usually visible to the programmer</a:t>
            </a:r>
            <a:r>
              <a:rPr lang="en-GB" sz="2200" b="1" dirty="0"/>
              <a:t>.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n-GB" sz="2600" b="1" dirty="0">
                <a:solidFill>
                  <a:schemeClr val="tx1"/>
                </a:solidFill>
              </a:rPr>
              <a:t>Followed by main memory</a:t>
            </a:r>
            <a:r>
              <a:rPr lang="en-GB" sz="2600" dirty="0">
                <a:solidFill>
                  <a:schemeClr val="tx1"/>
                </a:solidFill>
              </a:rPr>
              <a:t>:  principal internal memory system of the computer;  Each location has a unique address.</a:t>
            </a:r>
            <a:endParaRPr lang="en-GB" sz="2600" b="1" dirty="0">
              <a:solidFill>
                <a:schemeClr val="tx1"/>
              </a:solidFill>
            </a:endParaRP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19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14098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125410" y="76200"/>
            <a:ext cx="11763377" cy="712788"/>
          </a:xfrm>
        </p:spPr>
        <p:txBody>
          <a:bodyPr>
            <a:normAutofit/>
          </a:bodyPr>
          <a:lstStyle/>
          <a:p>
            <a:r>
              <a:rPr lang="en-GB" sz="3600" dirty="0"/>
              <a:t>Cache Memory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20</a:t>
            </a:fld>
            <a:endParaRPr lang="en-US">
              <a:latin typeface="Arial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D4FA15-585B-454C-831A-6F80F1A96958}"/>
              </a:ext>
            </a:extLst>
          </p:cNvPr>
          <p:cNvSpPr/>
          <p:nvPr/>
        </p:nvSpPr>
        <p:spPr>
          <a:xfrm>
            <a:off x="306387" y="887644"/>
            <a:ext cx="11506200" cy="30162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rgbClr val="273239"/>
                </a:solidFill>
                <a:latin typeface="Rockwell" panose="02060603020205020403" pitchFamily="18" charset="0"/>
              </a:rPr>
              <a:t>Cache memory is designed to combine:</a:t>
            </a:r>
          </a:p>
          <a:p>
            <a:pPr marL="457200" indent="-457200" algn="just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GB" sz="2600" b="1" dirty="0">
                <a:solidFill>
                  <a:srgbClr val="273239"/>
                </a:solidFill>
                <a:latin typeface="Rockwell" panose="02060603020205020403" pitchFamily="18" charset="0"/>
              </a:rPr>
              <a:t>Cache can be 1-2 MB while Main Memory can be </a:t>
            </a:r>
            <a:r>
              <a:rPr lang="en-GB" sz="2600" b="1" dirty="0" err="1">
                <a:solidFill>
                  <a:srgbClr val="273239"/>
                </a:solidFill>
                <a:latin typeface="Rockwell" panose="02060603020205020403" pitchFamily="18" charset="0"/>
              </a:rPr>
              <a:t>upto</a:t>
            </a:r>
            <a:r>
              <a:rPr lang="en-GB" sz="2600" b="1" dirty="0">
                <a:solidFill>
                  <a:srgbClr val="273239"/>
                </a:solidFill>
                <a:latin typeface="Rockwell" panose="02060603020205020403" pitchFamily="18" charset="0"/>
              </a:rPr>
              <a:t> 64GB</a:t>
            </a:r>
          </a:p>
          <a:p>
            <a:pPr marL="457200" indent="-457200" algn="just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GB" sz="2600" b="1" dirty="0">
                <a:solidFill>
                  <a:srgbClr val="273239"/>
                </a:solidFill>
                <a:latin typeface="Rockwell" panose="02060603020205020403" pitchFamily="18" charset="0"/>
              </a:rPr>
              <a:t>Memory access </a:t>
            </a:r>
            <a:r>
              <a:rPr lang="en-GB" sz="2600" dirty="0">
                <a:solidFill>
                  <a:srgbClr val="273239"/>
                </a:solidFill>
                <a:latin typeface="Rockwell" panose="02060603020205020403" pitchFamily="18" charset="0"/>
              </a:rPr>
              <a:t>time of expensive, high-speed memory combined with the large memory size of less expensive, lower-speed memory</a:t>
            </a:r>
          </a:p>
          <a:p>
            <a:pPr marL="457200" indent="-457200" algn="just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GB" sz="2600" dirty="0">
                <a:latin typeface="Rockwell" panose="02060603020205020403" pitchFamily="18" charset="0"/>
              </a:rPr>
              <a:t>Cache contains a copy of portions of main memory.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65E1AF-D312-4A4F-8C7A-8CC34D7B8D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16884" t="34441" r="23132" b="32218"/>
          <a:stretch/>
        </p:blipFill>
        <p:spPr>
          <a:xfrm>
            <a:off x="1449387" y="3321542"/>
            <a:ext cx="8964104" cy="2801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2455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CC72F-A522-4B57-8664-479F95464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187" y="228600"/>
            <a:ext cx="4419600" cy="3276600"/>
          </a:xfrm>
        </p:spPr>
        <p:txBody>
          <a:bodyPr>
            <a:noAutofit/>
          </a:bodyPr>
          <a:lstStyle/>
          <a:p>
            <a:r>
              <a:rPr lang="en-US" sz="1400" dirty="0"/>
              <a:t>ADDRESS</a:t>
            </a:r>
            <a:br>
              <a:rPr lang="en-US" sz="1400" dirty="0"/>
            </a:br>
            <a:r>
              <a:rPr lang="en-US" sz="1400" dirty="0"/>
              <a:t>CELLS</a:t>
            </a:r>
            <a:br>
              <a:rPr lang="en-US" sz="1400" dirty="0"/>
            </a:br>
            <a:r>
              <a:rPr lang="en-US" sz="1400" dirty="0"/>
              <a:t>NIBBLE – 4BITS</a:t>
            </a:r>
            <a:br>
              <a:rPr lang="en-US" sz="1400" dirty="0"/>
            </a:br>
            <a:r>
              <a:rPr lang="en-US" sz="1400" dirty="0"/>
              <a:t>BYTE – 8BITS</a:t>
            </a:r>
            <a:br>
              <a:rPr lang="en-US" sz="1400" dirty="0"/>
            </a:br>
            <a:r>
              <a:rPr lang="en-US" sz="1400" dirty="0">
                <a:solidFill>
                  <a:srgbClr val="0000FF"/>
                </a:solidFill>
              </a:rPr>
              <a:t>WORD = IS ONE OR MORE COMPLETE ROWS OF MMEMORY  = 1 BYTE </a:t>
            </a:r>
            <a:br>
              <a:rPr lang="en-US" sz="1400" dirty="0">
                <a:solidFill>
                  <a:srgbClr val="0000FF"/>
                </a:solidFill>
              </a:rPr>
            </a:br>
            <a:br>
              <a:rPr lang="en-US" sz="1400" dirty="0">
                <a:solidFill>
                  <a:srgbClr val="0000FF"/>
                </a:solidFill>
              </a:rPr>
            </a:br>
            <a:r>
              <a:rPr lang="en-US" sz="1400" dirty="0">
                <a:solidFill>
                  <a:srgbClr val="0000FF"/>
                </a:solidFill>
              </a:rPr>
              <a:t>BLOCK = A COLLECTION OF WORDS  = 2, 4, 8,</a:t>
            </a:r>
            <a:br>
              <a:rPr lang="en-US" sz="1400" dirty="0">
                <a:solidFill>
                  <a:srgbClr val="0000FF"/>
                </a:solidFill>
              </a:rPr>
            </a:br>
            <a:br>
              <a:rPr lang="en-US" sz="1400" dirty="0">
                <a:solidFill>
                  <a:srgbClr val="0000FF"/>
                </a:solidFill>
              </a:rPr>
            </a:br>
            <a:r>
              <a:rPr lang="en-US" sz="1400" dirty="0">
                <a:solidFill>
                  <a:srgbClr val="0000FF"/>
                </a:solidFill>
              </a:rPr>
              <a:t>BLOCK 0 = 4 WORDS</a:t>
            </a:r>
            <a:br>
              <a:rPr lang="en-US" sz="1400" dirty="0">
                <a:solidFill>
                  <a:srgbClr val="0000FF"/>
                </a:solidFill>
              </a:rPr>
            </a:br>
            <a:r>
              <a:rPr lang="en-US" sz="1400" dirty="0">
                <a:solidFill>
                  <a:srgbClr val="0000FF"/>
                </a:solidFill>
              </a:rPr>
              <a:t>BLOCK 1 = 4 WORDS</a:t>
            </a:r>
            <a:br>
              <a:rPr lang="en-US" sz="1400" dirty="0">
                <a:solidFill>
                  <a:srgbClr val="0000FF"/>
                </a:solidFill>
              </a:rPr>
            </a:br>
            <a:r>
              <a:rPr lang="en-US" sz="1400" dirty="0">
                <a:solidFill>
                  <a:srgbClr val="0000FF"/>
                </a:solidFill>
              </a:rPr>
              <a:t>BLOCK 2 = 4 WORDS </a:t>
            </a:r>
            <a:br>
              <a:rPr lang="en-US" sz="1400" dirty="0">
                <a:solidFill>
                  <a:srgbClr val="0000FF"/>
                </a:solidFill>
              </a:rPr>
            </a:br>
            <a:br>
              <a:rPr lang="en-US" sz="1400" dirty="0">
                <a:solidFill>
                  <a:srgbClr val="0000FF"/>
                </a:solidFill>
              </a:rPr>
            </a:br>
            <a:r>
              <a:rPr lang="en-US" sz="1400" dirty="0">
                <a:solidFill>
                  <a:srgbClr val="0000FF"/>
                </a:solidFill>
              </a:rPr>
              <a:t>10KB</a:t>
            </a:r>
            <a:endParaRPr lang="en-US" sz="14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027CB49-389A-4D6A-953D-717C8F0B71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3780961"/>
              </p:ext>
            </p:extLst>
          </p:nvPr>
        </p:nvGraphicFramePr>
        <p:xfrm>
          <a:off x="5716587" y="838200"/>
          <a:ext cx="4876802" cy="4414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33401">
                  <a:extLst>
                    <a:ext uri="{9D8B030D-6E8A-4147-A177-3AD203B41FA5}">
                      <a16:colId xmlns:a16="http://schemas.microsoft.com/office/drawing/2014/main" val="973985186"/>
                    </a:ext>
                  </a:extLst>
                </a:gridCol>
                <a:gridCol w="762001">
                  <a:extLst>
                    <a:ext uri="{9D8B030D-6E8A-4147-A177-3AD203B41FA5}">
                      <a16:colId xmlns:a16="http://schemas.microsoft.com/office/drawing/2014/main" val="144472465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57548345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54764545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7413268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33923048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3278154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226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820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7614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6810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68968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2570406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463805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607885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67499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389187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471529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300740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887DB7DE-059A-4624-817B-A1E63465A46B}"/>
              </a:ext>
            </a:extLst>
          </p:cNvPr>
          <p:cNvSpPr txBox="1">
            <a:spLocks/>
          </p:cNvSpPr>
          <p:nvPr/>
        </p:nvSpPr>
        <p:spPr>
          <a:xfrm>
            <a:off x="250824" y="3429000"/>
            <a:ext cx="4419600" cy="274320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FF0000"/>
                </a:solidFill>
                <a:latin typeface="Rockwell" pitchFamily="18" charset="0"/>
                <a:ea typeface="+mj-ea"/>
                <a:cs typeface="Times New Roman" pitchFamily="18" charset="0"/>
              </a:defRPr>
            </a:lvl1pPr>
          </a:lstStyle>
          <a:p>
            <a:br>
              <a:rPr lang="en-US" sz="1800" dirty="0">
                <a:solidFill>
                  <a:srgbClr val="0000FF"/>
                </a:solidFill>
              </a:rPr>
            </a:br>
            <a:r>
              <a:rPr lang="en-US" sz="2700" dirty="0">
                <a:solidFill>
                  <a:srgbClr val="0000FF"/>
                </a:solidFill>
              </a:rPr>
              <a:t>12 x 7 = 84bits/8 </a:t>
            </a:r>
            <a:br>
              <a:rPr lang="en-US" sz="2700" dirty="0">
                <a:solidFill>
                  <a:srgbClr val="0000FF"/>
                </a:solidFill>
              </a:rPr>
            </a:br>
            <a:r>
              <a:rPr lang="en-US" sz="2700" dirty="0">
                <a:solidFill>
                  <a:srgbClr val="0000FF"/>
                </a:solidFill>
              </a:rPr>
              <a:t>memory size = 4MB</a:t>
            </a:r>
            <a:br>
              <a:rPr lang="en-US" sz="2700" dirty="0">
                <a:solidFill>
                  <a:srgbClr val="0000FF"/>
                </a:solidFill>
              </a:rPr>
            </a:br>
            <a:r>
              <a:rPr lang="en-US" sz="2700" dirty="0">
                <a:solidFill>
                  <a:srgbClr val="0000FF"/>
                </a:solidFill>
              </a:rPr>
              <a:t>4 x 2</a:t>
            </a:r>
            <a:r>
              <a:rPr lang="en-US" sz="2700" baseline="30000" dirty="0">
                <a:solidFill>
                  <a:srgbClr val="0000FF"/>
                </a:solidFill>
              </a:rPr>
              <a:t>20</a:t>
            </a:r>
            <a:br>
              <a:rPr lang="en-US" sz="2700" dirty="0">
                <a:solidFill>
                  <a:srgbClr val="0000FF"/>
                </a:solidFill>
              </a:rPr>
            </a:br>
            <a:r>
              <a:rPr lang="en-US" sz="2700" dirty="0">
                <a:solidFill>
                  <a:srgbClr val="0000FF"/>
                </a:solidFill>
              </a:rPr>
              <a:t>4 x 2</a:t>
            </a:r>
            <a:r>
              <a:rPr lang="en-US" sz="2700" baseline="30000" dirty="0">
                <a:solidFill>
                  <a:srgbClr val="0000FF"/>
                </a:solidFill>
              </a:rPr>
              <a:t>10</a:t>
            </a:r>
            <a:r>
              <a:rPr lang="en-US" sz="2700" dirty="0">
                <a:solidFill>
                  <a:srgbClr val="0000FF"/>
                </a:solidFill>
              </a:rPr>
              <a:t> x 2</a:t>
            </a:r>
            <a:r>
              <a:rPr lang="en-US" sz="2700" baseline="30000" dirty="0">
                <a:solidFill>
                  <a:srgbClr val="0000FF"/>
                </a:solidFill>
              </a:rPr>
              <a:t>10 </a:t>
            </a:r>
            <a:r>
              <a:rPr lang="en-US" sz="2700" dirty="0">
                <a:solidFill>
                  <a:srgbClr val="0000FF"/>
                </a:solidFill>
              </a:rPr>
              <a:t>bytes</a:t>
            </a:r>
            <a:br>
              <a:rPr lang="en-US" sz="2700" dirty="0">
                <a:solidFill>
                  <a:srgbClr val="0000FF"/>
                </a:solidFill>
              </a:rPr>
            </a:br>
            <a:br>
              <a:rPr lang="en-US" sz="2700" dirty="0">
                <a:solidFill>
                  <a:srgbClr val="0000FF"/>
                </a:solidFill>
              </a:rPr>
            </a:br>
            <a:r>
              <a:rPr lang="en-US" sz="2700" dirty="0">
                <a:solidFill>
                  <a:srgbClr val="0000FF"/>
                </a:solidFill>
              </a:rPr>
              <a:t>4 x 1024 x 1024 x 8 = 33,554,432 bits</a:t>
            </a:r>
            <a:br>
              <a:rPr lang="en-US" sz="2700" dirty="0">
                <a:solidFill>
                  <a:srgbClr val="0000FF"/>
                </a:solidFill>
              </a:rPr>
            </a:br>
            <a:r>
              <a:rPr lang="en-US" sz="2700" dirty="0">
                <a:solidFill>
                  <a:srgbClr val="0000FF"/>
                </a:solidFill>
              </a:rPr>
              <a:t>10 x 1024 x 8 = 81,920 bits </a:t>
            </a:r>
            <a:br>
              <a:rPr lang="en-US" sz="2700" dirty="0">
                <a:solidFill>
                  <a:srgbClr val="0000FF"/>
                </a:solidFill>
              </a:rPr>
            </a:br>
            <a:br>
              <a:rPr lang="en-US" sz="2700" dirty="0">
                <a:solidFill>
                  <a:srgbClr val="0000FF"/>
                </a:solidFill>
              </a:rPr>
            </a:br>
            <a:r>
              <a:rPr lang="en-US" sz="2700" dirty="0">
                <a:solidFill>
                  <a:srgbClr val="0000FF"/>
                </a:solidFill>
              </a:rPr>
              <a:t>10kybe</a:t>
            </a:r>
            <a:br>
              <a:rPr lang="en-US" sz="1800" dirty="0">
                <a:solidFill>
                  <a:srgbClr val="0000FF"/>
                </a:solidFill>
              </a:rPr>
            </a:b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694037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306387" y="228600"/>
            <a:ext cx="11356658" cy="712788"/>
          </a:xfrm>
        </p:spPr>
        <p:txBody>
          <a:bodyPr>
            <a:normAutofit/>
          </a:bodyPr>
          <a:lstStyle/>
          <a:p>
            <a:r>
              <a:rPr lang="en-GB" dirty="0"/>
              <a:t>Cache Memory Principles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306386" y="1066800"/>
            <a:ext cx="11506201" cy="5181600"/>
          </a:xfrm>
        </p:spPr>
        <p:txBody>
          <a:bodyPr>
            <a:noAutofit/>
          </a:bodyPr>
          <a:lstStyle/>
          <a:p>
            <a:pPr algn="just">
              <a:spcAft>
                <a:spcPts val="600"/>
              </a:spcAft>
            </a:pPr>
            <a:r>
              <a:rPr lang="en-GB" sz="2600" dirty="0">
                <a:solidFill>
                  <a:schemeClr val="tx1"/>
                </a:solidFill>
              </a:rPr>
              <a:t>When the processor attempts to read a word of memory:</a:t>
            </a:r>
          </a:p>
          <a:p>
            <a:pPr algn="just">
              <a:spcAft>
                <a:spcPts val="600"/>
              </a:spcAft>
            </a:pPr>
            <a:r>
              <a:rPr lang="en-GB" sz="2600" dirty="0">
                <a:solidFill>
                  <a:schemeClr val="tx1"/>
                </a:solidFill>
              </a:rPr>
              <a:t>Check is made to determine if the word is in the cache;</a:t>
            </a:r>
          </a:p>
          <a:p>
            <a:pPr lvl="1" algn="just"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If so (</a:t>
            </a:r>
            <a:r>
              <a:rPr lang="en-GB" b="1" dirty="0">
                <a:solidFill>
                  <a:srgbClr val="0000FF"/>
                </a:solidFill>
              </a:rPr>
              <a:t>Cache Hit</a:t>
            </a:r>
            <a:r>
              <a:rPr lang="en-GB" dirty="0">
                <a:solidFill>
                  <a:schemeClr val="tx1"/>
                </a:solidFill>
              </a:rPr>
              <a:t>): </a:t>
            </a:r>
            <a:r>
              <a:rPr lang="en-GB" b="1" dirty="0">
                <a:solidFill>
                  <a:schemeClr val="tx1"/>
                </a:solidFill>
              </a:rPr>
              <a:t>word is delivered to the processor.</a:t>
            </a:r>
          </a:p>
          <a:p>
            <a:pPr lvl="1" algn="just"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If the word is not in </a:t>
            </a:r>
            <a:r>
              <a:rPr lang="en-GB" b="1" dirty="0">
                <a:solidFill>
                  <a:schemeClr val="tx1"/>
                </a:solidFill>
              </a:rPr>
              <a:t>cache</a:t>
            </a:r>
            <a:r>
              <a:rPr lang="en-GB" dirty="0">
                <a:solidFill>
                  <a:schemeClr val="tx1"/>
                </a:solidFill>
              </a:rPr>
              <a:t> (</a:t>
            </a:r>
            <a:r>
              <a:rPr lang="en-GB" b="1" dirty="0">
                <a:solidFill>
                  <a:srgbClr val="0000FF"/>
                </a:solidFill>
              </a:rPr>
              <a:t>Cache Miss</a:t>
            </a:r>
            <a:r>
              <a:rPr lang="en-GB" dirty="0">
                <a:solidFill>
                  <a:schemeClr val="tx1"/>
                </a:solidFill>
              </a:rPr>
              <a:t>):</a:t>
            </a:r>
          </a:p>
          <a:p>
            <a:pPr lvl="2" algn="just">
              <a:spcAft>
                <a:spcPts val="600"/>
              </a:spcAft>
            </a:pPr>
            <a:r>
              <a:rPr lang="en-GB" sz="2400" b="1" dirty="0">
                <a:solidFill>
                  <a:srgbClr val="0000FF"/>
                </a:solidFill>
              </a:rPr>
              <a:t>Block of main memory that </a:t>
            </a:r>
            <a:r>
              <a:rPr lang="en-GB" sz="2400" dirty="0">
                <a:solidFill>
                  <a:srgbClr val="7A0000"/>
                </a:solidFill>
              </a:rPr>
              <a:t>contains the word is read into the </a:t>
            </a:r>
            <a:r>
              <a:rPr lang="en-GB" sz="2400" b="1" dirty="0">
                <a:solidFill>
                  <a:srgbClr val="0000FF"/>
                </a:solidFill>
              </a:rPr>
              <a:t>cache;</a:t>
            </a:r>
          </a:p>
          <a:p>
            <a:pPr lvl="2" algn="just">
              <a:spcAft>
                <a:spcPts val="600"/>
              </a:spcAft>
            </a:pPr>
            <a:r>
              <a:rPr lang="en-GB" sz="2400" b="1" dirty="0">
                <a:solidFill>
                  <a:srgbClr val="0000FF"/>
                </a:solidFill>
              </a:rPr>
              <a:t>Cache </a:t>
            </a:r>
            <a:r>
              <a:rPr lang="en-GB" sz="2400" dirty="0">
                <a:solidFill>
                  <a:srgbClr val="7A0000"/>
                </a:solidFill>
              </a:rPr>
              <a:t>delivers the </a:t>
            </a:r>
            <a:r>
              <a:rPr lang="en-GB" sz="2400" b="1" dirty="0">
                <a:solidFill>
                  <a:srgbClr val="0000FF"/>
                </a:solidFill>
              </a:rPr>
              <a:t>Word</a:t>
            </a:r>
            <a:r>
              <a:rPr lang="en-GB" sz="2400" dirty="0">
                <a:solidFill>
                  <a:srgbClr val="7A0000"/>
                </a:solidFill>
              </a:rPr>
              <a:t> to the processor.</a:t>
            </a:r>
          </a:p>
          <a:p>
            <a:pPr algn="just">
              <a:spcAft>
                <a:spcPts val="600"/>
              </a:spcAft>
            </a:pPr>
            <a:r>
              <a:rPr lang="en-GB" sz="2600" b="1" dirty="0">
                <a:solidFill>
                  <a:schemeClr val="tx1"/>
                </a:solidFill>
              </a:rPr>
              <a:t>Because of the </a:t>
            </a:r>
            <a:r>
              <a:rPr lang="en-GB" sz="2600" b="1" dirty="0">
                <a:solidFill>
                  <a:srgbClr val="0000FF"/>
                </a:solidFill>
              </a:rPr>
              <a:t>locality of reference principle (time and space)</a:t>
            </a:r>
            <a:r>
              <a:rPr lang="en-GB" sz="2600" b="1" dirty="0">
                <a:solidFill>
                  <a:schemeClr val="tx1"/>
                </a:solidFill>
              </a:rPr>
              <a:t>:</a:t>
            </a:r>
          </a:p>
          <a:p>
            <a:pPr lvl="1" algn="just">
              <a:spcAft>
                <a:spcPts val="600"/>
              </a:spcAft>
            </a:pPr>
            <a:r>
              <a:rPr lang="en-GB" b="1" dirty="0"/>
              <a:t>When a block of data is fetched into the cache...</a:t>
            </a:r>
          </a:p>
          <a:p>
            <a:pPr lvl="1" algn="just">
              <a:spcAft>
                <a:spcPts val="600"/>
              </a:spcAft>
            </a:pPr>
            <a:r>
              <a:rPr lang="en-GB" b="1" dirty="0"/>
              <a:t>It is likely that there will be future references to that same memory location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22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66976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687387" y="381000"/>
            <a:ext cx="10975658" cy="712788"/>
          </a:xfrm>
        </p:spPr>
        <p:txBody>
          <a:bodyPr>
            <a:normAutofit fontScale="90000"/>
          </a:bodyPr>
          <a:lstStyle/>
          <a:p>
            <a:r>
              <a:rPr lang="en-GB" dirty="0"/>
              <a:t>How then can we improve the Cache concept?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23</a:t>
            </a:fld>
            <a:endParaRPr lang="en-US">
              <a:latin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738B32-4EDF-4512-8339-B8F3F64CA30C}"/>
              </a:ext>
            </a:extLst>
          </p:cNvPr>
          <p:cNvSpPr/>
          <p:nvPr/>
        </p:nvSpPr>
        <p:spPr>
          <a:xfrm>
            <a:off x="458787" y="1219200"/>
            <a:ext cx="11506200" cy="160043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GB" sz="2600" dirty="0">
                <a:latin typeface="Rockwell" panose="02060603020205020403" pitchFamily="18" charset="0"/>
              </a:rPr>
              <a:t> What if we introduce multiple levels of cache?</a:t>
            </a:r>
          </a:p>
          <a:p>
            <a:pPr lvl="1">
              <a:spcAft>
                <a:spcPts val="1200"/>
              </a:spcAft>
            </a:pPr>
            <a:r>
              <a:rPr lang="en-GB" sz="2600" b="1" dirty="0">
                <a:solidFill>
                  <a:srgbClr val="7A0000"/>
                </a:solidFill>
                <a:latin typeface="Rockwell" panose="02060603020205020403" pitchFamily="18" charset="0"/>
              </a:rPr>
              <a:t>• L2 cache is slower and typically larger than the L1 cache</a:t>
            </a:r>
          </a:p>
          <a:p>
            <a:pPr lvl="1">
              <a:spcAft>
                <a:spcPts val="1200"/>
              </a:spcAft>
            </a:pPr>
            <a:r>
              <a:rPr lang="en-GB" sz="2600" b="1" dirty="0">
                <a:solidFill>
                  <a:srgbClr val="7A0000"/>
                </a:solidFill>
                <a:latin typeface="Rockwell" panose="02060603020205020403" pitchFamily="18" charset="0"/>
              </a:rPr>
              <a:t>• L3 cache is slower and typically larger than the L2 cache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BA6AB1-9012-4B9E-AD16-ED12CEEAAE5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507" t="32218" r="23132" b="25550"/>
          <a:stretch/>
        </p:blipFill>
        <p:spPr>
          <a:xfrm>
            <a:off x="2287587" y="2927555"/>
            <a:ext cx="7620000" cy="332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0460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306387" y="152400"/>
            <a:ext cx="11582400" cy="712788"/>
          </a:xfrm>
        </p:spPr>
        <p:txBody>
          <a:bodyPr>
            <a:normAutofit/>
          </a:bodyPr>
          <a:lstStyle/>
          <a:p>
            <a:r>
              <a:rPr lang="en-GB" dirty="0"/>
              <a:t>Main Memory – Cache Organization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314220" y="1147997"/>
            <a:ext cx="6629400" cy="4262203"/>
          </a:xfrm>
        </p:spPr>
        <p:txBody>
          <a:bodyPr>
            <a:noAutofit/>
          </a:bodyPr>
          <a:lstStyle/>
          <a:p>
            <a:pPr algn="just">
              <a:spcAft>
                <a:spcPts val="600"/>
              </a:spcAft>
            </a:pPr>
            <a:r>
              <a:rPr lang="en-GB" b="1" dirty="0">
                <a:solidFill>
                  <a:srgbClr val="0000FF"/>
                </a:solidFill>
              </a:rPr>
              <a:t>Main memory:</a:t>
            </a:r>
          </a:p>
          <a:p>
            <a:pPr algn="just"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Cache Memory Principles</a:t>
            </a:r>
          </a:p>
          <a:p>
            <a:pPr lvl="1" algn="just">
              <a:spcAft>
                <a:spcPts val="600"/>
              </a:spcAft>
            </a:pPr>
            <a:r>
              <a:rPr lang="en-GB" b="1" dirty="0"/>
              <a:t>Consists of 2n addressable words;</a:t>
            </a:r>
          </a:p>
          <a:p>
            <a:pPr lvl="1" algn="just">
              <a:spcAft>
                <a:spcPts val="600"/>
              </a:spcAft>
            </a:pPr>
            <a:r>
              <a:rPr lang="en-GB" b="1" dirty="0"/>
              <a:t>Each word has a unique n-bit address;</a:t>
            </a:r>
          </a:p>
          <a:p>
            <a:pPr lvl="1" algn="just">
              <a:spcAft>
                <a:spcPts val="600"/>
              </a:spcAft>
            </a:pPr>
            <a:r>
              <a:rPr lang="en-GB" b="1" dirty="0"/>
              <a:t>Memory consists of a number of</a:t>
            </a:r>
          </a:p>
          <a:p>
            <a:pPr marL="457200" lvl="1" indent="0" algn="just">
              <a:spcAft>
                <a:spcPts val="600"/>
              </a:spcAft>
              <a:buNone/>
            </a:pPr>
            <a:r>
              <a:rPr lang="en-GB" b="1" dirty="0"/>
              <a:t>    fixed-length blocks of K words each;</a:t>
            </a:r>
          </a:p>
          <a:p>
            <a:pPr algn="just"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There are M = 2n/K blocks;</a:t>
            </a:r>
            <a:endParaRPr lang="en-GB" sz="2800" b="1" dirty="0">
              <a:solidFill>
                <a:schemeClr val="tx1"/>
              </a:solidFill>
            </a:endParaRP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24</a:t>
            </a:fld>
            <a:endParaRPr lang="en-US">
              <a:latin typeface="Arial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E014B8-0B86-44E8-B6E9-139662B342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781" t="12607" r="23132" b="9991"/>
          <a:stretch/>
        </p:blipFill>
        <p:spPr>
          <a:xfrm>
            <a:off x="7108513" y="965994"/>
            <a:ext cx="4800599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5931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306387" y="152400"/>
            <a:ext cx="11582400" cy="712788"/>
          </a:xfrm>
        </p:spPr>
        <p:txBody>
          <a:bodyPr>
            <a:normAutofit/>
          </a:bodyPr>
          <a:lstStyle/>
          <a:p>
            <a:r>
              <a:rPr lang="en-GB" dirty="0"/>
              <a:t>Main Memory –Cache Organization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336705" y="1335998"/>
            <a:ext cx="5173767" cy="4186003"/>
          </a:xfrm>
        </p:spPr>
        <p:txBody>
          <a:bodyPr>
            <a:noAutofit/>
          </a:bodyPr>
          <a:lstStyle/>
          <a:p>
            <a:pPr algn="just">
              <a:spcAft>
                <a:spcPts val="600"/>
              </a:spcAft>
            </a:pPr>
            <a:r>
              <a:rPr lang="en-GB" b="1" dirty="0">
                <a:solidFill>
                  <a:srgbClr val="0000FF"/>
                </a:solidFill>
              </a:rPr>
              <a:t>Cache memory(1/2):</a:t>
            </a:r>
          </a:p>
          <a:p>
            <a:pPr algn="just"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Consisting of m blocks, called lines;</a:t>
            </a:r>
          </a:p>
          <a:p>
            <a:pPr algn="just"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Each line contains K words;</a:t>
            </a:r>
          </a:p>
          <a:p>
            <a:pPr algn="just"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Each line also includes control bits:</a:t>
            </a:r>
          </a:p>
          <a:p>
            <a:pPr lvl="1" algn="just">
              <a:spcAft>
                <a:spcPts val="600"/>
              </a:spcAft>
            </a:pPr>
            <a:r>
              <a:rPr lang="en-GB" b="1" dirty="0">
                <a:solidFill>
                  <a:schemeClr val="tx1"/>
                </a:solidFill>
              </a:rPr>
              <a:t>Not shown in the figure</a:t>
            </a:r>
            <a:r>
              <a:rPr lang="en-GB" dirty="0">
                <a:solidFill>
                  <a:schemeClr val="tx1"/>
                </a:solidFill>
              </a:rPr>
              <a:t>;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25</a:t>
            </a:fld>
            <a:endParaRPr lang="en-US">
              <a:latin typeface="Arial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FBA67E-A8B4-4DBF-AE47-1261D306C4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00" t="18881" r="16259" b="37774"/>
          <a:stretch/>
        </p:blipFill>
        <p:spPr>
          <a:xfrm>
            <a:off x="5626999" y="1447800"/>
            <a:ext cx="6261788" cy="4643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2021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306387" y="152400"/>
            <a:ext cx="11582400" cy="712788"/>
          </a:xfrm>
        </p:spPr>
        <p:txBody>
          <a:bodyPr>
            <a:normAutofit/>
          </a:bodyPr>
          <a:lstStyle/>
          <a:p>
            <a:r>
              <a:rPr lang="en-GB" dirty="0"/>
              <a:t>Main Memory –Cache Organization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314220" y="990600"/>
            <a:ext cx="5021367" cy="5329003"/>
          </a:xfrm>
        </p:spPr>
        <p:txBody>
          <a:bodyPr>
            <a:noAutofit/>
          </a:bodyPr>
          <a:lstStyle/>
          <a:p>
            <a:pPr algn="just">
              <a:spcAft>
                <a:spcPts val="600"/>
              </a:spcAft>
            </a:pPr>
            <a:r>
              <a:rPr lang="en-GB" b="1" dirty="0">
                <a:solidFill>
                  <a:srgbClr val="0000FF"/>
                </a:solidFill>
              </a:rPr>
              <a:t>Cache memory (2/2): </a:t>
            </a:r>
          </a:p>
          <a:p>
            <a:pPr algn="just"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If a word in a block of memory is read: </a:t>
            </a:r>
          </a:p>
          <a:p>
            <a:pPr lvl="1" algn="just">
              <a:spcAft>
                <a:spcPts val="600"/>
              </a:spcAft>
            </a:pPr>
            <a:r>
              <a:rPr lang="en-GB" b="1" dirty="0"/>
              <a:t>Block is transferred to a cache line; </a:t>
            </a:r>
          </a:p>
          <a:p>
            <a:pPr algn="just"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Because m ≪ M lines: </a:t>
            </a:r>
          </a:p>
          <a:p>
            <a:pPr lvl="1" algn="just">
              <a:spcAft>
                <a:spcPts val="600"/>
              </a:spcAft>
            </a:pPr>
            <a:r>
              <a:rPr lang="en-GB" b="1" dirty="0"/>
              <a:t>Cannot permanently store a block. </a:t>
            </a:r>
          </a:p>
          <a:p>
            <a:pPr lvl="1" algn="just">
              <a:spcAft>
                <a:spcPts val="600"/>
              </a:spcAft>
            </a:pPr>
            <a:r>
              <a:rPr lang="en-GB" b="1" dirty="0"/>
              <a:t>Need to identify the block stored; </a:t>
            </a:r>
          </a:p>
          <a:p>
            <a:pPr lvl="2" algn="just">
              <a:spcAft>
                <a:spcPts val="600"/>
              </a:spcAft>
            </a:pPr>
            <a:r>
              <a:rPr lang="en-GB" b="1" dirty="0">
                <a:solidFill>
                  <a:schemeClr val="tx1"/>
                </a:solidFill>
              </a:rPr>
              <a:t>Info stored in the tag field;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26</a:t>
            </a:fld>
            <a:endParaRPr lang="en-US">
              <a:latin typeface="Arial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FBA67E-A8B4-4DBF-AE47-1261D306C4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00" t="18881" r="16259" b="37774"/>
          <a:stretch/>
        </p:blipFill>
        <p:spPr>
          <a:xfrm>
            <a:off x="5716587" y="1147997"/>
            <a:ext cx="6429048" cy="4643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0896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306387" y="76200"/>
            <a:ext cx="11582400" cy="712788"/>
          </a:xfrm>
        </p:spPr>
        <p:txBody>
          <a:bodyPr>
            <a:normAutofit/>
          </a:bodyPr>
          <a:lstStyle/>
          <a:p>
            <a:r>
              <a:rPr lang="en-GB" sz="3600" dirty="0"/>
              <a:t>Cache Read Operation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27</a:t>
            </a:fld>
            <a:endParaRPr lang="en-US">
              <a:latin typeface="Arial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AFEF9F-3FBD-4EB8-A692-ACF33C7BEE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755" t="15548" r="31880" b="14436"/>
          <a:stretch/>
        </p:blipFill>
        <p:spPr>
          <a:xfrm>
            <a:off x="1982788" y="788989"/>
            <a:ext cx="8610600" cy="545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2733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306387" y="152400"/>
            <a:ext cx="11582400" cy="712788"/>
          </a:xfrm>
        </p:spPr>
        <p:txBody>
          <a:bodyPr>
            <a:normAutofit/>
          </a:bodyPr>
          <a:lstStyle/>
          <a:p>
            <a:r>
              <a:rPr lang="en-GB" dirty="0"/>
              <a:t>Cache Read Operation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230187" y="1143000"/>
            <a:ext cx="11742633" cy="4724400"/>
          </a:xfrm>
        </p:spPr>
        <p:txBody>
          <a:bodyPr>
            <a:noAutofit/>
          </a:bodyPr>
          <a:lstStyle/>
          <a:p>
            <a:pPr algn="just">
              <a:spcAft>
                <a:spcPts val="1800"/>
              </a:spcAft>
            </a:pPr>
            <a:r>
              <a:rPr lang="en-GB" dirty="0">
                <a:solidFill>
                  <a:schemeClr val="tx1"/>
                </a:solidFill>
              </a:rPr>
              <a:t>Processor generates read address (RA) of word to be read;</a:t>
            </a:r>
          </a:p>
          <a:p>
            <a:pPr algn="just">
              <a:spcAft>
                <a:spcPts val="1800"/>
              </a:spcAft>
            </a:pPr>
            <a:r>
              <a:rPr lang="en-GB" dirty="0">
                <a:solidFill>
                  <a:schemeClr val="tx1"/>
                </a:solidFill>
              </a:rPr>
              <a:t>If the word ∈ cache, it is delivered to the processor;</a:t>
            </a:r>
          </a:p>
          <a:p>
            <a:pPr algn="just">
              <a:spcAft>
                <a:spcPts val="1800"/>
              </a:spcAft>
            </a:pPr>
            <a:r>
              <a:rPr lang="en-GB" dirty="0">
                <a:solidFill>
                  <a:schemeClr val="tx1"/>
                </a:solidFill>
              </a:rPr>
              <a:t>Otherwise:</a:t>
            </a:r>
          </a:p>
          <a:p>
            <a:pPr lvl="1" algn="just">
              <a:spcAft>
                <a:spcPts val="1800"/>
              </a:spcAft>
            </a:pPr>
            <a:r>
              <a:rPr lang="en-GB" b="1" dirty="0"/>
              <a:t>Block containing that word is loaded into the cache;</a:t>
            </a:r>
          </a:p>
          <a:p>
            <a:pPr lvl="1" algn="just">
              <a:spcAft>
                <a:spcPts val="1800"/>
              </a:spcAft>
            </a:pPr>
            <a:r>
              <a:rPr lang="en-GB" b="1" dirty="0"/>
              <a:t>Word is delivered to the processor;</a:t>
            </a:r>
          </a:p>
          <a:p>
            <a:pPr lvl="1" algn="just">
              <a:spcAft>
                <a:spcPts val="1800"/>
              </a:spcAft>
            </a:pPr>
            <a:r>
              <a:rPr lang="en-GB" b="1" dirty="0"/>
              <a:t>These last two operations occurring in parallel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28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21561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306387" y="152400"/>
            <a:ext cx="11582400" cy="712788"/>
          </a:xfrm>
        </p:spPr>
        <p:txBody>
          <a:bodyPr>
            <a:normAutofit/>
          </a:bodyPr>
          <a:lstStyle/>
          <a:p>
            <a:r>
              <a:rPr lang="en-GB" dirty="0"/>
              <a:t>Typical Cache Organization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29</a:t>
            </a:fld>
            <a:endParaRPr lang="en-US">
              <a:latin typeface="Arial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9123BB-14C3-43EC-9F9B-1628DC33F6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631" t="26855" r="26256" b="10909"/>
          <a:stretch/>
        </p:blipFill>
        <p:spPr>
          <a:xfrm>
            <a:off x="1754187" y="1066799"/>
            <a:ext cx="8991600" cy="509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0941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277812" y="168352"/>
            <a:ext cx="11307604" cy="898448"/>
          </a:xfrm>
        </p:spPr>
        <p:txBody>
          <a:bodyPr>
            <a:normAutofit/>
          </a:bodyPr>
          <a:lstStyle/>
          <a:p>
            <a:r>
              <a:rPr lang="en-GB" dirty="0"/>
              <a:t>Explanation of Diagram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30</a:t>
            </a:fld>
            <a:endParaRPr lang="en-US">
              <a:latin typeface="Arial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D4FA15-585B-454C-831A-6F80F1A96958}"/>
              </a:ext>
            </a:extLst>
          </p:cNvPr>
          <p:cNvSpPr/>
          <p:nvPr/>
        </p:nvSpPr>
        <p:spPr>
          <a:xfrm>
            <a:off x="309379" y="1536174"/>
            <a:ext cx="1179195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latin typeface="Rockwell" panose="02060603020205020403" pitchFamily="18" charset="0"/>
              </a:rPr>
              <a:t>The cache:</a:t>
            </a:r>
          </a:p>
          <a:p>
            <a:pPr marL="457200" indent="-457200" algn="just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latin typeface="Rockwell" panose="02060603020205020403" pitchFamily="18" charset="0"/>
              </a:rPr>
              <a:t>Connects to the processor via data, control, and address lines;</a:t>
            </a:r>
          </a:p>
          <a:p>
            <a:pPr marL="457200" indent="-457200" algn="just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latin typeface="Rockwell" panose="02060603020205020403" pitchFamily="18" charset="0"/>
              </a:rPr>
              <a:t>Data and address lines also attach to data and address buffers:</a:t>
            </a:r>
          </a:p>
          <a:p>
            <a:pPr marL="457200" indent="-457200" algn="just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latin typeface="Rockwell" panose="02060603020205020403" pitchFamily="18" charset="0"/>
              </a:rPr>
              <a:t>Which attach to a system bus...</a:t>
            </a:r>
          </a:p>
          <a:p>
            <a:pPr marL="457200" indent="-457200" algn="just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latin typeface="Rockwell" panose="02060603020205020403" pitchFamily="18" charset="0"/>
              </a:rPr>
              <a:t>from which main memory is reached</a:t>
            </a:r>
            <a:endParaRPr lang="en-GB" sz="4000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54408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687387" y="152400"/>
            <a:ext cx="10975658" cy="712788"/>
          </a:xfrm>
        </p:spPr>
        <p:txBody>
          <a:bodyPr>
            <a:normAutofit/>
          </a:bodyPr>
          <a:lstStyle/>
          <a:p>
            <a:r>
              <a:rPr lang="en-GB" dirty="0"/>
              <a:t>What happens when a word is in Cache?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306387" y="1371600"/>
            <a:ext cx="11582400" cy="3886200"/>
          </a:xfrm>
        </p:spPr>
        <p:txBody>
          <a:bodyPr>
            <a:noAutofit/>
          </a:bodyPr>
          <a:lstStyle/>
          <a:p>
            <a:pPr algn="just">
              <a:spcAft>
                <a:spcPts val="3000"/>
              </a:spcAft>
            </a:pPr>
            <a:r>
              <a:rPr lang="en-GB" b="1" dirty="0">
                <a:solidFill>
                  <a:srgbClr val="7A0000"/>
                </a:solidFill>
              </a:rPr>
              <a:t>When a cache hit occurs </a:t>
            </a:r>
            <a:r>
              <a:rPr lang="en-GB" dirty="0">
                <a:solidFill>
                  <a:schemeClr val="tx1"/>
                </a:solidFill>
              </a:rPr>
              <a:t>(word is in cache):</a:t>
            </a:r>
          </a:p>
          <a:p>
            <a:pPr algn="just">
              <a:spcAft>
                <a:spcPts val="3000"/>
              </a:spcAft>
            </a:pPr>
            <a:r>
              <a:rPr lang="en-GB" dirty="0">
                <a:solidFill>
                  <a:schemeClr val="tx1"/>
                </a:solidFill>
              </a:rPr>
              <a:t>the data and address buffers are disabled;</a:t>
            </a:r>
          </a:p>
          <a:p>
            <a:pPr algn="just">
              <a:spcAft>
                <a:spcPts val="3000"/>
              </a:spcAft>
            </a:pPr>
            <a:r>
              <a:rPr lang="en-GB" dirty="0">
                <a:solidFill>
                  <a:schemeClr val="tx1"/>
                </a:solidFill>
              </a:rPr>
              <a:t>communication is only between processor and cache;</a:t>
            </a:r>
          </a:p>
          <a:p>
            <a:pPr algn="just">
              <a:spcAft>
                <a:spcPts val="3000"/>
              </a:spcAft>
            </a:pPr>
            <a:r>
              <a:rPr lang="en-GB" dirty="0">
                <a:solidFill>
                  <a:schemeClr val="tx1"/>
                </a:solidFill>
              </a:rPr>
              <a:t>• no system bus traffic.</a:t>
            </a:r>
            <a:endParaRPr lang="en-GB" sz="2800" b="1" dirty="0">
              <a:solidFill>
                <a:schemeClr val="tx1"/>
              </a:solidFill>
            </a:endParaRP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31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7260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687387" y="124918"/>
            <a:ext cx="10975658" cy="712788"/>
          </a:xfrm>
        </p:spPr>
        <p:txBody>
          <a:bodyPr>
            <a:normAutofit fontScale="90000"/>
          </a:bodyPr>
          <a:lstStyle/>
          <a:p>
            <a:r>
              <a:rPr lang="en-GB" dirty="0"/>
              <a:t>What happens when a word is NOT in Cache?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384016" y="1371600"/>
            <a:ext cx="11582400" cy="3429000"/>
          </a:xfrm>
        </p:spPr>
        <p:txBody>
          <a:bodyPr>
            <a:noAutofit/>
          </a:bodyPr>
          <a:lstStyle/>
          <a:p>
            <a:pPr algn="just">
              <a:spcAft>
                <a:spcPts val="3000"/>
              </a:spcAft>
            </a:pPr>
            <a:r>
              <a:rPr lang="en-GB" b="1" dirty="0">
                <a:solidFill>
                  <a:srgbClr val="7A0000"/>
                </a:solidFill>
              </a:rPr>
              <a:t>When a cache miss occurs </a:t>
            </a:r>
            <a:r>
              <a:rPr lang="en-GB" dirty="0">
                <a:solidFill>
                  <a:schemeClr val="tx1"/>
                </a:solidFill>
              </a:rPr>
              <a:t>(word is not in cache):</a:t>
            </a:r>
          </a:p>
          <a:p>
            <a:pPr algn="just">
              <a:spcAft>
                <a:spcPts val="3000"/>
              </a:spcAft>
            </a:pPr>
            <a:r>
              <a:rPr lang="en-GB" dirty="0">
                <a:solidFill>
                  <a:schemeClr val="tx1"/>
                </a:solidFill>
              </a:rPr>
              <a:t>the desired address is loaded onto the system bus;</a:t>
            </a:r>
          </a:p>
          <a:p>
            <a:pPr algn="just">
              <a:spcAft>
                <a:spcPts val="3000"/>
              </a:spcAft>
            </a:pPr>
            <a:r>
              <a:rPr lang="en-GB" dirty="0">
                <a:solidFill>
                  <a:schemeClr val="tx1"/>
                </a:solidFill>
              </a:rPr>
              <a:t>the data are returned through the data buffer...</a:t>
            </a:r>
          </a:p>
          <a:p>
            <a:pPr algn="just">
              <a:spcAft>
                <a:spcPts val="3000"/>
              </a:spcAft>
            </a:pPr>
            <a:r>
              <a:rPr lang="en-GB" dirty="0">
                <a:solidFill>
                  <a:schemeClr val="tx1"/>
                </a:solidFill>
              </a:rPr>
              <a:t>...to both the cache and the processor</a:t>
            </a:r>
            <a:endParaRPr lang="en-GB" sz="2800" b="1" dirty="0">
              <a:solidFill>
                <a:schemeClr val="tx1"/>
              </a:solidFill>
            </a:endParaRP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32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2116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306387" y="152400"/>
            <a:ext cx="11356658" cy="712788"/>
          </a:xfrm>
        </p:spPr>
        <p:txBody>
          <a:bodyPr>
            <a:normAutofit/>
          </a:bodyPr>
          <a:lstStyle/>
          <a:p>
            <a:r>
              <a:rPr lang="en-GB" sz="3600" dirty="0"/>
              <a:t>Elements of Cache Design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33</a:t>
            </a:fld>
            <a:endParaRPr lang="en-US">
              <a:latin typeface="Arial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86D10D-2E08-49EA-9651-A74F88C9B8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755" t="27773" r="30005" b="17771"/>
          <a:stretch/>
        </p:blipFill>
        <p:spPr>
          <a:xfrm>
            <a:off x="1868487" y="865188"/>
            <a:ext cx="84582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6795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611187" y="304800"/>
            <a:ext cx="10975658" cy="712788"/>
          </a:xfrm>
        </p:spPr>
        <p:txBody>
          <a:bodyPr>
            <a:normAutofit/>
          </a:bodyPr>
          <a:lstStyle/>
          <a:p>
            <a:pPr fontAlgn="base"/>
            <a:r>
              <a:rPr lang="en-GB" dirty="0"/>
              <a:t>Cache Addresses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306387" y="1657662"/>
            <a:ext cx="11582400" cy="4038600"/>
          </a:xfrm>
        </p:spPr>
        <p:txBody>
          <a:bodyPr>
            <a:noAutofit/>
          </a:bodyPr>
          <a:lstStyle/>
          <a:p>
            <a:pPr algn="just" fontAlgn="base">
              <a:spcAft>
                <a:spcPts val="2400"/>
              </a:spcAft>
            </a:pPr>
            <a:r>
              <a:rPr lang="en-GB" b="1" dirty="0">
                <a:solidFill>
                  <a:schemeClr val="tx1"/>
                </a:solidFill>
              </a:rPr>
              <a:t>There are two types of cache addresses:</a:t>
            </a:r>
          </a:p>
          <a:p>
            <a:pPr algn="just" fontAlgn="base">
              <a:spcAft>
                <a:spcPts val="2400"/>
              </a:spcAft>
            </a:pPr>
            <a:r>
              <a:rPr lang="en-GB" dirty="0">
                <a:solidFill>
                  <a:schemeClr val="tx1"/>
                </a:solidFill>
              </a:rPr>
              <a:t>Physical addresses:</a:t>
            </a:r>
          </a:p>
          <a:p>
            <a:pPr lvl="1" algn="just" fontAlgn="base">
              <a:spcAft>
                <a:spcPts val="2400"/>
              </a:spcAft>
            </a:pPr>
            <a:r>
              <a:rPr lang="en-GB" b="1" dirty="0"/>
              <a:t>Actual memory addresses;</a:t>
            </a:r>
          </a:p>
          <a:p>
            <a:pPr algn="just" fontAlgn="base">
              <a:spcAft>
                <a:spcPts val="2400"/>
              </a:spcAft>
            </a:pPr>
            <a:r>
              <a:rPr lang="en-GB" dirty="0">
                <a:solidFill>
                  <a:schemeClr val="tx1"/>
                </a:solidFill>
              </a:rPr>
              <a:t>Logical addresses:</a:t>
            </a:r>
          </a:p>
          <a:p>
            <a:pPr lvl="1" algn="just" fontAlgn="base">
              <a:spcAft>
                <a:spcPts val="2400"/>
              </a:spcAft>
            </a:pPr>
            <a:r>
              <a:rPr lang="en-GB" b="1" dirty="0"/>
              <a:t>Virtual-memory addresses;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34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26674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611187" y="152400"/>
            <a:ext cx="10975658" cy="712788"/>
          </a:xfrm>
        </p:spPr>
        <p:txBody>
          <a:bodyPr>
            <a:normAutofit/>
          </a:bodyPr>
          <a:lstStyle/>
          <a:p>
            <a:pPr fontAlgn="base"/>
            <a:r>
              <a:rPr lang="en-GB" dirty="0"/>
              <a:t>Cache Addresses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306387" y="914400"/>
            <a:ext cx="11582400" cy="5029200"/>
          </a:xfrm>
        </p:spPr>
        <p:txBody>
          <a:bodyPr>
            <a:noAutofit/>
          </a:bodyPr>
          <a:lstStyle/>
          <a:p>
            <a:pPr algn="just" fontAlgn="base">
              <a:spcAft>
                <a:spcPts val="2400"/>
              </a:spcAft>
            </a:pPr>
            <a:r>
              <a:rPr lang="en-GB" dirty="0">
                <a:solidFill>
                  <a:schemeClr val="tx1"/>
                </a:solidFill>
              </a:rPr>
              <a:t>Virtual memory performs mapping between:</a:t>
            </a:r>
          </a:p>
          <a:p>
            <a:pPr algn="just" fontAlgn="base">
              <a:spcAft>
                <a:spcPts val="2400"/>
              </a:spcAft>
            </a:pPr>
            <a:r>
              <a:rPr lang="en-GB" dirty="0">
                <a:solidFill>
                  <a:schemeClr val="tx1"/>
                </a:solidFill>
              </a:rPr>
              <a:t>Logical addresses used by a program into physical addresses.</a:t>
            </a:r>
          </a:p>
          <a:p>
            <a:pPr algn="just" fontAlgn="base">
              <a:spcAft>
                <a:spcPts val="2400"/>
              </a:spcAft>
            </a:pPr>
            <a:r>
              <a:rPr lang="en-GB" dirty="0">
                <a:solidFill>
                  <a:schemeClr val="tx1"/>
                </a:solidFill>
              </a:rPr>
              <a:t>Why is this important?</a:t>
            </a:r>
          </a:p>
          <a:p>
            <a:pPr algn="just" fontAlgn="base">
              <a:spcAft>
                <a:spcPts val="2400"/>
              </a:spcAft>
            </a:pPr>
            <a:r>
              <a:rPr lang="en-GB" dirty="0">
                <a:solidFill>
                  <a:schemeClr val="tx1"/>
                </a:solidFill>
              </a:rPr>
              <a:t>Main idea behind virtual memory:</a:t>
            </a:r>
          </a:p>
          <a:p>
            <a:pPr lvl="1" algn="just" fontAlgn="base">
              <a:spcAft>
                <a:spcPts val="2400"/>
              </a:spcAft>
            </a:pPr>
            <a:r>
              <a:rPr lang="en-GB" sz="2800" b="1" dirty="0"/>
              <a:t>Cache Addresses</a:t>
            </a:r>
          </a:p>
          <a:p>
            <a:pPr lvl="1" algn="just" fontAlgn="base">
              <a:spcAft>
                <a:spcPts val="2400"/>
              </a:spcAft>
            </a:pPr>
            <a:r>
              <a:rPr lang="en-GB" sz="2800" b="1" dirty="0"/>
              <a:t>Disregard amount of main memory available;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35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404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242444" y="152400"/>
            <a:ext cx="3733800" cy="712788"/>
          </a:xfrm>
        </p:spPr>
        <p:txBody>
          <a:bodyPr>
            <a:normAutofit/>
          </a:bodyPr>
          <a:lstStyle/>
          <a:p>
            <a:pPr algn="l" fontAlgn="base"/>
            <a:r>
              <a:rPr lang="en-GB" sz="3200" dirty="0"/>
              <a:t>Cache Addresses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225867" y="1026434"/>
            <a:ext cx="2899920" cy="3684588"/>
          </a:xfrm>
        </p:spPr>
        <p:txBody>
          <a:bodyPr>
            <a:noAutofit/>
          </a:bodyPr>
          <a:lstStyle/>
          <a:p>
            <a:pPr algn="just" fontAlgn="base">
              <a:spcAft>
                <a:spcPts val="2400"/>
              </a:spcAft>
            </a:pPr>
            <a:r>
              <a:rPr lang="en-GB" dirty="0">
                <a:solidFill>
                  <a:schemeClr val="tx1"/>
                </a:solidFill>
              </a:rPr>
              <a:t>With virtual memory, cache may be placed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36</a:t>
            </a:fld>
            <a:endParaRPr lang="en-US">
              <a:latin typeface="Arial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AB8A11-8070-4B65-B2E5-8562D44878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883" t="24438" r="32504" b="14043"/>
          <a:stretch/>
        </p:blipFill>
        <p:spPr>
          <a:xfrm>
            <a:off x="3976244" y="304800"/>
            <a:ext cx="7993064" cy="59436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62656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242443" y="76200"/>
            <a:ext cx="11662919" cy="685800"/>
          </a:xfrm>
        </p:spPr>
        <p:txBody>
          <a:bodyPr>
            <a:normAutofit/>
          </a:bodyPr>
          <a:lstStyle/>
          <a:p>
            <a:pPr fontAlgn="base"/>
            <a:r>
              <a:rPr lang="en-GB" sz="3600" dirty="0"/>
              <a:t>What is the difference?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225867" y="762000"/>
            <a:ext cx="11662920" cy="5638800"/>
          </a:xfrm>
        </p:spPr>
        <p:txBody>
          <a:bodyPr>
            <a:noAutofit/>
          </a:bodyPr>
          <a:lstStyle/>
          <a:p>
            <a:pPr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sz="2600" dirty="0">
                <a:solidFill>
                  <a:schemeClr val="tx1"/>
                </a:solidFill>
              </a:rPr>
              <a:t>Virtual cache stores data using logical addresses.</a:t>
            </a:r>
          </a:p>
          <a:p>
            <a:pPr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sz="2600" dirty="0">
                <a:solidFill>
                  <a:schemeClr val="tx1"/>
                </a:solidFill>
              </a:rPr>
              <a:t>Processor accesses the cache directly, without going through the MMU.</a:t>
            </a:r>
          </a:p>
          <a:p>
            <a:pPr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sz="2600" dirty="0">
                <a:solidFill>
                  <a:schemeClr val="tx1"/>
                </a:solidFill>
              </a:rPr>
              <a:t>Advantage:</a:t>
            </a:r>
          </a:p>
          <a:p>
            <a:pPr lvl="1"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sz="2200" b="1" dirty="0"/>
              <a:t>Faster access speed;</a:t>
            </a:r>
          </a:p>
          <a:p>
            <a:pPr lvl="1"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sz="2200" b="1" dirty="0"/>
              <a:t>Cache can respond without the need for an MMU address translation;</a:t>
            </a:r>
          </a:p>
          <a:p>
            <a:pPr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sz="2600" dirty="0">
                <a:solidFill>
                  <a:schemeClr val="tx1"/>
                </a:solidFill>
              </a:rPr>
              <a:t>Disadvantage:</a:t>
            </a:r>
          </a:p>
          <a:p>
            <a:pPr lvl="1"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sz="2200" b="1" dirty="0"/>
              <a:t>Same virtual address in two different applications refers to two different</a:t>
            </a:r>
          </a:p>
          <a:p>
            <a:pPr marL="400050" lvl="1" indent="0" algn="just" fontAlgn="base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200" b="1" dirty="0"/>
              <a:t>     physical addresses;</a:t>
            </a:r>
          </a:p>
          <a:p>
            <a:pPr lvl="1"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sz="2200" b="1" dirty="0"/>
              <a:t>Therefore cache must be flushed with each application context switch...</a:t>
            </a:r>
          </a:p>
          <a:p>
            <a:pPr lvl="1"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sz="2200" b="1" dirty="0"/>
              <a:t>...or extra bits must be added to each cache line</a:t>
            </a:r>
          </a:p>
          <a:p>
            <a:pPr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sz="2600" dirty="0">
                <a:solidFill>
                  <a:schemeClr val="tx1"/>
                </a:solidFill>
              </a:rPr>
              <a:t>to identify which virtual address space this address refers to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37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18249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242443" y="76200"/>
            <a:ext cx="11662919" cy="685800"/>
          </a:xfrm>
        </p:spPr>
        <p:txBody>
          <a:bodyPr>
            <a:normAutofit/>
          </a:bodyPr>
          <a:lstStyle/>
          <a:p>
            <a:pPr fontAlgn="base"/>
            <a:r>
              <a:rPr lang="en-GB" sz="3600" dirty="0"/>
              <a:t>Cache Size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289812" y="990600"/>
            <a:ext cx="11662920" cy="4495800"/>
          </a:xfrm>
        </p:spPr>
        <p:txBody>
          <a:bodyPr>
            <a:noAutofit/>
          </a:bodyPr>
          <a:lstStyle/>
          <a:p>
            <a:pPr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sz="2600" dirty="0">
                <a:solidFill>
                  <a:schemeClr val="tx1"/>
                </a:solidFill>
              </a:rPr>
              <a:t>Cache size should be:</a:t>
            </a:r>
          </a:p>
          <a:p>
            <a:pPr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sz="2600" dirty="0">
                <a:solidFill>
                  <a:schemeClr val="tx1"/>
                </a:solidFill>
              </a:rPr>
              <a:t>Small enough so that overall:</a:t>
            </a:r>
          </a:p>
          <a:p>
            <a:pPr lvl="1"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sz="2600" b="1" dirty="0"/>
              <a:t>Average cost per bit is close to that of main memory alone;</a:t>
            </a:r>
          </a:p>
          <a:p>
            <a:pPr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sz="2600" dirty="0">
                <a:solidFill>
                  <a:schemeClr val="tx1"/>
                </a:solidFill>
              </a:rPr>
              <a:t>• Large enough so that the overall</a:t>
            </a:r>
          </a:p>
          <a:p>
            <a:pPr lvl="1"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sz="2600" b="1" dirty="0"/>
              <a:t>Average access time is close to that of the cache alone;</a:t>
            </a:r>
          </a:p>
          <a:p>
            <a:pPr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sz="2600" dirty="0">
                <a:solidFill>
                  <a:schemeClr val="tx1"/>
                </a:solidFill>
              </a:rPr>
              <a:t>The larger the cache, the more complex the addressing logic:</a:t>
            </a:r>
          </a:p>
          <a:p>
            <a:pPr lvl="1"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sz="2600" b="1" dirty="0"/>
              <a:t>Result: large caches tend to be slightly slower than small ones</a:t>
            </a:r>
          </a:p>
          <a:p>
            <a:pPr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sz="2600" dirty="0">
                <a:solidFill>
                  <a:schemeClr val="tx1"/>
                </a:solidFill>
              </a:rPr>
              <a:t>Available chip and board area also limits cache size.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38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1501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242443" y="76200"/>
            <a:ext cx="11662919" cy="685800"/>
          </a:xfrm>
        </p:spPr>
        <p:txBody>
          <a:bodyPr>
            <a:normAutofit/>
          </a:bodyPr>
          <a:lstStyle/>
          <a:p>
            <a:pPr fontAlgn="base"/>
            <a:r>
              <a:rPr lang="en-GB" sz="3600" dirty="0"/>
              <a:t>Cache Mapping Functions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289812" y="1066800"/>
            <a:ext cx="11662920" cy="4419600"/>
          </a:xfrm>
        </p:spPr>
        <p:txBody>
          <a:bodyPr>
            <a:noAutofit/>
          </a:bodyPr>
          <a:lstStyle/>
          <a:p>
            <a:pPr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dirty="0">
                <a:solidFill>
                  <a:schemeClr val="tx1"/>
                </a:solidFill>
              </a:rPr>
              <a:t>Recall that there are fewer cache lines than main memory blocks</a:t>
            </a:r>
          </a:p>
          <a:p>
            <a:pPr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dirty="0">
                <a:solidFill>
                  <a:schemeClr val="tx1"/>
                </a:solidFill>
              </a:rPr>
              <a:t>How should one map main memory blocks into cache lines?</a:t>
            </a:r>
          </a:p>
          <a:p>
            <a:pPr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dirty="0">
                <a:solidFill>
                  <a:schemeClr val="tx1"/>
                </a:solidFill>
              </a:rPr>
              <a:t>Three techniques can be used for mapping blocks into cache lines:</a:t>
            </a:r>
          </a:p>
          <a:p>
            <a:pPr lvl="1"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sz="2800" b="1" dirty="0"/>
              <a:t>Direct;</a:t>
            </a:r>
          </a:p>
          <a:p>
            <a:pPr lvl="1"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sz="2800" b="1" dirty="0"/>
              <a:t>Associative;</a:t>
            </a:r>
          </a:p>
          <a:p>
            <a:pPr lvl="1"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sz="2800" b="1" dirty="0"/>
              <a:t>Set associative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39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87679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242443" y="76200"/>
            <a:ext cx="11662919" cy="685800"/>
          </a:xfrm>
        </p:spPr>
        <p:txBody>
          <a:bodyPr>
            <a:normAutofit/>
          </a:bodyPr>
          <a:lstStyle/>
          <a:p>
            <a:pPr fontAlgn="base"/>
            <a:r>
              <a:rPr lang="en-GB" sz="3600" dirty="0"/>
              <a:t>Direct Mapping Function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289812" y="1066800"/>
            <a:ext cx="11662920" cy="4724400"/>
          </a:xfrm>
        </p:spPr>
        <p:txBody>
          <a:bodyPr>
            <a:noAutofit/>
          </a:bodyPr>
          <a:lstStyle/>
          <a:p>
            <a:pPr marL="0" indent="0" algn="just" fontAlgn="base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>
                <a:solidFill>
                  <a:schemeClr val="tx1"/>
                </a:solidFill>
              </a:rPr>
              <a:t>The simplest technique, known as direct mapping, maps each block of main memory into only one possible cache line. </a:t>
            </a:r>
          </a:p>
          <a:p>
            <a:pPr marL="0" indent="0" algn="just" fontAlgn="base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>
                <a:solidFill>
                  <a:schemeClr val="tx1"/>
                </a:solidFill>
              </a:rPr>
              <a:t>The mapping is expressed as</a:t>
            </a:r>
          </a:p>
          <a:p>
            <a:pPr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dirty="0" err="1">
                <a:solidFill>
                  <a:schemeClr val="tx1"/>
                </a:solidFill>
              </a:rPr>
              <a:t>i</a:t>
            </a:r>
            <a:r>
              <a:rPr lang="en-GB" dirty="0">
                <a:solidFill>
                  <a:schemeClr val="tx1"/>
                </a:solidFill>
              </a:rPr>
              <a:t> = j modulo m</a:t>
            </a:r>
          </a:p>
          <a:p>
            <a:pPr marL="0" indent="0" algn="just" fontAlgn="base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>
                <a:solidFill>
                  <a:schemeClr val="tx1"/>
                </a:solidFill>
              </a:rPr>
              <a:t>where</a:t>
            </a:r>
          </a:p>
          <a:p>
            <a:pPr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dirty="0" err="1">
                <a:solidFill>
                  <a:schemeClr val="tx1"/>
                </a:solidFill>
              </a:rPr>
              <a:t>i</a:t>
            </a:r>
            <a:r>
              <a:rPr lang="en-GB" dirty="0">
                <a:solidFill>
                  <a:schemeClr val="tx1"/>
                </a:solidFill>
              </a:rPr>
              <a:t> = cache line number</a:t>
            </a:r>
          </a:p>
          <a:p>
            <a:pPr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dirty="0">
                <a:solidFill>
                  <a:schemeClr val="tx1"/>
                </a:solidFill>
              </a:rPr>
              <a:t>j = main memory block number</a:t>
            </a:r>
          </a:p>
          <a:p>
            <a:pPr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dirty="0">
                <a:solidFill>
                  <a:schemeClr val="tx1"/>
                </a:solidFill>
              </a:rPr>
              <a:t>m = number of lines in the cache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40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923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242443" y="76200"/>
            <a:ext cx="11662919" cy="685800"/>
          </a:xfrm>
        </p:spPr>
        <p:txBody>
          <a:bodyPr>
            <a:normAutofit/>
          </a:bodyPr>
          <a:lstStyle/>
          <a:p>
            <a:pPr fontAlgn="base"/>
            <a:r>
              <a:rPr lang="en-GB" sz="3600" dirty="0"/>
              <a:t>Direct Mapping Function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41</a:t>
            </a:fld>
            <a:endParaRPr lang="en-US">
              <a:latin typeface="Arial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81C947-A25D-4A05-866E-36E9A2959F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008" t="22216" r="21258" b="24438"/>
          <a:stretch/>
        </p:blipFill>
        <p:spPr>
          <a:xfrm>
            <a:off x="1144587" y="955117"/>
            <a:ext cx="10134599" cy="5175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9988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242443" y="76200"/>
            <a:ext cx="11662919" cy="685800"/>
          </a:xfrm>
        </p:spPr>
        <p:txBody>
          <a:bodyPr>
            <a:normAutofit/>
          </a:bodyPr>
          <a:lstStyle/>
          <a:p>
            <a:pPr fontAlgn="base"/>
            <a:r>
              <a:rPr lang="en-GB" sz="3600" dirty="0"/>
              <a:t>Direct Mapping Function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42</a:t>
            </a:fld>
            <a:endParaRPr lang="en-US">
              <a:latin typeface="Arial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9F0D227-726F-454B-9885-7E7B62642D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383" t="21105" r="26881" b="16660"/>
          <a:stretch/>
        </p:blipFill>
        <p:spPr>
          <a:xfrm>
            <a:off x="1373187" y="762000"/>
            <a:ext cx="9372600" cy="54864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528427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611187" y="304800"/>
            <a:ext cx="10975658" cy="712788"/>
          </a:xfrm>
        </p:spPr>
        <p:txBody>
          <a:bodyPr>
            <a:normAutofit fontScale="90000"/>
          </a:bodyPr>
          <a:lstStyle/>
          <a:p>
            <a:pPr fontAlgn="base">
              <a:spcAft>
                <a:spcPts val="600"/>
              </a:spcAft>
            </a:pPr>
            <a:r>
              <a:rPr lang="en-GB" dirty="0"/>
              <a:t>To determine whether a block is in the cache: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306387" y="1162740"/>
            <a:ext cx="11582400" cy="4953000"/>
          </a:xfrm>
        </p:spPr>
        <p:txBody>
          <a:bodyPr>
            <a:noAutofit/>
          </a:bodyPr>
          <a:lstStyle/>
          <a:p>
            <a:pPr algn="just" fontAlgn="base">
              <a:spcAft>
                <a:spcPts val="1200"/>
              </a:spcAft>
            </a:pPr>
            <a:r>
              <a:rPr lang="en-GB" dirty="0">
                <a:solidFill>
                  <a:schemeClr val="tx1"/>
                </a:solidFill>
              </a:rPr>
              <a:t>Use the line field of the memory address to index the cache line;</a:t>
            </a:r>
          </a:p>
          <a:p>
            <a:pPr algn="just" fontAlgn="base">
              <a:spcAft>
                <a:spcPts val="1200"/>
              </a:spcAft>
            </a:pPr>
            <a:r>
              <a:rPr lang="en-GB" dirty="0">
                <a:solidFill>
                  <a:schemeClr val="tx1"/>
                </a:solidFill>
              </a:rPr>
              <a:t>Compare the tag from the memory address with the line tag;</a:t>
            </a:r>
          </a:p>
          <a:p>
            <a:pPr lvl="1" algn="just" fontAlgn="base">
              <a:spcAft>
                <a:spcPts val="1200"/>
              </a:spcAft>
            </a:pPr>
            <a:r>
              <a:rPr lang="en-GB" b="1" dirty="0">
                <a:solidFill>
                  <a:schemeClr val="tx1"/>
                </a:solidFill>
              </a:rPr>
              <a:t>If both match, then Cache Hit:</a:t>
            </a:r>
          </a:p>
          <a:p>
            <a:pPr lvl="2" algn="just" fontAlgn="base">
              <a:spcAft>
                <a:spcPts val="1200"/>
              </a:spcAft>
            </a:pPr>
            <a:r>
              <a:rPr lang="en-GB" b="1" dirty="0">
                <a:solidFill>
                  <a:srgbClr val="7A0000"/>
                </a:solidFill>
              </a:rPr>
              <a:t>Use the line field of the memory address to index the cache line;</a:t>
            </a:r>
          </a:p>
          <a:p>
            <a:pPr lvl="2" algn="just" fontAlgn="base">
              <a:spcAft>
                <a:spcPts val="1200"/>
              </a:spcAft>
            </a:pPr>
            <a:r>
              <a:rPr lang="en-GB" b="1" dirty="0">
                <a:solidFill>
                  <a:srgbClr val="7A0000"/>
                </a:solidFill>
              </a:rPr>
              <a:t>Retrieve the corresponding word from the cache line;</a:t>
            </a:r>
          </a:p>
          <a:p>
            <a:pPr algn="just" fontAlgn="base">
              <a:spcAft>
                <a:spcPts val="1200"/>
              </a:spcAft>
            </a:pPr>
            <a:r>
              <a:rPr lang="en-GB" dirty="0">
                <a:solidFill>
                  <a:schemeClr val="tx1"/>
                </a:solidFill>
              </a:rPr>
              <a:t>If both do not match, then Cache Miss:</a:t>
            </a:r>
          </a:p>
          <a:p>
            <a:pPr lvl="1" algn="just" fontAlgn="base">
              <a:spcAft>
                <a:spcPts val="1200"/>
              </a:spcAft>
            </a:pPr>
            <a:r>
              <a:rPr lang="en-GB" b="1" dirty="0"/>
              <a:t>Use the line field of the memory address to index the cache line;</a:t>
            </a:r>
          </a:p>
          <a:p>
            <a:pPr lvl="1" algn="just" fontAlgn="base">
              <a:spcAft>
                <a:spcPts val="1200"/>
              </a:spcAft>
            </a:pPr>
            <a:r>
              <a:rPr lang="en-GB" b="1" dirty="0"/>
              <a:t>Update the cache line (word + tag);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43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31740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611187" y="304800"/>
            <a:ext cx="10975658" cy="712788"/>
          </a:xfrm>
        </p:spPr>
        <p:txBody>
          <a:bodyPr>
            <a:normAutofit/>
          </a:bodyPr>
          <a:lstStyle/>
          <a:p>
            <a:pPr fontAlgn="base"/>
            <a:r>
              <a:rPr lang="en-GB" dirty="0"/>
              <a:t>Direct Mapping Function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306387" y="1295400"/>
            <a:ext cx="11582400" cy="4953000"/>
          </a:xfrm>
        </p:spPr>
        <p:txBody>
          <a:bodyPr>
            <a:noAutofit/>
          </a:bodyPr>
          <a:lstStyle/>
          <a:p>
            <a:pPr marL="0" indent="0" algn="just" fontAlgn="base">
              <a:spcAft>
                <a:spcPts val="1800"/>
              </a:spcAft>
              <a:buNone/>
            </a:pPr>
            <a:r>
              <a:rPr lang="en-GB" dirty="0">
                <a:solidFill>
                  <a:schemeClr val="tx1"/>
                </a:solidFill>
              </a:rPr>
              <a:t>• Advantage: simple and inexpensive to implement;</a:t>
            </a:r>
          </a:p>
          <a:p>
            <a:pPr marL="0" indent="0" algn="just" fontAlgn="base">
              <a:spcAft>
                <a:spcPts val="1800"/>
              </a:spcAft>
              <a:buNone/>
            </a:pPr>
            <a:r>
              <a:rPr lang="en-GB" dirty="0">
                <a:solidFill>
                  <a:schemeClr val="tx1"/>
                </a:solidFill>
              </a:rPr>
              <a:t>• Disadvantage: there is a fixed cache location for any given block;</a:t>
            </a:r>
          </a:p>
          <a:p>
            <a:pPr marL="400050" lvl="1" indent="0" algn="just" fontAlgn="base">
              <a:spcAft>
                <a:spcPts val="1800"/>
              </a:spcAft>
              <a:buNone/>
            </a:pPr>
            <a:r>
              <a:rPr lang="en-GB" sz="2600" dirty="0">
                <a:solidFill>
                  <a:schemeClr val="tx1"/>
                </a:solidFill>
              </a:rPr>
              <a:t>• </a:t>
            </a:r>
            <a:r>
              <a:rPr lang="en-GB" sz="2600" dirty="0"/>
              <a:t>if a program happens to reference words repeatedly from two different blocks that map into the same line;</a:t>
            </a:r>
          </a:p>
          <a:p>
            <a:pPr marL="400050" lvl="1" indent="0" algn="just" fontAlgn="base">
              <a:spcAft>
                <a:spcPts val="1800"/>
              </a:spcAft>
              <a:buNone/>
            </a:pPr>
            <a:r>
              <a:rPr lang="en-GB" sz="2600" dirty="0"/>
              <a:t>• then the blocks will be continually swapped in the cache;</a:t>
            </a:r>
          </a:p>
          <a:p>
            <a:pPr marL="400050" lvl="1" indent="0" algn="just" fontAlgn="base">
              <a:spcAft>
                <a:spcPts val="1800"/>
              </a:spcAft>
              <a:buNone/>
            </a:pPr>
            <a:r>
              <a:rPr lang="en-GB" sz="2600" dirty="0"/>
              <a:t>• hit ratio will be low (a.k.a. thrashing).</a:t>
            </a:r>
            <a:endParaRPr lang="en-GB" sz="2600" b="1" dirty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44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3597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611187" y="304800"/>
            <a:ext cx="10975658" cy="712788"/>
          </a:xfrm>
        </p:spPr>
        <p:txBody>
          <a:bodyPr>
            <a:normAutofit fontScale="90000"/>
          </a:bodyPr>
          <a:lstStyle/>
          <a:p>
            <a:pPr fontAlgn="base"/>
            <a:r>
              <a:rPr lang="en-GB" dirty="0"/>
              <a:t>Worked Examples on Direct Mapping Function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306387" y="1295400"/>
            <a:ext cx="11582400" cy="4953000"/>
          </a:xfrm>
        </p:spPr>
        <p:txBody>
          <a:bodyPr>
            <a:noAutofit/>
          </a:bodyPr>
          <a:lstStyle/>
          <a:p>
            <a:pPr marL="0" indent="0" algn="just" fontAlgn="base">
              <a:spcAft>
                <a:spcPts val="600"/>
              </a:spcAft>
              <a:buNone/>
            </a:pPr>
            <a:r>
              <a:rPr lang="en-GB" dirty="0">
                <a:solidFill>
                  <a:schemeClr val="tx1"/>
                </a:solidFill>
              </a:rPr>
              <a:t>1. Consider a direct mapped cache of size 16 KB with block size 256 bytes. The size of main memory is 128 KB. Find-</a:t>
            </a:r>
          </a:p>
          <a:p>
            <a:pPr lvl="1" algn="just" fontAlgn="base">
              <a:spcAft>
                <a:spcPts val="600"/>
              </a:spcAft>
            </a:pPr>
            <a:r>
              <a:rPr lang="en-GB" b="1" dirty="0"/>
              <a:t>Number of bits in tag</a:t>
            </a:r>
          </a:p>
          <a:p>
            <a:pPr lvl="1" algn="just" fontAlgn="base">
              <a:spcAft>
                <a:spcPts val="600"/>
              </a:spcAft>
            </a:pPr>
            <a:r>
              <a:rPr lang="en-GB" b="1" dirty="0"/>
              <a:t>Tag directory size</a:t>
            </a:r>
          </a:p>
          <a:p>
            <a:pPr algn="just" fontAlgn="base">
              <a:spcAft>
                <a:spcPts val="600"/>
              </a:spcAft>
            </a:pPr>
            <a:r>
              <a:rPr lang="en-GB" b="1" dirty="0">
                <a:solidFill>
                  <a:srgbClr val="7A0000"/>
                </a:solidFill>
              </a:rPr>
              <a:t>Solution-</a:t>
            </a:r>
          </a:p>
          <a:p>
            <a:pPr algn="just" fontAlgn="base"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Given-</a:t>
            </a:r>
          </a:p>
          <a:p>
            <a:pPr lvl="1" algn="just" fontAlgn="base">
              <a:spcAft>
                <a:spcPts val="600"/>
              </a:spcAft>
            </a:pPr>
            <a:r>
              <a:rPr lang="en-GB" b="1" dirty="0"/>
              <a:t>Cache memory size = 16 KB</a:t>
            </a:r>
          </a:p>
          <a:p>
            <a:pPr lvl="1" algn="just" fontAlgn="base">
              <a:spcAft>
                <a:spcPts val="600"/>
              </a:spcAft>
            </a:pPr>
            <a:r>
              <a:rPr lang="en-GB" b="1" dirty="0"/>
              <a:t>Block size = Frame size = Line size = 256 bytes</a:t>
            </a:r>
          </a:p>
          <a:p>
            <a:pPr lvl="1" algn="just" fontAlgn="base">
              <a:spcAft>
                <a:spcPts val="600"/>
              </a:spcAft>
            </a:pPr>
            <a:r>
              <a:rPr lang="en-GB" b="1" dirty="0"/>
              <a:t>Main memory size = 128 KB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45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38614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611187" y="304800"/>
            <a:ext cx="10975658" cy="712788"/>
          </a:xfrm>
        </p:spPr>
        <p:txBody>
          <a:bodyPr>
            <a:normAutofit fontScale="90000"/>
          </a:bodyPr>
          <a:lstStyle/>
          <a:p>
            <a:pPr fontAlgn="base"/>
            <a:r>
              <a:rPr lang="en-GB" dirty="0"/>
              <a:t>Worked Examples on Direct Mapping Function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306387" y="1066800"/>
            <a:ext cx="11582400" cy="5181600"/>
          </a:xfrm>
        </p:spPr>
        <p:txBody>
          <a:bodyPr>
            <a:noAutofit/>
          </a:bodyPr>
          <a:lstStyle/>
          <a:p>
            <a:pPr algn="just" fontAlgn="base">
              <a:spcAft>
                <a:spcPts val="600"/>
              </a:spcAft>
            </a:pPr>
            <a:r>
              <a:rPr lang="en-GB" sz="2600" dirty="0">
                <a:solidFill>
                  <a:schemeClr val="tx1"/>
                </a:solidFill>
              </a:rPr>
              <a:t>We consider that the memory is byte addressable.</a:t>
            </a:r>
          </a:p>
          <a:p>
            <a:pPr algn="just" fontAlgn="base">
              <a:spcAft>
                <a:spcPts val="600"/>
              </a:spcAft>
            </a:pPr>
            <a:r>
              <a:rPr lang="en-GB" sz="2600" dirty="0">
                <a:solidFill>
                  <a:schemeClr val="tx1"/>
                </a:solidFill>
              </a:rPr>
              <a:t>Number of Bits in Physical Address-</a:t>
            </a:r>
          </a:p>
          <a:p>
            <a:pPr algn="just" fontAlgn="base">
              <a:spcAft>
                <a:spcPts val="600"/>
              </a:spcAft>
            </a:pPr>
            <a:r>
              <a:rPr lang="en-GB" sz="2600" dirty="0">
                <a:solidFill>
                  <a:schemeClr val="tx1"/>
                </a:solidFill>
              </a:rPr>
              <a:t>We have,</a:t>
            </a:r>
          </a:p>
          <a:p>
            <a:pPr algn="just" fontAlgn="base">
              <a:spcAft>
                <a:spcPts val="600"/>
              </a:spcAft>
            </a:pPr>
            <a:r>
              <a:rPr lang="en-GB" sz="2600" b="1" dirty="0">
                <a:solidFill>
                  <a:srgbClr val="7A0000"/>
                </a:solidFill>
              </a:rPr>
              <a:t>Size of main memory</a:t>
            </a:r>
          </a:p>
          <a:p>
            <a:pPr algn="just" fontAlgn="base">
              <a:spcAft>
                <a:spcPts val="600"/>
              </a:spcAft>
            </a:pPr>
            <a:r>
              <a:rPr lang="en-GB" sz="2600" dirty="0">
                <a:solidFill>
                  <a:schemeClr val="tx1"/>
                </a:solidFill>
              </a:rPr>
              <a:t>128 KB = 2</a:t>
            </a:r>
            <a:r>
              <a:rPr lang="en-GB" sz="2600" baseline="30000" dirty="0">
                <a:solidFill>
                  <a:schemeClr val="tx1"/>
                </a:solidFill>
              </a:rPr>
              <a:t>17</a:t>
            </a:r>
            <a:r>
              <a:rPr lang="en-GB" sz="2600" dirty="0">
                <a:solidFill>
                  <a:schemeClr val="tx1"/>
                </a:solidFill>
              </a:rPr>
              <a:t> bytes</a:t>
            </a:r>
          </a:p>
          <a:p>
            <a:pPr algn="just" fontAlgn="base">
              <a:spcAft>
                <a:spcPts val="600"/>
              </a:spcAft>
            </a:pPr>
            <a:r>
              <a:rPr lang="en-GB" sz="2600" dirty="0">
                <a:solidFill>
                  <a:schemeClr val="tx1"/>
                </a:solidFill>
              </a:rPr>
              <a:t>Thus, Number of bits in physical address = 17 bits</a:t>
            </a:r>
          </a:p>
          <a:p>
            <a:pPr algn="just" fontAlgn="base">
              <a:spcAft>
                <a:spcPts val="600"/>
              </a:spcAft>
            </a:pPr>
            <a:r>
              <a:rPr lang="en-GB" sz="2600" dirty="0">
                <a:solidFill>
                  <a:schemeClr val="tx1"/>
                </a:solidFill>
              </a:rPr>
              <a:t>Number of Bits in Block Offset-</a:t>
            </a:r>
          </a:p>
          <a:p>
            <a:pPr algn="just" fontAlgn="base">
              <a:spcAft>
                <a:spcPts val="600"/>
              </a:spcAft>
            </a:pPr>
            <a:r>
              <a:rPr lang="en-GB" sz="2600" dirty="0">
                <a:solidFill>
                  <a:schemeClr val="tx1"/>
                </a:solidFill>
              </a:rPr>
              <a:t>We have,</a:t>
            </a:r>
          </a:p>
          <a:p>
            <a:pPr algn="just" fontAlgn="base">
              <a:spcAft>
                <a:spcPts val="600"/>
              </a:spcAft>
            </a:pPr>
            <a:r>
              <a:rPr lang="en-GB" sz="2600" dirty="0">
                <a:solidFill>
                  <a:schemeClr val="tx1"/>
                </a:solidFill>
              </a:rPr>
              <a:t>Block size = 256 bytes = 2</a:t>
            </a:r>
            <a:r>
              <a:rPr lang="en-GB" sz="2600" baseline="30000" dirty="0">
                <a:solidFill>
                  <a:schemeClr val="tx1"/>
                </a:solidFill>
              </a:rPr>
              <a:t>8</a:t>
            </a:r>
            <a:r>
              <a:rPr lang="en-GB" sz="2600" dirty="0">
                <a:solidFill>
                  <a:schemeClr val="tx1"/>
                </a:solidFill>
              </a:rPr>
              <a:t> bytes</a:t>
            </a:r>
          </a:p>
          <a:p>
            <a:pPr algn="just" fontAlgn="base">
              <a:spcAft>
                <a:spcPts val="600"/>
              </a:spcAft>
            </a:pPr>
            <a:r>
              <a:rPr lang="en-GB" sz="2600" dirty="0">
                <a:solidFill>
                  <a:schemeClr val="tx1"/>
                </a:solidFill>
              </a:rPr>
              <a:t>Thus, Number of bits in block offset = 8 bits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46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6741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611187" y="304800"/>
            <a:ext cx="10975658" cy="712788"/>
          </a:xfrm>
        </p:spPr>
        <p:txBody>
          <a:bodyPr>
            <a:normAutofit fontScale="90000"/>
          </a:bodyPr>
          <a:lstStyle/>
          <a:p>
            <a:pPr fontAlgn="base"/>
            <a:r>
              <a:rPr lang="en-GB" dirty="0"/>
              <a:t>Worked Examples on Direct Mapping Function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306387" y="1066800"/>
            <a:ext cx="11582400" cy="5181600"/>
          </a:xfrm>
        </p:spPr>
        <p:txBody>
          <a:bodyPr>
            <a:noAutofit/>
          </a:bodyPr>
          <a:lstStyle/>
          <a:p>
            <a:pPr algn="just" fontAlgn="base">
              <a:spcBef>
                <a:spcPts val="0"/>
              </a:spcBef>
              <a:spcAft>
                <a:spcPts val="2400"/>
              </a:spcAft>
            </a:pPr>
            <a:r>
              <a:rPr lang="en-GB" dirty="0">
                <a:solidFill>
                  <a:schemeClr val="tx1"/>
                </a:solidFill>
              </a:rPr>
              <a:t>Thus, Number of bits in block offset = 8 bits</a:t>
            </a:r>
          </a:p>
          <a:p>
            <a:pPr algn="just" fontAlgn="base">
              <a:spcBef>
                <a:spcPts val="0"/>
              </a:spcBef>
              <a:spcAft>
                <a:spcPts val="2400"/>
              </a:spcAft>
            </a:pPr>
            <a:r>
              <a:rPr lang="en-GB" dirty="0">
                <a:solidFill>
                  <a:srgbClr val="7A0000"/>
                </a:solidFill>
              </a:rPr>
              <a:t>Number of Bits in Line Number-</a:t>
            </a:r>
          </a:p>
          <a:p>
            <a:pPr algn="just" fontAlgn="base">
              <a:spcBef>
                <a:spcPts val="0"/>
              </a:spcBef>
              <a:spcAft>
                <a:spcPts val="2400"/>
              </a:spcAft>
            </a:pPr>
            <a:r>
              <a:rPr lang="en-GB" b="1" dirty="0">
                <a:solidFill>
                  <a:schemeClr val="tx1"/>
                </a:solidFill>
              </a:rPr>
              <a:t>Total number of lines in cache= Cache size / Line size</a:t>
            </a:r>
          </a:p>
          <a:p>
            <a:pPr algn="just" fontAlgn="base">
              <a:spcBef>
                <a:spcPts val="0"/>
              </a:spcBef>
              <a:spcAft>
                <a:spcPts val="2400"/>
              </a:spcAft>
            </a:pPr>
            <a:r>
              <a:rPr lang="en-GB" dirty="0">
                <a:solidFill>
                  <a:schemeClr val="tx1"/>
                </a:solidFill>
              </a:rPr>
              <a:t>= 16 KB/256 bytes</a:t>
            </a:r>
          </a:p>
          <a:p>
            <a:pPr algn="just" fontAlgn="base">
              <a:spcBef>
                <a:spcPts val="0"/>
              </a:spcBef>
              <a:spcAft>
                <a:spcPts val="2400"/>
              </a:spcAft>
            </a:pPr>
            <a:r>
              <a:rPr lang="en-GB" dirty="0">
                <a:solidFill>
                  <a:schemeClr val="tx1"/>
                </a:solidFill>
              </a:rPr>
              <a:t>= 2</a:t>
            </a:r>
            <a:r>
              <a:rPr lang="en-GB" baseline="30000" dirty="0">
                <a:solidFill>
                  <a:schemeClr val="tx1"/>
                </a:solidFill>
              </a:rPr>
              <a:t>14</a:t>
            </a:r>
            <a:r>
              <a:rPr lang="en-GB" dirty="0">
                <a:solidFill>
                  <a:schemeClr val="tx1"/>
                </a:solidFill>
              </a:rPr>
              <a:t> bytes / 2</a:t>
            </a:r>
            <a:r>
              <a:rPr lang="en-GB" baseline="30000" dirty="0">
                <a:solidFill>
                  <a:schemeClr val="tx1"/>
                </a:solidFill>
              </a:rPr>
              <a:t>8</a:t>
            </a:r>
            <a:r>
              <a:rPr lang="en-GB" dirty="0">
                <a:solidFill>
                  <a:schemeClr val="tx1"/>
                </a:solidFill>
              </a:rPr>
              <a:t> bytes= 2</a:t>
            </a:r>
            <a:r>
              <a:rPr lang="en-GB" baseline="30000" dirty="0">
                <a:solidFill>
                  <a:schemeClr val="tx1"/>
                </a:solidFill>
              </a:rPr>
              <a:t>6</a:t>
            </a:r>
            <a:r>
              <a:rPr lang="en-GB" dirty="0">
                <a:solidFill>
                  <a:schemeClr val="tx1"/>
                </a:solidFill>
              </a:rPr>
              <a:t> lines</a:t>
            </a:r>
          </a:p>
          <a:p>
            <a:pPr algn="just" fontAlgn="base">
              <a:spcBef>
                <a:spcPts val="0"/>
              </a:spcBef>
              <a:spcAft>
                <a:spcPts val="2400"/>
              </a:spcAft>
            </a:pPr>
            <a:r>
              <a:rPr lang="en-GB" dirty="0">
                <a:solidFill>
                  <a:schemeClr val="tx1"/>
                </a:solidFill>
              </a:rPr>
              <a:t>Thus, Number of bits in line number = 6 bits</a:t>
            </a:r>
          </a:p>
          <a:p>
            <a:pPr algn="just" fontAlgn="base">
              <a:spcBef>
                <a:spcPts val="0"/>
              </a:spcBef>
              <a:spcAft>
                <a:spcPts val="2400"/>
              </a:spcAft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47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35118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611187" y="304800"/>
            <a:ext cx="10975658" cy="712788"/>
          </a:xfrm>
        </p:spPr>
        <p:txBody>
          <a:bodyPr>
            <a:normAutofit fontScale="90000"/>
          </a:bodyPr>
          <a:lstStyle/>
          <a:p>
            <a:pPr fontAlgn="base"/>
            <a:r>
              <a:rPr lang="en-GB" dirty="0"/>
              <a:t>Worked Examples on Direct Mapping Function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306387" y="1066800"/>
            <a:ext cx="11582400" cy="5181600"/>
          </a:xfrm>
        </p:spPr>
        <p:txBody>
          <a:bodyPr>
            <a:noAutofit/>
          </a:bodyPr>
          <a:lstStyle/>
          <a:p>
            <a:pPr algn="just" fontAlgn="base">
              <a:spcBef>
                <a:spcPts val="0"/>
              </a:spcBef>
              <a:spcAft>
                <a:spcPts val="2400"/>
              </a:spcAft>
            </a:pPr>
            <a:r>
              <a:rPr lang="en-GB" dirty="0">
                <a:solidFill>
                  <a:srgbClr val="7A0000"/>
                </a:solidFill>
              </a:rPr>
              <a:t>Number of Bits in Tag-</a:t>
            </a:r>
          </a:p>
          <a:p>
            <a:pPr algn="just" fontAlgn="base">
              <a:spcBef>
                <a:spcPts val="0"/>
              </a:spcBef>
              <a:spcAft>
                <a:spcPts val="2400"/>
              </a:spcAft>
            </a:pPr>
            <a:r>
              <a:rPr lang="en-GB" dirty="0">
                <a:solidFill>
                  <a:schemeClr val="tx1"/>
                </a:solidFill>
              </a:rPr>
              <a:t>= Number of bits in physical address – (Number of bits in line number + Number of bits in block offset)</a:t>
            </a:r>
          </a:p>
          <a:p>
            <a:pPr algn="just" fontAlgn="base">
              <a:spcBef>
                <a:spcPts val="0"/>
              </a:spcBef>
              <a:spcAft>
                <a:spcPts val="2400"/>
              </a:spcAft>
            </a:pPr>
            <a:r>
              <a:rPr lang="en-GB" b="1" dirty="0">
                <a:solidFill>
                  <a:srgbClr val="7A0000"/>
                </a:solidFill>
              </a:rPr>
              <a:t>= 17 bits –(6 bits + 8 bits)</a:t>
            </a:r>
          </a:p>
          <a:p>
            <a:pPr algn="just" fontAlgn="base">
              <a:spcBef>
                <a:spcPts val="0"/>
              </a:spcBef>
              <a:spcAft>
                <a:spcPts val="2400"/>
              </a:spcAft>
            </a:pPr>
            <a:r>
              <a:rPr lang="en-GB" dirty="0">
                <a:solidFill>
                  <a:schemeClr val="tx1"/>
                </a:solidFill>
              </a:rPr>
              <a:t>= 17 bits –14 bits = 3 bits</a:t>
            </a:r>
          </a:p>
          <a:p>
            <a:pPr algn="just" fontAlgn="base">
              <a:spcBef>
                <a:spcPts val="0"/>
              </a:spcBef>
              <a:spcAft>
                <a:spcPts val="2400"/>
              </a:spcAft>
            </a:pPr>
            <a:r>
              <a:rPr lang="en-GB" dirty="0">
                <a:solidFill>
                  <a:schemeClr val="tx1"/>
                </a:solidFill>
              </a:rPr>
              <a:t>Thus, Number of bits in tag = 3 bits</a:t>
            </a:r>
          </a:p>
          <a:p>
            <a:pPr algn="just" fontAlgn="base">
              <a:spcBef>
                <a:spcPts val="0"/>
              </a:spcBef>
              <a:spcAft>
                <a:spcPts val="2400"/>
              </a:spcAft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48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6434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306387" y="125412"/>
            <a:ext cx="11582400" cy="712788"/>
          </a:xfrm>
        </p:spPr>
        <p:txBody>
          <a:bodyPr>
            <a:normAutofit fontScale="90000"/>
          </a:bodyPr>
          <a:lstStyle/>
          <a:p>
            <a:pPr fontAlgn="base"/>
            <a:r>
              <a:rPr lang="en-GB" dirty="0"/>
              <a:t>Worked Examples on Direct Mapping Function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306387" y="1066800"/>
            <a:ext cx="11582400" cy="4724400"/>
          </a:xfrm>
        </p:spPr>
        <p:txBody>
          <a:bodyPr>
            <a:noAutofit/>
          </a:bodyPr>
          <a:lstStyle/>
          <a:p>
            <a:pPr algn="just" fontAlgn="base">
              <a:spcBef>
                <a:spcPts val="0"/>
              </a:spcBef>
              <a:spcAft>
                <a:spcPts val="3000"/>
              </a:spcAft>
            </a:pPr>
            <a:r>
              <a:rPr lang="en-GB" b="1" dirty="0">
                <a:solidFill>
                  <a:srgbClr val="7A0000"/>
                </a:solidFill>
              </a:rPr>
              <a:t>Tag Directory Size-</a:t>
            </a:r>
          </a:p>
          <a:p>
            <a:pPr algn="just" fontAlgn="base">
              <a:spcBef>
                <a:spcPts val="0"/>
              </a:spcBef>
              <a:spcAft>
                <a:spcPts val="3000"/>
              </a:spcAft>
            </a:pPr>
            <a:r>
              <a:rPr lang="en-GB" dirty="0">
                <a:solidFill>
                  <a:schemeClr val="tx1"/>
                </a:solidFill>
              </a:rPr>
              <a:t>Tag directory size</a:t>
            </a:r>
          </a:p>
          <a:p>
            <a:pPr algn="just" fontAlgn="base">
              <a:spcBef>
                <a:spcPts val="0"/>
              </a:spcBef>
              <a:spcAft>
                <a:spcPts val="3000"/>
              </a:spcAft>
            </a:pPr>
            <a:r>
              <a:rPr lang="en-GB" dirty="0">
                <a:solidFill>
                  <a:schemeClr val="tx1"/>
                </a:solidFill>
              </a:rPr>
              <a:t>= Number of tags x Tag size = Number of lines in cache x Number of bits in tag</a:t>
            </a:r>
          </a:p>
          <a:p>
            <a:pPr algn="just" fontAlgn="base">
              <a:spcBef>
                <a:spcPts val="0"/>
              </a:spcBef>
              <a:spcAft>
                <a:spcPts val="3000"/>
              </a:spcAft>
            </a:pPr>
            <a:r>
              <a:rPr lang="en-GB" dirty="0">
                <a:solidFill>
                  <a:schemeClr val="tx1"/>
                </a:solidFill>
              </a:rPr>
              <a:t>= 2</a:t>
            </a:r>
            <a:r>
              <a:rPr lang="en-GB" baseline="30000" dirty="0">
                <a:solidFill>
                  <a:schemeClr val="tx1"/>
                </a:solidFill>
              </a:rPr>
              <a:t>6</a:t>
            </a:r>
            <a:r>
              <a:rPr lang="en-GB" dirty="0">
                <a:solidFill>
                  <a:schemeClr val="tx1"/>
                </a:solidFill>
              </a:rPr>
              <a:t>x 3 bits = 192 bits = 24 bytes</a:t>
            </a:r>
          </a:p>
          <a:p>
            <a:pPr algn="just" fontAlgn="base">
              <a:spcBef>
                <a:spcPts val="0"/>
              </a:spcBef>
              <a:spcAft>
                <a:spcPts val="3000"/>
              </a:spcAft>
            </a:pPr>
            <a:r>
              <a:rPr lang="en-GB" dirty="0">
                <a:solidFill>
                  <a:schemeClr val="tx1"/>
                </a:solidFill>
              </a:rPr>
              <a:t>Thus, size of tag directory = 24 bytes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49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7217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153987" y="109986"/>
            <a:ext cx="11734800" cy="712788"/>
          </a:xfrm>
        </p:spPr>
        <p:txBody>
          <a:bodyPr>
            <a:normAutofit/>
          </a:bodyPr>
          <a:lstStyle/>
          <a:p>
            <a:pPr fontAlgn="base">
              <a:spcAft>
                <a:spcPts val="3600"/>
              </a:spcAft>
            </a:pPr>
            <a:r>
              <a:rPr lang="en-GB" dirty="0"/>
              <a:t>Associative Mapping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230187" y="1066800"/>
            <a:ext cx="11582400" cy="4724400"/>
          </a:xfrm>
        </p:spPr>
        <p:txBody>
          <a:bodyPr>
            <a:noAutofit/>
          </a:bodyPr>
          <a:lstStyle/>
          <a:p>
            <a:pPr algn="just" fontAlgn="base">
              <a:spcAft>
                <a:spcPts val="3600"/>
              </a:spcAft>
            </a:pPr>
            <a:r>
              <a:rPr lang="en-GB" dirty="0">
                <a:solidFill>
                  <a:schemeClr val="tx1"/>
                </a:solidFill>
              </a:rPr>
              <a:t>Associative mapping overcomes the disadvantage of direct mapping by permitting each main memory block to be loaded into any line of the cache (Figure 4.8b). </a:t>
            </a:r>
          </a:p>
          <a:p>
            <a:pPr algn="just" fontAlgn="base">
              <a:spcAft>
                <a:spcPts val="3600"/>
              </a:spcAft>
            </a:pPr>
            <a:r>
              <a:rPr lang="en-GB" dirty="0">
                <a:solidFill>
                  <a:schemeClr val="tx1"/>
                </a:solidFill>
              </a:rPr>
              <a:t>In this case, the cache control logic interprets a memory address simply as a Tag and a Word field. </a:t>
            </a:r>
          </a:p>
          <a:p>
            <a:pPr algn="just" fontAlgn="base">
              <a:spcAft>
                <a:spcPts val="3600"/>
              </a:spcAft>
            </a:pPr>
            <a:r>
              <a:rPr lang="en-GB" dirty="0">
                <a:solidFill>
                  <a:schemeClr val="tx1"/>
                </a:solidFill>
              </a:rPr>
              <a:t>The Tag field uniquely identifies a block of main memory. To determine whether a block is in the cache, the cache control logic must simultaneously examine every line’s tag for a match.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50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74798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153987" y="109986"/>
            <a:ext cx="11734800" cy="712788"/>
          </a:xfrm>
        </p:spPr>
        <p:txBody>
          <a:bodyPr>
            <a:normAutofit/>
          </a:bodyPr>
          <a:lstStyle/>
          <a:p>
            <a:pPr fontAlgn="base">
              <a:spcAft>
                <a:spcPts val="3600"/>
              </a:spcAft>
            </a:pPr>
            <a:r>
              <a:rPr lang="en-GB" dirty="0"/>
              <a:t>Associative Mapping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51</a:t>
            </a:fld>
            <a:endParaRPr lang="en-US">
              <a:latin typeface="Arial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F22734-0F03-4620-AEC8-8B78E84B049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008" t="21105" r="29380" b="34441"/>
          <a:stretch/>
        </p:blipFill>
        <p:spPr>
          <a:xfrm>
            <a:off x="306388" y="810917"/>
            <a:ext cx="11582399" cy="528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21886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153987" y="109986"/>
            <a:ext cx="11734800" cy="712788"/>
          </a:xfrm>
        </p:spPr>
        <p:txBody>
          <a:bodyPr>
            <a:normAutofit/>
          </a:bodyPr>
          <a:lstStyle/>
          <a:p>
            <a:pPr fontAlgn="base">
              <a:spcAft>
                <a:spcPts val="3600"/>
              </a:spcAft>
            </a:pPr>
            <a:r>
              <a:rPr lang="en-GB" dirty="0"/>
              <a:t>Associative Mapping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230187" y="1066800"/>
            <a:ext cx="11582400" cy="4724400"/>
          </a:xfrm>
        </p:spPr>
        <p:txBody>
          <a:bodyPr>
            <a:noAutofit/>
          </a:bodyPr>
          <a:lstStyle/>
          <a:p>
            <a:pPr algn="just" fontAlgn="base">
              <a:spcAft>
                <a:spcPts val="3600"/>
              </a:spcAft>
            </a:pPr>
            <a:r>
              <a:rPr lang="en-GB" dirty="0">
                <a:solidFill>
                  <a:schemeClr val="tx1"/>
                </a:solidFill>
              </a:rPr>
              <a:t>Cache interprets a memory address as a Tag and a Word field: </a:t>
            </a:r>
          </a:p>
          <a:p>
            <a:pPr algn="just" fontAlgn="base">
              <a:spcAft>
                <a:spcPts val="3600"/>
              </a:spcAft>
            </a:pPr>
            <a:r>
              <a:rPr lang="en-GB" dirty="0">
                <a:solidFill>
                  <a:schemeClr val="tx1"/>
                </a:solidFill>
              </a:rPr>
              <a:t>Tag: (s bits) uniquely identifies a block of main memory; </a:t>
            </a:r>
          </a:p>
          <a:p>
            <a:pPr algn="just" fontAlgn="base">
              <a:spcAft>
                <a:spcPts val="3600"/>
              </a:spcAft>
            </a:pPr>
            <a:r>
              <a:rPr lang="en-GB" dirty="0">
                <a:solidFill>
                  <a:schemeClr val="tx1"/>
                </a:solidFill>
              </a:rPr>
              <a:t>Word: (w bits) uniquely identifies a word within a block;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52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14906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153987" y="109986"/>
            <a:ext cx="11734800" cy="712788"/>
          </a:xfrm>
        </p:spPr>
        <p:txBody>
          <a:bodyPr>
            <a:normAutofit/>
          </a:bodyPr>
          <a:lstStyle/>
          <a:p>
            <a:pPr fontAlgn="base">
              <a:spcAft>
                <a:spcPts val="3600"/>
              </a:spcAft>
            </a:pPr>
            <a:r>
              <a:rPr lang="en-GB" sz="3600" dirty="0"/>
              <a:t>To determine whether a block is in the cache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230187" y="1066800"/>
            <a:ext cx="11582400" cy="4876800"/>
          </a:xfrm>
        </p:spPr>
        <p:txBody>
          <a:bodyPr>
            <a:noAutofit/>
          </a:bodyPr>
          <a:lstStyle/>
          <a:p>
            <a:pPr algn="just" fontAlgn="base">
              <a:spcAft>
                <a:spcPts val="1200"/>
              </a:spcAft>
            </a:pPr>
            <a:r>
              <a:rPr lang="en-GB" sz="2600" dirty="0">
                <a:solidFill>
                  <a:schemeClr val="tx1"/>
                </a:solidFill>
              </a:rPr>
              <a:t>simultaneously compare every line’s tag for a match:</a:t>
            </a:r>
          </a:p>
          <a:p>
            <a:pPr algn="just" fontAlgn="base">
              <a:spcAft>
                <a:spcPts val="1200"/>
              </a:spcAft>
            </a:pPr>
            <a:r>
              <a:rPr lang="en-GB" sz="2600" dirty="0">
                <a:solidFill>
                  <a:schemeClr val="tx1"/>
                </a:solidFill>
              </a:rPr>
              <a:t>If a match exists, then Cache Hit:</a:t>
            </a:r>
          </a:p>
          <a:p>
            <a:pPr lvl="1" algn="just" fontAlgn="base">
              <a:spcAft>
                <a:spcPts val="1200"/>
              </a:spcAft>
            </a:pPr>
            <a:r>
              <a:rPr lang="en-GB" sz="2600" b="1" dirty="0"/>
              <a:t>Use the tag field of the memory address to index the cache line;</a:t>
            </a:r>
          </a:p>
          <a:p>
            <a:pPr lvl="1" algn="just" fontAlgn="base">
              <a:spcAft>
                <a:spcPts val="1200"/>
              </a:spcAft>
            </a:pPr>
            <a:r>
              <a:rPr lang="en-GB" sz="2600" b="1" dirty="0"/>
              <a:t>Retrieve the corresponding word from the cache line;</a:t>
            </a:r>
          </a:p>
          <a:p>
            <a:pPr algn="just" fontAlgn="base">
              <a:spcAft>
                <a:spcPts val="1200"/>
              </a:spcAft>
            </a:pPr>
            <a:r>
              <a:rPr lang="en-GB" sz="2600" dirty="0">
                <a:solidFill>
                  <a:schemeClr val="tx1"/>
                </a:solidFill>
              </a:rPr>
              <a:t>If a match does not exist, then Cache Miss:</a:t>
            </a:r>
          </a:p>
          <a:p>
            <a:pPr lvl="1" algn="just" fontAlgn="base">
              <a:spcAft>
                <a:spcPts val="1200"/>
              </a:spcAft>
            </a:pPr>
            <a:r>
              <a:rPr lang="en-GB" sz="2600" b="1" dirty="0"/>
              <a:t>Choose a cache line. How?</a:t>
            </a:r>
          </a:p>
          <a:p>
            <a:pPr lvl="1" algn="just" fontAlgn="base">
              <a:spcAft>
                <a:spcPts val="1200"/>
              </a:spcAft>
            </a:pPr>
            <a:r>
              <a:rPr lang="en-GB" sz="2600" b="1" dirty="0"/>
              <a:t>Update the cache line (word + tag);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53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61688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153987" y="76200"/>
            <a:ext cx="11734800" cy="712788"/>
          </a:xfrm>
        </p:spPr>
        <p:txBody>
          <a:bodyPr>
            <a:normAutofit/>
          </a:bodyPr>
          <a:lstStyle/>
          <a:p>
            <a:pPr fontAlgn="base">
              <a:spcAft>
                <a:spcPts val="600"/>
              </a:spcAft>
            </a:pPr>
            <a:r>
              <a:rPr lang="en-GB" sz="3200" dirty="0"/>
              <a:t>Worked Examples on Associative Mapping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230187" y="838200"/>
            <a:ext cx="11582400" cy="5181600"/>
          </a:xfrm>
        </p:spPr>
        <p:txBody>
          <a:bodyPr>
            <a:noAutofit/>
          </a:bodyPr>
          <a:lstStyle/>
          <a:p>
            <a:pPr marL="0" indent="0" algn="just" fontAlgn="base">
              <a:spcAft>
                <a:spcPts val="600"/>
              </a:spcAft>
              <a:buNone/>
            </a:pPr>
            <a:r>
              <a:rPr lang="en-GB" sz="2600" b="1" dirty="0">
                <a:solidFill>
                  <a:schemeClr val="tx1"/>
                </a:solidFill>
              </a:rPr>
              <a:t>Example 1:</a:t>
            </a:r>
          </a:p>
          <a:p>
            <a:pPr algn="just" fontAlgn="base">
              <a:spcAft>
                <a:spcPts val="600"/>
              </a:spcAft>
            </a:pPr>
            <a:r>
              <a:rPr lang="en-GB" sz="2600" dirty="0">
                <a:solidFill>
                  <a:schemeClr val="tx1"/>
                </a:solidFill>
              </a:rPr>
              <a:t>Consider a fully associative mapped cache of size 16 KB with block size 256 bytes. The size of main memory is 128 KB. Find-</a:t>
            </a:r>
          </a:p>
          <a:p>
            <a:pPr marL="0" indent="0" algn="just" fontAlgn="base">
              <a:spcAft>
                <a:spcPts val="600"/>
              </a:spcAft>
              <a:buNone/>
            </a:pPr>
            <a:r>
              <a:rPr lang="en-GB" sz="2600" dirty="0">
                <a:solidFill>
                  <a:schemeClr val="tx1"/>
                </a:solidFill>
              </a:rPr>
              <a:t>1.Number of bits in tag</a:t>
            </a:r>
          </a:p>
          <a:p>
            <a:pPr marL="0" indent="0" algn="just" fontAlgn="base">
              <a:spcAft>
                <a:spcPts val="600"/>
              </a:spcAft>
              <a:buNone/>
            </a:pPr>
            <a:r>
              <a:rPr lang="en-GB" sz="2600" dirty="0">
                <a:solidFill>
                  <a:schemeClr val="tx1"/>
                </a:solidFill>
              </a:rPr>
              <a:t>2.Tag directory size</a:t>
            </a:r>
          </a:p>
          <a:p>
            <a:pPr algn="just" fontAlgn="base">
              <a:spcAft>
                <a:spcPts val="600"/>
              </a:spcAft>
            </a:pPr>
            <a:r>
              <a:rPr lang="en-GB" sz="2600" dirty="0">
                <a:solidFill>
                  <a:schemeClr val="tx1"/>
                </a:solidFill>
              </a:rPr>
              <a:t>Solution-</a:t>
            </a:r>
          </a:p>
          <a:p>
            <a:pPr algn="just" fontAlgn="base">
              <a:spcAft>
                <a:spcPts val="600"/>
              </a:spcAft>
            </a:pPr>
            <a:r>
              <a:rPr lang="en-GB" sz="2600" dirty="0">
                <a:solidFill>
                  <a:schemeClr val="tx1"/>
                </a:solidFill>
              </a:rPr>
              <a:t>Given-</a:t>
            </a:r>
          </a:p>
          <a:p>
            <a:pPr algn="just" fontAlgn="base">
              <a:spcAft>
                <a:spcPts val="600"/>
              </a:spcAft>
            </a:pPr>
            <a:r>
              <a:rPr lang="en-GB" sz="2600" dirty="0">
                <a:solidFill>
                  <a:schemeClr val="tx1"/>
                </a:solidFill>
              </a:rPr>
              <a:t>- Cache memory size = 16 KB</a:t>
            </a:r>
          </a:p>
          <a:p>
            <a:pPr algn="just" fontAlgn="base">
              <a:spcAft>
                <a:spcPts val="600"/>
              </a:spcAft>
            </a:pPr>
            <a:r>
              <a:rPr lang="en-GB" sz="2600" dirty="0">
                <a:solidFill>
                  <a:schemeClr val="tx1"/>
                </a:solidFill>
              </a:rPr>
              <a:t>- Block size = Frame size = Line size = 256 bytes</a:t>
            </a:r>
          </a:p>
          <a:p>
            <a:pPr algn="just" fontAlgn="base">
              <a:spcAft>
                <a:spcPts val="600"/>
              </a:spcAft>
            </a:pPr>
            <a:r>
              <a:rPr lang="en-GB" sz="2600" dirty="0">
                <a:solidFill>
                  <a:schemeClr val="tx1"/>
                </a:solidFill>
              </a:rPr>
              <a:t>- Main memory size = 128 KB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54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0341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153987" y="76200"/>
            <a:ext cx="11734800" cy="712788"/>
          </a:xfrm>
        </p:spPr>
        <p:txBody>
          <a:bodyPr>
            <a:normAutofit/>
          </a:bodyPr>
          <a:lstStyle/>
          <a:p>
            <a:pPr fontAlgn="base">
              <a:spcAft>
                <a:spcPts val="600"/>
              </a:spcAft>
            </a:pPr>
            <a:r>
              <a:rPr lang="en-GB" sz="3200" dirty="0"/>
              <a:t>Worked Examples on Associative Mapping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230187" y="839013"/>
            <a:ext cx="11582400" cy="5486400"/>
          </a:xfrm>
        </p:spPr>
        <p:txBody>
          <a:bodyPr>
            <a:noAutofit/>
          </a:bodyPr>
          <a:lstStyle/>
          <a:p>
            <a:pPr algn="just" fontAlgn="base">
              <a:spcAft>
                <a:spcPts val="600"/>
              </a:spcAft>
            </a:pPr>
            <a:r>
              <a:rPr lang="en-GB" sz="2400" dirty="0">
                <a:solidFill>
                  <a:schemeClr val="tx1"/>
                </a:solidFill>
              </a:rPr>
              <a:t>We consider that the memory is byte addressable.</a:t>
            </a:r>
          </a:p>
          <a:p>
            <a:pPr algn="just" fontAlgn="base">
              <a:spcAft>
                <a:spcPts val="600"/>
              </a:spcAft>
            </a:pPr>
            <a:r>
              <a:rPr lang="en-GB" sz="2400" dirty="0">
                <a:solidFill>
                  <a:schemeClr val="tx1"/>
                </a:solidFill>
              </a:rPr>
              <a:t>Number of Bits in Physical Address-</a:t>
            </a:r>
          </a:p>
          <a:p>
            <a:pPr algn="just" fontAlgn="base">
              <a:spcAft>
                <a:spcPts val="600"/>
              </a:spcAft>
            </a:pPr>
            <a:r>
              <a:rPr lang="en-GB" sz="2400" dirty="0">
                <a:solidFill>
                  <a:schemeClr val="tx1"/>
                </a:solidFill>
              </a:rPr>
              <a:t>We have,</a:t>
            </a:r>
          </a:p>
          <a:p>
            <a:pPr algn="just" fontAlgn="base">
              <a:spcAft>
                <a:spcPts val="600"/>
              </a:spcAft>
            </a:pPr>
            <a:r>
              <a:rPr lang="en-GB" sz="2400" dirty="0">
                <a:solidFill>
                  <a:schemeClr val="tx1"/>
                </a:solidFill>
              </a:rPr>
              <a:t>Size of main memory</a:t>
            </a:r>
          </a:p>
          <a:p>
            <a:pPr algn="just" fontAlgn="base">
              <a:spcAft>
                <a:spcPts val="600"/>
              </a:spcAft>
            </a:pPr>
            <a:r>
              <a:rPr lang="en-GB" sz="2400" dirty="0">
                <a:solidFill>
                  <a:schemeClr val="tx1"/>
                </a:solidFill>
              </a:rPr>
              <a:t>= 128 KB</a:t>
            </a:r>
          </a:p>
          <a:p>
            <a:pPr algn="just" fontAlgn="base">
              <a:spcAft>
                <a:spcPts val="600"/>
              </a:spcAft>
            </a:pPr>
            <a:r>
              <a:rPr lang="en-GB" sz="2400" dirty="0">
                <a:solidFill>
                  <a:schemeClr val="tx1"/>
                </a:solidFill>
              </a:rPr>
              <a:t>= 2</a:t>
            </a:r>
            <a:r>
              <a:rPr lang="en-GB" sz="2400" baseline="30000" dirty="0">
                <a:solidFill>
                  <a:schemeClr val="tx1"/>
                </a:solidFill>
              </a:rPr>
              <a:t>17</a:t>
            </a:r>
            <a:r>
              <a:rPr lang="en-GB" sz="2400" dirty="0">
                <a:solidFill>
                  <a:schemeClr val="tx1"/>
                </a:solidFill>
              </a:rPr>
              <a:t>bytes</a:t>
            </a:r>
          </a:p>
          <a:p>
            <a:pPr algn="just" fontAlgn="base">
              <a:spcAft>
                <a:spcPts val="600"/>
              </a:spcAft>
            </a:pPr>
            <a:r>
              <a:rPr lang="en-GB" sz="2400" dirty="0">
                <a:solidFill>
                  <a:schemeClr val="tx1"/>
                </a:solidFill>
              </a:rPr>
              <a:t>Thus, Number of bits in physical address = 17 bits</a:t>
            </a:r>
          </a:p>
          <a:p>
            <a:pPr algn="just" fontAlgn="base">
              <a:spcAft>
                <a:spcPts val="600"/>
              </a:spcAft>
            </a:pPr>
            <a:r>
              <a:rPr lang="en-GB" sz="2400" dirty="0">
                <a:solidFill>
                  <a:schemeClr val="tx1"/>
                </a:solidFill>
              </a:rPr>
              <a:t>Number of Bits in Block Offset-</a:t>
            </a:r>
          </a:p>
          <a:p>
            <a:pPr algn="just" fontAlgn="base">
              <a:spcAft>
                <a:spcPts val="600"/>
              </a:spcAft>
            </a:pPr>
            <a:r>
              <a:rPr lang="en-GB" sz="2400" dirty="0">
                <a:solidFill>
                  <a:schemeClr val="tx1"/>
                </a:solidFill>
              </a:rPr>
              <a:t>We have Block size</a:t>
            </a:r>
          </a:p>
          <a:p>
            <a:pPr algn="just" fontAlgn="base">
              <a:spcAft>
                <a:spcPts val="600"/>
              </a:spcAft>
            </a:pPr>
            <a:r>
              <a:rPr lang="en-GB" sz="2400" dirty="0">
                <a:solidFill>
                  <a:schemeClr val="tx1"/>
                </a:solidFill>
              </a:rPr>
              <a:t>= 256 bytes</a:t>
            </a:r>
          </a:p>
          <a:p>
            <a:pPr algn="just" fontAlgn="base">
              <a:spcAft>
                <a:spcPts val="600"/>
              </a:spcAft>
            </a:pPr>
            <a:r>
              <a:rPr lang="en-GB" sz="2400" dirty="0">
                <a:solidFill>
                  <a:schemeClr val="tx1"/>
                </a:solidFill>
              </a:rPr>
              <a:t>= 2</a:t>
            </a:r>
            <a:r>
              <a:rPr lang="en-GB" sz="2400" baseline="30000" dirty="0">
                <a:solidFill>
                  <a:schemeClr val="tx1"/>
                </a:solidFill>
              </a:rPr>
              <a:t>8</a:t>
            </a:r>
            <a:r>
              <a:rPr lang="en-GB" sz="2400" dirty="0">
                <a:solidFill>
                  <a:schemeClr val="tx1"/>
                </a:solidFill>
              </a:rPr>
              <a:t> bytes</a:t>
            </a:r>
          </a:p>
          <a:p>
            <a:pPr lvl="1" algn="just" fontAlgn="base">
              <a:spcAft>
                <a:spcPts val="600"/>
              </a:spcAft>
            </a:pPr>
            <a:endParaRPr lang="en-GB" sz="2000" b="1" dirty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55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7322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153987" y="109986"/>
            <a:ext cx="11734800" cy="712788"/>
          </a:xfrm>
        </p:spPr>
        <p:txBody>
          <a:bodyPr>
            <a:normAutofit/>
          </a:bodyPr>
          <a:lstStyle/>
          <a:p>
            <a:pPr fontAlgn="base">
              <a:spcAft>
                <a:spcPts val="600"/>
              </a:spcAft>
            </a:pPr>
            <a:r>
              <a:rPr lang="en-GB" sz="3600" dirty="0"/>
              <a:t>Worked Examples on Associative Mapping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306387" y="840263"/>
            <a:ext cx="11582400" cy="5027137"/>
          </a:xfrm>
        </p:spPr>
        <p:txBody>
          <a:bodyPr>
            <a:noAutofit/>
          </a:bodyPr>
          <a:lstStyle/>
          <a:p>
            <a:pPr algn="just" fontAlgn="base">
              <a:spcAft>
                <a:spcPts val="600"/>
              </a:spcAft>
            </a:pPr>
            <a:r>
              <a:rPr lang="en-GB" sz="2400" dirty="0">
                <a:solidFill>
                  <a:schemeClr val="tx1"/>
                </a:solidFill>
              </a:rPr>
              <a:t>Thus, Number of bits in block offset = 8 bits</a:t>
            </a:r>
          </a:p>
          <a:p>
            <a:pPr algn="just" fontAlgn="base">
              <a:spcAft>
                <a:spcPts val="600"/>
              </a:spcAft>
            </a:pPr>
            <a:r>
              <a:rPr lang="en-GB" sz="2400" b="1" dirty="0">
                <a:solidFill>
                  <a:srgbClr val="7A0000"/>
                </a:solidFill>
              </a:rPr>
              <a:t>Number of bits in tag</a:t>
            </a:r>
          </a:p>
          <a:p>
            <a:pPr algn="just" fontAlgn="base">
              <a:spcAft>
                <a:spcPts val="600"/>
              </a:spcAft>
            </a:pPr>
            <a:r>
              <a:rPr lang="en-GB" sz="2400" dirty="0">
                <a:solidFill>
                  <a:schemeClr val="tx1"/>
                </a:solidFill>
              </a:rPr>
              <a:t>= Number of bits in physical address –Number of bits in block offset</a:t>
            </a:r>
          </a:p>
          <a:p>
            <a:pPr algn="just" fontAlgn="base">
              <a:spcAft>
                <a:spcPts val="600"/>
              </a:spcAft>
            </a:pPr>
            <a:r>
              <a:rPr lang="en-GB" sz="2400" b="1" dirty="0">
                <a:solidFill>
                  <a:srgbClr val="0000FF"/>
                </a:solidFill>
              </a:rPr>
              <a:t>= 17 bits –8 bits = 9 bits</a:t>
            </a:r>
          </a:p>
          <a:p>
            <a:pPr algn="just" fontAlgn="base">
              <a:spcAft>
                <a:spcPts val="600"/>
              </a:spcAft>
            </a:pPr>
            <a:r>
              <a:rPr lang="en-GB" sz="2400" dirty="0">
                <a:solidFill>
                  <a:schemeClr val="tx1"/>
                </a:solidFill>
              </a:rPr>
              <a:t>Thus, Number of bits in tag = 9 bits</a:t>
            </a:r>
          </a:p>
          <a:p>
            <a:pPr algn="just" fontAlgn="base">
              <a:spcAft>
                <a:spcPts val="600"/>
              </a:spcAft>
            </a:pPr>
            <a:r>
              <a:rPr lang="en-GB" sz="2400" dirty="0">
                <a:solidFill>
                  <a:schemeClr val="tx1"/>
                </a:solidFill>
              </a:rPr>
              <a:t>Number of Lines in Cache-</a:t>
            </a:r>
          </a:p>
          <a:p>
            <a:pPr algn="just" fontAlgn="base">
              <a:spcAft>
                <a:spcPts val="600"/>
              </a:spcAft>
            </a:pPr>
            <a:r>
              <a:rPr lang="en-GB" sz="2400" dirty="0">
                <a:solidFill>
                  <a:schemeClr val="tx1"/>
                </a:solidFill>
              </a:rPr>
              <a:t>Total number of lines in cache</a:t>
            </a:r>
          </a:p>
          <a:p>
            <a:pPr algn="just" fontAlgn="base">
              <a:spcAft>
                <a:spcPts val="600"/>
              </a:spcAft>
            </a:pPr>
            <a:r>
              <a:rPr lang="en-GB" sz="2400" dirty="0">
                <a:solidFill>
                  <a:schemeClr val="tx1"/>
                </a:solidFill>
              </a:rPr>
              <a:t>= Cache size / Line size</a:t>
            </a:r>
          </a:p>
          <a:p>
            <a:pPr algn="just" fontAlgn="base">
              <a:spcAft>
                <a:spcPts val="600"/>
              </a:spcAft>
            </a:pPr>
            <a:r>
              <a:rPr lang="en-GB" sz="2400" dirty="0">
                <a:solidFill>
                  <a:schemeClr val="tx1"/>
                </a:solidFill>
              </a:rPr>
              <a:t>= 16 KB / 256 bytes</a:t>
            </a:r>
          </a:p>
          <a:p>
            <a:pPr algn="just" fontAlgn="base">
              <a:spcAft>
                <a:spcPts val="600"/>
              </a:spcAft>
            </a:pPr>
            <a:r>
              <a:rPr lang="en-GB" sz="2400" dirty="0">
                <a:solidFill>
                  <a:schemeClr val="tx1"/>
                </a:solidFill>
              </a:rPr>
              <a:t>= 2</a:t>
            </a:r>
            <a:r>
              <a:rPr lang="en-GB" sz="2400" baseline="30000" dirty="0">
                <a:solidFill>
                  <a:schemeClr val="tx1"/>
                </a:solidFill>
              </a:rPr>
              <a:t>14</a:t>
            </a:r>
            <a:r>
              <a:rPr lang="en-GB" sz="2400" dirty="0">
                <a:solidFill>
                  <a:schemeClr val="tx1"/>
                </a:solidFill>
              </a:rPr>
              <a:t>bytes / 2</a:t>
            </a:r>
            <a:r>
              <a:rPr lang="en-GB" sz="2400" baseline="30000" dirty="0">
                <a:solidFill>
                  <a:schemeClr val="tx1"/>
                </a:solidFill>
              </a:rPr>
              <a:t>8</a:t>
            </a:r>
            <a:r>
              <a:rPr lang="en-GB" sz="2400" dirty="0">
                <a:solidFill>
                  <a:schemeClr val="tx1"/>
                </a:solidFill>
              </a:rPr>
              <a:t>bytes = 2</a:t>
            </a:r>
            <a:r>
              <a:rPr lang="en-GB" sz="2400" baseline="30000" dirty="0">
                <a:solidFill>
                  <a:schemeClr val="tx1"/>
                </a:solidFill>
              </a:rPr>
              <a:t>6 </a:t>
            </a:r>
            <a:r>
              <a:rPr lang="en-GB" sz="2400" dirty="0">
                <a:solidFill>
                  <a:schemeClr val="tx1"/>
                </a:solidFill>
              </a:rPr>
              <a:t>lines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56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07644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153987" y="109986"/>
            <a:ext cx="11734800" cy="712788"/>
          </a:xfrm>
        </p:spPr>
        <p:txBody>
          <a:bodyPr>
            <a:normAutofit/>
          </a:bodyPr>
          <a:lstStyle/>
          <a:p>
            <a:pPr fontAlgn="base">
              <a:spcAft>
                <a:spcPts val="600"/>
              </a:spcAft>
            </a:pPr>
            <a:r>
              <a:rPr lang="en-GB" sz="3600" dirty="0"/>
              <a:t>Worked Examples on Associative Mapping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230187" y="822774"/>
            <a:ext cx="11582400" cy="5120826"/>
          </a:xfrm>
        </p:spPr>
        <p:txBody>
          <a:bodyPr>
            <a:noAutofit/>
          </a:bodyPr>
          <a:lstStyle/>
          <a:p>
            <a:pPr algn="just" fontAlgn="base">
              <a:spcAft>
                <a:spcPts val="600"/>
              </a:spcAft>
            </a:pPr>
            <a:r>
              <a:rPr lang="en-GB" b="1" dirty="0">
                <a:solidFill>
                  <a:srgbClr val="7A0000"/>
                </a:solidFill>
              </a:rPr>
              <a:t>Tag directory size</a:t>
            </a:r>
            <a:r>
              <a:rPr lang="en-GB" dirty="0">
                <a:solidFill>
                  <a:schemeClr val="tx1"/>
                </a:solidFill>
              </a:rPr>
              <a:t>	</a:t>
            </a:r>
          </a:p>
          <a:p>
            <a:pPr algn="just" fontAlgn="base"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= Number of tags x Tag size</a:t>
            </a:r>
          </a:p>
          <a:p>
            <a:pPr algn="just" fontAlgn="base"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= </a:t>
            </a:r>
            <a:r>
              <a:rPr lang="en-GB" b="1" dirty="0">
                <a:solidFill>
                  <a:srgbClr val="0000FF"/>
                </a:solidFill>
              </a:rPr>
              <a:t>Number of lines in cache x Number of bits in tag</a:t>
            </a:r>
          </a:p>
          <a:p>
            <a:pPr algn="just" fontAlgn="base"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= 2</a:t>
            </a:r>
            <a:r>
              <a:rPr lang="en-GB" baseline="30000" dirty="0">
                <a:solidFill>
                  <a:schemeClr val="tx1"/>
                </a:solidFill>
              </a:rPr>
              <a:t>6 </a:t>
            </a:r>
            <a:r>
              <a:rPr lang="en-GB" dirty="0">
                <a:solidFill>
                  <a:schemeClr val="tx1"/>
                </a:solidFill>
              </a:rPr>
              <a:t>x 9 bits</a:t>
            </a:r>
          </a:p>
          <a:p>
            <a:pPr algn="just" fontAlgn="base"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= 576 bits= 72 bytes</a:t>
            </a:r>
          </a:p>
          <a:p>
            <a:pPr algn="just" fontAlgn="base"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Thus, size of tag directory = 72 bytes</a:t>
            </a:r>
          </a:p>
          <a:p>
            <a:pPr lvl="1" algn="just" fontAlgn="base">
              <a:spcAft>
                <a:spcPts val="600"/>
              </a:spcAft>
            </a:pPr>
            <a:endParaRPr lang="en-GB" b="1" dirty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57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23438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153987" y="109986"/>
            <a:ext cx="11734800" cy="712788"/>
          </a:xfrm>
        </p:spPr>
        <p:txBody>
          <a:bodyPr>
            <a:normAutofit/>
          </a:bodyPr>
          <a:lstStyle/>
          <a:p>
            <a:pPr fontAlgn="base">
              <a:spcAft>
                <a:spcPts val="600"/>
              </a:spcAft>
            </a:pPr>
            <a:r>
              <a:rPr lang="en-GB" sz="3600" dirty="0"/>
              <a:t>Worked Examples on Associative Mapping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230187" y="762000"/>
            <a:ext cx="11582400" cy="5578026"/>
          </a:xfrm>
        </p:spPr>
        <p:txBody>
          <a:bodyPr>
            <a:noAutofit/>
          </a:bodyPr>
          <a:lstStyle/>
          <a:p>
            <a:pPr algn="just" fontAlgn="base">
              <a:spcBef>
                <a:spcPts val="0"/>
              </a:spcBef>
              <a:spcAft>
                <a:spcPts val="0"/>
              </a:spcAft>
            </a:pPr>
            <a:r>
              <a:rPr lang="en-GB" sz="2600" b="1" dirty="0">
                <a:solidFill>
                  <a:schemeClr val="tx1"/>
                </a:solidFill>
              </a:rPr>
              <a:t>Example 2:</a:t>
            </a:r>
          </a:p>
          <a:p>
            <a:pPr algn="just" fontAlgn="base">
              <a:spcBef>
                <a:spcPts val="0"/>
              </a:spcBef>
              <a:spcAft>
                <a:spcPts val="0"/>
              </a:spcAft>
            </a:pPr>
            <a:r>
              <a:rPr lang="en-GB" sz="2600" dirty="0">
                <a:solidFill>
                  <a:schemeClr val="tx1"/>
                </a:solidFill>
              </a:rPr>
              <a:t>Consider a fully associative mapped cache with block size 4 KB. The size of main memory is 16 GB. Find the number of bits in tag. </a:t>
            </a:r>
          </a:p>
          <a:p>
            <a:pPr algn="just" fontAlgn="base">
              <a:spcBef>
                <a:spcPts val="0"/>
              </a:spcBef>
              <a:spcAft>
                <a:spcPts val="0"/>
              </a:spcAft>
            </a:pPr>
            <a:endParaRPr lang="en-GB" sz="2600" dirty="0">
              <a:solidFill>
                <a:schemeClr val="tx1"/>
              </a:solidFill>
            </a:endParaRPr>
          </a:p>
          <a:p>
            <a:pPr algn="just" fontAlgn="base">
              <a:spcBef>
                <a:spcPts val="0"/>
              </a:spcBef>
              <a:spcAft>
                <a:spcPts val="0"/>
              </a:spcAft>
            </a:pPr>
            <a:r>
              <a:rPr lang="en-GB" sz="2600" dirty="0">
                <a:solidFill>
                  <a:schemeClr val="tx1"/>
                </a:solidFill>
              </a:rPr>
              <a:t>Given- </a:t>
            </a:r>
          </a:p>
          <a:p>
            <a:pPr algn="just" fontAlgn="base">
              <a:spcBef>
                <a:spcPts val="0"/>
              </a:spcBef>
              <a:spcAft>
                <a:spcPts val="0"/>
              </a:spcAft>
            </a:pPr>
            <a:r>
              <a:rPr lang="en-GB" sz="2600" dirty="0">
                <a:solidFill>
                  <a:schemeClr val="tx1"/>
                </a:solidFill>
              </a:rPr>
              <a:t>-	Block size = Frame size = Line size = 4 KB </a:t>
            </a:r>
          </a:p>
          <a:p>
            <a:pPr algn="just" fontAlgn="base">
              <a:spcBef>
                <a:spcPts val="0"/>
              </a:spcBef>
              <a:spcAft>
                <a:spcPts val="0"/>
              </a:spcAft>
            </a:pPr>
            <a:r>
              <a:rPr lang="en-GB" sz="2600" dirty="0">
                <a:solidFill>
                  <a:schemeClr val="tx1"/>
                </a:solidFill>
              </a:rPr>
              <a:t>-	Size of main memory = 16 GB </a:t>
            </a:r>
          </a:p>
          <a:p>
            <a:pPr algn="just" fontAlgn="base">
              <a:spcBef>
                <a:spcPts val="0"/>
              </a:spcBef>
              <a:spcAft>
                <a:spcPts val="0"/>
              </a:spcAft>
            </a:pPr>
            <a:r>
              <a:rPr lang="en-GB" sz="2600" dirty="0">
                <a:solidFill>
                  <a:schemeClr val="tx1"/>
                </a:solidFill>
              </a:rPr>
              <a:t>We consider that the memory is byte addressable. </a:t>
            </a:r>
          </a:p>
          <a:p>
            <a:pPr algn="just" fontAlgn="base">
              <a:spcBef>
                <a:spcPts val="0"/>
              </a:spcBef>
              <a:spcAft>
                <a:spcPts val="0"/>
              </a:spcAft>
            </a:pPr>
            <a:endParaRPr lang="en-GB" sz="2600" dirty="0">
              <a:solidFill>
                <a:schemeClr val="tx1"/>
              </a:solidFill>
            </a:endParaRPr>
          </a:p>
          <a:p>
            <a:pPr algn="just" fontAlgn="base">
              <a:spcBef>
                <a:spcPts val="0"/>
              </a:spcBef>
              <a:spcAft>
                <a:spcPts val="0"/>
              </a:spcAft>
            </a:pPr>
            <a:r>
              <a:rPr lang="en-GB" sz="2600" dirty="0">
                <a:solidFill>
                  <a:schemeClr val="tx1"/>
                </a:solidFill>
              </a:rPr>
              <a:t>Number of Bits in Physical Address- </a:t>
            </a:r>
          </a:p>
          <a:p>
            <a:pPr algn="just" fontAlgn="base">
              <a:spcBef>
                <a:spcPts val="0"/>
              </a:spcBef>
              <a:spcAft>
                <a:spcPts val="0"/>
              </a:spcAft>
            </a:pPr>
            <a:r>
              <a:rPr lang="en-GB" sz="2600" dirty="0">
                <a:solidFill>
                  <a:schemeClr val="tx1"/>
                </a:solidFill>
              </a:rPr>
              <a:t>We have, </a:t>
            </a:r>
          </a:p>
          <a:p>
            <a:pPr algn="just" fontAlgn="base">
              <a:spcBef>
                <a:spcPts val="0"/>
              </a:spcBef>
              <a:spcAft>
                <a:spcPts val="0"/>
              </a:spcAft>
            </a:pPr>
            <a:r>
              <a:rPr lang="en-GB" sz="2600" dirty="0">
                <a:solidFill>
                  <a:schemeClr val="tx1"/>
                </a:solidFill>
              </a:rPr>
              <a:t>Size of main memory </a:t>
            </a:r>
          </a:p>
          <a:p>
            <a:pPr algn="just" fontAlgn="base">
              <a:spcBef>
                <a:spcPts val="0"/>
              </a:spcBef>
              <a:spcAft>
                <a:spcPts val="0"/>
              </a:spcAft>
            </a:pPr>
            <a:r>
              <a:rPr lang="en-GB" sz="2600" dirty="0">
                <a:solidFill>
                  <a:schemeClr val="tx1"/>
                </a:solidFill>
              </a:rPr>
              <a:t>= 16 GB </a:t>
            </a:r>
          </a:p>
          <a:p>
            <a:pPr algn="just" fontAlgn="base">
              <a:spcBef>
                <a:spcPts val="0"/>
              </a:spcBef>
              <a:spcAft>
                <a:spcPts val="0"/>
              </a:spcAft>
            </a:pPr>
            <a:r>
              <a:rPr lang="en-GB" sz="2600" dirty="0">
                <a:solidFill>
                  <a:schemeClr val="tx1"/>
                </a:solidFill>
              </a:rPr>
              <a:t>= 2</a:t>
            </a:r>
            <a:r>
              <a:rPr lang="en-GB" sz="2600" baseline="30000" dirty="0">
                <a:solidFill>
                  <a:schemeClr val="tx1"/>
                </a:solidFill>
              </a:rPr>
              <a:t>34</a:t>
            </a:r>
            <a:r>
              <a:rPr lang="en-GB" sz="2600" dirty="0">
                <a:solidFill>
                  <a:schemeClr val="tx1"/>
                </a:solidFill>
              </a:rPr>
              <a:t> bytes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58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31073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153987" y="109986"/>
            <a:ext cx="11734800" cy="712788"/>
          </a:xfrm>
        </p:spPr>
        <p:txBody>
          <a:bodyPr>
            <a:normAutofit/>
          </a:bodyPr>
          <a:lstStyle/>
          <a:p>
            <a:pPr fontAlgn="base">
              <a:spcAft>
                <a:spcPts val="600"/>
              </a:spcAft>
            </a:pPr>
            <a:r>
              <a:rPr lang="en-GB" sz="3600" dirty="0"/>
              <a:t>Worked Examples on Associative Mapping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306387" y="975174"/>
            <a:ext cx="11582400" cy="5120826"/>
          </a:xfrm>
        </p:spPr>
        <p:txBody>
          <a:bodyPr>
            <a:noAutofit/>
          </a:bodyPr>
          <a:lstStyle/>
          <a:p>
            <a:pPr algn="just" fontAlgn="base">
              <a:spcBef>
                <a:spcPts val="0"/>
              </a:spcBef>
              <a:spcAft>
                <a:spcPts val="0"/>
              </a:spcAft>
            </a:pPr>
            <a:r>
              <a:rPr lang="en-GB" sz="2600" b="1" dirty="0">
                <a:solidFill>
                  <a:schemeClr val="tx1"/>
                </a:solidFill>
              </a:rPr>
              <a:t>Thus, Number of bits in physical address = 34 bits </a:t>
            </a:r>
          </a:p>
          <a:p>
            <a:pPr algn="just" fontAlgn="base">
              <a:spcBef>
                <a:spcPts val="0"/>
              </a:spcBef>
              <a:spcAft>
                <a:spcPts val="0"/>
              </a:spcAft>
            </a:pPr>
            <a:endParaRPr lang="en-GB" sz="2600" dirty="0">
              <a:solidFill>
                <a:schemeClr val="tx1"/>
              </a:solidFill>
            </a:endParaRPr>
          </a:p>
          <a:p>
            <a:pPr algn="just" fontAlgn="base">
              <a:spcBef>
                <a:spcPts val="0"/>
              </a:spcBef>
              <a:spcAft>
                <a:spcPts val="0"/>
              </a:spcAft>
            </a:pPr>
            <a:r>
              <a:rPr lang="en-GB" sz="2600" b="1" dirty="0">
                <a:solidFill>
                  <a:schemeClr val="tx1"/>
                </a:solidFill>
              </a:rPr>
              <a:t>Number of Bits in Block Offset- </a:t>
            </a:r>
          </a:p>
          <a:p>
            <a:pPr algn="just" fontAlgn="base">
              <a:spcBef>
                <a:spcPts val="0"/>
              </a:spcBef>
              <a:spcAft>
                <a:spcPts val="0"/>
              </a:spcAft>
            </a:pPr>
            <a:r>
              <a:rPr lang="en-GB" sz="2600" dirty="0">
                <a:solidFill>
                  <a:schemeClr val="tx1"/>
                </a:solidFill>
              </a:rPr>
              <a:t>We have, </a:t>
            </a:r>
          </a:p>
          <a:p>
            <a:pPr algn="just" fontAlgn="base">
              <a:spcBef>
                <a:spcPts val="0"/>
              </a:spcBef>
              <a:spcAft>
                <a:spcPts val="0"/>
              </a:spcAft>
            </a:pPr>
            <a:r>
              <a:rPr lang="en-GB" sz="2600" dirty="0">
                <a:solidFill>
                  <a:schemeClr val="tx1"/>
                </a:solidFill>
              </a:rPr>
              <a:t>Block size </a:t>
            </a:r>
          </a:p>
          <a:p>
            <a:pPr algn="just" fontAlgn="base">
              <a:spcBef>
                <a:spcPts val="0"/>
              </a:spcBef>
              <a:spcAft>
                <a:spcPts val="0"/>
              </a:spcAft>
            </a:pPr>
            <a:r>
              <a:rPr lang="en-GB" sz="2600" dirty="0">
                <a:solidFill>
                  <a:schemeClr val="tx1"/>
                </a:solidFill>
              </a:rPr>
              <a:t>= 4 KB = 2</a:t>
            </a:r>
            <a:r>
              <a:rPr lang="en-GB" sz="2600" baseline="30000" dirty="0">
                <a:solidFill>
                  <a:schemeClr val="tx1"/>
                </a:solidFill>
              </a:rPr>
              <a:t>12</a:t>
            </a:r>
            <a:r>
              <a:rPr lang="en-GB" sz="2600" dirty="0">
                <a:solidFill>
                  <a:schemeClr val="tx1"/>
                </a:solidFill>
              </a:rPr>
              <a:t> bytes </a:t>
            </a:r>
          </a:p>
          <a:p>
            <a:pPr algn="just" fontAlgn="base">
              <a:spcBef>
                <a:spcPts val="0"/>
              </a:spcBef>
              <a:spcAft>
                <a:spcPts val="0"/>
              </a:spcAft>
            </a:pPr>
            <a:r>
              <a:rPr lang="en-GB" sz="2600" dirty="0">
                <a:solidFill>
                  <a:schemeClr val="tx1"/>
                </a:solidFill>
              </a:rPr>
              <a:t>Thus, Number of bits in block offset = 12 bits </a:t>
            </a:r>
          </a:p>
          <a:p>
            <a:pPr algn="just" fontAlgn="base">
              <a:spcBef>
                <a:spcPts val="0"/>
              </a:spcBef>
              <a:spcAft>
                <a:spcPts val="0"/>
              </a:spcAft>
            </a:pPr>
            <a:endParaRPr lang="en-GB" sz="2600" dirty="0">
              <a:solidFill>
                <a:schemeClr val="tx1"/>
              </a:solidFill>
            </a:endParaRPr>
          </a:p>
          <a:p>
            <a:pPr algn="just" fontAlgn="base">
              <a:spcBef>
                <a:spcPts val="0"/>
              </a:spcBef>
              <a:spcAft>
                <a:spcPts val="0"/>
              </a:spcAft>
            </a:pPr>
            <a:r>
              <a:rPr lang="en-GB" sz="2600" b="1" dirty="0">
                <a:solidFill>
                  <a:schemeClr val="tx1"/>
                </a:solidFill>
              </a:rPr>
              <a:t>Number of Bits in Tag- </a:t>
            </a:r>
          </a:p>
          <a:p>
            <a:pPr algn="just" fontAlgn="base">
              <a:spcBef>
                <a:spcPts val="0"/>
              </a:spcBef>
              <a:spcAft>
                <a:spcPts val="0"/>
              </a:spcAft>
            </a:pPr>
            <a:r>
              <a:rPr lang="en-GB" sz="2600" dirty="0">
                <a:solidFill>
                  <a:schemeClr val="tx1"/>
                </a:solidFill>
              </a:rPr>
              <a:t>= Number of bits in physical address – Number of bits in block offset </a:t>
            </a:r>
          </a:p>
          <a:p>
            <a:pPr algn="just" fontAlgn="base">
              <a:spcBef>
                <a:spcPts val="0"/>
              </a:spcBef>
              <a:spcAft>
                <a:spcPts val="0"/>
              </a:spcAft>
            </a:pPr>
            <a:r>
              <a:rPr lang="en-GB" sz="2600" dirty="0">
                <a:solidFill>
                  <a:schemeClr val="tx1"/>
                </a:solidFill>
              </a:rPr>
              <a:t>= 34 bits – 12 bits = 22 bits </a:t>
            </a:r>
          </a:p>
          <a:p>
            <a:pPr algn="just" fontAlgn="base">
              <a:spcBef>
                <a:spcPts val="0"/>
              </a:spcBef>
              <a:spcAft>
                <a:spcPts val="0"/>
              </a:spcAft>
            </a:pPr>
            <a:r>
              <a:rPr lang="en-GB" sz="2600" dirty="0">
                <a:solidFill>
                  <a:schemeClr val="tx1"/>
                </a:solidFill>
              </a:rPr>
              <a:t>Thus, Number of bits in tag = 22 bits</a:t>
            </a:r>
          </a:p>
          <a:p>
            <a:pPr lvl="1" algn="just" fontAlgn="base">
              <a:spcBef>
                <a:spcPts val="0"/>
              </a:spcBef>
              <a:spcAft>
                <a:spcPts val="0"/>
              </a:spcAft>
            </a:pPr>
            <a:endParaRPr lang="en-GB" sz="2600" dirty="0">
              <a:solidFill>
                <a:schemeClr val="tx1"/>
              </a:solidFill>
            </a:endParaRP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59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768078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153987" y="109986"/>
            <a:ext cx="11734800" cy="712788"/>
          </a:xfrm>
        </p:spPr>
        <p:txBody>
          <a:bodyPr>
            <a:normAutofit/>
          </a:bodyPr>
          <a:lstStyle/>
          <a:p>
            <a:pPr fontAlgn="base">
              <a:spcAft>
                <a:spcPts val="600"/>
              </a:spcAft>
            </a:pPr>
            <a:r>
              <a:rPr lang="en-GB" sz="3600" dirty="0"/>
              <a:t>Worked Examples on Associative Mapping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306387" y="975174"/>
            <a:ext cx="11582400" cy="5120826"/>
          </a:xfrm>
        </p:spPr>
        <p:txBody>
          <a:bodyPr>
            <a:noAutofit/>
          </a:bodyPr>
          <a:lstStyle/>
          <a:p>
            <a:pPr algn="just" fontAlgn="base">
              <a:spcBef>
                <a:spcPts val="0"/>
              </a:spcBef>
              <a:spcAft>
                <a:spcPts val="0"/>
              </a:spcAft>
            </a:pPr>
            <a:r>
              <a:rPr lang="en-GB" sz="2600" b="1" dirty="0">
                <a:solidFill>
                  <a:schemeClr val="tx1"/>
                </a:solidFill>
              </a:rPr>
              <a:t>Thus, Number of bits in physical address = 34 bits </a:t>
            </a:r>
          </a:p>
          <a:p>
            <a:pPr algn="just" fontAlgn="base">
              <a:spcBef>
                <a:spcPts val="0"/>
              </a:spcBef>
              <a:spcAft>
                <a:spcPts val="0"/>
              </a:spcAft>
            </a:pPr>
            <a:endParaRPr lang="en-GB" sz="2600" dirty="0">
              <a:solidFill>
                <a:schemeClr val="tx1"/>
              </a:solidFill>
            </a:endParaRPr>
          </a:p>
          <a:p>
            <a:pPr algn="just" fontAlgn="base">
              <a:spcBef>
                <a:spcPts val="0"/>
              </a:spcBef>
              <a:spcAft>
                <a:spcPts val="0"/>
              </a:spcAft>
            </a:pPr>
            <a:r>
              <a:rPr lang="en-GB" sz="2600" b="1" dirty="0">
                <a:solidFill>
                  <a:schemeClr val="tx1"/>
                </a:solidFill>
              </a:rPr>
              <a:t>Number of Bits in Block Offset- </a:t>
            </a:r>
          </a:p>
          <a:p>
            <a:pPr algn="just" fontAlgn="base">
              <a:spcBef>
                <a:spcPts val="0"/>
              </a:spcBef>
              <a:spcAft>
                <a:spcPts val="0"/>
              </a:spcAft>
            </a:pPr>
            <a:r>
              <a:rPr lang="en-GB" sz="2600" dirty="0">
                <a:solidFill>
                  <a:schemeClr val="tx1"/>
                </a:solidFill>
              </a:rPr>
              <a:t>We have, </a:t>
            </a:r>
          </a:p>
          <a:p>
            <a:pPr algn="just" fontAlgn="base">
              <a:spcBef>
                <a:spcPts val="0"/>
              </a:spcBef>
              <a:spcAft>
                <a:spcPts val="0"/>
              </a:spcAft>
            </a:pPr>
            <a:r>
              <a:rPr lang="en-GB" sz="2600" dirty="0">
                <a:solidFill>
                  <a:schemeClr val="tx1"/>
                </a:solidFill>
              </a:rPr>
              <a:t>Block size </a:t>
            </a:r>
          </a:p>
          <a:p>
            <a:pPr algn="just" fontAlgn="base">
              <a:spcBef>
                <a:spcPts val="0"/>
              </a:spcBef>
              <a:spcAft>
                <a:spcPts val="0"/>
              </a:spcAft>
            </a:pPr>
            <a:r>
              <a:rPr lang="en-GB" sz="2600" dirty="0">
                <a:solidFill>
                  <a:schemeClr val="tx1"/>
                </a:solidFill>
              </a:rPr>
              <a:t>= 4 KB = 2</a:t>
            </a:r>
            <a:r>
              <a:rPr lang="en-GB" sz="2600" baseline="30000" dirty="0">
                <a:solidFill>
                  <a:schemeClr val="tx1"/>
                </a:solidFill>
              </a:rPr>
              <a:t>12</a:t>
            </a:r>
            <a:r>
              <a:rPr lang="en-GB" sz="2600" dirty="0">
                <a:solidFill>
                  <a:schemeClr val="tx1"/>
                </a:solidFill>
              </a:rPr>
              <a:t> bytes </a:t>
            </a:r>
          </a:p>
          <a:p>
            <a:pPr algn="just" fontAlgn="base">
              <a:spcBef>
                <a:spcPts val="0"/>
              </a:spcBef>
              <a:spcAft>
                <a:spcPts val="0"/>
              </a:spcAft>
            </a:pPr>
            <a:r>
              <a:rPr lang="en-GB" sz="2600" dirty="0">
                <a:solidFill>
                  <a:schemeClr val="tx1"/>
                </a:solidFill>
              </a:rPr>
              <a:t>Thus, Number of bits in block offset = 12 bits </a:t>
            </a:r>
          </a:p>
          <a:p>
            <a:pPr algn="just" fontAlgn="base">
              <a:spcBef>
                <a:spcPts val="0"/>
              </a:spcBef>
              <a:spcAft>
                <a:spcPts val="0"/>
              </a:spcAft>
            </a:pPr>
            <a:endParaRPr lang="en-GB" sz="2600" dirty="0">
              <a:solidFill>
                <a:schemeClr val="tx1"/>
              </a:solidFill>
            </a:endParaRPr>
          </a:p>
          <a:p>
            <a:pPr algn="just" fontAlgn="base">
              <a:spcBef>
                <a:spcPts val="0"/>
              </a:spcBef>
              <a:spcAft>
                <a:spcPts val="0"/>
              </a:spcAft>
            </a:pPr>
            <a:r>
              <a:rPr lang="en-GB" sz="2600" b="1" dirty="0">
                <a:solidFill>
                  <a:schemeClr val="tx1"/>
                </a:solidFill>
              </a:rPr>
              <a:t>Number of Bits in Tag- </a:t>
            </a:r>
          </a:p>
          <a:p>
            <a:pPr algn="just" fontAlgn="base">
              <a:spcBef>
                <a:spcPts val="0"/>
              </a:spcBef>
              <a:spcAft>
                <a:spcPts val="0"/>
              </a:spcAft>
            </a:pPr>
            <a:r>
              <a:rPr lang="en-GB" sz="2600" dirty="0">
                <a:solidFill>
                  <a:schemeClr val="tx1"/>
                </a:solidFill>
              </a:rPr>
              <a:t>= Number of bits in physical address – Number of bits in block offset </a:t>
            </a:r>
          </a:p>
          <a:p>
            <a:pPr algn="just" fontAlgn="base">
              <a:spcBef>
                <a:spcPts val="0"/>
              </a:spcBef>
              <a:spcAft>
                <a:spcPts val="0"/>
              </a:spcAft>
            </a:pPr>
            <a:r>
              <a:rPr lang="en-GB" sz="2600" dirty="0">
                <a:solidFill>
                  <a:schemeClr val="tx1"/>
                </a:solidFill>
              </a:rPr>
              <a:t>= 34 bits – 12 bits = 22 bits </a:t>
            </a:r>
          </a:p>
          <a:p>
            <a:pPr algn="just" fontAlgn="base">
              <a:spcBef>
                <a:spcPts val="0"/>
              </a:spcBef>
              <a:spcAft>
                <a:spcPts val="0"/>
              </a:spcAft>
            </a:pPr>
            <a:r>
              <a:rPr lang="en-GB" sz="2600" dirty="0">
                <a:solidFill>
                  <a:schemeClr val="tx1"/>
                </a:solidFill>
              </a:rPr>
              <a:t>Thus, Number of bits in tag = 22 bits</a:t>
            </a:r>
          </a:p>
          <a:p>
            <a:pPr lvl="1" algn="just" fontAlgn="base">
              <a:spcBef>
                <a:spcPts val="0"/>
              </a:spcBef>
              <a:spcAft>
                <a:spcPts val="0"/>
              </a:spcAft>
            </a:pPr>
            <a:endParaRPr lang="en-GB" sz="2600" dirty="0">
              <a:solidFill>
                <a:schemeClr val="tx1"/>
              </a:solidFill>
            </a:endParaRP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60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8472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153987" y="109986"/>
            <a:ext cx="11734800" cy="712788"/>
          </a:xfrm>
        </p:spPr>
        <p:txBody>
          <a:bodyPr>
            <a:normAutofit/>
          </a:bodyPr>
          <a:lstStyle/>
          <a:p>
            <a:pPr fontAlgn="base">
              <a:spcBef>
                <a:spcPts val="0"/>
              </a:spcBef>
              <a:spcAft>
                <a:spcPts val="0"/>
              </a:spcAft>
            </a:pPr>
            <a:r>
              <a:rPr lang="en-GB" sz="3600" dirty="0"/>
              <a:t>Set associative mapping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306387" y="868586"/>
            <a:ext cx="11582400" cy="5379813"/>
          </a:xfrm>
        </p:spPr>
        <p:txBody>
          <a:bodyPr>
            <a:noAutofit/>
          </a:bodyPr>
          <a:lstStyle/>
          <a:p>
            <a:pPr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sz="2600" dirty="0">
                <a:solidFill>
                  <a:schemeClr val="tx1"/>
                </a:solidFill>
              </a:rPr>
              <a:t>This form of mapping is an enhanced form of direct mapping where the drawbacks of direct mapping are removed. </a:t>
            </a:r>
          </a:p>
          <a:p>
            <a:pPr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sz="2600" dirty="0">
                <a:solidFill>
                  <a:schemeClr val="tx1"/>
                </a:solidFill>
              </a:rPr>
              <a:t>Set associative addresses the problem of possible thrashing in the direct mapping method. </a:t>
            </a:r>
          </a:p>
          <a:p>
            <a:pPr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sz="2600" dirty="0">
                <a:solidFill>
                  <a:schemeClr val="tx1"/>
                </a:solidFill>
              </a:rPr>
              <a:t>It does this by saying that instead of having exactly one line that a block can map to in the cache, we will group a few lines together creating a set. </a:t>
            </a:r>
          </a:p>
          <a:p>
            <a:pPr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sz="2600" dirty="0">
                <a:solidFill>
                  <a:schemeClr val="tx1"/>
                </a:solidFill>
              </a:rPr>
              <a:t>Then a block in memory can map to any one of the lines of a specific set. Set-associative mapping allows that each word that is present in the cache can have two or more words in the main memory for the same index address. </a:t>
            </a:r>
          </a:p>
          <a:p>
            <a:pPr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sz="2600" dirty="0">
                <a:solidFill>
                  <a:schemeClr val="tx1"/>
                </a:solidFill>
              </a:rPr>
              <a:t>Set associative cache mapping combines the best of direct and associative cache mapping techniques.</a:t>
            </a:r>
          </a:p>
          <a:p>
            <a:pPr lvl="1" algn="just" fontAlgn="base">
              <a:spcBef>
                <a:spcPts val="0"/>
              </a:spcBef>
              <a:spcAft>
                <a:spcPts val="1200"/>
              </a:spcAft>
            </a:pPr>
            <a:endParaRPr lang="en-GB" sz="2600" dirty="0">
              <a:solidFill>
                <a:schemeClr val="tx1"/>
              </a:solidFill>
            </a:endParaRP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61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413435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153987" y="109986"/>
            <a:ext cx="11734800" cy="712788"/>
          </a:xfrm>
        </p:spPr>
        <p:txBody>
          <a:bodyPr>
            <a:normAutofit/>
          </a:bodyPr>
          <a:lstStyle/>
          <a:p>
            <a:pPr fontAlgn="base">
              <a:spcBef>
                <a:spcPts val="0"/>
              </a:spcBef>
              <a:spcAft>
                <a:spcPts val="1200"/>
              </a:spcAft>
            </a:pPr>
            <a:r>
              <a:rPr lang="en-GB" sz="3600" dirty="0"/>
              <a:t>Worked Examples on Set-Associative Mapping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306387" y="868586"/>
            <a:ext cx="11582400" cy="5379813"/>
          </a:xfrm>
        </p:spPr>
        <p:txBody>
          <a:bodyPr>
            <a:noAutofit/>
          </a:bodyPr>
          <a:lstStyle/>
          <a:p>
            <a:pPr marL="0" indent="0" algn="just" fontAlgn="base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600" b="1" dirty="0">
                <a:solidFill>
                  <a:srgbClr val="7A0000"/>
                </a:solidFill>
              </a:rPr>
              <a:t>Example 1: </a:t>
            </a:r>
          </a:p>
          <a:p>
            <a:pPr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sz="2600" dirty="0">
                <a:solidFill>
                  <a:schemeClr val="tx1"/>
                </a:solidFill>
              </a:rPr>
              <a:t>Consider a 2-way set associative mapped cache of size 16 KB with block size 256 bytes. The size of main memory is 128 KB. Find-</a:t>
            </a:r>
          </a:p>
          <a:p>
            <a:pPr marL="0" indent="0" algn="just" fontAlgn="base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600" dirty="0">
                <a:solidFill>
                  <a:schemeClr val="tx1"/>
                </a:solidFill>
              </a:rPr>
              <a:t>1. Number of bits in tag</a:t>
            </a:r>
          </a:p>
          <a:p>
            <a:pPr marL="0" indent="0" algn="just" fontAlgn="base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600" dirty="0">
                <a:solidFill>
                  <a:schemeClr val="tx1"/>
                </a:solidFill>
              </a:rPr>
              <a:t>2. Tag directory size</a:t>
            </a:r>
          </a:p>
          <a:p>
            <a:pPr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sz="2600" dirty="0">
                <a:solidFill>
                  <a:schemeClr val="tx1"/>
                </a:solidFill>
              </a:rPr>
              <a:t>Given-</a:t>
            </a:r>
          </a:p>
          <a:p>
            <a:pPr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sz="2600" dirty="0">
                <a:solidFill>
                  <a:schemeClr val="tx1"/>
                </a:solidFill>
              </a:rPr>
              <a:t>- Set size = 2</a:t>
            </a:r>
          </a:p>
          <a:p>
            <a:pPr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sz="2600" dirty="0">
                <a:solidFill>
                  <a:schemeClr val="tx1"/>
                </a:solidFill>
              </a:rPr>
              <a:t>- Cache memory size = 16 KB</a:t>
            </a:r>
          </a:p>
          <a:p>
            <a:pPr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sz="2600" dirty="0">
                <a:solidFill>
                  <a:schemeClr val="tx1"/>
                </a:solidFill>
              </a:rPr>
              <a:t>- Block size = Frame size = Line size = 256 bytes</a:t>
            </a:r>
          </a:p>
          <a:p>
            <a:pPr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sz="2600" dirty="0">
                <a:solidFill>
                  <a:schemeClr val="tx1"/>
                </a:solidFill>
              </a:rPr>
              <a:t>-Main memory size = 128 KB</a:t>
            </a:r>
          </a:p>
          <a:p>
            <a:pPr marL="457200" lvl="1" indent="0" algn="just" fontAlgn="base">
              <a:spcBef>
                <a:spcPts val="0"/>
              </a:spcBef>
              <a:spcAft>
                <a:spcPts val="1200"/>
              </a:spcAft>
              <a:buNone/>
            </a:pPr>
            <a:endParaRPr lang="en-GB" sz="2600" dirty="0">
              <a:solidFill>
                <a:schemeClr val="tx1"/>
              </a:solidFill>
            </a:endParaRP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62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09623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153987" y="109986"/>
            <a:ext cx="11734800" cy="712788"/>
          </a:xfrm>
        </p:spPr>
        <p:txBody>
          <a:bodyPr>
            <a:normAutofit/>
          </a:bodyPr>
          <a:lstStyle/>
          <a:p>
            <a:pPr fontAlgn="base">
              <a:spcBef>
                <a:spcPts val="0"/>
              </a:spcBef>
              <a:spcAft>
                <a:spcPts val="1200"/>
              </a:spcAft>
            </a:pPr>
            <a:r>
              <a:rPr lang="en-GB" sz="3600" dirty="0"/>
              <a:t>Worked Examples on Set-Associative Mapping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306387" y="1020986"/>
            <a:ext cx="11582400" cy="4846414"/>
          </a:xfrm>
        </p:spPr>
        <p:txBody>
          <a:bodyPr>
            <a:noAutofit/>
          </a:bodyPr>
          <a:lstStyle/>
          <a:p>
            <a:pPr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sz="2600" dirty="0">
                <a:solidFill>
                  <a:schemeClr val="tx1"/>
                </a:solidFill>
              </a:rPr>
              <a:t>We consider that the memory is byte addressable.</a:t>
            </a:r>
          </a:p>
          <a:p>
            <a:pPr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sz="2600" b="1" dirty="0">
                <a:solidFill>
                  <a:schemeClr val="tx1"/>
                </a:solidFill>
              </a:rPr>
              <a:t>Number of Bits in Physical Address-</a:t>
            </a:r>
          </a:p>
          <a:p>
            <a:pPr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sz="2600" dirty="0">
                <a:solidFill>
                  <a:schemeClr val="tx1"/>
                </a:solidFill>
              </a:rPr>
              <a:t>We have,</a:t>
            </a:r>
          </a:p>
          <a:p>
            <a:pPr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sz="2600" dirty="0">
                <a:solidFill>
                  <a:schemeClr val="tx1"/>
                </a:solidFill>
              </a:rPr>
              <a:t>Size of main memory  = 128 KB= 2</a:t>
            </a:r>
            <a:r>
              <a:rPr lang="en-GB" sz="2600" baseline="30000" dirty="0">
                <a:solidFill>
                  <a:schemeClr val="tx1"/>
                </a:solidFill>
              </a:rPr>
              <a:t>17</a:t>
            </a:r>
            <a:r>
              <a:rPr lang="en-GB" sz="2600" dirty="0">
                <a:solidFill>
                  <a:schemeClr val="tx1"/>
                </a:solidFill>
              </a:rPr>
              <a:t> bytes</a:t>
            </a:r>
          </a:p>
          <a:p>
            <a:pPr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sz="2600" dirty="0">
                <a:solidFill>
                  <a:schemeClr val="tx1"/>
                </a:solidFill>
              </a:rPr>
              <a:t>Thus, Number of bits in physical address = </a:t>
            </a:r>
            <a:r>
              <a:rPr lang="en-GB" sz="2600" b="1" dirty="0">
                <a:solidFill>
                  <a:schemeClr val="tx1"/>
                </a:solidFill>
              </a:rPr>
              <a:t>17 bits</a:t>
            </a:r>
          </a:p>
          <a:p>
            <a:pPr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sz="2600" b="1" dirty="0">
                <a:solidFill>
                  <a:schemeClr val="tx1"/>
                </a:solidFill>
              </a:rPr>
              <a:t>Number of Bits in Block Offset-</a:t>
            </a:r>
          </a:p>
          <a:p>
            <a:pPr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sz="2600" dirty="0">
                <a:solidFill>
                  <a:schemeClr val="tx1"/>
                </a:solidFill>
              </a:rPr>
              <a:t>We have,</a:t>
            </a:r>
          </a:p>
          <a:p>
            <a:pPr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sz="2600" dirty="0">
                <a:solidFill>
                  <a:schemeClr val="tx1"/>
                </a:solidFill>
              </a:rPr>
              <a:t>Block size = 256 bytes= 2</a:t>
            </a:r>
            <a:r>
              <a:rPr lang="en-GB" sz="2600" baseline="30000" dirty="0">
                <a:solidFill>
                  <a:schemeClr val="tx1"/>
                </a:solidFill>
              </a:rPr>
              <a:t>8</a:t>
            </a:r>
            <a:r>
              <a:rPr lang="en-GB" sz="2600" dirty="0">
                <a:solidFill>
                  <a:schemeClr val="tx1"/>
                </a:solidFill>
              </a:rPr>
              <a:t>bytes</a:t>
            </a:r>
          </a:p>
          <a:p>
            <a:pPr algn="just" fontAlgn="base">
              <a:spcBef>
                <a:spcPts val="0"/>
              </a:spcBef>
              <a:spcAft>
                <a:spcPts val="1200"/>
              </a:spcAft>
            </a:pPr>
            <a:r>
              <a:rPr lang="en-GB" sz="2600" dirty="0">
                <a:solidFill>
                  <a:schemeClr val="tx1"/>
                </a:solidFill>
              </a:rPr>
              <a:t>Thus, Number of bits in block offset = </a:t>
            </a:r>
            <a:r>
              <a:rPr lang="en-GB" sz="2600" b="1" dirty="0">
                <a:solidFill>
                  <a:schemeClr val="tx1"/>
                </a:solidFill>
              </a:rPr>
              <a:t>8 bits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63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12163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153987" y="109986"/>
            <a:ext cx="11734800" cy="712788"/>
          </a:xfrm>
        </p:spPr>
        <p:txBody>
          <a:bodyPr>
            <a:normAutofit/>
          </a:bodyPr>
          <a:lstStyle/>
          <a:p>
            <a:pPr fontAlgn="base">
              <a:spcBef>
                <a:spcPts val="0"/>
              </a:spcBef>
              <a:spcAft>
                <a:spcPts val="1200"/>
              </a:spcAft>
            </a:pPr>
            <a:r>
              <a:rPr lang="en-GB" sz="3600" dirty="0"/>
              <a:t>Worked Examples on Set-Associative Mapping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306387" y="990600"/>
            <a:ext cx="11582400" cy="5151213"/>
          </a:xfrm>
        </p:spPr>
        <p:txBody>
          <a:bodyPr>
            <a:noAutofit/>
          </a:bodyPr>
          <a:lstStyle/>
          <a:p>
            <a:pPr algn="just" fontAlgn="base">
              <a:spcBef>
                <a:spcPts val="0"/>
              </a:spcBef>
              <a:spcAft>
                <a:spcPts val="600"/>
              </a:spcAft>
            </a:pPr>
            <a:r>
              <a:rPr lang="en-GB" sz="2600" b="1" dirty="0">
                <a:solidFill>
                  <a:srgbClr val="7A0000"/>
                </a:solidFill>
              </a:rPr>
              <a:t>Number of Lines in Cache-</a:t>
            </a:r>
          </a:p>
          <a:p>
            <a:pPr algn="just" fontAlgn="base">
              <a:spcBef>
                <a:spcPts val="0"/>
              </a:spcBef>
              <a:spcAft>
                <a:spcPts val="600"/>
              </a:spcAft>
            </a:pPr>
            <a:r>
              <a:rPr lang="en-GB" sz="2600" dirty="0">
                <a:solidFill>
                  <a:schemeClr val="tx1"/>
                </a:solidFill>
              </a:rPr>
              <a:t>Total number of lines in cache = Cache size / Line size</a:t>
            </a:r>
          </a:p>
          <a:p>
            <a:pPr algn="just" fontAlgn="base">
              <a:spcBef>
                <a:spcPts val="0"/>
              </a:spcBef>
              <a:spcAft>
                <a:spcPts val="600"/>
              </a:spcAft>
            </a:pPr>
            <a:r>
              <a:rPr lang="en-GB" sz="2600" dirty="0">
                <a:solidFill>
                  <a:schemeClr val="tx1"/>
                </a:solidFill>
              </a:rPr>
              <a:t>= 16 KB / 256 bytes</a:t>
            </a:r>
          </a:p>
          <a:p>
            <a:pPr algn="just" fontAlgn="base">
              <a:spcBef>
                <a:spcPts val="0"/>
              </a:spcBef>
              <a:spcAft>
                <a:spcPts val="600"/>
              </a:spcAft>
            </a:pPr>
            <a:r>
              <a:rPr lang="en-GB" sz="2600" dirty="0">
                <a:solidFill>
                  <a:schemeClr val="tx1"/>
                </a:solidFill>
              </a:rPr>
              <a:t>= 2</a:t>
            </a:r>
            <a:r>
              <a:rPr lang="en-GB" sz="2600" baseline="30000" dirty="0">
                <a:solidFill>
                  <a:schemeClr val="tx1"/>
                </a:solidFill>
              </a:rPr>
              <a:t>14 </a:t>
            </a:r>
            <a:r>
              <a:rPr lang="en-GB" sz="2600" dirty="0">
                <a:solidFill>
                  <a:schemeClr val="tx1"/>
                </a:solidFill>
              </a:rPr>
              <a:t>bytes / 2</a:t>
            </a:r>
            <a:r>
              <a:rPr lang="en-GB" sz="2600" baseline="30000" dirty="0">
                <a:solidFill>
                  <a:schemeClr val="tx1"/>
                </a:solidFill>
              </a:rPr>
              <a:t>8 </a:t>
            </a:r>
            <a:r>
              <a:rPr lang="en-GB" sz="2600" dirty="0">
                <a:solidFill>
                  <a:schemeClr val="tx1"/>
                </a:solidFill>
              </a:rPr>
              <a:t>bytes= 64 lines</a:t>
            </a:r>
          </a:p>
          <a:p>
            <a:pPr algn="just" fontAlgn="base">
              <a:spcBef>
                <a:spcPts val="0"/>
              </a:spcBef>
              <a:spcAft>
                <a:spcPts val="600"/>
              </a:spcAft>
            </a:pPr>
            <a:r>
              <a:rPr lang="en-GB" sz="2600" b="1" dirty="0">
                <a:solidFill>
                  <a:schemeClr val="tx1"/>
                </a:solidFill>
              </a:rPr>
              <a:t>Thus, Number of lines in cache = 64 lines</a:t>
            </a:r>
          </a:p>
          <a:p>
            <a:pPr algn="just" fontAlgn="base">
              <a:spcBef>
                <a:spcPts val="0"/>
              </a:spcBef>
              <a:spcAft>
                <a:spcPts val="600"/>
              </a:spcAft>
            </a:pPr>
            <a:r>
              <a:rPr lang="en-GB" sz="2600" b="1" dirty="0">
                <a:solidFill>
                  <a:srgbClr val="7A0000"/>
                </a:solidFill>
              </a:rPr>
              <a:t>Number of Sets in Cache-</a:t>
            </a:r>
          </a:p>
          <a:p>
            <a:pPr algn="just" fontAlgn="base">
              <a:spcBef>
                <a:spcPts val="0"/>
              </a:spcBef>
              <a:spcAft>
                <a:spcPts val="600"/>
              </a:spcAft>
            </a:pPr>
            <a:r>
              <a:rPr lang="en-GB" sz="2600" dirty="0">
                <a:solidFill>
                  <a:schemeClr val="tx1"/>
                </a:solidFill>
              </a:rPr>
              <a:t>Total number of sets in cache</a:t>
            </a:r>
          </a:p>
          <a:p>
            <a:pPr algn="just" fontAlgn="base">
              <a:spcBef>
                <a:spcPts val="0"/>
              </a:spcBef>
              <a:spcAft>
                <a:spcPts val="600"/>
              </a:spcAft>
            </a:pPr>
            <a:r>
              <a:rPr lang="en-GB" sz="2600" dirty="0">
                <a:solidFill>
                  <a:schemeClr val="tx1"/>
                </a:solidFill>
              </a:rPr>
              <a:t>= Total number of lines in cache / Set size</a:t>
            </a:r>
          </a:p>
          <a:p>
            <a:pPr algn="just" fontAlgn="base">
              <a:spcBef>
                <a:spcPts val="0"/>
              </a:spcBef>
              <a:spcAft>
                <a:spcPts val="600"/>
              </a:spcAft>
            </a:pPr>
            <a:r>
              <a:rPr lang="en-GB" sz="2600" dirty="0">
                <a:solidFill>
                  <a:schemeClr val="tx1"/>
                </a:solidFill>
              </a:rPr>
              <a:t>= 64 /2= 32 sets</a:t>
            </a:r>
          </a:p>
          <a:p>
            <a:pPr algn="just" fontAlgn="base">
              <a:spcBef>
                <a:spcPts val="0"/>
              </a:spcBef>
              <a:spcAft>
                <a:spcPts val="600"/>
              </a:spcAft>
            </a:pPr>
            <a:r>
              <a:rPr lang="en-GB" sz="2600" dirty="0">
                <a:solidFill>
                  <a:schemeClr val="tx1"/>
                </a:solidFill>
              </a:rPr>
              <a:t>= 2</a:t>
            </a:r>
            <a:r>
              <a:rPr lang="en-GB" sz="2600" baseline="30000" dirty="0">
                <a:solidFill>
                  <a:schemeClr val="tx1"/>
                </a:solidFill>
              </a:rPr>
              <a:t>5</a:t>
            </a:r>
            <a:r>
              <a:rPr lang="en-GB" sz="2600" dirty="0">
                <a:solidFill>
                  <a:schemeClr val="tx1"/>
                </a:solidFill>
              </a:rPr>
              <a:t> sets</a:t>
            </a:r>
          </a:p>
          <a:p>
            <a:pPr algn="just" fontAlgn="base">
              <a:spcBef>
                <a:spcPts val="0"/>
              </a:spcBef>
              <a:spcAft>
                <a:spcPts val="600"/>
              </a:spcAft>
            </a:pPr>
            <a:r>
              <a:rPr lang="en-GB" sz="2600" b="1" dirty="0">
                <a:solidFill>
                  <a:schemeClr val="tx1"/>
                </a:solidFill>
              </a:rPr>
              <a:t>Thus, Number of bits in set number = 5 bits</a:t>
            </a:r>
          </a:p>
          <a:p>
            <a:pPr lvl="1" algn="just" fontAlgn="base">
              <a:spcBef>
                <a:spcPts val="0"/>
              </a:spcBef>
              <a:spcAft>
                <a:spcPts val="600"/>
              </a:spcAft>
            </a:pPr>
            <a:endParaRPr lang="en-GB" sz="2600" dirty="0">
              <a:solidFill>
                <a:schemeClr val="tx1"/>
              </a:solidFill>
            </a:endParaRP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95196D46-B771-4AAD-B92B-20A558C9D24A}" type="slidenum">
              <a:rPr lang="en-US" smtClean="0">
                <a:latin typeface="Arial" pitchFamily="34" charset="0"/>
              </a:rPr>
              <a:pPr/>
              <a:t>64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242760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9875" y="6248400"/>
            <a:ext cx="2845541" cy="457200"/>
          </a:xfrm>
          <a:prstGeom prst="rect">
            <a:avLst/>
          </a:prstGeom>
          <a:noFill/>
        </p:spPr>
        <p:txBody>
          <a:bodyPr/>
          <a:lstStyle/>
          <a:p>
            <a:fld id="{C66D85E7-11C7-4367-BA04-FB62879CB5E6}" type="slidenum">
              <a:rPr lang="en-US" smtClean="0">
                <a:latin typeface="Arial" pitchFamily="34" charset="0"/>
              </a:rPr>
              <a:pPr/>
              <a:t>65</a:t>
            </a:fld>
            <a:endParaRPr lang="en-US">
              <a:latin typeface="Arial" pitchFamily="34" charset="0"/>
            </a:endParaRPr>
          </a:p>
        </p:txBody>
      </p:sp>
      <p:sp>
        <p:nvSpPr>
          <p:cNvPr id="5" name="Rectangle 7"/>
          <p:cNvSpPr txBox="1">
            <a:spLocks noChangeArrowheads="1"/>
          </p:cNvSpPr>
          <p:nvPr/>
        </p:nvSpPr>
        <p:spPr>
          <a:xfrm>
            <a:off x="458787" y="2209800"/>
            <a:ext cx="11125200" cy="990600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n-US" sz="5400" b="1" dirty="0">
                <a:latin typeface="Rockwell" panose="02060603020205020403" pitchFamily="18" charset="0"/>
              </a:rPr>
              <a:t>End of Lesson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1899256</TotalTime>
  <Words>3670</Words>
  <Application>Microsoft Office PowerPoint</Application>
  <PresentationFormat>Custom</PresentationFormat>
  <Paragraphs>529</Paragraphs>
  <Slides>65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65</vt:i4>
      </vt:variant>
    </vt:vector>
  </HeadingPairs>
  <TitlesOfParts>
    <vt:vector size="72" baseType="lpstr">
      <vt:lpstr>Arial</vt:lpstr>
      <vt:lpstr>Calibri</vt:lpstr>
      <vt:lpstr>Georgia</vt:lpstr>
      <vt:lpstr>Rockwell</vt:lpstr>
      <vt:lpstr>Wingdings</vt:lpstr>
      <vt:lpstr>Office Theme</vt:lpstr>
      <vt:lpstr>Custom Design</vt:lpstr>
      <vt:lpstr>IFT222 Computer Architecture and Organization</vt:lpstr>
      <vt:lpstr>PowerPoint Presentation</vt:lpstr>
      <vt:lpstr>LEARNING OUTCOMES</vt:lpstr>
      <vt:lpstr>INTRODUCTION</vt:lpstr>
      <vt:lpstr>INTRODUCTION</vt:lpstr>
      <vt:lpstr>THE WAY OUT </vt:lpstr>
      <vt:lpstr>THE WAY OUT </vt:lpstr>
      <vt:lpstr>Typical Memory Hierarchy (Top → Bottom)</vt:lpstr>
      <vt:lpstr>Question </vt:lpstr>
      <vt:lpstr>Answer</vt:lpstr>
      <vt:lpstr>Strategies to minimize frequent accesses to slower memories</vt:lpstr>
      <vt:lpstr>Space and Time locality of reference principle:</vt:lpstr>
      <vt:lpstr>Space and Time locality of reference principle:</vt:lpstr>
      <vt:lpstr>Example (p1)</vt:lpstr>
      <vt:lpstr>Example(p2)</vt:lpstr>
      <vt:lpstr>Example(p3)</vt:lpstr>
      <vt:lpstr>Explanation of the Graph on previous slide</vt:lpstr>
      <vt:lpstr>Strategy to minimize accesses should be:</vt:lpstr>
      <vt:lpstr>Strategy to minimize accesses…</vt:lpstr>
      <vt:lpstr>Cache Memory</vt:lpstr>
      <vt:lpstr>ADDRESS CELLS NIBBLE – 4BITS BYTE – 8BITS WORD = IS ONE OR MORE COMPLETE ROWS OF MMEMORY  = 1 BYTE   BLOCK = A COLLECTION OF WORDS  = 2, 4, 8,  BLOCK 0 = 4 WORDS BLOCK 1 = 4 WORDS BLOCK 2 = 4 WORDS   10KB</vt:lpstr>
      <vt:lpstr>Cache Memory Principles</vt:lpstr>
      <vt:lpstr>How then can we improve the Cache concept?</vt:lpstr>
      <vt:lpstr>Main Memory – Cache Organization</vt:lpstr>
      <vt:lpstr>Main Memory –Cache Organization</vt:lpstr>
      <vt:lpstr>Main Memory –Cache Organization</vt:lpstr>
      <vt:lpstr>Cache Read Operation</vt:lpstr>
      <vt:lpstr>Cache Read Operation</vt:lpstr>
      <vt:lpstr>Typical Cache Organization</vt:lpstr>
      <vt:lpstr>Explanation of Diagram</vt:lpstr>
      <vt:lpstr>What happens when a word is in Cache?</vt:lpstr>
      <vt:lpstr>What happens when a word is NOT in Cache?</vt:lpstr>
      <vt:lpstr>Elements of Cache Design</vt:lpstr>
      <vt:lpstr>Cache Addresses</vt:lpstr>
      <vt:lpstr>Cache Addresses</vt:lpstr>
      <vt:lpstr>Cache Addresses</vt:lpstr>
      <vt:lpstr>What is the difference?</vt:lpstr>
      <vt:lpstr>Cache Size</vt:lpstr>
      <vt:lpstr>Cache Mapping Functions</vt:lpstr>
      <vt:lpstr>Direct Mapping Function</vt:lpstr>
      <vt:lpstr>Direct Mapping Function</vt:lpstr>
      <vt:lpstr>Direct Mapping Function</vt:lpstr>
      <vt:lpstr>To determine whether a block is in the cache:</vt:lpstr>
      <vt:lpstr>Direct Mapping Function</vt:lpstr>
      <vt:lpstr>Worked Examples on Direct Mapping Function</vt:lpstr>
      <vt:lpstr>Worked Examples on Direct Mapping Function</vt:lpstr>
      <vt:lpstr>Worked Examples on Direct Mapping Function</vt:lpstr>
      <vt:lpstr>Worked Examples on Direct Mapping Function</vt:lpstr>
      <vt:lpstr>Worked Examples on Direct Mapping Function</vt:lpstr>
      <vt:lpstr>Associative Mapping</vt:lpstr>
      <vt:lpstr>Associative Mapping</vt:lpstr>
      <vt:lpstr>Associative Mapping</vt:lpstr>
      <vt:lpstr>To determine whether a block is in the cache</vt:lpstr>
      <vt:lpstr>Worked Examples on Associative Mapping</vt:lpstr>
      <vt:lpstr>Worked Examples on Associative Mapping</vt:lpstr>
      <vt:lpstr>Worked Examples on Associative Mapping</vt:lpstr>
      <vt:lpstr>Worked Examples on Associative Mapping</vt:lpstr>
      <vt:lpstr>Worked Examples on Associative Mapping</vt:lpstr>
      <vt:lpstr>Worked Examples on Associative Mapping</vt:lpstr>
      <vt:lpstr>Worked Examples on Associative Mapping</vt:lpstr>
      <vt:lpstr>Set associative mapping</vt:lpstr>
      <vt:lpstr>Worked Examples on Set-Associative Mapping</vt:lpstr>
      <vt:lpstr>Worked Examples on Set-Associative Mapping</vt:lpstr>
      <vt:lpstr>Worked Examples on Set-Associative Mapping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Driving Administrative Quality For Vision 10: 2022</dc:title>
  <dc:creator>HP</dc:creator>
  <cp:lastModifiedBy>Oluranti Jonathan</cp:lastModifiedBy>
  <cp:revision>323</cp:revision>
  <cp:lastPrinted>2015-08-03T07:22:59Z</cp:lastPrinted>
  <dcterms:created xsi:type="dcterms:W3CDTF">2014-01-31T21:42:27Z</dcterms:created>
  <dcterms:modified xsi:type="dcterms:W3CDTF">2026-07-05T11:31:23Z</dcterms:modified>
</cp:coreProperties>
</file>