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3"/>
  </p:notesMasterIdLst>
  <p:handoutMasterIdLst>
    <p:handoutMasterId r:id="rId64"/>
  </p:handoutMasterIdLst>
  <p:sldIdLst>
    <p:sldId id="454" r:id="rId3"/>
    <p:sldId id="430" r:id="rId4"/>
    <p:sldId id="429" r:id="rId5"/>
    <p:sldId id="479" r:id="rId6"/>
    <p:sldId id="456" r:id="rId7"/>
    <p:sldId id="457" r:id="rId8"/>
    <p:sldId id="458" r:id="rId9"/>
    <p:sldId id="459" r:id="rId10"/>
    <p:sldId id="460" r:id="rId11"/>
    <p:sldId id="461" r:id="rId12"/>
    <p:sldId id="462" r:id="rId13"/>
    <p:sldId id="431" r:id="rId14"/>
    <p:sldId id="463" r:id="rId15"/>
    <p:sldId id="432" r:id="rId16"/>
    <p:sldId id="464" r:id="rId17"/>
    <p:sldId id="433" r:id="rId18"/>
    <p:sldId id="465" r:id="rId19"/>
    <p:sldId id="466" r:id="rId20"/>
    <p:sldId id="467" r:id="rId21"/>
    <p:sldId id="468" r:id="rId22"/>
    <p:sldId id="469" r:id="rId23"/>
    <p:sldId id="470" r:id="rId24"/>
    <p:sldId id="471" r:id="rId25"/>
    <p:sldId id="472" r:id="rId26"/>
    <p:sldId id="473" r:id="rId27"/>
    <p:sldId id="474" r:id="rId28"/>
    <p:sldId id="475" r:id="rId29"/>
    <p:sldId id="480" r:id="rId30"/>
    <p:sldId id="434" r:id="rId31"/>
    <p:sldId id="476" r:id="rId32"/>
    <p:sldId id="477" r:id="rId33"/>
    <p:sldId id="478" r:id="rId34"/>
    <p:sldId id="427" r:id="rId35"/>
    <p:sldId id="498" r:id="rId36"/>
    <p:sldId id="499" r:id="rId37"/>
    <p:sldId id="500" r:id="rId38"/>
    <p:sldId id="501" r:id="rId39"/>
    <p:sldId id="502" r:id="rId40"/>
    <p:sldId id="503" r:id="rId41"/>
    <p:sldId id="504" r:id="rId42"/>
    <p:sldId id="505" r:id="rId43"/>
    <p:sldId id="482" r:id="rId44"/>
    <p:sldId id="481" r:id="rId45"/>
    <p:sldId id="483" r:id="rId46"/>
    <p:sldId id="484" r:id="rId47"/>
    <p:sldId id="485" r:id="rId48"/>
    <p:sldId id="486" r:id="rId49"/>
    <p:sldId id="487" r:id="rId50"/>
    <p:sldId id="488" r:id="rId51"/>
    <p:sldId id="489" r:id="rId52"/>
    <p:sldId id="490" r:id="rId53"/>
    <p:sldId id="491" r:id="rId54"/>
    <p:sldId id="492" r:id="rId55"/>
    <p:sldId id="493" r:id="rId56"/>
    <p:sldId id="494" r:id="rId57"/>
    <p:sldId id="495" r:id="rId58"/>
    <p:sldId id="496" r:id="rId59"/>
    <p:sldId id="497" r:id="rId60"/>
    <p:sldId id="506" r:id="rId61"/>
    <p:sldId id="455" r:id="rId62"/>
  </p:sldIdLst>
  <p:sldSz cx="12195175" cy="6858000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99"/>
    <a:srgbClr val="7A0000"/>
    <a:srgbClr val="FFFFFF"/>
    <a:srgbClr val="DDDDDD"/>
    <a:srgbClr val="662C5B"/>
    <a:srgbClr val="000000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3263" autoAdjust="0"/>
  </p:normalViewPr>
  <p:slideViewPr>
    <p:cSldViewPr>
      <p:cViewPr>
        <p:scale>
          <a:sx n="70" d="100"/>
          <a:sy n="70" d="100"/>
        </p:scale>
        <p:origin x="648" y="48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83848B3-959C-42C6-81B8-84565E5808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1AD89-5361-422B-9772-B92162EA31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A459895-3F7A-4DC8-B20C-E9B1D2980964}" type="datetimeFigureOut">
              <a:rPr lang="en-US"/>
              <a:pPr>
                <a:defRPr/>
              </a:pPr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C169A7-076A-4B82-A90F-CFD0BF3859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A14AC-9CC1-41D7-94FE-E4FB952CC2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AB75574-7A55-4D7E-807F-1F9F52CAD9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0B79F9D-5E37-4B50-838D-19BFBE9BC2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17302B-743A-4EED-B8A8-E1433972BA1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2993467-DB48-4CCC-88AA-E6973627A741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A98A7E8-10F2-482E-8C0B-25147F109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4813" y="696913"/>
            <a:ext cx="62007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9D5FC26-E36A-4E2D-B57A-465C1891B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B8A25-BD73-442D-9E2D-155E010D7B9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A429D-AE19-4D09-A8D4-6AC95713C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771BDC6-600B-4E6E-A170-D0F9054E94E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9638AB95-D793-4466-8E69-1D774776B9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B6B23C1-8260-45D6-AB19-083414547BC9}" type="slidenum">
              <a:rPr lang="en-US" altLang="en-US" smtClean="0">
                <a:latin typeface="Arial" panose="020B0604020202020204" pitchFamily="34" charset="0"/>
              </a:rPr>
              <a:pPr/>
              <a:t>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82840114-BC5F-4417-959C-5777720530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23AB9EF9-8243-4577-A348-58CBCFFEB5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771BDC6-600B-4E6E-A170-D0F9054E94E4}" type="slidenum">
              <a:rPr lang="en-GB" altLang="en-US" smtClean="0"/>
              <a:pPr>
                <a:defRPr/>
              </a:pPr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8915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Ours\Desktop\flash\c.u..jpg">
            <a:extLst>
              <a:ext uri="{FF2B5EF4-FFF2-40B4-BE49-F238E27FC236}">
                <a16:creationId xmlns:a16="http://schemas.microsoft.com/office/drawing/2014/main" id="{0A7D89B1-BEA8-4840-B9F2-64B9164473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-169" b="15477"/>
          <a:stretch>
            <a:fillRect/>
          </a:stretch>
        </p:blipFill>
        <p:spPr bwMode="auto">
          <a:xfrm>
            <a:off x="2" y="-54768"/>
            <a:ext cx="12281948" cy="6912768"/>
          </a:xfrm>
          <a:prstGeom prst="rect">
            <a:avLst/>
          </a:prstGeom>
          <a:noFill/>
        </p:spPr>
      </p:pic>
      <p:pic>
        <p:nvPicPr>
          <p:cNvPr id="5" name="Picture 2" descr="C:\Users\Ours\Desktop\my stuffs\1 NTFS_000\LostFiles2\INSPIRATION\PROJECTS\MIND PROJECTS\cu_logo.png">
            <a:extLst>
              <a:ext uri="{FF2B5EF4-FFF2-40B4-BE49-F238E27FC236}">
                <a16:creationId xmlns:a16="http://schemas.microsoft.com/office/drawing/2014/main" id="{44775B3E-FA29-4A7E-933B-C9B2A376A5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75" y="569913"/>
            <a:ext cx="74295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ACF20D-D775-4125-AA41-DB109F9ECEE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02713" y="0"/>
            <a:ext cx="3232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r>
              <a:rPr lang="en-US"/>
              <a:t>www.covenantuniversity.edu.ng</a:t>
            </a:r>
            <a:endParaRPr lang="en-GB"/>
          </a:p>
        </p:txBody>
      </p:sp>
      <p:pic>
        <p:nvPicPr>
          <p:cNvPr id="7" name="Picture 2" descr="C:\Users\Ours\Desktop\Picture3.png">
            <a:extLst>
              <a:ext uri="{FF2B5EF4-FFF2-40B4-BE49-F238E27FC236}">
                <a16:creationId xmlns:a16="http://schemas.microsoft.com/office/drawing/2014/main" id="{2C6A8274-48FD-4C8B-8762-CADA886040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613" y="569913"/>
            <a:ext cx="46085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C06D87-1A62-4868-9FF9-2A8ACBCF3A4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33538" y="1074738"/>
            <a:ext cx="32194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r>
              <a:rPr lang="en-US" sz="1600">
                <a:solidFill>
                  <a:srgbClr val="662C5B"/>
                </a:solidFill>
              </a:rPr>
              <a:t>Raising a new Generation of Leaders</a:t>
            </a:r>
            <a:endParaRPr lang="en-GB" sz="1600">
              <a:solidFill>
                <a:srgbClr val="662C5B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3" y="1844828"/>
            <a:ext cx="10366375" cy="2448271"/>
          </a:xfrm>
          <a:solidFill>
            <a:srgbClr val="660033">
              <a:alpha val="61961"/>
            </a:srgbClr>
          </a:solidFill>
        </p:spPr>
        <p:txBody>
          <a:bodyPr>
            <a:noAutofit/>
          </a:bodyPr>
          <a:lstStyle>
            <a:lvl1pPr>
              <a:defRPr sz="5400" b="0">
                <a:solidFill>
                  <a:schemeClr val="bg1"/>
                </a:solidFill>
                <a:latin typeface="Rockwell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509120"/>
            <a:ext cx="8537575" cy="1752600"/>
          </a:xfrm>
          <a:solidFill>
            <a:srgbClr val="FFFFFF">
              <a:alpha val="74118"/>
            </a:srgbClr>
          </a:solidFill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Rockwell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9828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Ours\Desktop\flash\c.u..jpg">
            <a:extLst>
              <a:ext uri="{FF2B5EF4-FFF2-40B4-BE49-F238E27FC236}">
                <a16:creationId xmlns:a16="http://schemas.microsoft.com/office/drawing/2014/main" id="{A4B4A76A-055E-4F85-9FB3-2B3A23E6C6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-169" b="15477"/>
          <a:stretch>
            <a:fillRect/>
          </a:stretch>
        </p:blipFill>
        <p:spPr bwMode="auto">
          <a:xfrm>
            <a:off x="2" y="-54768"/>
            <a:ext cx="12281948" cy="6912768"/>
          </a:xfrm>
          <a:prstGeom prst="rect">
            <a:avLst/>
          </a:prstGeom>
          <a:noFill/>
        </p:spPr>
      </p:pic>
      <p:pic>
        <p:nvPicPr>
          <p:cNvPr id="5" name="Picture 2" descr="C:\Users\Ours\Desktop\my stuffs\1 NTFS_000\LostFiles2\INSPIRATION\PROJECTS\MIND PROJECTS\cu_logo.png">
            <a:extLst>
              <a:ext uri="{FF2B5EF4-FFF2-40B4-BE49-F238E27FC236}">
                <a16:creationId xmlns:a16="http://schemas.microsoft.com/office/drawing/2014/main" id="{544A2C1E-57B2-4927-B9E0-00C7EE522E3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549275"/>
            <a:ext cx="12160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ED459A-D781-4D1A-84EF-573C022D310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44613" y="1268413"/>
            <a:ext cx="3979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r>
              <a:rPr lang="en-US" sz="2000">
                <a:solidFill>
                  <a:srgbClr val="662C5B"/>
                </a:solidFill>
              </a:rPr>
              <a:t>Raising a new Generation of Leaders</a:t>
            </a:r>
            <a:endParaRPr lang="en-GB" sz="2000">
              <a:solidFill>
                <a:srgbClr val="662C5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FE72AC-3D37-4536-B7F2-4552B956D16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02713" y="0"/>
            <a:ext cx="3232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r>
              <a:rPr lang="en-US"/>
              <a:t>www.covenantuniversity.edu.ng</a:t>
            </a:r>
            <a:endParaRPr lang="en-GB"/>
          </a:p>
        </p:txBody>
      </p:sp>
      <p:pic>
        <p:nvPicPr>
          <p:cNvPr id="8" name="Picture 2" descr="C:\Users\Ours\Desktop\Picture3.png">
            <a:extLst>
              <a:ext uri="{FF2B5EF4-FFF2-40B4-BE49-F238E27FC236}">
                <a16:creationId xmlns:a16="http://schemas.microsoft.com/office/drawing/2014/main" id="{A4BAFDBF-F1C0-4013-AE9B-2A049AC7C1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713" y="692150"/>
            <a:ext cx="5065712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914638" y="2204865"/>
            <a:ext cx="10365899" cy="2520280"/>
          </a:xfrm>
          <a:solidFill>
            <a:srgbClr val="CC3399">
              <a:alpha val="83137"/>
            </a:srgbClr>
          </a:solidFill>
        </p:spPr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705101" y="4869160"/>
            <a:ext cx="8536623" cy="1752600"/>
          </a:xfrm>
          <a:solidFill>
            <a:srgbClr val="FFFFFF">
              <a:alpha val="63137"/>
            </a:srgbClr>
          </a:solidFill>
        </p:spPr>
        <p:txBody>
          <a:bodyPr>
            <a:normAutofit/>
          </a:bodyPr>
          <a:lstStyle>
            <a:lvl1pPr algn="ctr">
              <a:buNone/>
              <a:defRPr sz="4000">
                <a:ln>
                  <a:noFill/>
                </a:ln>
                <a:solidFill>
                  <a:srgbClr val="002060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66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Ours\Desktop\flash\c.u..jpg">
            <a:extLst>
              <a:ext uri="{FF2B5EF4-FFF2-40B4-BE49-F238E27FC236}">
                <a16:creationId xmlns:a16="http://schemas.microsoft.com/office/drawing/2014/main" id="{EB4647BC-0F7B-44AE-8F69-EF3DCC45F0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41294" b="49226"/>
          <a:stretch>
            <a:fillRect/>
          </a:stretch>
        </p:blipFill>
        <p:spPr bwMode="auto">
          <a:xfrm>
            <a:off x="2" y="6309320"/>
            <a:ext cx="12281948" cy="773752"/>
          </a:xfrm>
          <a:prstGeom prst="rect">
            <a:avLst/>
          </a:prstGeom>
          <a:noFill/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AE913A6-68A6-40E5-9BA0-F19E207004F6}"/>
              </a:ext>
            </a:extLst>
          </p:cNvPr>
          <p:cNvSpPr txBox="1">
            <a:spLocks/>
          </p:cNvSpPr>
          <p:nvPr userDrawn="1"/>
        </p:nvSpPr>
        <p:spPr>
          <a:xfrm>
            <a:off x="10777538" y="6337300"/>
            <a:ext cx="1046162" cy="547688"/>
          </a:xfrm>
          <a:prstGeom prst="rect">
            <a:avLst/>
          </a:prstGeom>
          <a:solidFill>
            <a:srgbClr val="F7F7F7">
              <a:alpha val="45098"/>
            </a:srgbClr>
          </a:solidFill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793B32AC-026C-40E7-B915-E38B03E84EAC}" type="slidenum">
              <a:rPr lang="en-GB" altLang="en-US" sz="2800" b="1" smtClean="0">
                <a:solidFill>
                  <a:schemeClr val="bg1"/>
                </a:solidFill>
                <a:latin typeface="Georgia" panose="02040502050405020303" pitchFamily="18" charset="0"/>
              </a:rPr>
              <a:pPr algn="r" eaLnBrk="1" hangingPunct="1">
                <a:defRPr/>
              </a:pPr>
              <a:t>‹#›</a:t>
            </a:fld>
            <a:endParaRPr lang="en-GB" altLang="en-US" sz="2800" b="1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pic>
        <p:nvPicPr>
          <p:cNvPr id="6" name="Picture 2" descr="C:\Users\Ours\Desktop\my stuffs\1 NTFS_000\LostFiles2\INSPIRATION\PROJECTS\MIND PROJECTS\cu_logo.png">
            <a:extLst>
              <a:ext uri="{FF2B5EF4-FFF2-40B4-BE49-F238E27FC236}">
                <a16:creationId xmlns:a16="http://schemas.microsoft.com/office/drawing/2014/main" id="{D75095F6-4F4C-4323-AD4E-FADB37A809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6364288"/>
            <a:ext cx="623887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C:\Users\Ours\Desktop\Picture1.png">
            <a:extLst>
              <a:ext uri="{FF2B5EF4-FFF2-40B4-BE49-F238E27FC236}">
                <a16:creationId xmlns:a16="http://schemas.microsoft.com/office/drawing/2014/main" id="{B5A37312-C4B3-44DF-872A-D4EA3DF1E5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6316663"/>
            <a:ext cx="59769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5B8DC0-2D75-40CB-BC9F-167DF216298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23900" y="6707188"/>
            <a:ext cx="22161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/>
              <a:t>www.covenantuniversity.edu.ng</a:t>
            </a:r>
            <a:endParaRPr lang="en-GB" sz="12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19CEF6-8576-4CF7-B9BF-B55B80ADF7C0}"/>
              </a:ext>
            </a:extLst>
          </p:cNvPr>
          <p:cNvCxnSpPr/>
          <p:nvPr userDrawn="1"/>
        </p:nvCxnSpPr>
        <p:spPr>
          <a:xfrm flipV="1">
            <a:off x="8689975" y="1341438"/>
            <a:ext cx="1800225" cy="0"/>
          </a:xfrm>
          <a:prstGeom prst="line">
            <a:avLst/>
          </a:prstGeom>
          <a:ln w="28575">
            <a:solidFill>
              <a:srgbClr val="662C5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E2BBDD-D75F-4991-B216-EDB8450DF7BF}"/>
              </a:ext>
            </a:extLst>
          </p:cNvPr>
          <p:cNvCxnSpPr/>
          <p:nvPr userDrawn="1"/>
        </p:nvCxnSpPr>
        <p:spPr>
          <a:xfrm flipV="1">
            <a:off x="10526713" y="1341438"/>
            <a:ext cx="719137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8F5C1DF-75E5-4719-894F-E7B1A0C08E04}"/>
              </a:ext>
            </a:extLst>
          </p:cNvPr>
          <p:cNvCxnSpPr/>
          <p:nvPr userDrawn="1"/>
        </p:nvCxnSpPr>
        <p:spPr>
          <a:xfrm flipV="1">
            <a:off x="11282363" y="1341438"/>
            <a:ext cx="71913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963" y="153144"/>
            <a:ext cx="11714212" cy="1115616"/>
          </a:xfrm>
          <a:solidFill>
            <a:schemeClr val="bg1"/>
          </a:solidFill>
          <a:ln w="57150">
            <a:noFill/>
          </a:ln>
        </p:spPr>
        <p:txBody>
          <a:bodyPr>
            <a:normAutofit/>
          </a:bodyPr>
          <a:lstStyle>
            <a:lvl1pPr algn="l">
              <a:defRPr sz="4000" b="1">
                <a:solidFill>
                  <a:srgbClr val="FF0000"/>
                </a:solidFill>
                <a:latin typeface="Rockwell Condensed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412" y="1412776"/>
            <a:ext cx="11716352" cy="4824536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defRPr sz="2800">
                <a:latin typeface="Rockwell" pitchFamily="18" charset="0"/>
              </a:defRPr>
            </a:lvl1pPr>
            <a:lvl2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Wingdings" pitchFamily="2" charset="2"/>
              <a:buChar char="§"/>
              <a:defRPr sz="2400">
                <a:solidFill>
                  <a:srgbClr val="7A0000"/>
                </a:solidFill>
                <a:latin typeface="Rockwell" pitchFamily="18" charset="0"/>
              </a:defRPr>
            </a:lvl2pPr>
            <a:lvl3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alibri" pitchFamily="34" charset="0"/>
              <a:buChar char="‒"/>
              <a:defRPr sz="2200">
                <a:solidFill>
                  <a:schemeClr val="accent4">
                    <a:lumMod val="50000"/>
                  </a:schemeClr>
                </a:solidFill>
                <a:latin typeface="Rockwell" pitchFamily="18" charset="0"/>
              </a:defRPr>
            </a:lvl3pPr>
            <a:lvl4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defRPr sz="2800">
                <a:latin typeface="Rockwell" pitchFamily="18" charset="0"/>
              </a:defRPr>
            </a:lvl4pPr>
            <a:lvl5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defRPr sz="2800">
                <a:latin typeface="Rockwell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8A78A31-D892-43AD-9770-E65E2A1F0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914102-C8D9-4C30-AA19-7413A8BD1842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4CFE6AC-1C45-4ADB-8E2D-773AC1A00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059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336" y="4406905"/>
            <a:ext cx="103658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336" y="2906713"/>
            <a:ext cx="1036589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0335C-88A8-4171-A4BF-C5B643CC8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438DEF-0817-4A1C-B13E-2058E5D09F62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F78E6-FEE5-4652-8BC0-6E5DBDCF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3F273-BD2D-446F-951B-159EC4EAF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70B2E-9981-4A15-B114-07532859454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50205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759" y="1600205"/>
            <a:ext cx="538620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214" y="1600205"/>
            <a:ext cx="538620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920FAC3-CFCA-4907-A7B0-0FDB1EC42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33C31-F621-490A-88C0-A94BC078C5E5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36B4B02-E4E7-45AE-895D-CE7FE112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B4A8BB8-070F-4145-A75D-0FDC073B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E19BA-0538-4EAC-AC33-6FDE76E40C6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60834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59" y="1535113"/>
            <a:ext cx="53883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759" y="2174875"/>
            <a:ext cx="53883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983" y="1535113"/>
            <a:ext cx="53904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983" y="2174875"/>
            <a:ext cx="53904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A71E064-7D56-4084-B2F4-45F5A6BA7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472427-427F-464C-8201-2BFAB000A3FE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887385-CC4F-40D4-BFE1-263C2BDF5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E17DA0C-9810-4462-8C11-5644F08F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BD50DC-ED78-44F2-9872-A50AA006427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1490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CFEE708-2F95-4267-BC9B-EAABC4B9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0ED2B6-2B7C-4B79-A3E3-FEE32626B247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9B538C1-052F-4660-9843-C09EEEA2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7DDAD-291A-4F42-8C33-9F5667E5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D3781-89DE-4FE6-9A36-0099A432FAA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94197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C9587AA-45F0-46E5-8E35-48277F1AD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5353B8-04E9-4BD1-AB9D-C774630A2A28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FD11269-A45A-4AC9-97B3-2A237A40F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1876B9F-021C-4250-ADF0-587C9F4F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388F-3B4F-482A-B54E-DF8538039E7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4329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62" y="273050"/>
            <a:ext cx="401212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974" y="273055"/>
            <a:ext cx="681744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62" y="1435103"/>
            <a:ext cx="401212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5797FA7-8F9E-4791-8747-F4234E893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6E0FC-52AE-432E-8295-26FDC4505FE1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6D8707-C15E-40CA-9909-64E637886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FF1DDD-6BE4-47B7-B0B1-E74E754C7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8E5E4-14BC-42F0-B2F5-95876CD5F45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54259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341" y="4800600"/>
            <a:ext cx="731710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341" y="612775"/>
            <a:ext cx="7317105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341" y="5367338"/>
            <a:ext cx="731710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51E5F4E-B6D2-4303-B817-25F34597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3ADB-16FA-4787-8125-E9AD458DDD4A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90C8C55-0508-4E3A-B2C7-E9DB5CA5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B09DE0-457C-4B5E-9647-94C568F4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A0D46C-2653-4B71-B1D8-BE06B7D003F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9552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CBD61-C6D4-4496-9A24-159FFA5C0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875746-9FD2-4718-B3AB-31448F6AF0D0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3A024-3EF3-4848-B4BC-AA2A92CC8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CF7DF-E7AC-4A8A-AA99-6BB30C6F5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77A56-FAD7-45AA-BBBC-F8E5C69D47D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54094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1502" y="274643"/>
            <a:ext cx="2743914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759" y="274643"/>
            <a:ext cx="802849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870D5-2079-4EE5-8176-51FE90E48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B1653-2C78-4B6D-8A07-FA83C032F3AC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43B92-54CA-482F-AAB5-2FA0D0DC3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E6196-C7FF-4162-8CD3-F82228E86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8684F-91DB-43E5-85B6-8E40B5F639B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30365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3" y="2130429"/>
            <a:ext cx="10366375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757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BC34B-7DE0-4260-8A9C-5DDF1F86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96EDC3-BE9B-4E01-9A0E-2D495DEE6917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33185-B76E-4BE0-ABA6-9A7BAD96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AF8B5-32E4-4D21-A528-5E8C9834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96956-F119-45B7-903D-E1A3A53B966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23418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F3C45-9129-4837-A1B9-EA3EBAF51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533DFA-7723-4125-BC9B-91A259ED18E5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44F65-9029-413D-80F8-4B581D86C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59E0C-726E-4B37-9FAB-C0223F47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2D538-4905-4715-B8C2-6B1EA5C8208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50278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5" y="4406904"/>
            <a:ext cx="1036637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5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DAFB5-D3C3-496E-B203-A735A1753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8C8A3-57F6-478C-BDDF-7BFD72185B7C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C515C-DAA7-4BDA-B788-2B684A467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F8899-B052-48B4-A5A5-42804E325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655999-D42A-487D-8EA2-FCE875D6F24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436666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788" y="1600204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2D069B2-71A1-4CF4-8BBE-A6F3FA67F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3E340-E278-46BC-BF9F-42F599115826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CB5D117-3757-4DBE-BFCC-F263E47F6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E13ED30-1A13-468A-8EA7-5424F36B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90CF8C-9BFB-4874-ADE0-E72E0C98288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11758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79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79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425" y="1535113"/>
            <a:ext cx="539115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425" y="2174875"/>
            <a:ext cx="539115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F1B391B-5158-4B69-9D54-AB2DF6F3D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7B61D2-C7D8-44DD-8C97-4C3B278A1E65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6354041-BE2C-4D07-ABB3-36BA56509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FABEA6A-347B-423D-86B8-F5BB86C4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3DB3C-F5BD-4776-AE89-8EECCD20036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795188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1973CF6-6F11-46E9-9269-FAA2EE743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26AF3-AEDF-40E2-B01E-E7115286C042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67531A-9570-4727-BF5E-4CCF66403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633EED0-5F91-4107-897E-53C3251E7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6B968E-E67D-4BD3-9A05-932A10D1531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143419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9C08203-B008-4AF7-B390-3A7066B58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648932-48F8-45B8-8549-7E6979775DFA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05409F8-D734-4CF2-B997-F95684EA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D6AD8AA-8280-4735-96E8-14E23F14C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60EDB-36A0-424C-AA9A-9479433027E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65894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61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4"/>
            <a:ext cx="68183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61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B492770-4279-4C06-9047-CE168B8D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689BF-F0C6-4765-9845-529E3FE4CAB5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5CF94F-E751-4F5C-9704-B7E1C2A9D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9190EFC-108F-4688-8E58-A8B4FDE6C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2148C5-60B6-403E-8385-7FD37748C46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849817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776" y="4800600"/>
            <a:ext cx="731678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776" y="612775"/>
            <a:ext cx="7316788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776" y="5367338"/>
            <a:ext cx="731678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682157C-1702-46FE-8854-DE88B7BCB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F61D9-3673-47C7-9911-9EC273F9D6E2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FCDCCA-26B7-43BD-9BA9-5082085D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68E21B5-D24C-4C51-BF34-A9E52A7F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42113-8805-42C5-82E9-FE9ECDCCE53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490874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E5971-2ED0-4600-91E8-B340977BD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44A75C-9B53-4F6C-A321-7E8D29AA3B52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5C6DC-1033-4A93-9A71-808000409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66C0C-2A5B-4D07-B7A4-502A4ED2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387C2-174B-424E-806A-B211EA8B17F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337917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2375" y="274642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74642"/>
            <a:ext cx="8080374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B9809-E259-4A67-9314-42BD2E9E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C0E11-3A95-4600-B832-519C7B51ABC4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8FCBA-BA99-4C32-997E-96BF6C7A9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91BD6-E371-4F5C-B8A3-89CAFF557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EA5CF-B806-49EF-A94B-37FDCB233A9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18469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A0C994E-D1D9-4237-9368-FBE4E1BEF6E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59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05B6FD5-1A01-47F3-B607-632369B4AF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597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BA835-5EB1-4BBD-8A86-2AA152197A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63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6759C01-2805-4879-8750-3BE03797AE50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02214-EF32-4A22-9032-B4135CB0A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7188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CCDF1-8646-4021-B123-6BF24BE9B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9188" y="6356350"/>
            <a:ext cx="2846387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14933A7-0C32-43BE-8C48-E01004CD8A0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  <p:sldLayoutId id="2147483880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C77B4AC6-32F7-4F7F-9A7E-B1A7F63A09B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59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AEB24093-B66F-404E-A41F-BAC421FCA1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597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6ECD8-BCA9-4379-8D24-0169748189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63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33EDE73-2753-47A4-B01C-5D03CBA91948}" type="datetimeFigureOut">
              <a:rPr lang="en-GB"/>
              <a:pPr>
                <a:defRPr/>
              </a:pPr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844ED-A7A7-45B7-B348-A725C2E881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7188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4BBC9-E485-4367-9282-56468F214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9188" y="6356350"/>
            <a:ext cx="2846387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21F485B-A124-4981-B3A5-DB3BF1D3876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>
            <a:extLst>
              <a:ext uri="{FF2B5EF4-FFF2-40B4-BE49-F238E27FC236}">
                <a16:creationId xmlns:a16="http://schemas.microsoft.com/office/drawing/2014/main" id="{BAC919D8-A155-451D-83FD-028ABFBC537D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306387" y="2438400"/>
            <a:ext cx="11658600" cy="152400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>
              <a:defRPr/>
            </a:pPr>
            <a:r>
              <a:rPr lang="en-US" b="1" dirty="0"/>
              <a:t>IFT222</a:t>
            </a:r>
            <a:br>
              <a:rPr lang="en-US" b="1" dirty="0"/>
            </a:br>
            <a:r>
              <a:rPr lang="en-US" b="1" dirty="0"/>
              <a:t>Computer Architecture and Organization</a:t>
            </a:r>
            <a:endParaRPr lang="en-US" sz="5400" b="1" dirty="0"/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80080B2D-9103-4663-85FB-C0054867474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5587" y="4188725"/>
            <a:ext cx="9144000" cy="838200"/>
          </a:xfrm>
          <a:solidFill>
            <a:srgbClr val="92D050"/>
          </a:solidFill>
        </p:spPr>
        <p:txBody>
          <a:bodyPr/>
          <a:lstStyle/>
          <a:p>
            <a:pPr marL="0" indent="0" algn="ctr">
              <a:buFont typeface="Wingdings" panose="05000000000000000000" pitchFamily="2" charset="2"/>
              <a:buNone/>
            </a:pPr>
            <a:r>
              <a:rPr lang="en-US" altLang="en-US" sz="4400" b="1" dirty="0"/>
              <a:t>INSTRUCTION SET ARCHITECTURE</a:t>
            </a:r>
          </a:p>
        </p:txBody>
      </p:sp>
      <p:pic>
        <p:nvPicPr>
          <p:cNvPr id="8196" name="Picture 3" descr="C:\Users\AZUBUIKE-REBIRTH\Desktop\logo.png">
            <a:extLst>
              <a:ext uri="{FF2B5EF4-FFF2-40B4-BE49-F238E27FC236}">
                <a16:creationId xmlns:a16="http://schemas.microsoft.com/office/drawing/2014/main" id="{64037EF5-9655-42FA-8D49-8944198E8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088" y="304800"/>
            <a:ext cx="1909762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21BF767-6075-4BF3-BC6A-4E91D5CA9E56}"/>
              </a:ext>
            </a:extLst>
          </p:cNvPr>
          <p:cNvSpPr txBox="1">
            <a:spLocks/>
          </p:cNvSpPr>
          <p:nvPr/>
        </p:nvSpPr>
        <p:spPr>
          <a:xfrm>
            <a:off x="914400" y="1752600"/>
            <a:ext cx="10366375" cy="4572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b="1"/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en-US" sz="2400" i="1" dirty="0">
                <a:solidFill>
                  <a:srgbClr val="C00000"/>
                </a:solidFill>
                <a:latin typeface="Calibri"/>
                <a:ea typeface="+mj-ea"/>
                <a:cs typeface="+mj-cs"/>
              </a:rPr>
              <a:t>Department of Computer and Information Sciences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Content Placeholder 2">
            <a:extLst>
              <a:ext uri="{FF2B5EF4-FFF2-40B4-BE49-F238E27FC236}">
                <a16:creationId xmlns:a16="http://schemas.microsoft.com/office/drawing/2014/main" id="{C3FFAA78-CB84-4870-B363-F21CC100A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988" y="1143000"/>
            <a:ext cx="11887200" cy="5105400"/>
          </a:xfrm>
        </p:spPr>
        <p:txBody>
          <a:bodyPr rtlCol="0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GB" dirty="0"/>
              <a:t>By the end of this lecture, students should be able to:</a:t>
            </a:r>
          </a:p>
          <a:p>
            <a:pPr lvl="1">
              <a:spcAft>
                <a:spcPts val="1200"/>
              </a:spcAft>
            </a:pPr>
            <a:r>
              <a:rPr lang="en-GB" b="1" dirty="0"/>
              <a:t>Define Instruction Set Architecture (ISA) </a:t>
            </a:r>
          </a:p>
          <a:p>
            <a:pPr lvl="1">
              <a:spcAft>
                <a:spcPts val="1200"/>
              </a:spcAft>
            </a:pPr>
            <a:r>
              <a:rPr lang="en-GB" b="1" dirty="0"/>
              <a:t>Explain the components and features of ISA </a:t>
            </a:r>
          </a:p>
          <a:p>
            <a:pPr lvl="1">
              <a:spcAft>
                <a:spcPts val="1200"/>
              </a:spcAft>
            </a:pPr>
            <a:r>
              <a:rPr lang="en-GB" b="1" dirty="0"/>
              <a:t>Identify different instruction types and formats </a:t>
            </a:r>
          </a:p>
          <a:p>
            <a:pPr lvl="1">
              <a:spcAft>
                <a:spcPts val="1200"/>
              </a:spcAft>
            </a:pPr>
            <a:r>
              <a:rPr lang="en-GB" b="1" dirty="0"/>
              <a:t>Differentiate between addressing modes </a:t>
            </a:r>
          </a:p>
          <a:p>
            <a:pPr lvl="1">
              <a:spcAft>
                <a:spcPts val="1200"/>
              </a:spcAft>
            </a:pPr>
            <a:r>
              <a:rPr lang="en-GB" b="1" dirty="0"/>
              <a:t>Compare RISC and CISC architectures </a:t>
            </a:r>
          </a:p>
          <a:p>
            <a:pPr lvl="1">
              <a:spcAft>
                <a:spcPts val="1200"/>
              </a:spcAft>
            </a:pPr>
            <a:r>
              <a:rPr lang="en-GB" b="1" dirty="0" err="1"/>
              <a:t>Analyze</a:t>
            </a:r>
            <a:r>
              <a:rPr lang="en-GB" b="1" dirty="0"/>
              <a:t> instruction execution with examples </a:t>
            </a:r>
          </a:p>
          <a:p>
            <a:pPr lvl="1">
              <a:spcAft>
                <a:spcPts val="1200"/>
              </a:spcAft>
            </a:pPr>
            <a:r>
              <a:rPr lang="en-GB" b="1" dirty="0"/>
              <a:t>Apply ISA concepts to solve practical problems</a:t>
            </a:r>
          </a:p>
        </p:txBody>
      </p:sp>
      <p:sp>
        <p:nvSpPr>
          <p:cNvPr id="13315" name="Slide Number Placeholder 3">
            <a:extLst>
              <a:ext uri="{FF2B5EF4-FFF2-40B4-BE49-F238E27FC236}">
                <a16:creationId xmlns:a16="http://schemas.microsoft.com/office/drawing/2014/main" id="{8DF5B56C-EF2F-493E-8951-F5B0726990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03D2D69C-933E-45A0-8B60-25A4969AE6E9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1E417F-2571-4FDF-8083-1EE80F0D5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152400"/>
            <a:ext cx="12039600" cy="788987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400" dirty="0"/>
              <a:t>Learning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6E4F7A79-13A6-42CE-B7F6-79FA3E0BE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76200"/>
            <a:ext cx="12039600" cy="10075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800" dirty="0"/>
              <a:t>Introduction</a:t>
            </a:r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4FD06301-B4FC-416A-B655-A0D6B8C27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01" y="1159994"/>
            <a:ext cx="11867787" cy="5088406"/>
          </a:xfrm>
        </p:spPr>
        <p:txBody>
          <a:bodyPr rtlCol="0">
            <a:noAutofit/>
          </a:bodyPr>
          <a:lstStyle/>
          <a:p>
            <a:pPr algn="just">
              <a:spcAft>
                <a:spcPts val="1200"/>
              </a:spcAft>
            </a:pPr>
            <a:r>
              <a:rPr lang="en-GB" dirty="0"/>
              <a:t>Instruction Set Architecture (ISA) is one of the most fundamental concepts in Computer Architecture and Organization. </a:t>
            </a:r>
          </a:p>
          <a:p>
            <a:pPr algn="just">
              <a:spcAft>
                <a:spcPts val="1200"/>
              </a:spcAft>
            </a:pPr>
            <a:r>
              <a:rPr lang="en-GB" dirty="0"/>
              <a:t>It defines the interface between hardware and software, acting as a bridge that allows software programs to communicate with the processor.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lang="en-GB" dirty="0"/>
              <a:t>In simple terms, ISA specifies:</a:t>
            </a:r>
          </a:p>
          <a:p>
            <a:pPr lvl="1" algn="just">
              <a:spcAft>
                <a:spcPts val="1200"/>
              </a:spcAft>
            </a:pPr>
            <a:r>
              <a:rPr lang="en-GB" b="1" dirty="0"/>
              <a:t>What operations a processor can perform </a:t>
            </a:r>
            <a:r>
              <a:rPr lang="en-GB" b="1" dirty="0">
                <a:solidFill>
                  <a:srgbClr val="0000FF"/>
                </a:solidFill>
              </a:rPr>
              <a:t>(instruction set)</a:t>
            </a:r>
          </a:p>
          <a:p>
            <a:pPr lvl="1" algn="just">
              <a:spcAft>
                <a:spcPts val="1200"/>
              </a:spcAft>
            </a:pPr>
            <a:r>
              <a:rPr lang="en-GB" b="1" dirty="0"/>
              <a:t>How instructions are represented (</a:t>
            </a:r>
            <a:r>
              <a:rPr lang="en-GB" b="1" dirty="0">
                <a:solidFill>
                  <a:srgbClr val="0000FF"/>
                </a:solidFill>
              </a:rPr>
              <a:t>instruction format)</a:t>
            </a:r>
          </a:p>
          <a:p>
            <a:pPr lvl="1" algn="just">
              <a:spcAft>
                <a:spcPts val="1200"/>
              </a:spcAft>
            </a:pPr>
            <a:r>
              <a:rPr lang="en-GB" b="1" dirty="0"/>
              <a:t>How data is accessed and manipulated (</a:t>
            </a:r>
            <a:r>
              <a:rPr lang="en-GB" b="1" dirty="0">
                <a:solidFill>
                  <a:srgbClr val="0000FF"/>
                </a:solidFill>
              </a:rPr>
              <a:t>addressing modes</a:t>
            </a:r>
            <a:r>
              <a:rPr lang="en-GB" b="1" dirty="0"/>
              <a:t>)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endParaRPr lang="en-GB" dirty="0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8560B5FA-F288-44DE-B740-658CE316E2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F1ACB5EE-86EF-45DC-8412-F85559026E07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8560B5FA-F288-44DE-B740-658CE316E2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F1ACB5EE-86EF-45DC-8412-F85559026E07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AF8C04-FF9E-40DC-849F-C482C4A7AC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60" t="19993" r="36254" b="19993"/>
          <a:stretch/>
        </p:blipFill>
        <p:spPr>
          <a:xfrm>
            <a:off x="1144587" y="152400"/>
            <a:ext cx="10210800" cy="607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69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Content Placeholder 2">
            <a:extLst>
              <a:ext uri="{FF2B5EF4-FFF2-40B4-BE49-F238E27FC236}">
                <a16:creationId xmlns:a16="http://schemas.microsoft.com/office/drawing/2014/main" id="{C3FFAA78-CB84-4870-B363-F21CC100A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988" y="1143000"/>
            <a:ext cx="11887200" cy="5105400"/>
          </a:xfrm>
        </p:spPr>
        <p:txBody>
          <a:bodyPr rtlCol="0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GB" b="1" dirty="0"/>
              <a:t>a) Instruction Set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GB" dirty="0"/>
              <a:t>The complete set of instructions a processor can execute.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GB" dirty="0"/>
              <a:t>Examples:</a:t>
            </a:r>
          </a:p>
          <a:p>
            <a:pPr marL="400050" lvl="1" indent="0">
              <a:spcAft>
                <a:spcPts val="1200"/>
              </a:spcAft>
              <a:buNone/>
              <a:tabLst>
                <a:tab pos="360363" algn="l"/>
              </a:tabLst>
            </a:pPr>
            <a:r>
              <a:rPr lang="en-GB" dirty="0"/>
              <a:t>•	</a:t>
            </a:r>
            <a:r>
              <a:rPr lang="en-GB" sz="2600" b="1" dirty="0"/>
              <a:t>Arithmetic: ADD, SUB </a:t>
            </a:r>
          </a:p>
          <a:p>
            <a:pPr marL="400050" lvl="1" indent="0">
              <a:spcAft>
                <a:spcPts val="1200"/>
              </a:spcAft>
              <a:buNone/>
              <a:tabLst>
                <a:tab pos="360363" algn="l"/>
              </a:tabLst>
            </a:pPr>
            <a:r>
              <a:rPr lang="en-GB" sz="2600" b="1" dirty="0"/>
              <a:t>•	Logical: AND, OR </a:t>
            </a:r>
          </a:p>
          <a:p>
            <a:pPr marL="400050" lvl="1" indent="0">
              <a:spcAft>
                <a:spcPts val="1200"/>
              </a:spcAft>
              <a:buNone/>
              <a:tabLst>
                <a:tab pos="360363" algn="l"/>
              </a:tabLst>
            </a:pPr>
            <a:r>
              <a:rPr lang="en-GB" sz="2600" b="1" dirty="0"/>
              <a:t>•	Control: JUMP, CALL </a:t>
            </a:r>
          </a:p>
          <a:p>
            <a:pPr marL="400050" lvl="1" indent="0">
              <a:spcAft>
                <a:spcPts val="1200"/>
              </a:spcAft>
              <a:buNone/>
              <a:tabLst>
                <a:tab pos="360363" algn="l"/>
              </a:tabLst>
            </a:pPr>
            <a:r>
              <a:rPr lang="en-GB" sz="2600" b="1" dirty="0"/>
              <a:t>•	Data Transfer: LOAD, STORE </a:t>
            </a:r>
          </a:p>
        </p:txBody>
      </p:sp>
      <p:sp>
        <p:nvSpPr>
          <p:cNvPr id="13315" name="Slide Number Placeholder 3">
            <a:extLst>
              <a:ext uri="{FF2B5EF4-FFF2-40B4-BE49-F238E27FC236}">
                <a16:creationId xmlns:a16="http://schemas.microsoft.com/office/drawing/2014/main" id="{8DF5B56C-EF2F-493E-8951-F5B0726990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03D2D69C-933E-45A0-8B60-25A4969AE6E9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1E417F-2571-4FDF-8083-1EE80F0D5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152400"/>
            <a:ext cx="12039600" cy="788987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-GB" sz="4400" dirty="0"/>
              <a:t>Key Components of the ISA</a:t>
            </a:r>
          </a:p>
        </p:txBody>
      </p:sp>
    </p:spTree>
    <p:extLst>
      <p:ext uri="{BB962C8B-B14F-4D97-AF65-F5344CB8AC3E}">
        <p14:creationId xmlns:p14="http://schemas.microsoft.com/office/powerpoint/2010/main" val="4158443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Content Placeholder 2">
            <a:extLst>
              <a:ext uri="{FF2B5EF4-FFF2-40B4-BE49-F238E27FC236}">
                <a16:creationId xmlns:a16="http://schemas.microsoft.com/office/drawing/2014/main" id="{C3FFAA78-CB84-4870-B363-F21CC100A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988" y="1143000"/>
            <a:ext cx="11887200" cy="5105400"/>
          </a:xfrm>
        </p:spPr>
        <p:txBody>
          <a:bodyPr rtlCol="0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GB" b="1" dirty="0"/>
              <a:t>b) Registers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GB" dirty="0"/>
              <a:t>Small, fast storage locations inside the CPU.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GB" dirty="0"/>
              <a:t>Types:</a:t>
            </a:r>
          </a:p>
          <a:p>
            <a:pPr marL="400050" lvl="1" indent="0">
              <a:spcAft>
                <a:spcPts val="1200"/>
              </a:spcAft>
              <a:buNone/>
              <a:tabLst>
                <a:tab pos="360363" algn="l"/>
              </a:tabLst>
            </a:pPr>
            <a:r>
              <a:rPr lang="en-GB" dirty="0"/>
              <a:t>•	</a:t>
            </a:r>
            <a:r>
              <a:rPr lang="en-GB" b="1" dirty="0"/>
              <a:t>General Purpose Registers (GPR) </a:t>
            </a:r>
          </a:p>
          <a:p>
            <a:pPr marL="400050" lvl="1" indent="0">
              <a:spcAft>
                <a:spcPts val="1200"/>
              </a:spcAft>
              <a:buNone/>
              <a:tabLst>
                <a:tab pos="360363" algn="l"/>
              </a:tabLst>
            </a:pPr>
            <a:r>
              <a:rPr lang="en-GB" b="1" dirty="0"/>
              <a:t>•	Special Registers (PC , IR, MAR, MDR)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GB" b="1" dirty="0"/>
              <a:t>c) Data Types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GB" dirty="0"/>
              <a:t>Defines the types of data supported:</a:t>
            </a:r>
          </a:p>
          <a:p>
            <a:pPr marL="0" indent="0">
              <a:spcAft>
                <a:spcPts val="1200"/>
              </a:spcAft>
              <a:buNone/>
              <a:tabLst>
                <a:tab pos="360363" algn="l"/>
              </a:tabLst>
            </a:pPr>
            <a:r>
              <a:rPr lang="en-GB" dirty="0"/>
              <a:t>•	Integer, Floating point, Character , Boolean </a:t>
            </a:r>
          </a:p>
        </p:txBody>
      </p:sp>
      <p:sp>
        <p:nvSpPr>
          <p:cNvPr id="13315" name="Slide Number Placeholder 3">
            <a:extLst>
              <a:ext uri="{FF2B5EF4-FFF2-40B4-BE49-F238E27FC236}">
                <a16:creationId xmlns:a16="http://schemas.microsoft.com/office/drawing/2014/main" id="{8DF5B56C-EF2F-493E-8951-F5B0726990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03D2D69C-933E-45A0-8B60-25A4969AE6E9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1E417F-2571-4FDF-8083-1EE80F0D5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152400"/>
            <a:ext cx="12039600" cy="788987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-GB" sz="4400" dirty="0"/>
              <a:t>Key Components of the ISA</a:t>
            </a:r>
          </a:p>
        </p:txBody>
      </p:sp>
    </p:spTree>
    <p:extLst>
      <p:ext uri="{BB962C8B-B14F-4D97-AF65-F5344CB8AC3E}">
        <p14:creationId xmlns:p14="http://schemas.microsoft.com/office/powerpoint/2010/main" val="3811678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Content Placeholder 2">
            <a:extLst>
              <a:ext uri="{FF2B5EF4-FFF2-40B4-BE49-F238E27FC236}">
                <a16:creationId xmlns:a16="http://schemas.microsoft.com/office/drawing/2014/main" id="{C3FFAA78-CB84-4870-B363-F21CC100A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186" y="1143000"/>
            <a:ext cx="11658601" cy="5105400"/>
          </a:xfrm>
        </p:spPr>
        <p:txBody>
          <a:bodyPr rtlCol="0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b="1" dirty="0"/>
              <a:t>d) Addressing Modes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/>
              <a:t>Methods used to access operands at runtime.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/>
              <a:t>Common types:</a:t>
            </a:r>
          </a:p>
          <a:p>
            <a:pPr marL="400050" lvl="1" indent="0">
              <a:spcAft>
                <a:spcPts val="600"/>
              </a:spcAft>
              <a:buNone/>
              <a:tabLst>
                <a:tab pos="360363" algn="l"/>
              </a:tabLst>
            </a:pPr>
            <a:r>
              <a:rPr lang="en-GB" dirty="0"/>
              <a:t>•	</a:t>
            </a:r>
            <a:r>
              <a:rPr lang="en-GB" sz="2600" b="1" dirty="0"/>
              <a:t>Immediate </a:t>
            </a:r>
          </a:p>
          <a:p>
            <a:pPr marL="400050" lvl="1" indent="0">
              <a:spcAft>
                <a:spcPts val="600"/>
              </a:spcAft>
              <a:buNone/>
              <a:tabLst>
                <a:tab pos="360363" algn="l"/>
              </a:tabLst>
            </a:pPr>
            <a:r>
              <a:rPr lang="en-GB" sz="2600" b="1" dirty="0"/>
              <a:t>•	Direct </a:t>
            </a:r>
          </a:p>
          <a:p>
            <a:pPr marL="400050" lvl="1" indent="0">
              <a:spcAft>
                <a:spcPts val="600"/>
              </a:spcAft>
              <a:buNone/>
              <a:tabLst>
                <a:tab pos="360363" algn="l"/>
              </a:tabLst>
            </a:pPr>
            <a:r>
              <a:rPr lang="en-GB" sz="2600" b="1" dirty="0"/>
              <a:t>•	Indirect </a:t>
            </a:r>
          </a:p>
          <a:p>
            <a:pPr marL="400050" lvl="1" indent="0">
              <a:spcAft>
                <a:spcPts val="600"/>
              </a:spcAft>
              <a:buNone/>
              <a:tabLst>
                <a:tab pos="360363" algn="l"/>
              </a:tabLst>
            </a:pPr>
            <a:r>
              <a:rPr lang="en-GB" sz="2600" b="1" dirty="0"/>
              <a:t>•	Register </a:t>
            </a:r>
          </a:p>
          <a:p>
            <a:pPr marL="400050" lvl="1" indent="0">
              <a:spcAft>
                <a:spcPts val="600"/>
              </a:spcAft>
              <a:buNone/>
              <a:tabLst>
                <a:tab pos="360363" algn="l"/>
              </a:tabLst>
            </a:pPr>
            <a:r>
              <a:rPr lang="en-GB" sz="2600" b="1" dirty="0"/>
              <a:t>•	Indexed </a:t>
            </a:r>
          </a:p>
        </p:txBody>
      </p:sp>
      <p:sp>
        <p:nvSpPr>
          <p:cNvPr id="13315" name="Slide Number Placeholder 3">
            <a:extLst>
              <a:ext uri="{FF2B5EF4-FFF2-40B4-BE49-F238E27FC236}">
                <a16:creationId xmlns:a16="http://schemas.microsoft.com/office/drawing/2014/main" id="{8DF5B56C-EF2F-493E-8951-F5B0726990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03D2D69C-933E-45A0-8B60-25A4969AE6E9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1E417F-2571-4FDF-8083-1EE80F0D5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152400"/>
            <a:ext cx="12039600" cy="788987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-GB" sz="4400" dirty="0"/>
              <a:t>Key Components of the ISA</a:t>
            </a:r>
          </a:p>
        </p:txBody>
      </p:sp>
    </p:spTree>
    <p:extLst>
      <p:ext uri="{BB962C8B-B14F-4D97-AF65-F5344CB8AC3E}">
        <p14:creationId xmlns:p14="http://schemas.microsoft.com/office/powerpoint/2010/main" val="3046816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Content Placeholder 2">
            <a:extLst>
              <a:ext uri="{FF2B5EF4-FFF2-40B4-BE49-F238E27FC236}">
                <a16:creationId xmlns:a16="http://schemas.microsoft.com/office/drawing/2014/main" id="{C3FFAA78-CB84-4870-B363-F21CC100A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988" y="1143000"/>
            <a:ext cx="11887200" cy="5105400"/>
          </a:xfrm>
        </p:spPr>
        <p:txBody>
          <a:bodyPr rtlCol="0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b="1" dirty="0"/>
              <a:t>e) Instruction Format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/>
              <a:t>Structure of an instruction: </a:t>
            </a:r>
            <a:r>
              <a:rPr lang="en-GB" b="1" dirty="0">
                <a:solidFill>
                  <a:srgbClr val="0000FF"/>
                </a:solidFill>
              </a:rPr>
              <a:t>opcode and operand, addressing mode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/>
              <a:t>•  Opcode (operation)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/>
              <a:t>•  Operand(s)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b="1" dirty="0"/>
              <a:t>Example: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b="1" dirty="0"/>
              <a:t>ADD R1, R2  </a:t>
            </a:r>
            <a:r>
              <a:rPr lang="en-GB" b="1" dirty="0">
                <a:solidFill>
                  <a:srgbClr val="0000FF"/>
                </a:solidFill>
              </a:rPr>
              <a:t>(add R1 and R2 and store result in R1)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/>
              <a:t>Opcode = </a:t>
            </a:r>
            <a:r>
              <a:rPr lang="en-GB" b="1" dirty="0">
                <a:solidFill>
                  <a:srgbClr val="0000FF"/>
                </a:solidFill>
              </a:rPr>
              <a:t>ADD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/>
              <a:t>Operands = </a:t>
            </a:r>
            <a:r>
              <a:rPr lang="en-GB" b="1" dirty="0"/>
              <a:t>R1 and R2</a:t>
            </a:r>
          </a:p>
        </p:txBody>
      </p:sp>
      <p:sp>
        <p:nvSpPr>
          <p:cNvPr id="13315" name="Slide Number Placeholder 3">
            <a:extLst>
              <a:ext uri="{FF2B5EF4-FFF2-40B4-BE49-F238E27FC236}">
                <a16:creationId xmlns:a16="http://schemas.microsoft.com/office/drawing/2014/main" id="{8DF5B56C-EF2F-493E-8951-F5B0726990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03D2D69C-933E-45A0-8B60-25A4969AE6E9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1E417F-2571-4FDF-8083-1EE80F0D5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152400"/>
            <a:ext cx="12039600" cy="788987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-GB" sz="4400" dirty="0"/>
              <a:t>Key Components of the ISA</a:t>
            </a:r>
          </a:p>
        </p:txBody>
      </p:sp>
    </p:spTree>
    <p:extLst>
      <p:ext uri="{BB962C8B-B14F-4D97-AF65-F5344CB8AC3E}">
        <p14:creationId xmlns:p14="http://schemas.microsoft.com/office/powerpoint/2010/main" val="254569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Content Placeholder 2">
            <a:extLst>
              <a:ext uri="{FF2B5EF4-FFF2-40B4-BE49-F238E27FC236}">
                <a16:creationId xmlns:a16="http://schemas.microsoft.com/office/drawing/2014/main" id="{C3FFAA78-CB84-4870-B363-F21CC100A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988" y="1143000"/>
            <a:ext cx="11887200" cy="5105400"/>
          </a:xfrm>
        </p:spPr>
        <p:txBody>
          <a:bodyPr rtlCol="0">
            <a:noAutofit/>
          </a:bodyPr>
          <a:lstStyle/>
          <a:p>
            <a:pPr algn="just">
              <a:spcAft>
                <a:spcPts val="1800"/>
              </a:spcAft>
            </a:pPr>
            <a:r>
              <a:rPr lang="en-GB" dirty="0"/>
              <a:t>Within Instruction Set Architecture (ISA), </a:t>
            </a:r>
            <a:r>
              <a:rPr lang="en-GB" i="1" dirty="0"/>
              <a:t>types of instructions</a:t>
            </a:r>
            <a:r>
              <a:rPr lang="en-GB" dirty="0"/>
              <a:t> define the various operations a processor can perform on data. </a:t>
            </a:r>
          </a:p>
          <a:p>
            <a:pPr algn="just">
              <a:spcAft>
                <a:spcPts val="1800"/>
              </a:spcAft>
            </a:pPr>
            <a:r>
              <a:rPr lang="en-GB" dirty="0"/>
              <a:t>These instructions determine how a program:</a:t>
            </a:r>
          </a:p>
          <a:p>
            <a:pPr lvl="1">
              <a:spcAft>
                <a:spcPts val="1800"/>
              </a:spcAft>
            </a:pPr>
            <a:r>
              <a:rPr lang="en-GB" sz="2600" b="1" dirty="0"/>
              <a:t>Moves data </a:t>
            </a:r>
          </a:p>
          <a:p>
            <a:pPr lvl="1">
              <a:spcAft>
                <a:spcPts val="1800"/>
              </a:spcAft>
            </a:pPr>
            <a:r>
              <a:rPr lang="en-GB" sz="2600" b="1" dirty="0"/>
              <a:t>Performs computations </a:t>
            </a:r>
          </a:p>
          <a:p>
            <a:pPr lvl="1">
              <a:spcAft>
                <a:spcPts val="1800"/>
              </a:spcAft>
            </a:pPr>
            <a:r>
              <a:rPr lang="en-GB" sz="2600" b="1" dirty="0"/>
              <a:t>Makes decisions </a:t>
            </a:r>
          </a:p>
          <a:p>
            <a:pPr lvl="1">
              <a:spcAft>
                <a:spcPts val="1800"/>
              </a:spcAft>
            </a:pPr>
            <a:r>
              <a:rPr lang="en-GB" sz="2600" b="1" dirty="0"/>
              <a:t>Interacts with memory and I/O devices </a:t>
            </a:r>
          </a:p>
        </p:txBody>
      </p:sp>
      <p:sp>
        <p:nvSpPr>
          <p:cNvPr id="13315" name="Slide Number Placeholder 3">
            <a:extLst>
              <a:ext uri="{FF2B5EF4-FFF2-40B4-BE49-F238E27FC236}">
                <a16:creationId xmlns:a16="http://schemas.microsoft.com/office/drawing/2014/main" id="{8DF5B56C-EF2F-493E-8951-F5B0726990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03D2D69C-933E-45A0-8B60-25A4969AE6E9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1E417F-2571-4FDF-8083-1EE80F0D5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152400"/>
            <a:ext cx="12039600" cy="788987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-GB" sz="4400" dirty="0"/>
              <a:t>Types of Instructions</a:t>
            </a:r>
          </a:p>
        </p:txBody>
      </p:sp>
    </p:spTree>
    <p:extLst>
      <p:ext uri="{BB962C8B-B14F-4D97-AF65-F5344CB8AC3E}">
        <p14:creationId xmlns:p14="http://schemas.microsoft.com/office/powerpoint/2010/main" val="3667870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Content Placeholder 2">
            <a:extLst>
              <a:ext uri="{FF2B5EF4-FFF2-40B4-BE49-F238E27FC236}">
                <a16:creationId xmlns:a16="http://schemas.microsoft.com/office/drawing/2014/main" id="{C3FFAA78-CB84-4870-B363-F21CC100A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19200"/>
            <a:ext cx="12195175" cy="5029200"/>
          </a:xfrm>
        </p:spPr>
        <p:txBody>
          <a:bodyPr rtlCol="0">
            <a:noAutofit/>
          </a:bodyPr>
          <a:lstStyle/>
          <a:p>
            <a:pPr algn="just">
              <a:spcAft>
                <a:spcPts val="1800"/>
              </a:spcAft>
            </a:pPr>
            <a:r>
              <a:rPr lang="en-GB" dirty="0"/>
              <a:t>Each instruction type is designed to handle a specific category of tasks, and together they form the complete functional capability of a CPU.</a:t>
            </a:r>
          </a:p>
          <a:p>
            <a:pPr lvl="1">
              <a:spcAft>
                <a:spcPts val="1800"/>
              </a:spcAft>
            </a:pPr>
            <a:r>
              <a:rPr lang="en-GB" sz="2600" b="1" dirty="0"/>
              <a:t>Understanding instruction types is essential for:</a:t>
            </a:r>
          </a:p>
          <a:p>
            <a:pPr lvl="1">
              <a:spcAft>
                <a:spcPts val="1800"/>
              </a:spcAft>
            </a:pPr>
            <a:r>
              <a:rPr lang="en-GB" sz="2600" b="1" dirty="0"/>
              <a:t>Writing efficient assembly programs </a:t>
            </a:r>
          </a:p>
          <a:p>
            <a:pPr lvl="1">
              <a:spcAft>
                <a:spcPts val="1800"/>
              </a:spcAft>
            </a:pPr>
            <a:r>
              <a:rPr lang="en-GB" sz="2600" b="1" dirty="0"/>
              <a:t>Designing compilers </a:t>
            </a:r>
          </a:p>
          <a:p>
            <a:pPr lvl="1">
              <a:spcAft>
                <a:spcPts val="1800"/>
              </a:spcAft>
            </a:pPr>
            <a:r>
              <a:rPr lang="en-GB" sz="2600" b="1" dirty="0"/>
              <a:t>Optimizing system performance</a:t>
            </a:r>
          </a:p>
          <a:p>
            <a:pPr marL="0" indent="0">
              <a:spcAft>
                <a:spcPts val="1800"/>
              </a:spcAft>
              <a:buNone/>
            </a:pPr>
            <a:endParaRPr lang="en-GB" dirty="0"/>
          </a:p>
        </p:txBody>
      </p:sp>
      <p:sp>
        <p:nvSpPr>
          <p:cNvPr id="13315" name="Slide Number Placeholder 3">
            <a:extLst>
              <a:ext uri="{FF2B5EF4-FFF2-40B4-BE49-F238E27FC236}">
                <a16:creationId xmlns:a16="http://schemas.microsoft.com/office/drawing/2014/main" id="{8DF5B56C-EF2F-493E-8951-F5B0726990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03D2D69C-933E-45A0-8B60-25A4969AE6E9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1E417F-2571-4FDF-8083-1EE80F0D5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152400"/>
            <a:ext cx="12039600" cy="788987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-GB" sz="4400" dirty="0"/>
              <a:t>Types of Instructions</a:t>
            </a:r>
          </a:p>
        </p:txBody>
      </p:sp>
    </p:spTree>
    <p:extLst>
      <p:ext uri="{BB962C8B-B14F-4D97-AF65-F5344CB8AC3E}">
        <p14:creationId xmlns:p14="http://schemas.microsoft.com/office/powerpoint/2010/main" val="1821675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Content Placeholder 2">
            <a:extLst>
              <a:ext uri="{FF2B5EF4-FFF2-40B4-BE49-F238E27FC236}">
                <a16:creationId xmlns:a16="http://schemas.microsoft.com/office/drawing/2014/main" id="{C3FFAA78-CB84-4870-B363-F21CC100A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43000"/>
            <a:ext cx="12195175" cy="5105400"/>
          </a:xfrm>
        </p:spPr>
        <p:txBody>
          <a:bodyPr rtlCol="0">
            <a:noAutofit/>
          </a:bodyPr>
          <a:lstStyle/>
          <a:p>
            <a:pPr algn="just">
              <a:spcAft>
                <a:spcPts val="2400"/>
              </a:spcAft>
            </a:pPr>
            <a:r>
              <a:rPr lang="en-GB" dirty="0"/>
              <a:t>Load/store operations are those which move data between a register in the processor and a memory location (or another register). </a:t>
            </a:r>
          </a:p>
          <a:p>
            <a:pPr algn="just">
              <a:spcAft>
                <a:spcPts val="2400"/>
              </a:spcAft>
            </a:pPr>
            <a:r>
              <a:rPr lang="en-GB" dirty="0"/>
              <a:t>They are often collectively referred to as </a:t>
            </a:r>
            <a:r>
              <a:rPr lang="en-GB" b="1" dirty="0">
                <a:solidFill>
                  <a:srgbClr val="0000FF"/>
                </a:solidFill>
              </a:rPr>
              <a:t>data movement instructions</a:t>
            </a:r>
            <a:r>
              <a:rPr lang="en-GB" dirty="0"/>
              <a:t>. </a:t>
            </a:r>
          </a:p>
          <a:p>
            <a:pPr algn="just">
              <a:spcAft>
                <a:spcPts val="2400"/>
              </a:spcAft>
            </a:pPr>
            <a:r>
              <a:rPr lang="en-GB" dirty="0"/>
              <a:t>The two terms </a:t>
            </a:r>
            <a:r>
              <a:rPr lang="en-GB" b="1" dirty="0">
                <a:solidFill>
                  <a:srgbClr val="0000FF"/>
                </a:solidFill>
              </a:rPr>
              <a:t>load and store </a:t>
            </a:r>
            <a:r>
              <a:rPr lang="en-GB" dirty="0"/>
              <a:t>are often confused and should be carefully distinguished from each other.</a:t>
            </a:r>
          </a:p>
          <a:p>
            <a:pPr algn="just">
              <a:spcAft>
                <a:spcPts val="2400"/>
              </a:spcAft>
            </a:pPr>
            <a:r>
              <a:rPr lang="en-GB" dirty="0"/>
              <a:t>The next slide presents a picture of the load operation(instruction)</a:t>
            </a:r>
          </a:p>
          <a:p>
            <a:pPr marL="0" indent="0" algn="just">
              <a:spcAft>
                <a:spcPts val="2400"/>
              </a:spcAft>
              <a:buNone/>
            </a:pPr>
            <a:endParaRPr lang="en-GB" dirty="0"/>
          </a:p>
        </p:txBody>
      </p:sp>
      <p:sp>
        <p:nvSpPr>
          <p:cNvPr id="13315" name="Slide Number Placeholder 3">
            <a:extLst>
              <a:ext uri="{FF2B5EF4-FFF2-40B4-BE49-F238E27FC236}">
                <a16:creationId xmlns:a16="http://schemas.microsoft.com/office/drawing/2014/main" id="{8DF5B56C-EF2F-493E-8951-F5B0726990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03D2D69C-933E-45A0-8B60-25A4969AE6E9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1E417F-2571-4FDF-8083-1EE80F0D5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152400"/>
            <a:ext cx="12039600" cy="788987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>
              <a:spcAft>
                <a:spcPts val="1200"/>
              </a:spcAft>
            </a:pPr>
            <a:r>
              <a:rPr lang="en-GB" sz="4400" dirty="0"/>
              <a:t>Types of Instructions - Load/Store Instructions </a:t>
            </a:r>
          </a:p>
        </p:txBody>
      </p:sp>
    </p:spTree>
    <p:extLst>
      <p:ext uri="{BB962C8B-B14F-4D97-AF65-F5344CB8AC3E}">
        <p14:creationId xmlns:p14="http://schemas.microsoft.com/office/powerpoint/2010/main" val="3599576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>
            <a:extLst>
              <a:ext uri="{FF2B5EF4-FFF2-40B4-BE49-F238E27FC236}">
                <a16:creationId xmlns:a16="http://schemas.microsoft.com/office/drawing/2014/main" id="{1136FD9D-5738-40DE-BEFB-041C6F7903D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5E8F0686-DCBB-4A1B-A175-B7C72261245D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BB4C69-458C-465D-9554-8453D27CF3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267"/>
          <a:stretch/>
        </p:blipFill>
        <p:spPr>
          <a:xfrm>
            <a:off x="230187" y="228600"/>
            <a:ext cx="11734800" cy="5638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9B69307-B7CD-4636-8046-6A98A656BE08}"/>
              </a:ext>
            </a:extLst>
          </p:cNvPr>
          <p:cNvSpPr/>
          <p:nvPr/>
        </p:nvSpPr>
        <p:spPr>
          <a:xfrm>
            <a:off x="2592387" y="609600"/>
            <a:ext cx="2438400" cy="152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BA4DE4-D45E-426B-8E0D-18E8E20269E2}"/>
              </a:ext>
            </a:extLst>
          </p:cNvPr>
          <p:cNvSpPr txBox="1"/>
          <p:nvPr/>
        </p:nvSpPr>
        <p:spPr>
          <a:xfrm>
            <a:off x="1068387" y="5029200"/>
            <a:ext cx="434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Load Operation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455D73D-9078-45D6-B30C-1003A35D8D13}"/>
              </a:ext>
            </a:extLst>
          </p:cNvPr>
          <p:cNvSpPr/>
          <p:nvPr/>
        </p:nvSpPr>
        <p:spPr>
          <a:xfrm>
            <a:off x="8154987" y="1865763"/>
            <a:ext cx="2438400" cy="152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>
            <a:extLst>
              <a:ext uri="{FF2B5EF4-FFF2-40B4-BE49-F238E27FC236}">
                <a16:creationId xmlns:a16="http://schemas.microsoft.com/office/drawing/2014/main" id="{1136FD9D-5738-40DE-BEFB-041C6F7903D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5E8F0686-DCBB-4A1B-A175-B7C72261245D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F4BA7E-92E9-4A1A-9B72-007D6226F0B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2" t="53033" r="20538" b="11166"/>
          <a:stretch>
            <a:fillRect/>
          </a:stretch>
        </p:blipFill>
        <p:spPr bwMode="auto">
          <a:xfrm>
            <a:off x="687387" y="952500"/>
            <a:ext cx="11201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F861CF3-7C6A-4659-8BD8-84C114105E2D}"/>
              </a:ext>
            </a:extLst>
          </p:cNvPr>
          <p:cNvSpPr/>
          <p:nvPr/>
        </p:nvSpPr>
        <p:spPr>
          <a:xfrm>
            <a:off x="2668587" y="1219200"/>
            <a:ext cx="1371600" cy="1143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D4417-7931-4210-B45E-569615EE366A}"/>
              </a:ext>
            </a:extLst>
          </p:cNvPr>
          <p:cNvSpPr txBox="1"/>
          <p:nvPr/>
        </p:nvSpPr>
        <p:spPr>
          <a:xfrm>
            <a:off x="2287587" y="5292120"/>
            <a:ext cx="434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Store Operation</a:t>
            </a:r>
          </a:p>
        </p:txBody>
      </p:sp>
    </p:spTree>
    <p:extLst>
      <p:ext uri="{BB962C8B-B14F-4D97-AF65-F5344CB8AC3E}">
        <p14:creationId xmlns:p14="http://schemas.microsoft.com/office/powerpoint/2010/main" val="2930696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5F64A898-103E-44AC-A3CA-EFE711597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5" y="152401"/>
            <a:ext cx="12174850" cy="98028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GB" dirty="0"/>
              <a:t>Types of Instructions - Load/Store Instructions </a:t>
            </a:r>
            <a:endParaRPr lang="en-US" altLang="en-US" dirty="0"/>
          </a:p>
        </p:txBody>
      </p:sp>
      <p:sp>
        <p:nvSpPr>
          <p:cNvPr id="72707" name="Content Placeholder 2">
            <a:extLst>
              <a:ext uri="{FF2B5EF4-FFF2-40B4-BE49-F238E27FC236}">
                <a16:creationId xmlns:a16="http://schemas.microsoft.com/office/drawing/2014/main" id="{7D86F251-A80E-4509-B1DF-0EA8E2E2B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187" y="1132682"/>
            <a:ext cx="11725276" cy="4949032"/>
          </a:xfrm>
        </p:spPr>
        <p:txBody>
          <a:bodyPr rtlCol="0">
            <a:normAutofit/>
          </a:bodyPr>
          <a:lstStyle/>
          <a:p>
            <a:pPr algn="just"/>
            <a:r>
              <a:rPr lang="en-GB" dirty="0"/>
              <a:t>One of the universal characteristics of instruction execution is that the source does not get changed, only the destination. </a:t>
            </a:r>
          </a:p>
          <a:p>
            <a:pPr algn="just"/>
            <a:r>
              <a:rPr lang="en-GB" dirty="0"/>
              <a:t>Thus, in a load operation the processor copies data into a register, and in a store operation the processor copies data from a register into a memory location. </a:t>
            </a:r>
          </a:p>
          <a:p>
            <a:pPr algn="just"/>
            <a:r>
              <a:rPr lang="en-GB" dirty="0"/>
              <a:t>Examples of load/store instructions in the </a:t>
            </a:r>
            <a:r>
              <a:rPr lang="en-GB" b="1" dirty="0">
                <a:solidFill>
                  <a:srgbClr val="0000FF"/>
                </a:solidFill>
              </a:rPr>
              <a:t>MC68009 processor </a:t>
            </a:r>
            <a:r>
              <a:rPr lang="en-GB" dirty="0"/>
              <a:t>are </a:t>
            </a:r>
            <a:r>
              <a:rPr lang="en-GB" b="1" dirty="0"/>
              <a:t>LDA, STA, LDB, STB, LDD, STD, and so forth. </a:t>
            </a:r>
            <a:endParaRPr lang="en-GB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E4123E90-8B98-4072-ADE0-0B5E309068E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03C5D152-6ECD-4B4B-8324-D8BE2648D27E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5F64A898-103E-44AC-A3CA-EFE711597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5" y="76200"/>
            <a:ext cx="12174850" cy="82788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GB" dirty="0"/>
              <a:t>Types of Instructions - Load/Store Instructions </a:t>
            </a:r>
            <a:endParaRPr lang="en-US" altLang="en-US" dirty="0"/>
          </a:p>
        </p:txBody>
      </p:sp>
      <p:sp>
        <p:nvSpPr>
          <p:cNvPr id="72707" name="Content Placeholder 2">
            <a:extLst>
              <a:ext uri="{FF2B5EF4-FFF2-40B4-BE49-F238E27FC236}">
                <a16:creationId xmlns:a16="http://schemas.microsoft.com/office/drawing/2014/main" id="{7D86F251-A80E-4509-B1DF-0EA8E2E2B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50" y="1066800"/>
            <a:ext cx="11963400" cy="5181599"/>
          </a:xfrm>
        </p:spPr>
        <p:txBody>
          <a:bodyPr rtlCol="0">
            <a:normAutofit/>
          </a:bodyPr>
          <a:lstStyle/>
          <a:p>
            <a:pPr algn="just">
              <a:spcAft>
                <a:spcPts val="1800"/>
              </a:spcAft>
            </a:pPr>
            <a:r>
              <a:rPr lang="en-GB" dirty="0"/>
              <a:t>Examples of load/store instructions in the MC68000 processor are</a:t>
            </a:r>
          </a:p>
          <a:p>
            <a:pPr lvl="0" algn="just">
              <a:spcAft>
                <a:spcPts val="1800"/>
              </a:spcAft>
            </a:pPr>
            <a:r>
              <a:rPr lang="en-US" dirty="0"/>
              <a:t>MOVE (for either direction of data movement), </a:t>
            </a:r>
            <a:endParaRPr lang="en-GB" dirty="0"/>
          </a:p>
          <a:p>
            <a:pPr lvl="0" algn="just">
              <a:spcAft>
                <a:spcPts val="1800"/>
              </a:spcAft>
            </a:pPr>
            <a:r>
              <a:rPr lang="en-US" dirty="0"/>
              <a:t>MOVEM (for moving the content of several registers into or out of memory with a single instruction), and </a:t>
            </a:r>
            <a:endParaRPr lang="en-GB" dirty="0"/>
          </a:p>
          <a:p>
            <a:pPr lvl="0" algn="just">
              <a:spcAft>
                <a:spcPts val="1800"/>
              </a:spcAft>
            </a:pPr>
            <a:r>
              <a:rPr lang="en-US" dirty="0"/>
              <a:t>EXG (for exchanging register contents). </a:t>
            </a:r>
          </a:p>
          <a:p>
            <a:pPr lvl="0" algn="just">
              <a:spcAft>
                <a:spcPts val="1800"/>
              </a:spcAft>
            </a:pPr>
            <a:r>
              <a:rPr lang="en-US" dirty="0"/>
              <a:t>These instructions and others like them must include information identifying the source and destination. </a:t>
            </a:r>
            <a:endParaRPr lang="en-GB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E4123E90-8B98-4072-ADE0-0B5E309068E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03C5D152-6ECD-4B4B-8324-D8BE2648D27E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366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1D498-96C0-4F30-8DD0-F5350B484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188" y="990600"/>
            <a:ext cx="11811000" cy="5181600"/>
          </a:xfrm>
        </p:spPr>
        <p:txBody>
          <a:bodyPr rtlCol="0"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GB" sz="2700" dirty="0"/>
              <a:t>Arithmetic/logic operations provide the primary data-processing capabilities of the computer. </a:t>
            </a:r>
          </a:p>
          <a:p>
            <a:pPr algn="just">
              <a:spcAft>
                <a:spcPts val="1200"/>
              </a:spcAft>
            </a:pPr>
            <a:r>
              <a:rPr lang="en-GB" sz="2700" dirty="0"/>
              <a:t>The minimum arithmetic operations required are those of addition and subtraction.  5 – 3  = 5 + (-3)     101 + 011</a:t>
            </a:r>
          </a:p>
          <a:p>
            <a:pPr algn="just">
              <a:spcAft>
                <a:spcPts val="1200"/>
              </a:spcAft>
            </a:pPr>
            <a:r>
              <a:rPr lang="en-GB" sz="2700" b="1" dirty="0">
                <a:solidFill>
                  <a:srgbClr val="0000FF"/>
                </a:solidFill>
              </a:rPr>
              <a:t>All processors, implement the basic logic operations of AND, OR, and exclusive-OR on a bit-by-bit basis between two operands. </a:t>
            </a:r>
          </a:p>
          <a:p>
            <a:pPr algn="just">
              <a:spcAft>
                <a:spcPts val="1200"/>
              </a:spcAft>
            </a:pPr>
            <a:r>
              <a:rPr lang="en-GB" sz="2700" dirty="0"/>
              <a:t>With operations requiring two operands, smaller microprocessors usually require that one of the operands must be in a destination register initially, while the other may be in another register or in memory. 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E615211-4C6E-49C1-A7BB-9D249F5D46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94610956-5FC3-4605-A058-D1175726380E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F07C7D-3FA1-499A-A7B3-A055DB50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5" y="76200"/>
            <a:ext cx="12174850" cy="82788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GB" dirty="0"/>
              <a:t>Types of Instructions - Arithmetic/Logic Instructions</a:t>
            </a:r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1D498-96C0-4F30-8DD0-F5350B484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188" y="1295400"/>
            <a:ext cx="11811000" cy="4876800"/>
          </a:xfrm>
        </p:spPr>
        <p:txBody>
          <a:bodyPr rtlCol="0">
            <a:normAutofit/>
          </a:bodyPr>
          <a:lstStyle/>
          <a:p>
            <a:pPr algn="just">
              <a:spcAft>
                <a:spcPts val="1800"/>
              </a:spcAft>
            </a:pPr>
            <a:r>
              <a:rPr lang="en-GB" dirty="0"/>
              <a:t>Their instructions may identify at most a single operand in memory, as shown in the  next slide. </a:t>
            </a:r>
          </a:p>
          <a:p>
            <a:pPr algn="just">
              <a:spcAft>
                <a:spcPts val="1800"/>
              </a:spcAft>
            </a:pPr>
            <a:r>
              <a:rPr lang="en-GB" dirty="0"/>
              <a:t>They support such operations as </a:t>
            </a:r>
            <a:r>
              <a:rPr lang="en-GB" dirty="0" err="1"/>
              <a:t>ADDing</a:t>
            </a:r>
            <a:r>
              <a:rPr lang="en-GB" dirty="0"/>
              <a:t> or ANDing to processor registers as illustrated but not to memory locations. </a:t>
            </a:r>
          </a:p>
          <a:p>
            <a:pPr algn="just" eaLnBrk="1" fontAlgn="auto" hangingPunct="1">
              <a:spcAft>
                <a:spcPts val="1800"/>
              </a:spcAft>
              <a:defRPr/>
            </a:pPr>
            <a:endParaRPr lang="en-US" sz="2000" b="1" dirty="0"/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E615211-4C6E-49C1-A7BB-9D249F5D46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94610956-5FC3-4605-A058-D1175726380E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F07C7D-3FA1-499A-A7B3-A055DB50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5" y="76200"/>
            <a:ext cx="12174850" cy="82788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GB" dirty="0"/>
              <a:t>Types of Instructions - Arithmetic/Logic Instructions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98097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1D498-96C0-4F30-8DD0-F5350B484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188" y="990600"/>
            <a:ext cx="11811000" cy="5181600"/>
          </a:xfrm>
        </p:spPr>
        <p:txBody>
          <a:bodyPr rtlCol="0">
            <a:normAutofit lnSpcReduction="10000"/>
          </a:bodyPr>
          <a:lstStyle/>
          <a:p>
            <a:pPr lvl="0" algn="just">
              <a:spcAft>
                <a:spcPts val="2400"/>
              </a:spcAft>
            </a:pPr>
            <a:r>
              <a:rPr lang="en-GB" dirty="0"/>
              <a:t>Some examples of two-operand arithmetic/logic instructions in the </a:t>
            </a:r>
            <a:r>
              <a:rPr lang="en-GB" b="1" dirty="0">
                <a:solidFill>
                  <a:srgbClr val="0000FF"/>
                </a:solidFill>
              </a:rPr>
              <a:t>MC6809</a:t>
            </a:r>
            <a:r>
              <a:rPr lang="en-GB" dirty="0"/>
              <a:t> are ADDB, SUBA, SUBD, ANDA, and EORA (exclusive-OR). Each of these requires one operand to be in an accumulator </a:t>
            </a:r>
          </a:p>
          <a:p>
            <a:pPr lvl="0" algn="just">
              <a:spcAft>
                <a:spcPts val="2400"/>
              </a:spcAft>
            </a:pPr>
            <a:r>
              <a:rPr lang="en-GB" dirty="0"/>
              <a:t>Some two-operand arithmetic/logic instructions in the </a:t>
            </a:r>
            <a:r>
              <a:rPr lang="en-GB" b="1" dirty="0">
                <a:solidFill>
                  <a:srgbClr val="0000FF"/>
                </a:solidFill>
              </a:rPr>
              <a:t>MC68000</a:t>
            </a:r>
            <a:r>
              <a:rPr lang="en-GB" dirty="0"/>
              <a:t> instruction set are ADD, AND, OR, SUB, and EOR. </a:t>
            </a:r>
          </a:p>
          <a:p>
            <a:pPr lvl="0" algn="just">
              <a:spcAft>
                <a:spcPts val="2400"/>
              </a:spcAft>
            </a:pPr>
            <a:r>
              <a:rPr lang="en-GB" dirty="0"/>
              <a:t>All of the two-operand instructions in the MC68000 must specify the source and the destination. </a:t>
            </a:r>
          </a:p>
          <a:p>
            <a:pPr lvl="0" algn="just">
              <a:spcAft>
                <a:spcPts val="2400"/>
              </a:spcAft>
            </a:pPr>
            <a:r>
              <a:rPr lang="en-GB" dirty="0"/>
              <a:t>With a few exceptions, these may both be registers or memory locations or one of each</a:t>
            </a:r>
          </a:p>
          <a:p>
            <a:pPr algn="just" eaLnBrk="1" fontAlgn="auto" hangingPunct="1">
              <a:spcAft>
                <a:spcPts val="2400"/>
              </a:spcAft>
              <a:defRPr/>
            </a:pPr>
            <a:endParaRPr lang="en-US" sz="2000" b="1" dirty="0"/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E615211-4C6E-49C1-A7BB-9D249F5D46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94610956-5FC3-4605-A058-D1175726380E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F07C7D-3FA1-499A-A7B3-A055DB50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5" y="76200"/>
            <a:ext cx="12174850" cy="82788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GB" dirty="0"/>
              <a:t>Types of Instructions - Arithmetic/Logic Instructions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07290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1D498-96C0-4F30-8DD0-F5350B484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188" y="990600"/>
            <a:ext cx="11811000" cy="5181600"/>
          </a:xfrm>
        </p:spPr>
        <p:txBody>
          <a:bodyPr rtlCol="0"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GB" b="1" dirty="0"/>
              <a:t>Test/branch operations </a:t>
            </a:r>
            <a:r>
              <a:rPr lang="en-GB" dirty="0"/>
              <a:t>provide the decision-making capabilities in computer programs. </a:t>
            </a:r>
          </a:p>
          <a:p>
            <a:pPr algn="just">
              <a:spcAft>
                <a:spcPts val="1200"/>
              </a:spcAft>
            </a:pPr>
            <a:r>
              <a:rPr lang="en-GB" dirty="0"/>
              <a:t>The test is often performed on the result of some prior arithmetic/logic operation. </a:t>
            </a:r>
          </a:p>
          <a:p>
            <a:pPr algn="just">
              <a:spcAft>
                <a:spcPts val="1200"/>
              </a:spcAft>
            </a:pPr>
            <a:r>
              <a:rPr lang="en-GB" dirty="0"/>
              <a:t>It determines whether the result was zero or non-zero, positive or negative, or some other binary choice involving bits in the condition code register. </a:t>
            </a:r>
          </a:p>
          <a:p>
            <a:pPr algn="just">
              <a:spcAft>
                <a:spcPts val="1200"/>
              </a:spcAft>
            </a:pPr>
            <a:r>
              <a:rPr lang="en-GB" dirty="0"/>
              <a:t>During the execution of a test/branch instruction, the processor examines the appropriate condition code bits to determine the result of the test. 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E615211-4C6E-49C1-A7BB-9D249F5D46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94610956-5FC3-4605-A058-D1175726380E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F07C7D-3FA1-499A-A7B3-A055DB50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5" y="76200"/>
            <a:ext cx="12174850" cy="82788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GB" dirty="0"/>
              <a:t>Types of Instructions - Test/Branch Instructions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99703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1D498-96C0-4F30-8DD0-F5350B484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4" y="1143000"/>
            <a:ext cx="12020863" cy="5105400"/>
          </a:xfrm>
        </p:spPr>
        <p:txBody>
          <a:bodyPr rtlCol="0">
            <a:normAutofit/>
          </a:bodyPr>
          <a:lstStyle/>
          <a:p>
            <a:pPr algn="just">
              <a:spcAft>
                <a:spcPts val="2400"/>
              </a:spcAft>
            </a:pPr>
            <a:r>
              <a:rPr lang="en-GB" dirty="0"/>
              <a:t>Depending upon the result, the processor may or may not branch to a remote location for the next instruction.  </a:t>
            </a:r>
          </a:p>
          <a:p>
            <a:pPr algn="just">
              <a:spcAft>
                <a:spcPts val="2400"/>
              </a:spcAft>
            </a:pPr>
            <a:r>
              <a:rPr lang="en-GB" dirty="0"/>
              <a:t>Examples of test/branch instructions are BCC (branch if carry is cleared), BEQ (branch if equal to 0), BMI (branch if minus), and BRA (branch always). </a:t>
            </a:r>
          </a:p>
          <a:p>
            <a:pPr algn="just" eaLnBrk="1" fontAlgn="auto" hangingPunct="1">
              <a:spcAft>
                <a:spcPts val="2400"/>
              </a:spcAft>
              <a:defRPr/>
            </a:pPr>
            <a:endParaRPr lang="en-US" sz="2000" b="1" dirty="0"/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E615211-4C6E-49C1-A7BB-9D249F5D46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94610956-5FC3-4605-A058-D1175726380E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F07C7D-3FA1-499A-A7B3-A055DB50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5" y="76200"/>
            <a:ext cx="12174850" cy="82788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GB" dirty="0"/>
              <a:t>Types of Instructions - Test/Branch Instructions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12939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E615211-4C6E-49C1-A7BB-9D249F5D46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94610956-5FC3-4605-A058-D1175726380E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F07C7D-3FA1-499A-A7B3-A055DB50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5" y="2171700"/>
            <a:ext cx="12174850" cy="1143000"/>
          </a:xfrm>
          <a:solidFill>
            <a:schemeClr val="accent6">
              <a:lumMod val="40000"/>
              <a:lumOff val="60000"/>
            </a:schemeClr>
          </a:solidFill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GB" sz="4800" dirty="0"/>
              <a:t>Instruction Formats</a:t>
            </a:r>
            <a:endParaRPr lang="en-US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922678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1D498-96C0-4F30-8DD0-F5350B484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4" y="904080"/>
            <a:ext cx="12020863" cy="5344320"/>
          </a:xfrm>
        </p:spPr>
        <p:txBody>
          <a:bodyPr rtlCol="0">
            <a:normAutofit fontScale="92500" lnSpcReduction="20000"/>
          </a:bodyPr>
          <a:lstStyle/>
          <a:p>
            <a:pPr algn="just">
              <a:spcAft>
                <a:spcPts val="2400"/>
              </a:spcAft>
            </a:pPr>
            <a:r>
              <a:rPr lang="en-GB" dirty="0"/>
              <a:t>An instruction is usually made up of a combination of an operation code and some way of specifying an operand, most commonly by its </a:t>
            </a:r>
            <a:r>
              <a:rPr lang="en-GB" b="1" dirty="0"/>
              <a:t>location</a:t>
            </a:r>
            <a:r>
              <a:rPr lang="en-GB" dirty="0"/>
              <a:t> or </a:t>
            </a:r>
            <a:r>
              <a:rPr lang="en-GB" b="1" dirty="0"/>
              <a:t>address in memory</a:t>
            </a:r>
            <a:r>
              <a:rPr lang="en-GB" dirty="0"/>
              <a:t>.</a:t>
            </a:r>
          </a:p>
          <a:p>
            <a:pPr algn="just">
              <a:spcAft>
                <a:spcPts val="2400"/>
              </a:spcAft>
            </a:pPr>
            <a:r>
              <a:rPr lang="en-GB" dirty="0"/>
              <a:t>Instruction Format is the layout of </a:t>
            </a:r>
            <a:r>
              <a:rPr lang="en-GB" b="1" dirty="0"/>
              <a:t>bits in an instruction</a:t>
            </a:r>
          </a:p>
          <a:p>
            <a:pPr algn="just">
              <a:spcAft>
                <a:spcPts val="2400"/>
              </a:spcAft>
            </a:pPr>
            <a:r>
              <a:rPr lang="en-GB" b="1" dirty="0">
                <a:solidFill>
                  <a:srgbClr val="FF0000"/>
                </a:solidFill>
              </a:rPr>
              <a:t>11100011111110000001110000 = ADD R1,R2</a:t>
            </a:r>
          </a:p>
          <a:p>
            <a:pPr algn="just">
              <a:spcAft>
                <a:spcPts val="2400"/>
              </a:spcAft>
            </a:pPr>
            <a:r>
              <a:rPr lang="en-GB" dirty="0"/>
              <a:t>An instruction is divided into </a:t>
            </a:r>
            <a:r>
              <a:rPr lang="en-GB" b="1" dirty="0"/>
              <a:t>Opcode (function), operand(s) </a:t>
            </a:r>
            <a:r>
              <a:rPr lang="en-GB" dirty="0"/>
              <a:t>(</a:t>
            </a:r>
            <a:r>
              <a:rPr lang="en-GB" b="1" dirty="0"/>
              <a:t>implicit or explicit)</a:t>
            </a:r>
            <a:r>
              <a:rPr lang="en-GB" dirty="0"/>
              <a:t> and </a:t>
            </a:r>
            <a:r>
              <a:rPr lang="en-GB" b="1" dirty="0"/>
              <a:t>addressing mode</a:t>
            </a:r>
            <a:r>
              <a:rPr lang="en-GB" dirty="0"/>
              <a:t>.</a:t>
            </a:r>
          </a:p>
          <a:p>
            <a:pPr lvl="0" algn="just">
              <a:spcAft>
                <a:spcPts val="2400"/>
              </a:spcAft>
            </a:pPr>
            <a:r>
              <a:rPr lang="en-GB" dirty="0"/>
              <a:t>Instructions typically have 0,1,2 or 3 operands</a:t>
            </a:r>
          </a:p>
          <a:p>
            <a:pPr lvl="0" algn="just">
              <a:spcAft>
                <a:spcPts val="2400"/>
              </a:spcAft>
            </a:pPr>
            <a:r>
              <a:rPr lang="en-GB" b="1" dirty="0">
                <a:solidFill>
                  <a:srgbClr val="0000FF"/>
                </a:solidFill>
              </a:rPr>
              <a:t>There is usually more than one instruction format in an instruction set</a:t>
            </a:r>
          </a:p>
          <a:p>
            <a:pPr algn="just" eaLnBrk="1" fontAlgn="auto" hangingPunct="1">
              <a:spcAft>
                <a:spcPts val="2400"/>
              </a:spcAft>
              <a:defRPr/>
            </a:pPr>
            <a:endParaRPr lang="en-US" sz="2000" b="1" dirty="0"/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E615211-4C6E-49C1-A7BB-9D249F5D46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94610956-5FC3-4605-A058-D1175726380E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F07C7D-3FA1-499A-A7B3-A055DB50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5" y="76200"/>
            <a:ext cx="12174850" cy="82788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GB" sz="4400" dirty="0"/>
              <a:t>Instruction Format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872002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1D498-96C0-4F30-8DD0-F5350B484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4" y="904080"/>
            <a:ext cx="12020863" cy="2524920"/>
          </a:xfrm>
        </p:spPr>
        <p:txBody>
          <a:bodyPr rtlCol="0">
            <a:normAutofit/>
          </a:bodyPr>
          <a:lstStyle/>
          <a:p>
            <a:pPr algn="just"/>
            <a:r>
              <a:rPr lang="en-GB" b="1" dirty="0"/>
              <a:t>The format of an instruction</a:t>
            </a:r>
            <a:r>
              <a:rPr lang="en-GB" dirty="0"/>
              <a:t> is usually depicted in a rectangular box symbolizing the bits of the instruction as they appear in memory words or in a control register. </a:t>
            </a:r>
          </a:p>
          <a:p>
            <a:pPr algn="just"/>
            <a:r>
              <a:rPr lang="en-GB" dirty="0"/>
              <a:t>The bits of the instruction are divided into groups called fields. The most common fields found in instruction formats are:</a:t>
            </a:r>
          </a:p>
          <a:p>
            <a:pPr algn="just" eaLnBrk="1" fontAlgn="auto" hangingPunct="1">
              <a:spcAft>
                <a:spcPts val="2400"/>
              </a:spcAft>
              <a:defRPr/>
            </a:pPr>
            <a:endParaRPr lang="en-US" sz="2000" b="1" dirty="0"/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E615211-4C6E-49C1-A7BB-9D249F5D46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94610956-5FC3-4605-A058-D1175726380E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F07C7D-3FA1-499A-A7B3-A055DB50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5" y="76200"/>
            <a:ext cx="12174850" cy="82788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GB" sz="4400" dirty="0"/>
              <a:t>General Structure of an Instruction</a:t>
            </a:r>
            <a:endParaRPr lang="en-US" altLang="en-US" sz="44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CDD0561-6268-402D-B023-BAA564B56E43}"/>
              </a:ext>
            </a:extLst>
          </p:cNvPr>
          <p:cNvGrpSpPr>
            <a:grpSpLocks/>
          </p:cNvGrpSpPr>
          <p:nvPr/>
        </p:nvGrpSpPr>
        <p:grpSpPr bwMode="auto">
          <a:xfrm>
            <a:off x="763587" y="3900700"/>
            <a:ext cx="10363200" cy="823700"/>
            <a:chOff x="0" y="0"/>
            <a:chExt cx="6781800" cy="315595"/>
          </a:xfrm>
        </p:grpSpPr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1C390C37-0134-4D6C-9F70-8B780CBB6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600200" cy="315595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3600" b="1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Opcode</a:t>
              </a:r>
              <a:endPara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5FD120-3EE3-4CBD-9A89-FAAFCCE43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0"/>
              <a:ext cx="1600200" cy="315595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3600" b="1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Mode</a:t>
              </a:r>
              <a:endPara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43B2C4-4F6E-4FDB-AE77-1C72E36ED3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0"/>
              <a:ext cx="3581400" cy="315595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3600" b="1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Address or Operand</a:t>
              </a:r>
              <a:endPara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7150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1D498-96C0-4F30-8DD0-F5350B484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4" y="904080"/>
            <a:ext cx="12020863" cy="5344320"/>
          </a:xfrm>
        </p:spPr>
        <p:txBody>
          <a:bodyPr rtlCol="0">
            <a:normAutofit/>
          </a:bodyPr>
          <a:lstStyle/>
          <a:p>
            <a:pPr algn="just" latinLnBrk="1"/>
            <a:r>
              <a:rPr lang="en-GB" dirty="0"/>
              <a:t>An operation code field that specifies the operation to be performed.</a:t>
            </a:r>
          </a:p>
          <a:p>
            <a:pPr algn="just" latinLnBrk="1"/>
            <a:r>
              <a:rPr lang="en-GB" dirty="0"/>
              <a:t>An address field that designates a memory address or a processor register.</a:t>
            </a:r>
          </a:p>
          <a:p>
            <a:pPr algn="just" latinLnBrk="1"/>
            <a:r>
              <a:rPr lang="en-GB" dirty="0"/>
              <a:t>A mode field that specifies the way the operand or the effective address is determined. </a:t>
            </a:r>
          </a:p>
          <a:p>
            <a:pPr algn="just" eaLnBrk="1" fontAlgn="auto" hangingPunct="1">
              <a:spcAft>
                <a:spcPts val="2400"/>
              </a:spcAft>
              <a:defRPr/>
            </a:pPr>
            <a:endParaRPr lang="en-US" sz="2000" b="1" dirty="0"/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E615211-4C6E-49C1-A7BB-9D249F5D46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94610956-5FC3-4605-A058-D1175726380E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F07C7D-3FA1-499A-A7B3-A055DB50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5" y="76200"/>
            <a:ext cx="12174850" cy="82788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GB" sz="4400" dirty="0"/>
              <a:t>General Structure of an Instruction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8598172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1D498-96C0-4F30-8DD0-F5350B484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4" y="904080"/>
            <a:ext cx="12020863" cy="5344320"/>
          </a:xfrm>
        </p:spPr>
        <p:txBody>
          <a:bodyPr rtlCol="0">
            <a:normAutofit/>
          </a:bodyPr>
          <a:lstStyle/>
          <a:p>
            <a:pPr algn="just" latinLnBrk="1">
              <a:spcAft>
                <a:spcPts val="1800"/>
              </a:spcAft>
            </a:pPr>
            <a:r>
              <a:rPr lang="en-GB" b="1" dirty="0"/>
              <a:t>Example 1: Simple 16-bit Instruction Format</a:t>
            </a:r>
          </a:p>
          <a:p>
            <a:pPr algn="just" latinLnBrk="1">
              <a:spcAft>
                <a:spcPts val="1800"/>
              </a:spcAft>
            </a:pPr>
            <a:r>
              <a:rPr lang="en-GB" b="1" dirty="0"/>
              <a:t>Format</a:t>
            </a:r>
            <a:r>
              <a:rPr lang="en-GB" dirty="0"/>
              <a:t> : </a:t>
            </a:r>
            <a:r>
              <a:rPr lang="en-GB" b="1" dirty="0">
                <a:solidFill>
                  <a:srgbClr val="0000FF"/>
                </a:solidFill>
              </a:rPr>
              <a:t>1111111100001111</a:t>
            </a:r>
          </a:p>
          <a:p>
            <a:pPr algn="just" latinLnBrk="1">
              <a:spcAft>
                <a:spcPts val="1800"/>
              </a:spcAft>
            </a:pPr>
            <a:r>
              <a:rPr lang="en-GB" b="1" dirty="0"/>
              <a:t>| Opcode (4 bits) | Register (4 bits) | Address (8 bits) |</a:t>
            </a:r>
          </a:p>
          <a:p>
            <a:pPr algn="just" latinLnBrk="1">
              <a:spcAft>
                <a:spcPts val="1800"/>
              </a:spcAft>
            </a:pPr>
            <a:r>
              <a:rPr lang="en-GB" dirty="0"/>
              <a:t>Explanation</a:t>
            </a:r>
          </a:p>
          <a:p>
            <a:pPr lvl="1" algn="just" latinLnBrk="1">
              <a:spcAft>
                <a:spcPts val="1800"/>
              </a:spcAft>
            </a:pPr>
            <a:r>
              <a:rPr lang="en-GB" sz="2600" dirty="0"/>
              <a:t>Opcode (4 bits) → </a:t>
            </a:r>
            <a:r>
              <a:rPr lang="en-GB" sz="2600" b="1" dirty="0"/>
              <a:t>Defines operation (e.g., ADD, SUB)</a:t>
            </a:r>
          </a:p>
          <a:p>
            <a:pPr lvl="1" algn="just" latinLnBrk="1">
              <a:spcAft>
                <a:spcPts val="1800"/>
              </a:spcAft>
            </a:pPr>
            <a:r>
              <a:rPr lang="en-GB" sz="2600" dirty="0"/>
              <a:t>Register (4 bits) → </a:t>
            </a:r>
            <a:r>
              <a:rPr lang="en-GB" sz="2600" b="1" dirty="0"/>
              <a:t>Specifies register (e.g., R1, R2)</a:t>
            </a:r>
          </a:p>
          <a:p>
            <a:pPr lvl="1" algn="just" latinLnBrk="1">
              <a:spcAft>
                <a:spcPts val="1800"/>
              </a:spcAft>
            </a:pPr>
            <a:r>
              <a:rPr lang="en-GB" sz="2600" dirty="0"/>
              <a:t>Address (8 bits) → </a:t>
            </a:r>
            <a:r>
              <a:rPr lang="en-GB" sz="2600" b="1" dirty="0"/>
              <a:t>Memory location</a:t>
            </a:r>
            <a:endParaRPr lang="en-US" sz="2600" b="1" dirty="0"/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E615211-4C6E-49C1-A7BB-9D249F5D46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94610956-5FC3-4605-A058-D1175726380E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F07C7D-3FA1-499A-A7B3-A055DB50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5" y="76200"/>
            <a:ext cx="12174850" cy="82788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GB" sz="4400" dirty="0"/>
              <a:t>General Structure of an Instruction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610721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1D498-96C0-4F30-8DD0-F5350B484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4" y="904080"/>
            <a:ext cx="12020863" cy="5344320"/>
          </a:xfrm>
        </p:spPr>
        <p:txBody>
          <a:bodyPr rtlCol="0">
            <a:normAutofit/>
          </a:bodyPr>
          <a:lstStyle/>
          <a:p>
            <a:pPr algn="just" latinLnBrk="1"/>
            <a:r>
              <a:rPr lang="en-GB" b="1" dirty="0"/>
              <a:t>Binary Example</a:t>
            </a:r>
          </a:p>
          <a:p>
            <a:pPr algn="just" latinLnBrk="1"/>
            <a:r>
              <a:rPr lang="en-GB" b="1" dirty="0">
                <a:solidFill>
                  <a:srgbClr val="0000FF"/>
                </a:solidFill>
              </a:rPr>
              <a:t>1010 0011 11001010</a:t>
            </a:r>
          </a:p>
          <a:p>
            <a:pPr algn="just" latinLnBrk="1"/>
            <a:r>
              <a:rPr lang="en-GB" dirty="0"/>
              <a:t>Breakdown</a:t>
            </a:r>
          </a:p>
          <a:p>
            <a:pPr algn="just" latinLnBrk="1"/>
            <a:r>
              <a:rPr lang="en-GB" dirty="0"/>
              <a:t>Field		Bits		Value		Meaning</a:t>
            </a:r>
          </a:p>
          <a:p>
            <a:pPr algn="just" latinLnBrk="1"/>
            <a:r>
              <a:rPr lang="en-GB" dirty="0"/>
              <a:t>Opcode		1010		</a:t>
            </a:r>
            <a:r>
              <a:rPr lang="en-GB" b="1" dirty="0"/>
              <a:t>ADD	</a:t>
            </a:r>
            <a:r>
              <a:rPr lang="en-GB" dirty="0"/>
              <a:t>	Perform addition</a:t>
            </a:r>
          </a:p>
          <a:p>
            <a:pPr algn="just" latinLnBrk="1"/>
            <a:r>
              <a:rPr lang="en-GB" dirty="0"/>
              <a:t>Register		0011		</a:t>
            </a:r>
            <a:r>
              <a:rPr lang="en-GB" b="1" dirty="0"/>
              <a:t>R3</a:t>
            </a:r>
            <a:r>
              <a:rPr lang="en-GB" dirty="0"/>
              <a:t>		Use register 3</a:t>
            </a:r>
          </a:p>
          <a:p>
            <a:pPr algn="just" latinLnBrk="1"/>
            <a:r>
              <a:rPr lang="en-GB" dirty="0"/>
              <a:t>Address		</a:t>
            </a:r>
            <a:r>
              <a:rPr lang="en-GB" b="1" dirty="0"/>
              <a:t>11001010</a:t>
            </a:r>
            <a:r>
              <a:rPr lang="en-GB" dirty="0"/>
              <a:t>	</a:t>
            </a:r>
            <a:r>
              <a:rPr lang="en-GB" b="1" dirty="0"/>
              <a:t>202	</a:t>
            </a:r>
            <a:r>
              <a:rPr lang="en-GB" dirty="0"/>
              <a:t>	</a:t>
            </a:r>
            <a:r>
              <a:rPr lang="en-GB" b="1" dirty="0"/>
              <a:t>Memory location 202</a:t>
            </a:r>
          </a:p>
          <a:p>
            <a:pPr algn="just" latinLnBrk="1"/>
            <a:endParaRPr lang="en-GB" dirty="0"/>
          </a:p>
          <a:p>
            <a:pPr algn="just" latinLnBrk="1"/>
            <a:r>
              <a:rPr lang="en-GB" b="1" dirty="0"/>
              <a:t>Interpretation: ADD R3, [202]</a:t>
            </a:r>
            <a:endParaRPr lang="en-US" sz="2000" b="1" dirty="0"/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E615211-4C6E-49C1-A7BB-9D249F5D46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94610956-5FC3-4605-A058-D1175726380E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F07C7D-3FA1-499A-A7B3-A055DB50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5" y="76200"/>
            <a:ext cx="12174850" cy="82788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GB" sz="4400" dirty="0"/>
              <a:t>General Structure of an Instruction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427891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1D498-96C0-4F30-8DD0-F5350B484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4" y="904080"/>
            <a:ext cx="12020863" cy="5344320"/>
          </a:xfrm>
        </p:spPr>
        <p:txBody>
          <a:bodyPr rtlCol="0">
            <a:normAutofit fontScale="92500" lnSpcReduction="10000"/>
          </a:bodyPr>
          <a:lstStyle/>
          <a:p>
            <a:pPr algn="just" latinLnBrk="1"/>
            <a:r>
              <a:rPr lang="en-GB" b="1" dirty="0"/>
              <a:t>Binary Example 2 (32 bits)</a:t>
            </a:r>
          </a:p>
          <a:p>
            <a:pPr algn="just" latinLnBrk="1"/>
            <a:r>
              <a:rPr lang="en-GB" b="1" dirty="0">
                <a:solidFill>
                  <a:srgbClr val="0000FF"/>
                </a:solidFill>
              </a:rPr>
              <a:t>000001 00001 00010 00011 00000000000</a:t>
            </a:r>
          </a:p>
          <a:p>
            <a:pPr algn="just" latinLnBrk="1"/>
            <a:r>
              <a:rPr lang="en-GB" dirty="0"/>
              <a:t>Breakdown</a:t>
            </a:r>
          </a:p>
          <a:p>
            <a:pPr algn="just" latinLnBrk="1"/>
            <a:r>
              <a:rPr lang="en-GB" dirty="0"/>
              <a:t>Field				Meaning</a:t>
            </a:r>
          </a:p>
          <a:p>
            <a:pPr algn="just" latinLnBrk="1"/>
            <a:r>
              <a:rPr lang="en-GB" dirty="0"/>
              <a:t>Opcode = </a:t>
            </a:r>
            <a:r>
              <a:rPr lang="en-GB" b="1" dirty="0"/>
              <a:t>000001</a:t>
            </a:r>
            <a:r>
              <a:rPr lang="en-GB" dirty="0"/>
              <a:t>		</a:t>
            </a:r>
            <a:r>
              <a:rPr lang="en-GB" b="1" dirty="0"/>
              <a:t>ADD</a:t>
            </a:r>
          </a:p>
          <a:p>
            <a:pPr algn="just" latinLnBrk="1"/>
            <a:r>
              <a:rPr lang="en-GB" dirty="0"/>
              <a:t>R1 = 00001			Destination (R1)</a:t>
            </a:r>
          </a:p>
          <a:p>
            <a:pPr algn="just" latinLnBrk="1"/>
            <a:r>
              <a:rPr lang="en-GB" dirty="0"/>
              <a:t>R2 = 00010			Operand 1 (R2)</a:t>
            </a:r>
          </a:p>
          <a:p>
            <a:pPr algn="just" latinLnBrk="1"/>
            <a:r>
              <a:rPr lang="en-GB" dirty="0"/>
              <a:t>R3 = 00011			Operand 2 (R3)</a:t>
            </a:r>
          </a:p>
          <a:p>
            <a:pPr algn="just" latinLnBrk="1"/>
            <a:endParaRPr lang="en-GB" sz="2000" dirty="0"/>
          </a:p>
          <a:p>
            <a:r>
              <a:rPr lang="pt-BR" sz="3000" b="1" dirty="0"/>
              <a:t>Interpretation</a:t>
            </a:r>
          </a:p>
          <a:p>
            <a:r>
              <a:rPr lang="pt-BR" sz="3000" dirty="0"/>
              <a:t>ADD R1, R2, R3</a:t>
            </a:r>
          </a:p>
          <a:p>
            <a:pPr algn="just" latinLnBrk="1"/>
            <a:endParaRPr lang="en-US" sz="2000" dirty="0"/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E615211-4C6E-49C1-A7BB-9D249F5D46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94610956-5FC3-4605-A058-D1175726380E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F07C7D-3FA1-499A-A7B3-A055DB50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5" y="76200"/>
            <a:ext cx="12174850" cy="82788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GB" sz="4400" dirty="0"/>
              <a:t>General Structure of an Instruction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2387338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E615211-4C6E-49C1-A7BB-9D249F5D46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94610956-5FC3-4605-A058-D1175726380E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E36FC6-58AC-428B-86E0-5698AAE294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636" t="28884" r="37503" b="63559"/>
          <a:stretch/>
        </p:blipFill>
        <p:spPr>
          <a:xfrm>
            <a:off x="230187" y="620689"/>
            <a:ext cx="11506200" cy="762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931E4D-A212-45B3-9D11-9883FA9806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636" t="45149" r="43341" b="14436"/>
          <a:stretch/>
        </p:blipFill>
        <p:spPr>
          <a:xfrm>
            <a:off x="877887" y="1382689"/>
            <a:ext cx="10210800" cy="454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48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65B7982-E9B0-481E-B8FB-7CA37AF4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24500"/>
            <a:ext cx="10975975" cy="68580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2800" dirty="0">
                <a:solidFill>
                  <a:schemeClr val="tx1"/>
                </a:solidFill>
              </a:rPr>
              <a:t>Figure: Instruction format for One Address</a:t>
            </a: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1C83DAF5-FF8E-4CDA-B14E-8D335F858B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68EFBAC9-33ED-4E2D-82C2-09A578026756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D4CD56-87E1-4D93-9ED7-62ECB5B225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09" t="29996" r="15009" b="14436"/>
          <a:stretch/>
        </p:blipFill>
        <p:spPr>
          <a:xfrm>
            <a:off x="153987" y="152399"/>
            <a:ext cx="11887200" cy="539750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65B7982-E9B0-481E-B8FB-7CA37AF4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24500"/>
            <a:ext cx="10975975" cy="68580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2800" dirty="0">
                <a:solidFill>
                  <a:schemeClr val="tx1"/>
                </a:solidFill>
              </a:rPr>
              <a:t>Figure: Instruction format for Two Addresses</a:t>
            </a: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1C83DAF5-FF8E-4CDA-B14E-8D335F858B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68EFBAC9-33ED-4E2D-82C2-09A578026756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221A1E-6FCA-42D3-987F-5BE13CE127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133" t="29995" r="18133" b="15548"/>
          <a:stretch/>
        </p:blipFill>
        <p:spPr>
          <a:xfrm>
            <a:off x="153987" y="251728"/>
            <a:ext cx="11888788" cy="523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3989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65B7982-E9B0-481E-B8FB-7CA37AF4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24500"/>
            <a:ext cx="10975975" cy="68580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2800" dirty="0">
                <a:solidFill>
                  <a:schemeClr val="tx1"/>
                </a:solidFill>
              </a:rPr>
              <a:t>Figure: Instruction format for Two Addresses</a:t>
            </a: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1C83DAF5-FF8E-4CDA-B14E-8D335F858B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68EFBAC9-33ED-4E2D-82C2-09A578026756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221A1E-6FCA-42D3-987F-5BE13CE127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133" t="29995" r="18133" b="15548"/>
          <a:stretch/>
        </p:blipFill>
        <p:spPr>
          <a:xfrm>
            <a:off x="153987" y="251728"/>
            <a:ext cx="11888788" cy="523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650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65B7982-E9B0-481E-B8FB-7CA37AF4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24500"/>
            <a:ext cx="10975975" cy="685800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2800" dirty="0">
                <a:solidFill>
                  <a:schemeClr val="tx1"/>
                </a:solidFill>
              </a:rPr>
              <a:t>Figure: Instruction format for Three Addresses</a:t>
            </a: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1C83DAF5-FF8E-4CDA-B14E-8D335F858B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68EFBAC9-33ED-4E2D-82C2-09A578026756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0571D7-FACB-49F0-BD15-DCC098AF03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133" t="27772" r="15635" b="22217"/>
          <a:stretch/>
        </p:blipFill>
        <p:spPr>
          <a:xfrm>
            <a:off x="174306" y="439711"/>
            <a:ext cx="11846561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0336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87" y="201612"/>
            <a:ext cx="10745788" cy="712788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altLang="en-US" sz="3600" dirty="0">
                <a:latin typeface="Rockwell" panose="02060603020205020403" pitchFamily="18" charset="0"/>
              </a:rPr>
              <a:t>Instruction Format Examples 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D7FEDFFB-8E1D-40BE-9646-4F70A7865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188" y="1295400"/>
            <a:ext cx="11734800" cy="4800600"/>
          </a:xfrm>
        </p:spPr>
        <p:txBody>
          <a:bodyPr rtlCol="0"/>
          <a:lstStyle/>
          <a:p>
            <a:pPr>
              <a:spcAft>
                <a:spcPts val="1800"/>
              </a:spcAft>
            </a:pPr>
            <a:r>
              <a:rPr lang="en-GB" dirty="0"/>
              <a:t>Let’s attempt to study various instruction formats using the following program. </a:t>
            </a:r>
          </a:p>
          <a:p>
            <a:pPr>
              <a:spcAft>
                <a:spcPts val="1800"/>
              </a:spcAft>
            </a:pPr>
            <a:r>
              <a:rPr lang="en-GB" dirty="0"/>
              <a:t>The program in assembly language that evaluates 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dirty="0"/>
              <a:t>	</a:t>
            </a:r>
            <a:r>
              <a:rPr lang="en-GB" sz="3600" b="1" dirty="0"/>
              <a:t>X = (A + B) * (C + D)</a:t>
            </a:r>
          </a:p>
          <a:p>
            <a:pPr>
              <a:spcAft>
                <a:spcPts val="1800"/>
              </a:spcAft>
            </a:pPr>
            <a:r>
              <a:rPr lang="en-GB" b="1" dirty="0">
                <a:solidFill>
                  <a:srgbClr val="7A0000"/>
                </a:solidFill>
              </a:rPr>
              <a:t>We shall use this to understand 3,2,1, and 0  instruction formats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7" y="332096"/>
            <a:ext cx="10745788" cy="78442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3600" dirty="0">
                <a:latin typeface="Rockwell" panose="02060603020205020403" pitchFamily="18" charset="0"/>
              </a:rPr>
              <a:t>Three Address - Instruction Format</a:t>
            </a:r>
            <a:br>
              <a:rPr lang="en-US" altLang="en-US" sz="3600" dirty="0">
                <a:latin typeface="Rockwell" panose="02060603020205020403" pitchFamily="18" charset="0"/>
              </a:rPr>
            </a:br>
            <a:r>
              <a:rPr lang="en-GB" sz="3600" dirty="0"/>
              <a:t>X = </a:t>
            </a:r>
            <a:r>
              <a:rPr lang="en-GB" sz="3600" dirty="0">
                <a:solidFill>
                  <a:srgbClr val="0000FF"/>
                </a:solidFill>
              </a:rPr>
              <a:t>(A + B) </a:t>
            </a:r>
            <a:r>
              <a:rPr lang="en-GB" sz="3600" dirty="0"/>
              <a:t>* </a:t>
            </a:r>
            <a:r>
              <a:rPr lang="en-GB" sz="3600" dirty="0">
                <a:solidFill>
                  <a:srgbClr val="0000FF"/>
                </a:solidFill>
              </a:rPr>
              <a:t>(C + D)   X =A +B + C </a:t>
            </a:r>
            <a:br>
              <a:rPr lang="en-GB" sz="3600" dirty="0">
                <a:solidFill>
                  <a:srgbClr val="0000FF"/>
                </a:solidFill>
              </a:rPr>
            </a:br>
            <a:endParaRPr lang="en-US" altLang="en-US" sz="3600" dirty="0">
              <a:solidFill>
                <a:srgbClr val="0000FF"/>
              </a:solidFill>
              <a:latin typeface="Rockwell" panose="02060603020205020403" pitchFamily="18" charset="0"/>
            </a:endParaRP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D7FEDFFB-8E1D-40BE-9646-4F70A7865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187" y="1116520"/>
            <a:ext cx="11608593" cy="4953000"/>
          </a:xfrm>
        </p:spPr>
        <p:txBody>
          <a:bodyPr rtlCol="0">
            <a:normAutofit/>
          </a:bodyPr>
          <a:lstStyle/>
          <a:p>
            <a:r>
              <a:rPr lang="en-GB" b="1" dirty="0"/>
              <a:t>ADD R1, A</a:t>
            </a:r>
            <a:r>
              <a:rPr lang="en-GB" b="1" dirty="0">
                <a:solidFill>
                  <a:srgbClr val="0000FF"/>
                </a:solidFill>
              </a:rPr>
              <a:t>, </a:t>
            </a:r>
            <a:r>
              <a:rPr lang="en-GB" b="1" dirty="0"/>
              <a:t>B</a:t>
            </a:r>
            <a:r>
              <a:rPr lang="en-GB" b="1" dirty="0">
                <a:solidFill>
                  <a:srgbClr val="0000FF"/>
                </a:solidFill>
              </a:rPr>
              <a:t>  </a:t>
            </a:r>
            <a:r>
              <a:rPr lang="en-GB" b="1" dirty="0"/>
              <a:t>R1 ← M[A] + M[B]   ADD R1,A,B</a:t>
            </a:r>
          </a:p>
          <a:p>
            <a:r>
              <a:rPr lang="en-GB" b="1" dirty="0"/>
              <a:t>ADD R2, C, D  R2 ← M[C] + M[D]  ADD X, R1,C</a:t>
            </a:r>
          </a:p>
          <a:p>
            <a:r>
              <a:rPr lang="en-GB" b="1" dirty="0"/>
              <a:t>MUL  X, R1, R2  M[X] ← R1 * R2 </a:t>
            </a:r>
          </a:p>
          <a:p>
            <a:pPr lvl="0" algn="just"/>
            <a:r>
              <a:rPr lang="en-GB" sz="2600" dirty="0">
                <a:solidFill>
                  <a:srgbClr val="7A0000"/>
                </a:solidFill>
              </a:rPr>
              <a:t>It is assumed that the computer has two processor registers, R1 and R2. The symbol M[A] denotes the operand at memory address symbolized by A.</a:t>
            </a:r>
          </a:p>
          <a:p>
            <a:pPr lvl="0" algn="just"/>
            <a:r>
              <a:rPr lang="en-GB" sz="2600" dirty="0">
                <a:solidFill>
                  <a:srgbClr val="7A0000"/>
                </a:solidFill>
              </a:rPr>
              <a:t>The advantage of the three-address format is that it results in short programs when evaluating arithmetic expressions.</a:t>
            </a:r>
          </a:p>
          <a:p>
            <a:pPr lvl="0" algn="just"/>
            <a:r>
              <a:rPr lang="en-GB" sz="2600" dirty="0">
                <a:solidFill>
                  <a:srgbClr val="7A0000"/>
                </a:solidFill>
              </a:rPr>
              <a:t>The disadvantage is that the binary-coded instructions require too many bits to specify three addresses.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6133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693" y="152400"/>
            <a:ext cx="10745788" cy="712788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altLang="en-US" sz="3600" dirty="0">
                <a:latin typeface="Rockwell" panose="02060603020205020403" pitchFamily="18" charset="0"/>
              </a:rPr>
              <a:t>Two Address - Instruction Format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D7FEDFFB-8E1D-40BE-9646-4F70A7865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187" y="952500"/>
            <a:ext cx="11734800" cy="5143500"/>
          </a:xfrm>
        </p:spPr>
        <p:txBody>
          <a:bodyPr rtlCol="0">
            <a:normAutofit fontScale="92500"/>
          </a:bodyPr>
          <a:lstStyle/>
          <a:p>
            <a:pPr algn="just">
              <a:spcAft>
                <a:spcPts val="1200"/>
              </a:spcAft>
            </a:pPr>
            <a:r>
              <a:rPr lang="en-GB" dirty="0"/>
              <a:t>Two-address instructions are the most common in commercial computers. Here again each address field can specify either a processor register or a memory word. The program to evaluate X = (A + B) * (C + D) is as follows:</a:t>
            </a:r>
          </a:p>
          <a:p>
            <a:pPr algn="just">
              <a:spcAft>
                <a:spcPts val="1200"/>
              </a:spcAft>
            </a:pPr>
            <a:r>
              <a:rPr lang="en-GB" b="1" dirty="0">
                <a:solidFill>
                  <a:srgbClr val="7A0000"/>
                </a:solidFill>
              </a:rPr>
              <a:t>MOV R1, A   R1 ← M[A]</a:t>
            </a:r>
          </a:p>
          <a:p>
            <a:pPr>
              <a:spcAft>
                <a:spcPts val="1200"/>
              </a:spcAft>
            </a:pPr>
            <a:r>
              <a:rPr lang="en-GB" b="1" dirty="0">
                <a:solidFill>
                  <a:srgbClr val="7A0000"/>
                </a:solidFill>
              </a:rPr>
              <a:t>ADD R1, B   R1 ← R1 + M[B]</a:t>
            </a:r>
          </a:p>
          <a:p>
            <a:pPr>
              <a:spcAft>
                <a:spcPts val="1200"/>
              </a:spcAft>
            </a:pPr>
            <a:r>
              <a:rPr lang="en-GB" b="1" dirty="0">
                <a:solidFill>
                  <a:srgbClr val="7A0000"/>
                </a:solidFill>
              </a:rPr>
              <a:t>MOV R2, C   R2 ← M[C]</a:t>
            </a:r>
          </a:p>
          <a:p>
            <a:pPr>
              <a:spcAft>
                <a:spcPts val="1200"/>
              </a:spcAft>
            </a:pPr>
            <a:r>
              <a:rPr lang="en-GB" b="1" dirty="0">
                <a:solidFill>
                  <a:srgbClr val="7A0000"/>
                </a:solidFill>
              </a:rPr>
              <a:t>ADD R2, D   R2 ← R2 + M[D]</a:t>
            </a:r>
          </a:p>
          <a:p>
            <a:pPr>
              <a:spcAft>
                <a:spcPts val="1200"/>
              </a:spcAft>
            </a:pPr>
            <a:r>
              <a:rPr lang="en-GB" b="1" dirty="0">
                <a:solidFill>
                  <a:srgbClr val="7A0000"/>
                </a:solidFill>
              </a:rPr>
              <a:t>MOL R1, R2  R1 ← R1 * R2</a:t>
            </a:r>
          </a:p>
          <a:p>
            <a:pPr>
              <a:spcAft>
                <a:spcPts val="1200"/>
              </a:spcAft>
            </a:pPr>
            <a:r>
              <a:rPr lang="en-GB" b="1" dirty="0">
                <a:solidFill>
                  <a:srgbClr val="7A0000"/>
                </a:solidFill>
              </a:rPr>
              <a:t>MOV X, R1   M[X] ← R1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5769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693" y="152400"/>
            <a:ext cx="10745788" cy="712788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altLang="en-US" sz="3600" dirty="0">
                <a:latin typeface="Rockwell" panose="02060603020205020403" pitchFamily="18" charset="0"/>
              </a:rPr>
              <a:t>Two Address - Instruction Format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D7FEDFFB-8E1D-40BE-9646-4F70A7865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393" y="1116520"/>
            <a:ext cx="11482387" cy="4953000"/>
          </a:xfrm>
        </p:spPr>
        <p:txBody>
          <a:bodyPr rtlCol="0">
            <a:normAutofit/>
          </a:bodyPr>
          <a:lstStyle/>
          <a:p>
            <a:pPr lvl="0" algn="just"/>
            <a:r>
              <a:rPr lang="en-GB" dirty="0"/>
              <a:t>The MOV instruction moves or transfers the operands to and from memory and processor registers.</a:t>
            </a:r>
          </a:p>
          <a:p>
            <a:pPr algn="just"/>
            <a:r>
              <a:rPr lang="en-GB" dirty="0"/>
              <a:t>The first symbol</a:t>
            </a:r>
            <a:r>
              <a:rPr lang="en-GB" b="1" dirty="0"/>
              <a:t> </a:t>
            </a:r>
            <a:r>
              <a:rPr lang="en-GB" dirty="0"/>
              <a:t>listed in an instruction is assumed to be both a source and the destination where the result of the operation is transferred.</a:t>
            </a:r>
          </a:p>
          <a:p>
            <a:pPr marL="0" indent="0" algn="just">
              <a:buNone/>
            </a:pPr>
            <a:endParaRPr lang="en-GB" dirty="0"/>
          </a:p>
          <a:p>
            <a:pPr algn="just">
              <a:spcAft>
                <a:spcPts val="1200"/>
              </a:spcAft>
            </a:pPr>
            <a:endParaRPr lang="en-GB" b="1" dirty="0">
              <a:solidFill>
                <a:srgbClr val="7A0000"/>
              </a:solidFill>
            </a:endParaRP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5561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693" y="152400"/>
            <a:ext cx="10745788" cy="712788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altLang="en-US" sz="3600" dirty="0">
                <a:latin typeface="Rockwell" panose="02060603020205020403" pitchFamily="18" charset="0"/>
              </a:rPr>
              <a:t>One Address - Instruction Format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D7FEDFFB-8E1D-40BE-9646-4F70A7865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393" y="1116520"/>
            <a:ext cx="11482387" cy="4953000"/>
          </a:xfrm>
        </p:spPr>
        <p:txBody>
          <a:bodyPr rtlCol="0">
            <a:normAutofit/>
          </a:bodyPr>
          <a:lstStyle/>
          <a:p>
            <a:pPr>
              <a:spcAft>
                <a:spcPts val="1800"/>
              </a:spcAft>
            </a:pPr>
            <a:r>
              <a:rPr lang="en-GB" dirty="0"/>
              <a:t>One-address instructions use an implied accumulator (AC) register for all data manipulation. </a:t>
            </a:r>
          </a:p>
          <a:p>
            <a:pPr>
              <a:spcAft>
                <a:spcPts val="1800"/>
              </a:spcAft>
            </a:pPr>
            <a:r>
              <a:rPr lang="en-GB" dirty="0"/>
              <a:t>For multiplication and division there is a need for a second register. </a:t>
            </a:r>
          </a:p>
          <a:p>
            <a:pPr>
              <a:spcAft>
                <a:spcPts val="1800"/>
              </a:spcAft>
            </a:pPr>
            <a:r>
              <a:rPr lang="en-GB" dirty="0"/>
              <a:t>However, here we will neglect the second register and assume that the AC contains the result of all operations.</a:t>
            </a:r>
          </a:p>
          <a:p>
            <a:pPr>
              <a:spcAft>
                <a:spcPts val="1800"/>
              </a:spcAft>
            </a:pPr>
            <a:r>
              <a:rPr lang="en-GB" dirty="0"/>
              <a:t> The program to evaluate </a:t>
            </a:r>
            <a:r>
              <a:rPr lang="en-GB" b="1" dirty="0"/>
              <a:t>X = (A + B) * (C + D)</a:t>
            </a:r>
            <a:r>
              <a:rPr lang="en-GB" dirty="0"/>
              <a:t> is</a:t>
            </a:r>
          </a:p>
          <a:p>
            <a:pPr algn="just">
              <a:spcAft>
                <a:spcPts val="1800"/>
              </a:spcAft>
            </a:pPr>
            <a:endParaRPr lang="en-GB" b="1" dirty="0">
              <a:solidFill>
                <a:srgbClr val="7A0000"/>
              </a:solidFill>
            </a:endParaRP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992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693" y="152400"/>
            <a:ext cx="10745788" cy="712788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altLang="en-US" sz="3600" dirty="0">
                <a:latin typeface="Rockwell" panose="02060603020205020403" pitchFamily="18" charset="0"/>
              </a:rPr>
              <a:t>One Address - Instruction Format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D7FEDFFB-8E1D-40BE-9646-4F70A7865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187" y="865188"/>
            <a:ext cx="11734800" cy="5383212"/>
          </a:xfrm>
        </p:spPr>
        <p:txBody>
          <a:bodyPr rtlCol="0">
            <a:normAutofit lnSpcReduction="10000"/>
          </a:bodyPr>
          <a:lstStyle/>
          <a:p>
            <a:pPr lvl="1">
              <a:spcAft>
                <a:spcPts val="1200"/>
              </a:spcAft>
            </a:pPr>
            <a:r>
              <a:rPr lang="en-GB" b="1" dirty="0">
                <a:solidFill>
                  <a:srgbClr val="7A0000"/>
                </a:solidFill>
              </a:rPr>
              <a:t>LOAD A  AC ← M[AJ</a:t>
            </a:r>
          </a:p>
          <a:p>
            <a:pPr lvl="1">
              <a:spcAft>
                <a:spcPts val="1200"/>
              </a:spcAft>
            </a:pPr>
            <a:r>
              <a:rPr lang="en-GB" b="1" dirty="0">
                <a:solidFill>
                  <a:srgbClr val="7A0000"/>
                </a:solidFill>
              </a:rPr>
              <a:t>ADD B   AC ← AC + M[B]</a:t>
            </a:r>
          </a:p>
          <a:p>
            <a:pPr lvl="1">
              <a:spcAft>
                <a:spcPts val="1200"/>
              </a:spcAft>
            </a:pPr>
            <a:r>
              <a:rPr lang="en-GB" b="1" dirty="0">
                <a:solidFill>
                  <a:srgbClr val="7A0000"/>
                </a:solidFill>
              </a:rPr>
              <a:t>STORE T M[T] ← AC</a:t>
            </a:r>
          </a:p>
          <a:p>
            <a:pPr lvl="1">
              <a:spcAft>
                <a:spcPts val="1200"/>
              </a:spcAft>
            </a:pPr>
            <a:r>
              <a:rPr lang="en-GB" b="1" dirty="0">
                <a:solidFill>
                  <a:srgbClr val="7A0000"/>
                </a:solidFill>
              </a:rPr>
              <a:t>LOAD C AC ← M[C]</a:t>
            </a:r>
          </a:p>
          <a:p>
            <a:pPr lvl="1">
              <a:spcAft>
                <a:spcPts val="1200"/>
              </a:spcAft>
            </a:pPr>
            <a:r>
              <a:rPr lang="en-GB" b="1" dirty="0">
                <a:solidFill>
                  <a:srgbClr val="7A0000"/>
                </a:solidFill>
              </a:rPr>
              <a:t>ADD  D   AC ← AC + M[D]</a:t>
            </a:r>
          </a:p>
          <a:p>
            <a:pPr lvl="1">
              <a:spcAft>
                <a:spcPts val="1200"/>
              </a:spcAft>
            </a:pPr>
            <a:r>
              <a:rPr lang="en-GB" b="1" dirty="0">
                <a:solidFill>
                  <a:srgbClr val="7A0000"/>
                </a:solidFill>
              </a:rPr>
              <a:t>MOL  T   AC ← AC*M[T]</a:t>
            </a:r>
          </a:p>
          <a:p>
            <a:pPr lvl="1">
              <a:spcAft>
                <a:spcPts val="1200"/>
              </a:spcAft>
            </a:pPr>
            <a:r>
              <a:rPr lang="en-GB" b="1" dirty="0">
                <a:solidFill>
                  <a:srgbClr val="7A0000"/>
                </a:solidFill>
              </a:rPr>
              <a:t>STORE   X  M[X] ← AC</a:t>
            </a:r>
          </a:p>
          <a:p>
            <a:pPr algn="just">
              <a:spcAft>
                <a:spcPts val="1200"/>
              </a:spcAft>
            </a:pPr>
            <a:r>
              <a:rPr lang="en-GB" dirty="0"/>
              <a:t>All operations are done between the AC register and a memory operand. T is the address of a temporary memory location required for storing the intermediate result.</a:t>
            </a:r>
          </a:p>
          <a:p>
            <a:pPr algn="just">
              <a:spcAft>
                <a:spcPts val="1200"/>
              </a:spcAft>
            </a:pPr>
            <a:endParaRPr lang="en-GB" b="1" dirty="0">
              <a:solidFill>
                <a:srgbClr val="7A0000"/>
              </a:solidFill>
            </a:endParaRP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913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693" y="152400"/>
            <a:ext cx="10745788" cy="712788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altLang="en-US" sz="3600" dirty="0">
                <a:latin typeface="Rockwell" panose="02060603020205020403" pitchFamily="18" charset="0"/>
              </a:rPr>
              <a:t>Zero Address - Instruction Format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D7FEDFFB-8E1D-40BE-9646-4F70A7865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987" y="865188"/>
            <a:ext cx="11887200" cy="5383212"/>
          </a:xfrm>
        </p:spPr>
        <p:txBody>
          <a:bodyPr rtlCol="0">
            <a:normAutofit/>
          </a:bodyPr>
          <a:lstStyle/>
          <a:p>
            <a:pPr algn="just">
              <a:spcAft>
                <a:spcPts val="1800"/>
              </a:spcAft>
            </a:pPr>
            <a:r>
              <a:rPr lang="en-GB" dirty="0"/>
              <a:t>A stack-organized computer does not use an address field for the instructions ADD and MUL. </a:t>
            </a:r>
          </a:p>
          <a:p>
            <a:pPr algn="just">
              <a:spcAft>
                <a:spcPts val="1800"/>
              </a:spcAft>
            </a:pPr>
            <a:r>
              <a:rPr lang="en-GB" dirty="0"/>
              <a:t>The PUSH and POP instructions, however, need an address field to specify the operand that communicates with the stack. </a:t>
            </a:r>
          </a:p>
          <a:p>
            <a:pPr algn="just">
              <a:spcAft>
                <a:spcPts val="1800"/>
              </a:spcAft>
            </a:pPr>
            <a:r>
              <a:rPr lang="en-GB" dirty="0"/>
              <a:t>The following program shows how X = (A + B) * (C + D) will be written for a stack organized computer. (TOS stands for top of stack).</a:t>
            </a:r>
          </a:p>
          <a:p>
            <a:pPr algn="just">
              <a:spcAft>
                <a:spcPts val="1800"/>
              </a:spcAft>
            </a:pPr>
            <a:endParaRPr lang="en-GB" b="1" dirty="0">
              <a:solidFill>
                <a:srgbClr val="7A0000"/>
              </a:solidFill>
            </a:endParaRP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5857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693" y="76200"/>
            <a:ext cx="10745788" cy="712788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altLang="en-US" sz="3600" dirty="0">
                <a:latin typeface="Rockwell" panose="02060603020205020403" pitchFamily="18" charset="0"/>
              </a:rPr>
              <a:t>Zero Address - Instruction Format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D7FEDFFB-8E1D-40BE-9646-4F70A7865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393" y="865188"/>
            <a:ext cx="11482387" cy="5383212"/>
          </a:xfrm>
        </p:spPr>
        <p:txBody>
          <a:bodyPr rtlCol="0">
            <a:normAutofit/>
          </a:bodyPr>
          <a:lstStyle/>
          <a:p>
            <a:pPr lvl="1" algn="just">
              <a:lnSpc>
                <a:spcPct val="120000"/>
              </a:lnSpc>
              <a:spcAft>
                <a:spcPts val="600"/>
              </a:spcAft>
            </a:pPr>
            <a:r>
              <a:rPr lang="en-GB" b="1" dirty="0">
                <a:solidFill>
                  <a:srgbClr val="7A0000"/>
                </a:solidFill>
              </a:rPr>
              <a:t>PUSH A TOS ← A 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</a:pPr>
            <a:r>
              <a:rPr lang="en-GB" b="1" dirty="0">
                <a:solidFill>
                  <a:srgbClr val="7A0000"/>
                </a:solidFill>
              </a:rPr>
              <a:t>PUSH B TOS  ← B 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</a:pPr>
            <a:r>
              <a:rPr lang="en-GB" b="1" dirty="0">
                <a:solidFill>
                  <a:srgbClr val="7A0000"/>
                </a:solidFill>
              </a:rPr>
              <a:t>ADD TOS ← (A + B) 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</a:pPr>
            <a:r>
              <a:rPr lang="en-GB" b="1" dirty="0">
                <a:solidFill>
                  <a:srgbClr val="7A0000"/>
                </a:solidFill>
              </a:rPr>
              <a:t>PUSH C TOS ← C 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</a:pPr>
            <a:r>
              <a:rPr lang="en-GB" b="1" dirty="0">
                <a:solidFill>
                  <a:srgbClr val="7A0000"/>
                </a:solidFill>
              </a:rPr>
              <a:t>PUSH D TOS ← D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</a:pPr>
            <a:r>
              <a:rPr lang="en-GB" b="1" dirty="0">
                <a:solidFill>
                  <a:srgbClr val="7A0000"/>
                </a:solidFill>
              </a:rPr>
              <a:t>ADD TO S ← (C + D) 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</a:pPr>
            <a:r>
              <a:rPr lang="en-GB" b="1" dirty="0">
                <a:solidFill>
                  <a:srgbClr val="7A0000"/>
                </a:solidFill>
              </a:rPr>
              <a:t>MOL TOS ← (C + D)*(A + B) 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</a:pPr>
            <a:r>
              <a:rPr lang="en-GB" b="1" dirty="0">
                <a:solidFill>
                  <a:srgbClr val="7A0000"/>
                </a:solidFill>
              </a:rPr>
              <a:t>POP X M[X] ← TOS 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2121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693" y="152400"/>
            <a:ext cx="10745788" cy="712788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altLang="en-US" sz="3600" dirty="0">
                <a:latin typeface="Calisto MT" panose="02040603050505030304" pitchFamily="18" charset="0"/>
              </a:rPr>
              <a:t>Zero Address - Instruction Format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D7FEDFFB-8E1D-40BE-9646-4F70A7865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393" y="865188"/>
            <a:ext cx="11482387" cy="5383212"/>
          </a:xfrm>
        </p:spPr>
        <p:txBody>
          <a:bodyPr rtlCol="0">
            <a:normAutofit/>
          </a:bodyPr>
          <a:lstStyle/>
          <a:p>
            <a:pPr algn="just">
              <a:spcAft>
                <a:spcPts val="1800"/>
              </a:spcAft>
            </a:pPr>
            <a:r>
              <a:rPr lang="en-GB" dirty="0"/>
              <a:t>To evaluate arithmetic expressions in a stack computer, it is necessary to convert the expression into reverse Polish notation. </a:t>
            </a:r>
          </a:p>
          <a:p>
            <a:pPr algn="just">
              <a:spcAft>
                <a:spcPts val="1800"/>
              </a:spcAft>
            </a:pPr>
            <a:r>
              <a:rPr lang="en-GB" dirty="0"/>
              <a:t>The name "zero-address" is given to this type of computer because of the absence of an address field in the computational instructions.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4752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E615211-4C6E-49C1-A7BB-9D249F5D46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188" y="6248400"/>
            <a:ext cx="284638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94610956-5FC3-4605-A058-D1175726380E}" type="slidenum">
              <a:rPr lang="en-US" altLang="en-US" sz="1800" smtClean="0">
                <a:solidFill>
                  <a:srgbClr val="898989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8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F07C7D-3FA1-499A-A7B3-A055DB50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5" y="2171700"/>
            <a:ext cx="12174850" cy="1143000"/>
          </a:xfrm>
          <a:solidFill>
            <a:schemeClr val="accent6">
              <a:lumMod val="40000"/>
              <a:lumOff val="60000"/>
            </a:schemeClr>
          </a:solidFill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GB" sz="4800" dirty="0"/>
              <a:t>Addressing Modes</a:t>
            </a:r>
            <a:endParaRPr lang="en-US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7090359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7006"/>
            <a:ext cx="12195175" cy="8897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Addressing Modes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5D767B-016C-45D7-82B3-061653CEDC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635" t="23327" r="36878" b="33330"/>
          <a:stretch/>
        </p:blipFill>
        <p:spPr>
          <a:xfrm>
            <a:off x="230187" y="1066800"/>
            <a:ext cx="11811000" cy="502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680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7006"/>
            <a:ext cx="12195175" cy="8897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Addressing Modes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D64354-6F41-4953-83A7-60918C37DB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253" t="35552" r="15634" b="23327"/>
          <a:stretch/>
        </p:blipFill>
        <p:spPr>
          <a:xfrm>
            <a:off x="498084" y="1244920"/>
            <a:ext cx="11238303" cy="482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4812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7006"/>
            <a:ext cx="12195175" cy="8897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Classification of Addressing Modes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8806A6-9DB4-4916-A1B4-0A7C218B38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58" t="38887" r="40003" b="17637"/>
          <a:stretch/>
        </p:blipFill>
        <p:spPr>
          <a:xfrm>
            <a:off x="1449387" y="1101671"/>
            <a:ext cx="8915400" cy="447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1131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7006"/>
            <a:ext cx="12195175" cy="8897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Classification of Addressing Modes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ABAE65-87C0-4D6F-811C-15E11AFCEA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379" t="39998" r="31255" b="29995"/>
          <a:stretch/>
        </p:blipFill>
        <p:spPr>
          <a:xfrm>
            <a:off x="839787" y="1524000"/>
            <a:ext cx="6553200" cy="321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499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12195175" cy="5849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Immediate Addressing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CB4FE3-E956-4F0F-BB72-D0268CB157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11" t="34441" r="46876" b="15548"/>
          <a:stretch/>
        </p:blipFill>
        <p:spPr>
          <a:xfrm>
            <a:off x="4268787" y="1004341"/>
            <a:ext cx="7755250" cy="50767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08A794-0142-410E-8447-92AEBD84EEB1}"/>
              </a:ext>
            </a:extLst>
          </p:cNvPr>
          <p:cNvSpPr/>
          <p:nvPr/>
        </p:nvSpPr>
        <p:spPr>
          <a:xfrm>
            <a:off x="188964" y="990600"/>
            <a:ext cx="4003623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600" b="1" dirty="0"/>
              <a:t>Immediate addressing </a:t>
            </a:r>
            <a:r>
              <a:rPr lang="en-GB" sz="2600" dirty="0"/>
              <a:t>is one of the simplest and fastest addressing modes in Instruction Set Architecture (ISA). 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600" dirty="0"/>
              <a:t>In this mode, the actual operand (data value) is directly embedded inside the instruction itself, rather than being stored in a register or memory location.</a:t>
            </a:r>
          </a:p>
        </p:txBody>
      </p:sp>
    </p:spTree>
    <p:extLst>
      <p:ext uri="{BB962C8B-B14F-4D97-AF65-F5344CB8AC3E}">
        <p14:creationId xmlns:p14="http://schemas.microsoft.com/office/powerpoint/2010/main" val="37205340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12195175" cy="5849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Immediate Addressing -Examples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1CEE06-B4ED-4B11-81E5-8A277DFA81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79" t="36664" r="31255" b="13325"/>
          <a:stretch/>
        </p:blipFill>
        <p:spPr>
          <a:xfrm>
            <a:off x="611187" y="914400"/>
            <a:ext cx="6096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479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12195175" cy="5849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Direct Addressing  Mode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993323-802F-4D2E-8703-78E2AB101E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36" t="39998" r="43751" b="12213"/>
          <a:stretch/>
        </p:blipFill>
        <p:spPr>
          <a:xfrm>
            <a:off x="4825009" y="1295400"/>
            <a:ext cx="7216177" cy="4953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8FCB0AB-83F0-4DDD-BF73-83A62EDB945C}"/>
              </a:ext>
            </a:extLst>
          </p:cNvPr>
          <p:cNvSpPr/>
          <p:nvPr/>
        </p:nvSpPr>
        <p:spPr>
          <a:xfrm>
            <a:off x="176811" y="1295400"/>
            <a:ext cx="4648199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GB" sz="2400" dirty="0">
                <a:latin typeface="Rockwell" panose="02060603020205020403" pitchFamily="18" charset="0"/>
              </a:rPr>
              <a:t>An addressing technique in which the address field of the instruction contains the actual memory location of the operand.</a:t>
            </a:r>
          </a:p>
          <a:p>
            <a:pPr>
              <a:spcAft>
                <a:spcPts val="1200"/>
              </a:spcAft>
            </a:pPr>
            <a:r>
              <a:rPr lang="en-GB" sz="2400" b="1" dirty="0">
                <a:latin typeface="Rockwell" panose="02060603020205020403" pitchFamily="18" charset="0"/>
              </a:rPr>
              <a:t>How It Works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7A0000"/>
                </a:solidFill>
                <a:latin typeface="Rockwell" panose="02060603020205020403" pitchFamily="18" charset="0"/>
              </a:rPr>
              <a:t>CPU reads the instruction 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7A0000"/>
                </a:solidFill>
                <a:latin typeface="Rockwell" panose="02060603020205020403" pitchFamily="18" charset="0"/>
              </a:rPr>
              <a:t>Extracts the memory address 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7A0000"/>
                </a:solidFill>
                <a:latin typeface="Rockwell" panose="02060603020205020403" pitchFamily="18" charset="0"/>
              </a:rPr>
              <a:t>Accesses that memory location 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7A0000"/>
                </a:solidFill>
                <a:latin typeface="Rockwell" panose="02060603020205020403" pitchFamily="18" charset="0"/>
              </a:rPr>
              <a:t>Retrieves or stores data</a:t>
            </a:r>
          </a:p>
          <a:p>
            <a:pPr algn="just">
              <a:spcAft>
                <a:spcPts val="1200"/>
              </a:spcAft>
            </a:pPr>
            <a:endParaRPr lang="en-GB" sz="24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9286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12195175" cy="5849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Direct Addressing  Mode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7AE911-D25B-4EFF-ABE6-7FBFFABEAA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27" t="41109" r="14163" b="8879"/>
          <a:stretch/>
        </p:blipFill>
        <p:spPr>
          <a:xfrm>
            <a:off x="1982787" y="1004094"/>
            <a:ext cx="8839200" cy="497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1102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12195175" cy="5849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Indirect Addressing  Mode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FCB0AB-83F0-4DDD-BF73-83A62EDB945C}"/>
              </a:ext>
            </a:extLst>
          </p:cNvPr>
          <p:cNvSpPr/>
          <p:nvPr/>
        </p:nvSpPr>
        <p:spPr>
          <a:xfrm>
            <a:off x="153987" y="941487"/>
            <a:ext cx="11811000" cy="507831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spcAft>
                <a:spcPts val="2400"/>
              </a:spcAft>
            </a:pPr>
            <a:r>
              <a:rPr lang="en-GB" sz="2800" dirty="0">
                <a:latin typeface="Rockwell" panose="02060603020205020403" pitchFamily="18" charset="0"/>
              </a:rPr>
              <a:t>An addressing technique in which the address field of the instruction contains the address of another memory location that stores the effective address of the operand.</a:t>
            </a:r>
          </a:p>
          <a:p>
            <a:pPr algn="just">
              <a:spcAft>
                <a:spcPts val="24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Basic Format</a:t>
            </a:r>
          </a:p>
          <a:p>
            <a:pPr algn="just">
              <a:spcAft>
                <a:spcPts val="2400"/>
              </a:spcAft>
            </a:pPr>
            <a:r>
              <a:rPr lang="en-GB" sz="2800" dirty="0">
                <a:latin typeface="Rockwell" panose="02060603020205020403" pitchFamily="18" charset="0"/>
              </a:rPr>
              <a:t>|</a:t>
            </a:r>
            <a:r>
              <a:rPr lang="en-GB" sz="2800" dirty="0" err="1">
                <a:latin typeface="Rockwell" panose="02060603020205020403" pitchFamily="18" charset="0"/>
              </a:rPr>
              <a:t>Opcode|Address</a:t>
            </a:r>
            <a:r>
              <a:rPr lang="en-GB" sz="2800" dirty="0">
                <a:latin typeface="Rockwell" panose="02060603020205020403" pitchFamily="18" charset="0"/>
              </a:rPr>
              <a:t>|</a:t>
            </a:r>
          </a:p>
          <a:p>
            <a:pPr algn="just">
              <a:spcAft>
                <a:spcPts val="24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Interpretation</a:t>
            </a:r>
          </a:p>
          <a:p>
            <a:pPr marL="342900" indent="-342900" algn="just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7A0000"/>
                </a:solidFill>
                <a:latin typeface="Rockwell" panose="02060603020205020403" pitchFamily="18" charset="0"/>
              </a:rPr>
              <a:t>Address field → does not contain actual operand location</a:t>
            </a:r>
          </a:p>
          <a:p>
            <a:pPr marL="342900" indent="-342900" algn="just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7A0000"/>
                </a:solidFill>
                <a:latin typeface="Rockwell" panose="02060603020205020403" pitchFamily="18" charset="0"/>
              </a:rPr>
              <a:t>It contains → pointer to the operand’s address</a:t>
            </a:r>
          </a:p>
        </p:txBody>
      </p:sp>
    </p:spTree>
    <p:extLst>
      <p:ext uri="{BB962C8B-B14F-4D97-AF65-F5344CB8AC3E}">
        <p14:creationId xmlns:p14="http://schemas.microsoft.com/office/powerpoint/2010/main" val="15370542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12195175" cy="5849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Indirect Addressing  Mode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7F956C-B652-4A28-83A9-B8902B601E04}"/>
              </a:ext>
            </a:extLst>
          </p:cNvPr>
          <p:cNvSpPr/>
          <p:nvPr/>
        </p:nvSpPr>
        <p:spPr>
          <a:xfrm>
            <a:off x="306387" y="1295400"/>
            <a:ext cx="611564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latin typeface="Rockwell" panose="02060603020205020403" pitchFamily="18" charset="0"/>
              </a:rPr>
              <a:t>How It Works (Step-by-Step</a:t>
            </a:r>
            <a:r>
              <a:rPr lang="en-GB" sz="3200" b="1" dirty="0">
                <a:latin typeface="Rockwell" panose="02060603020205020403" pitchFamily="18" charset="0"/>
              </a:rPr>
              <a:t>)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CPU fetches the instruction 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Reads the address field (say A) 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Goes to memory location </a:t>
            </a:r>
            <a:r>
              <a:rPr lang="en-GB" sz="2800" b="1" dirty="0">
                <a:latin typeface="Rockwell" panose="02060603020205020403" pitchFamily="18" charset="0"/>
              </a:rPr>
              <a:t>A</a:t>
            </a:r>
            <a:r>
              <a:rPr lang="en-GB" sz="2800" dirty="0">
                <a:latin typeface="Rockwell" panose="02060603020205020403" pitchFamily="18" charset="0"/>
              </a:rPr>
              <a:t> 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Retrieves the </a:t>
            </a:r>
            <a:r>
              <a:rPr lang="en-GB" sz="2800" b="1" dirty="0">
                <a:latin typeface="Rockwell" panose="02060603020205020403" pitchFamily="18" charset="0"/>
              </a:rPr>
              <a:t>effective address (EA)</a:t>
            </a:r>
            <a:r>
              <a:rPr lang="en-GB" sz="2800" dirty="0">
                <a:latin typeface="Rockwell" panose="02060603020205020403" pitchFamily="18" charset="0"/>
              </a:rPr>
              <a:t> stored there 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Accesses operand using EA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B458A2-6FDA-4441-9016-FDA70937C18D}"/>
              </a:ext>
            </a:extLst>
          </p:cNvPr>
          <p:cNvSpPr/>
          <p:nvPr/>
        </p:nvSpPr>
        <p:spPr>
          <a:xfrm>
            <a:off x="6328450" y="1167110"/>
            <a:ext cx="5712737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Example 1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Rockwell" panose="02060603020205020403" pitchFamily="18" charset="0"/>
              </a:rPr>
              <a:t>LOAD R1, (200)</a:t>
            </a:r>
          </a:p>
          <a:p>
            <a:pPr>
              <a:spcAft>
                <a:spcPts val="1200"/>
              </a:spcAft>
            </a:pPr>
            <a:r>
              <a:rPr lang="en-GB" sz="3200" b="1" dirty="0">
                <a:latin typeface="Rockwell" panose="02060603020205020403" pitchFamily="18" charset="0"/>
              </a:rPr>
              <a:t>Explanation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7A0000"/>
                </a:solidFill>
                <a:latin typeface="Rockwell" panose="02060603020205020403" pitchFamily="18" charset="0"/>
              </a:rPr>
              <a:t>Instruction contains 200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7A0000"/>
                </a:solidFill>
                <a:latin typeface="Rockwell" panose="02060603020205020403" pitchFamily="18" charset="0"/>
              </a:rPr>
              <a:t>Memory[200] contains 500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7A0000"/>
                </a:solidFill>
                <a:latin typeface="Rockwell" panose="02060603020205020403" pitchFamily="18" charset="0"/>
              </a:rPr>
              <a:t>Memory[500] contains actual data </a:t>
            </a:r>
          </a:p>
          <a:p>
            <a:pPr>
              <a:spcAft>
                <a:spcPts val="12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Final operation:</a:t>
            </a:r>
            <a:br>
              <a:rPr lang="en-GB" sz="2800" b="1" dirty="0">
                <a:latin typeface="Rockwell" panose="02060603020205020403" pitchFamily="18" charset="0"/>
              </a:rPr>
            </a:br>
            <a:r>
              <a:rPr lang="en-GB" sz="2800" b="1" dirty="0">
                <a:latin typeface="Rockwell" panose="02060603020205020403" pitchFamily="18" charset="0"/>
              </a:rPr>
              <a:t>R1 = Memory[500]</a:t>
            </a:r>
            <a:endParaRPr lang="en-GB" sz="28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4656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12195175" cy="5849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Indirect Addressing  Mode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7F956C-B652-4A28-83A9-B8902B601E04}"/>
              </a:ext>
            </a:extLst>
          </p:cNvPr>
          <p:cNvSpPr/>
          <p:nvPr/>
        </p:nvSpPr>
        <p:spPr>
          <a:xfrm>
            <a:off x="306387" y="1295400"/>
            <a:ext cx="6115649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Example 2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latin typeface="Rockwell" panose="02060603020205020403" pitchFamily="18" charset="0"/>
              </a:rPr>
              <a:t>LOAD R2,(300)</a:t>
            </a:r>
          </a:p>
          <a:p>
            <a:pPr>
              <a:spcAft>
                <a:spcPts val="18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Given: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latin typeface="Rockwell" panose="02060603020205020403" pitchFamily="18" charset="0"/>
              </a:rPr>
              <a:t>Memory[300] = 400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latin typeface="Rockwell" panose="02060603020205020403" pitchFamily="18" charset="0"/>
              </a:rPr>
              <a:t>Memory[400] = 50</a:t>
            </a:r>
          </a:p>
          <a:p>
            <a:pPr>
              <a:spcAft>
                <a:spcPts val="18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Solution: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latin typeface="Rockwell" panose="02060603020205020403" pitchFamily="18" charset="0"/>
              </a:rPr>
              <a:t>R2 = 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B458A2-6FDA-4441-9016-FDA70937C18D}"/>
              </a:ext>
            </a:extLst>
          </p:cNvPr>
          <p:cNvSpPr/>
          <p:nvPr/>
        </p:nvSpPr>
        <p:spPr>
          <a:xfrm>
            <a:off x="3963988" y="1295400"/>
            <a:ext cx="36576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Example 3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Rockwell" panose="02060603020205020403" pitchFamily="18" charset="0"/>
              </a:rPr>
              <a:t>ADD R1, (150)</a:t>
            </a:r>
          </a:p>
          <a:p>
            <a:pPr>
              <a:spcAft>
                <a:spcPts val="12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Given: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Rockwell" panose="02060603020205020403" pitchFamily="18" charset="0"/>
              </a:rPr>
              <a:t>R1 = 10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Rockwell" panose="02060603020205020403" pitchFamily="18" charset="0"/>
              </a:rPr>
              <a:t>Memory[150] = 250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Rockwell" panose="02060603020205020403" pitchFamily="18" charset="0"/>
              </a:rPr>
              <a:t>Memory[250] = 5</a:t>
            </a:r>
          </a:p>
          <a:p>
            <a:pPr>
              <a:spcAft>
                <a:spcPts val="12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Solution: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Rockwell" panose="02060603020205020403" pitchFamily="18" charset="0"/>
              </a:rPr>
              <a:t>R1 = 10 + 5 = 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0EA098-ECA0-419D-AB50-069B66170280}"/>
              </a:ext>
            </a:extLst>
          </p:cNvPr>
          <p:cNvSpPr/>
          <p:nvPr/>
        </p:nvSpPr>
        <p:spPr>
          <a:xfrm>
            <a:off x="8307387" y="1295400"/>
            <a:ext cx="365760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Example 4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latin typeface="Rockwell" panose="02060603020205020403" pitchFamily="18" charset="0"/>
              </a:rPr>
              <a:t>STORE R3, (500)</a:t>
            </a:r>
          </a:p>
          <a:p>
            <a:pPr>
              <a:spcAft>
                <a:spcPts val="18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Given: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latin typeface="Rockwell" panose="02060603020205020403" pitchFamily="18" charset="0"/>
              </a:rPr>
              <a:t>R3 = 30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latin typeface="Rockwell" panose="02060603020205020403" pitchFamily="18" charset="0"/>
              </a:rPr>
              <a:t>Memory[500] = 800</a:t>
            </a:r>
          </a:p>
          <a:p>
            <a:pPr>
              <a:spcAft>
                <a:spcPts val="18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Solution: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latin typeface="Rockwell" panose="02060603020205020403" pitchFamily="18" charset="0"/>
              </a:rPr>
              <a:t>Memory[800] = 30</a:t>
            </a:r>
          </a:p>
        </p:txBody>
      </p:sp>
    </p:spTree>
    <p:extLst>
      <p:ext uri="{BB962C8B-B14F-4D97-AF65-F5344CB8AC3E}">
        <p14:creationId xmlns:p14="http://schemas.microsoft.com/office/powerpoint/2010/main" val="17521464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12195175" cy="5849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Relative Addressing  Mode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7F956C-B652-4A28-83A9-B8902B601E04}"/>
              </a:ext>
            </a:extLst>
          </p:cNvPr>
          <p:cNvSpPr/>
          <p:nvPr/>
        </p:nvSpPr>
        <p:spPr>
          <a:xfrm>
            <a:off x="230187" y="1295400"/>
            <a:ext cx="116586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3000"/>
              </a:spcAft>
            </a:pPr>
            <a:r>
              <a:rPr lang="en-GB" sz="2800" dirty="0">
                <a:latin typeface="Rockwell" panose="02060603020205020403" pitchFamily="18" charset="0"/>
              </a:rPr>
              <a:t>Relative Addressing Mode is defined as:</a:t>
            </a:r>
          </a:p>
          <a:p>
            <a:pPr algn="just">
              <a:spcAft>
                <a:spcPts val="3000"/>
              </a:spcAft>
            </a:pPr>
            <a:r>
              <a:rPr lang="en-GB" sz="2800" dirty="0">
                <a:latin typeface="Rockwell" panose="02060603020205020403" pitchFamily="18" charset="0"/>
              </a:rPr>
              <a:t>An addressing technique in which the effective address (EA) is obtained by adding a displacement (offset) to the current value of the Program Counter (PC).</a:t>
            </a:r>
          </a:p>
          <a:p>
            <a:pPr algn="just">
              <a:spcAft>
                <a:spcPts val="3000"/>
              </a:spcAft>
            </a:pPr>
            <a:r>
              <a:rPr lang="en-GB" sz="2800" dirty="0">
                <a:latin typeface="Rockwell" panose="02060603020205020403" pitchFamily="18" charset="0"/>
              </a:rPr>
              <a:t>Formula:</a:t>
            </a:r>
          </a:p>
          <a:p>
            <a:pPr algn="just">
              <a:spcAft>
                <a:spcPts val="30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Effective Address (EA) = PC + Offset</a:t>
            </a:r>
          </a:p>
          <a:p>
            <a:pPr algn="just">
              <a:spcAft>
                <a:spcPts val="3000"/>
              </a:spcAft>
            </a:pPr>
            <a:endParaRPr lang="en-GB" sz="28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037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12195175" cy="5849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Relative Addressing  Mode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7F956C-B652-4A28-83A9-B8902B601E04}"/>
              </a:ext>
            </a:extLst>
          </p:cNvPr>
          <p:cNvSpPr/>
          <p:nvPr/>
        </p:nvSpPr>
        <p:spPr>
          <a:xfrm>
            <a:off x="915987" y="1082203"/>
            <a:ext cx="6115649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How It Works (Step-by-Step)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7A0000"/>
                </a:solidFill>
                <a:latin typeface="Rockwell" panose="02060603020205020403" pitchFamily="18" charset="0"/>
              </a:rPr>
              <a:t>CPU fetches the instruction 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7A0000"/>
                </a:solidFill>
                <a:latin typeface="Rockwell" panose="02060603020205020403" pitchFamily="18" charset="0"/>
              </a:rPr>
              <a:t>PC already points to the next instruction 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7A0000"/>
                </a:solidFill>
                <a:latin typeface="Rockwell" panose="02060603020205020403" pitchFamily="18" charset="0"/>
              </a:rPr>
              <a:t>Offset is extracted from instruction 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7A0000"/>
                </a:solidFill>
                <a:latin typeface="Rockwell" panose="02060603020205020403" pitchFamily="18" charset="0"/>
              </a:rPr>
              <a:t>Offset is added to PC 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7A0000"/>
                </a:solidFill>
                <a:latin typeface="Rockwell" panose="02060603020205020403" pitchFamily="18" charset="0"/>
              </a:rPr>
              <a:t>Result gives </a:t>
            </a:r>
            <a:r>
              <a:rPr lang="en-GB" sz="2800" b="1" dirty="0">
                <a:solidFill>
                  <a:srgbClr val="7A0000"/>
                </a:solidFill>
                <a:latin typeface="Rockwell" panose="02060603020205020403" pitchFamily="18" charset="0"/>
              </a:rPr>
              <a:t>target address (EA)</a:t>
            </a:r>
            <a:r>
              <a:rPr lang="en-GB" sz="2800" dirty="0">
                <a:solidFill>
                  <a:srgbClr val="7A0000"/>
                </a:solidFill>
                <a:latin typeface="Rockwell" panose="020606030202050204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28760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12195175" cy="5849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Relative Addressing  Mode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6FBA5A-DC14-4DF6-B0E6-3270EAE489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254" t="38887" r="11885" b="8879"/>
          <a:stretch/>
        </p:blipFill>
        <p:spPr>
          <a:xfrm>
            <a:off x="915987" y="1066800"/>
            <a:ext cx="10214704" cy="503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0131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12195175" cy="5849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Relative Addressing  Mode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2F0804-6A8B-46FA-8A76-0B0600DD92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37" t="26662" r="43751" b="23326"/>
          <a:stretch/>
        </p:blipFill>
        <p:spPr>
          <a:xfrm>
            <a:off x="609600" y="1165411"/>
            <a:ext cx="11006293" cy="508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923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12195175" cy="5849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Relative Addressing  Mode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7F956C-B652-4A28-83A9-B8902B601E04}"/>
              </a:ext>
            </a:extLst>
          </p:cNvPr>
          <p:cNvSpPr/>
          <p:nvPr/>
        </p:nvSpPr>
        <p:spPr>
          <a:xfrm>
            <a:off x="1068387" y="1066800"/>
            <a:ext cx="6115649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Example 1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latin typeface="Rockwell" panose="02060603020205020403" pitchFamily="18" charset="0"/>
              </a:rPr>
              <a:t>BEQ R1, R2, +30</a:t>
            </a:r>
          </a:p>
          <a:p>
            <a:pPr>
              <a:spcAft>
                <a:spcPts val="18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Given: 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latin typeface="Rockwell" panose="02060603020205020403" pitchFamily="18" charset="0"/>
              </a:rPr>
              <a:t>PC = 200 </a:t>
            </a:r>
          </a:p>
          <a:p>
            <a:pPr>
              <a:spcAft>
                <a:spcPts val="18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Solution: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latin typeface="Rockwell" panose="02060603020205020403" pitchFamily="18" charset="0"/>
              </a:rPr>
              <a:t>𝐸𝐴=200+30 = 230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latin typeface="Rockwell" panose="02060603020205020403" pitchFamily="18" charset="0"/>
              </a:rPr>
              <a:t>Jump to 230 if R1 = R2</a:t>
            </a:r>
            <a:endParaRPr lang="en-GB" sz="2800" dirty="0">
              <a:solidFill>
                <a:srgbClr val="7A0000"/>
              </a:solidFill>
              <a:latin typeface="Rockwell" panose="020606030202050204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83D896-0840-49B0-B6C8-ED07B1D0D8BB}"/>
              </a:ext>
            </a:extLst>
          </p:cNvPr>
          <p:cNvSpPr/>
          <p:nvPr/>
        </p:nvSpPr>
        <p:spPr>
          <a:xfrm>
            <a:off x="6549374" y="1066800"/>
            <a:ext cx="4598988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Example 2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latin typeface="Rockwell" panose="02060603020205020403" pitchFamily="18" charset="0"/>
              </a:rPr>
              <a:t>BNE R3, R4, -40</a:t>
            </a:r>
          </a:p>
          <a:p>
            <a:pPr>
              <a:spcAft>
                <a:spcPts val="18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Given: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latin typeface="Rockwell" panose="02060603020205020403" pitchFamily="18" charset="0"/>
              </a:rPr>
              <a:t>PC = 1000</a:t>
            </a:r>
          </a:p>
          <a:p>
            <a:pPr>
              <a:spcAft>
                <a:spcPts val="1800"/>
              </a:spcAft>
            </a:pPr>
            <a:r>
              <a:rPr lang="en-GB" sz="2800" b="1" dirty="0">
                <a:latin typeface="Rockwell" panose="02060603020205020403" pitchFamily="18" charset="0"/>
              </a:rPr>
              <a:t>Solution: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latin typeface="Rockwell" panose="02060603020205020403" pitchFamily="18" charset="0"/>
              </a:rPr>
              <a:t>𝐸𝐴=1000−40=960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latin typeface="Rockwell" panose="02060603020205020403" pitchFamily="18" charset="0"/>
              </a:rPr>
              <a:t>Jump to 960 if R3 ≠ R4</a:t>
            </a:r>
            <a:endParaRPr lang="en-GB" sz="2800" dirty="0">
              <a:solidFill>
                <a:srgbClr val="7A0000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6765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12195175" cy="584994"/>
          </a:xfrm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400" dirty="0">
                <a:latin typeface="Calisto MT" panose="02040603050505030304" pitchFamily="18" charset="0"/>
              </a:rPr>
              <a:t>Indexed Addressing  Mode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7F956C-B652-4A28-83A9-B8902B601E04}"/>
              </a:ext>
            </a:extLst>
          </p:cNvPr>
          <p:cNvSpPr/>
          <p:nvPr/>
        </p:nvSpPr>
        <p:spPr>
          <a:xfrm>
            <a:off x="267350" y="2317499"/>
            <a:ext cx="1189068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GB" sz="4400" b="1" dirty="0">
                <a:latin typeface="Rockwell" panose="02060603020205020403" pitchFamily="18" charset="0"/>
              </a:rPr>
              <a:t>Assignment for Students</a:t>
            </a:r>
            <a:endParaRPr lang="en-GB" sz="4400" dirty="0">
              <a:solidFill>
                <a:srgbClr val="7A0000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0175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5BD68EC-1C36-4693-A05B-ECD167A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8400"/>
            <a:ext cx="12195175" cy="1600200"/>
          </a:xfrm>
          <a:solidFill>
            <a:schemeClr val="tx2">
              <a:lumMod val="40000"/>
              <a:lumOff val="60000"/>
            </a:schemeClr>
          </a:solidFill>
          <a:ln w="9525"/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800" dirty="0">
                <a:latin typeface="Calisto MT" panose="02040603050505030304" pitchFamily="18" charset="0"/>
              </a:rPr>
              <a:t>END OF UNIT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04CCFEA7-106F-4BCE-9DCE-BCA35F97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0467975" y="6248400"/>
            <a:ext cx="1117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73D7AAF5-7F88-4FEF-93BE-3317CB6719FA}" type="slidenum">
              <a:rPr lang="en-US" altLang="en-US" sz="1800" smtClean="0">
                <a:solidFill>
                  <a:srgbClr val="000000"/>
                </a:solidFill>
                <a:latin typeface="Arial" panose="020B0604020202020204" pitchFamily="34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999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1888990</TotalTime>
  <Words>2121</Words>
  <Application>Microsoft Office PowerPoint</Application>
  <PresentationFormat>Custom</PresentationFormat>
  <Paragraphs>364</Paragraphs>
  <Slides>60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60</vt:i4>
      </vt:variant>
    </vt:vector>
  </HeadingPairs>
  <TitlesOfParts>
    <vt:vector size="70" baseType="lpstr">
      <vt:lpstr>Arial</vt:lpstr>
      <vt:lpstr>Calibri</vt:lpstr>
      <vt:lpstr>Calisto MT</vt:lpstr>
      <vt:lpstr>Georgia</vt:lpstr>
      <vt:lpstr>Rockwell</vt:lpstr>
      <vt:lpstr>Rockwell Condensed</vt:lpstr>
      <vt:lpstr>Times New Roman</vt:lpstr>
      <vt:lpstr>Wingdings</vt:lpstr>
      <vt:lpstr>Office Theme</vt:lpstr>
      <vt:lpstr>Custom Design</vt:lpstr>
      <vt:lpstr>IFT222 Computer Architecture and Organization</vt:lpstr>
      <vt:lpstr>Learning Outcomes</vt:lpstr>
      <vt:lpstr>Introduction</vt:lpstr>
      <vt:lpstr>PowerPoint Presentation</vt:lpstr>
      <vt:lpstr>Key Components of the ISA</vt:lpstr>
      <vt:lpstr>Key Components of the ISA</vt:lpstr>
      <vt:lpstr>Key Components of the ISA</vt:lpstr>
      <vt:lpstr>Key Components of the ISA</vt:lpstr>
      <vt:lpstr>Types of Instructions</vt:lpstr>
      <vt:lpstr>Types of Instructions</vt:lpstr>
      <vt:lpstr>Types of Instructions - Load/Store Instructions </vt:lpstr>
      <vt:lpstr>PowerPoint Presentation</vt:lpstr>
      <vt:lpstr>PowerPoint Presentation</vt:lpstr>
      <vt:lpstr>Types of Instructions - Load/Store Instructions </vt:lpstr>
      <vt:lpstr>Types of Instructions - Load/Store Instructions </vt:lpstr>
      <vt:lpstr>Types of Instructions - Arithmetic/Logic Instructions</vt:lpstr>
      <vt:lpstr>Types of Instructions - Arithmetic/Logic Instructions</vt:lpstr>
      <vt:lpstr>Types of Instructions - Arithmetic/Logic Instructions</vt:lpstr>
      <vt:lpstr>Types of Instructions - Test/Branch Instructions</vt:lpstr>
      <vt:lpstr>Types of Instructions - Test/Branch Instructions</vt:lpstr>
      <vt:lpstr>Instruction Formats</vt:lpstr>
      <vt:lpstr>Instruction Format</vt:lpstr>
      <vt:lpstr>General Structure of an Instruction</vt:lpstr>
      <vt:lpstr>General Structure of an Instruction</vt:lpstr>
      <vt:lpstr>General Structure of an Instruction</vt:lpstr>
      <vt:lpstr>General Structure of an Instruction</vt:lpstr>
      <vt:lpstr>General Structure of an Instruction</vt:lpstr>
      <vt:lpstr>PowerPoint Presentation</vt:lpstr>
      <vt:lpstr>Figure: Instruction format for One Address</vt:lpstr>
      <vt:lpstr>Figure: Instruction format for Two Addresses</vt:lpstr>
      <vt:lpstr>Figure: Instruction format for Two Addresses</vt:lpstr>
      <vt:lpstr>Figure: Instruction format for Three Addresses</vt:lpstr>
      <vt:lpstr>Instruction Format Examples </vt:lpstr>
      <vt:lpstr>Three Address - Instruction Format X = (A + B) * (C + D)   X =A +B + C  </vt:lpstr>
      <vt:lpstr>Two Address - Instruction Format</vt:lpstr>
      <vt:lpstr>Two Address - Instruction Format</vt:lpstr>
      <vt:lpstr>One Address - Instruction Format</vt:lpstr>
      <vt:lpstr>One Address - Instruction Format</vt:lpstr>
      <vt:lpstr>Zero Address - Instruction Format</vt:lpstr>
      <vt:lpstr>Zero Address - Instruction Format</vt:lpstr>
      <vt:lpstr>Zero Address - Instruction Format</vt:lpstr>
      <vt:lpstr>Addressing Modes</vt:lpstr>
      <vt:lpstr>Addressing Modes</vt:lpstr>
      <vt:lpstr>Addressing Modes</vt:lpstr>
      <vt:lpstr>Classification of Addressing Modes</vt:lpstr>
      <vt:lpstr>Classification of Addressing Modes</vt:lpstr>
      <vt:lpstr>Immediate Addressing</vt:lpstr>
      <vt:lpstr>Immediate Addressing -Examples</vt:lpstr>
      <vt:lpstr>Direct Addressing  Mode</vt:lpstr>
      <vt:lpstr>Direct Addressing  Mode</vt:lpstr>
      <vt:lpstr>Indirect Addressing  Mode</vt:lpstr>
      <vt:lpstr>Indirect Addressing  Mode</vt:lpstr>
      <vt:lpstr>Indirect Addressing  Mode</vt:lpstr>
      <vt:lpstr>Relative Addressing  Mode</vt:lpstr>
      <vt:lpstr>Relative Addressing  Mode</vt:lpstr>
      <vt:lpstr>Relative Addressing  Mode</vt:lpstr>
      <vt:lpstr>Relative Addressing  Mode</vt:lpstr>
      <vt:lpstr>Relative Addressing  Mode</vt:lpstr>
      <vt:lpstr>Indexed Addressing  Mode</vt:lpstr>
      <vt:lpstr>END OF UNIT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Driving Administrative Quality For Vision 10: 2022</dc:title>
  <dc:creator>HP</dc:creator>
  <cp:lastModifiedBy>jonathan oluranti</cp:lastModifiedBy>
  <cp:revision>241</cp:revision>
  <cp:lastPrinted>2015-08-03T07:22:59Z</cp:lastPrinted>
  <dcterms:created xsi:type="dcterms:W3CDTF">2014-01-31T21:42:27Z</dcterms:created>
  <dcterms:modified xsi:type="dcterms:W3CDTF">2026-06-05T17:47:14Z</dcterms:modified>
</cp:coreProperties>
</file>