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7"/>
  </p:notesMasterIdLst>
  <p:handoutMasterIdLst>
    <p:handoutMasterId r:id="rId18"/>
  </p:handoutMasterIdLst>
  <p:sldIdLst>
    <p:sldId id="281" r:id="rId3"/>
    <p:sldId id="391" r:id="rId4"/>
    <p:sldId id="404" r:id="rId5"/>
    <p:sldId id="392" r:id="rId6"/>
    <p:sldId id="405" r:id="rId7"/>
    <p:sldId id="406" r:id="rId8"/>
    <p:sldId id="407" r:id="rId9"/>
    <p:sldId id="408" r:id="rId10"/>
    <p:sldId id="409" r:id="rId11"/>
    <p:sldId id="410" r:id="rId12"/>
    <p:sldId id="411" r:id="rId13"/>
    <p:sldId id="412" r:id="rId14"/>
    <p:sldId id="413" r:id="rId15"/>
    <p:sldId id="399" r:id="rId16"/>
  </p:sldIdLst>
  <p:sldSz cx="12195175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662C5B"/>
    <a:srgbClr val="7A0000"/>
    <a:srgbClr val="3B11ED"/>
    <a:srgbClr val="003399"/>
    <a:srgbClr val="FFFFFF"/>
    <a:srgbClr val="DDDDDD"/>
    <a:srgbClr val="000000"/>
    <a:srgbClr val="660033"/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21" autoAdjust="0"/>
    <p:restoredTop sz="93263" autoAdjust="0"/>
  </p:normalViewPr>
  <p:slideViewPr>
    <p:cSldViewPr>
      <p:cViewPr>
        <p:scale>
          <a:sx n="80" d="100"/>
          <a:sy n="80" d="100"/>
        </p:scale>
        <p:origin x="775" y="-60"/>
      </p:cViewPr>
      <p:guideLst>
        <p:guide orient="horz" pos="2160"/>
        <p:guide pos="384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22F73B2-7CF1-4832-BF09-2E3D082F4856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4702B329-9B4F-43B9-920A-39268306AF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2632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AEDA5C1-9818-47C9-A79E-B4D4158DD3E3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4813" y="696913"/>
            <a:ext cx="6200775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9D498802-2017-4E9A-A8AF-781802F703C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3224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4813" y="696913"/>
            <a:ext cx="6200775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498802-2017-4E9A-A8AF-781802F703C5}" type="slidenum">
              <a:rPr lang="en-GB" smtClean="0"/>
              <a:pPr/>
              <a:t>1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Ours\Desktop\flash\c.u.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prstClr val="black"/>
              <a:srgbClr val="800080">
                <a:alpha val="78824"/>
                <a:tint val="45000"/>
                <a:satMod val="400000"/>
              </a:srgbClr>
            </a:duotone>
          </a:blip>
          <a:srcRect t="-169" b="15477"/>
          <a:stretch>
            <a:fillRect/>
          </a:stretch>
        </p:blipFill>
        <p:spPr bwMode="auto">
          <a:xfrm>
            <a:off x="2" y="-54768"/>
            <a:ext cx="12281948" cy="6912768"/>
          </a:xfrm>
          <a:prstGeom prst="rect">
            <a:avLst/>
          </a:prstGeom>
          <a:noFill/>
        </p:spPr>
      </p:pic>
      <p:pic>
        <p:nvPicPr>
          <p:cNvPr id="8" name="Picture 2" descr="C:\Users\Ours\Desktop\my stuffs\1 NTFS_000\LostFiles2\INSPIRATION\PROJECTS\MIND PROJECTS\cu_logo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1003" y="570166"/>
            <a:ext cx="743452" cy="792088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 userDrawn="1"/>
        </p:nvSpPr>
        <p:spPr>
          <a:xfrm>
            <a:off x="9003276" y="0"/>
            <a:ext cx="3230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www.covenantuniversity.edu.ng</a:t>
            </a:r>
            <a:endParaRPr lang="en-GB" sz="1800" dirty="0"/>
          </a:p>
        </p:txBody>
      </p:sp>
      <p:pic>
        <p:nvPicPr>
          <p:cNvPr id="10" name="Picture 2" descr="C:\Users\Ours\Desktop\Picture3.pn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45059" y="570169"/>
            <a:ext cx="4608512" cy="743775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3" y="1844828"/>
            <a:ext cx="10366375" cy="2448271"/>
          </a:xfrm>
          <a:solidFill>
            <a:srgbClr val="660033">
              <a:alpha val="61961"/>
            </a:srgbClr>
          </a:solidFill>
        </p:spPr>
        <p:txBody>
          <a:bodyPr>
            <a:noAutofit/>
          </a:bodyPr>
          <a:lstStyle>
            <a:lvl1pPr>
              <a:defRPr sz="5400" b="0">
                <a:solidFill>
                  <a:schemeClr val="bg1"/>
                </a:solidFill>
                <a:latin typeface="Rockwell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509120"/>
            <a:ext cx="8537575" cy="1752600"/>
          </a:xfrm>
          <a:solidFill>
            <a:srgbClr val="FFFFFF">
              <a:alpha val="74118"/>
            </a:srgbClr>
          </a:solidFill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chemeClr val="tx1"/>
                </a:solidFill>
                <a:latin typeface="Rockwell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1633093" y="1074222"/>
            <a:ext cx="32206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662C5B"/>
                </a:solidFill>
              </a:rPr>
              <a:t>Raising a new Generation of Leaders</a:t>
            </a:r>
            <a:endParaRPr lang="en-GB" sz="1600" dirty="0">
              <a:solidFill>
                <a:srgbClr val="662C5B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C:\Users\Ours\Desktop\flash\c.u.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prstClr val="black"/>
              <a:srgbClr val="800080">
                <a:alpha val="78824"/>
                <a:tint val="45000"/>
                <a:satMod val="400000"/>
              </a:srgbClr>
            </a:duotone>
          </a:blip>
          <a:srcRect t="-169" b="15477"/>
          <a:stretch>
            <a:fillRect/>
          </a:stretch>
        </p:blipFill>
        <p:spPr bwMode="auto">
          <a:xfrm>
            <a:off x="2" y="-54768"/>
            <a:ext cx="12281948" cy="6912768"/>
          </a:xfrm>
          <a:prstGeom prst="rect">
            <a:avLst/>
          </a:prstGeom>
          <a:noFill/>
        </p:spPr>
      </p:pic>
      <p:pic>
        <p:nvPicPr>
          <p:cNvPr id="8" name="Picture 2" descr="C:\Users\Ours\Desktop\my stuffs\1 NTFS_000\LostFiles2\INSPIRATION\PROJECTS\MIND PROJECTS\cu_logo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4941" y="548680"/>
            <a:ext cx="1216557" cy="1296144"/>
          </a:xfrm>
          <a:prstGeom prst="rect">
            <a:avLst/>
          </a:prstGeom>
          <a:noFill/>
        </p:spPr>
      </p:pic>
      <p:sp>
        <p:nvSpPr>
          <p:cNvPr id="10" name="Title 1"/>
          <p:cNvSpPr>
            <a:spLocks noGrp="1"/>
          </p:cNvSpPr>
          <p:nvPr userDrawn="1">
            <p:ph type="ctrTitle"/>
          </p:nvPr>
        </p:nvSpPr>
        <p:spPr>
          <a:xfrm>
            <a:off x="914638" y="2204865"/>
            <a:ext cx="10365899" cy="2520280"/>
          </a:xfrm>
          <a:solidFill>
            <a:srgbClr val="CC3399">
              <a:alpha val="83137"/>
            </a:srgbClr>
          </a:solidFill>
        </p:spPr>
        <p:txBody>
          <a:bodyPr>
            <a:normAutofit/>
          </a:bodyPr>
          <a:lstStyle/>
          <a:p>
            <a:endParaRPr lang="en-GB" sz="6600" b="1" dirty="0">
              <a:solidFill>
                <a:schemeClr val="bg1"/>
              </a:solidFill>
              <a:latin typeface="Rockwell" pitchFamily="18" charset="0"/>
            </a:endParaRPr>
          </a:p>
        </p:txBody>
      </p:sp>
      <p:sp>
        <p:nvSpPr>
          <p:cNvPr id="11" name="Subtitle 2"/>
          <p:cNvSpPr>
            <a:spLocks noGrp="1"/>
          </p:cNvSpPr>
          <p:nvPr userDrawn="1">
            <p:ph type="subTitle" idx="1"/>
          </p:nvPr>
        </p:nvSpPr>
        <p:spPr>
          <a:xfrm>
            <a:off x="1705101" y="4869160"/>
            <a:ext cx="8536623" cy="1752600"/>
          </a:xfrm>
          <a:solidFill>
            <a:srgbClr val="FFFFFF">
              <a:alpha val="63137"/>
            </a:srgbClr>
          </a:solidFill>
        </p:spPr>
        <p:txBody>
          <a:bodyPr>
            <a:normAutofit/>
          </a:bodyPr>
          <a:lstStyle>
            <a:lvl1pPr algn="ctr">
              <a:buNone/>
              <a:defRPr sz="4000">
                <a:ln>
                  <a:noFill/>
                </a:ln>
                <a:solidFill>
                  <a:srgbClr val="002060"/>
                </a:solidFill>
              </a:defRPr>
            </a:lvl1pPr>
          </a:lstStyle>
          <a:p>
            <a:endParaRPr lang="en-GB" dirty="0">
              <a:solidFill>
                <a:schemeClr val="bg1"/>
              </a:solidFill>
              <a:latin typeface="Rockwell" pitchFamily="18" charset="0"/>
            </a:endParaRPr>
          </a:p>
        </p:txBody>
      </p:sp>
      <p:sp>
        <p:nvSpPr>
          <p:cNvPr id="13" name="TextBox 12"/>
          <p:cNvSpPr txBox="1"/>
          <p:nvPr userDrawn="1"/>
        </p:nvSpPr>
        <p:spPr>
          <a:xfrm>
            <a:off x="1345059" y="1268760"/>
            <a:ext cx="39796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662C5B"/>
                </a:solidFill>
              </a:rPr>
              <a:t>Raising a new Generation of Leaders</a:t>
            </a:r>
            <a:endParaRPr lang="en-GB" sz="2000" dirty="0">
              <a:solidFill>
                <a:srgbClr val="662C5B"/>
              </a:solidFill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9003276" y="0"/>
            <a:ext cx="3230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www.covenantuniversity.edu.ng</a:t>
            </a:r>
            <a:endParaRPr lang="en-GB" sz="1800" dirty="0"/>
          </a:p>
        </p:txBody>
      </p:sp>
      <p:pic>
        <p:nvPicPr>
          <p:cNvPr id="3074" name="Picture 2" descr="C:\Users\Ours\Desktop\Picture3.pn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29035" y="692700"/>
            <a:ext cx="5065714" cy="817563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6387" y="153144"/>
            <a:ext cx="11738670" cy="837456"/>
          </a:xfrm>
          <a:solidFill>
            <a:schemeClr val="bg1"/>
          </a:solidFill>
          <a:ln w="57150">
            <a:noFill/>
          </a:ln>
        </p:spPr>
        <p:txBody>
          <a:bodyPr>
            <a:normAutofit/>
          </a:bodyPr>
          <a:lstStyle>
            <a:lvl1pPr algn="l">
              <a:defRPr sz="3600" b="1">
                <a:solidFill>
                  <a:srgbClr val="FF0000"/>
                </a:solidFill>
                <a:latin typeface="Rockwell Condensed" pitchFamily="18" charset="0"/>
                <a:cs typeface="Times New Roman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2E69B-9B3B-437C-9ADF-D56F423A0581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7" name="Picture 2" descr="C:\Users\Ours\Desktop\flash\c.u.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prstClr val="black"/>
              <a:srgbClr val="800080">
                <a:alpha val="78824"/>
                <a:tint val="45000"/>
                <a:satMod val="400000"/>
              </a:srgbClr>
            </a:duotone>
          </a:blip>
          <a:srcRect t="41294" b="49226"/>
          <a:stretch>
            <a:fillRect/>
          </a:stretch>
        </p:blipFill>
        <p:spPr bwMode="auto">
          <a:xfrm>
            <a:off x="2" y="6309320"/>
            <a:ext cx="12281948" cy="773752"/>
          </a:xfrm>
          <a:prstGeom prst="rect">
            <a:avLst/>
          </a:prstGeom>
          <a:noFill/>
        </p:spPr>
      </p:pic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10778109" y="6336704"/>
            <a:ext cx="1045349" cy="548680"/>
          </a:xfrm>
          <a:prstGeom prst="rect">
            <a:avLst/>
          </a:prstGeom>
          <a:solidFill>
            <a:srgbClr val="F7F7F7">
              <a:alpha val="45098"/>
            </a:srgbClr>
          </a:solidFill>
        </p:spPr>
        <p:txBody>
          <a:bodyPr vert="horz" lIns="91440" tIns="45720" rIns="91440" bIns="45720" rtlCol="0" anchor="ctr"/>
          <a:lstStyle>
            <a:lvl1pPr>
              <a:defRPr sz="1400" b="1">
                <a:solidFill>
                  <a:schemeClr val="tx1">
                    <a:lumMod val="95000"/>
                    <a:lumOff val="5000"/>
                  </a:schemeClr>
                </a:solidFill>
                <a:latin typeface="Georgia" pitchFamily="18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E708FE-ED12-4ACB-81C9-F40A112777FF}" type="slidenum">
              <a:rPr kumimoji="0" lang="en-GB" sz="2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eorgia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eorgia" pitchFamily="18" charset="0"/>
              <a:ea typeface="+mn-ea"/>
              <a:cs typeface="+mn-cs"/>
            </a:endParaRPr>
          </a:p>
        </p:txBody>
      </p:sp>
      <p:pic>
        <p:nvPicPr>
          <p:cNvPr id="10" name="Picture 2" descr="C:\Users\Ours\Desktop\my stuffs\1 NTFS_000\LostFiles2\INSPIRATION\PROJECTS\MIND PROJECTS\cu_logo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4016" y="6363534"/>
            <a:ext cx="624979" cy="665866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412" y="1066800"/>
            <a:ext cx="11716352" cy="5170512"/>
          </a:xfr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defRPr sz="2800">
                <a:latin typeface="Rockwell" pitchFamily="18" charset="0"/>
              </a:defRPr>
            </a:lvl1pPr>
            <a:lvl2pPr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Wingdings" pitchFamily="2" charset="2"/>
              <a:buChar char="§"/>
              <a:defRPr sz="2400">
                <a:solidFill>
                  <a:srgbClr val="7A0000"/>
                </a:solidFill>
                <a:latin typeface="Rockwell" pitchFamily="18" charset="0"/>
              </a:defRPr>
            </a:lvl2pPr>
            <a:lvl3pPr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alibri" pitchFamily="34" charset="0"/>
              <a:buChar char="‒"/>
              <a:defRPr sz="2000">
                <a:solidFill>
                  <a:schemeClr val="accent4">
                    <a:lumMod val="50000"/>
                  </a:schemeClr>
                </a:solidFill>
                <a:latin typeface="Rockwell" pitchFamily="18" charset="0"/>
              </a:defRPr>
            </a:lvl3pPr>
            <a:lvl4pPr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defRPr sz="2800">
                <a:latin typeface="Rockwell" pitchFamily="18" charset="0"/>
              </a:defRPr>
            </a:lvl4pPr>
            <a:lvl5pPr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defRPr sz="2800">
                <a:latin typeface="Rockwell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1026" name="Picture 2" descr="C:\Users\Ours\Desktop\Picture1.pn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2972" y="6317328"/>
            <a:ext cx="5976665" cy="640064"/>
          </a:xfrm>
          <a:prstGeom prst="rect">
            <a:avLst/>
          </a:prstGeom>
          <a:noFill/>
        </p:spPr>
      </p:pic>
      <p:sp>
        <p:nvSpPr>
          <p:cNvPr id="13" name="TextBox 12"/>
          <p:cNvSpPr txBox="1"/>
          <p:nvPr userDrawn="1"/>
        </p:nvSpPr>
        <p:spPr>
          <a:xfrm>
            <a:off x="724026" y="6707435"/>
            <a:ext cx="22154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www.covenantuniversity.edu.ng</a:t>
            </a:r>
            <a:endParaRPr lang="en-GB" sz="1200" dirty="0"/>
          </a:p>
        </p:txBody>
      </p:sp>
      <p:cxnSp>
        <p:nvCxnSpPr>
          <p:cNvPr id="19" name="Straight Connector 18"/>
          <p:cNvCxnSpPr/>
          <p:nvPr userDrawn="1"/>
        </p:nvCxnSpPr>
        <p:spPr>
          <a:xfrm flipV="1">
            <a:off x="8689876" y="1340768"/>
            <a:ext cx="1800001" cy="0"/>
          </a:xfrm>
          <a:prstGeom prst="line">
            <a:avLst/>
          </a:prstGeom>
          <a:ln w="28575">
            <a:solidFill>
              <a:srgbClr val="662C5B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 userDrawn="1"/>
        </p:nvCxnSpPr>
        <p:spPr>
          <a:xfrm flipV="1">
            <a:off x="10526061" y="1340768"/>
            <a:ext cx="719999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 userDrawn="1"/>
        </p:nvCxnSpPr>
        <p:spPr>
          <a:xfrm flipV="1">
            <a:off x="11282245" y="1340768"/>
            <a:ext cx="719999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336" y="4406905"/>
            <a:ext cx="10365899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336" y="2906713"/>
            <a:ext cx="10365899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2E69B-9B3B-437C-9ADF-D56F423A0581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FEC63-AC9E-491C-B008-E83D881192C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759" y="1600205"/>
            <a:ext cx="538620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9214" y="1600205"/>
            <a:ext cx="538620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2E69B-9B3B-437C-9ADF-D56F423A0581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FEC63-AC9E-491C-B008-E83D881192C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759" y="1535113"/>
            <a:ext cx="538832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759" y="2174875"/>
            <a:ext cx="53883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4983" y="1535113"/>
            <a:ext cx="539043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4983" y="2174875"/>
            <a:ext cx="539043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2E69B-9B3B-437C-9ADF-D56F423A0581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FEC63-AC9E-491C-B008-E83D881192C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2E69B-9B3B-437C-9ADF-D56F423A0581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FEC63-AC9E-491C-B008-E83D881192C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2E69B-9B3B-437C-9ADF-D56F423A0581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FEC63-AC9E-491C-B008-E83D881192C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762" y="273050"/>
            <a:ext cx="401212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7974" y="273055"/>
            <a:ext cx="681744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762" y="1435103"/>
            <a:ext cx="401212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2E69B-9B3B-437C-9ADF-D56F423A0581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FEC63-AC9E-491C-B008-E83D881192C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0341" y="4800600"/>
            <a:ext cx="731710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90341" y="612775"/>
            <a:ext cx="731710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90341" y="5367338"/>
            <a:ext cx="731710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2E69B-9B3B-437C-9ADF-D56F423A0581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FEC63-AC9E-491C-B008-E83D881192C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2E69B-9B3B-437C-9ADF-D56F423A0581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FEC63-AC9E-491C-B008-E83D881192C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41502" y="274643"/>
            <a:ext cx="2743914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759" y="274643"/>
            <a:ext cx="802849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2E69B-9B3B-437C-9ADF-D56F423A0581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FEC63-AC9E-491C-B008-E83D881192C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3" y="2130429"/>
            <a:ext cx="10366375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7575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4263-B01D-4F49-B558-EEB448DAF4C2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BD965-F460-422A-A842-9BE9972FC4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4263-B01D-4F49-B558-EEB448DAF4C2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BD965-F460-422A-A842-9BE9972FC4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615" y="4406904"/>
            <a:ext cx="10366375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615" y="2906713"/>
            <a:ext cx="10366375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4263-B01D-4F49-B558-EEB448DAF4C2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BD965-F460-422A-A842-9BE9972FC4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4"/>
            <a:ext cx="541178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788" y="1600204"/>
            <a:ext cx="541178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4263-B01D-4F49-B558-EEB448DAF4C2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BD965-F460-422A-A842-9BE9972FC4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79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79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4425" y="1535113"/>
            <a:ext cx="539115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4425" y="2174875"/>
            <a:ext cx="539115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4263-B01D-4F49-B558-EEB448DAF4C2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BD965-F460-422A-A842-9BE9972FC4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4263-B01D-4F49-B558-EEB448DAF4C2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BD965-F460-422A-A842-9BE9972FC4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4263-B01D-4F49-B558-EEB448DAF4C2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BD965-F460-422A-A842-9BE9972FC4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612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7263" y="273054"/>
            <a:ext cx="68183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612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4263-B01D-4F49-B558-EEB448DAF4C2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BD965-F460-422A-A842-9BE9972FC4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0776" y="4800600"/>
            <a:ext cx="7316788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90776" y="612775"/>
            <a:ext cx="7316788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90776" y="5367338"/>
            <a:ext cx="731678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4263-B01D-4F49-B558-EEB448DAF4C2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BD965-F460-422A-A842-9BE9972FC4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4263-B01D-4F49-B558-EEB448DAF4C2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BD965-F460-422A-A842-9BE9972FC4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42375" y="274642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2" y="274642"/>
            <a:ext cx="8080374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4263-B01D-4F49-B558-EEB448DAF4C2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BD965-F460-422A-A842-9BE9972FC4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759" y="274638"/>
            <a:ext cx="1097565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759" y="1600205"/>
            <a:ext cx="1097565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760" y="6356355"/>
            <a:ext cx="28455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62E69B-9B3B-437C-9ADF-D56F423A0581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6685" y="6356355"/>
            <a:ext cx="38618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9875" y="6356355"/>
            <a:ext cx="28455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DFEC63-AC9E-491C-B008-E83D881192CD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597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4"/>
            <a:ext cx="1097597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2" y="6356354"/>
            <a:ext cx="28463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FA4263-B01D-4F49-B558-EEB448DAF4C2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7188" y="6356354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9189" y="6356354"/>
            <a:ext cx="28463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BD965-F460-422A-A842-9BE9972FC43E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06387" y="1447801"/>
            <a:ext cx="11734800" cy="1600199"/>
          </a:xfrm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sz="4000" b="1" dirty="0">
                <a:solidFill>
                  <a:schemeClr val="tx1"/>
                </a:solidFill>
              </a:rPr>
              <a:t>CSC 227</a:t>
            </a:r>
            <a:br>
              <a:rPr lang="en-US" sz="4000" b="1" dirty="0">
                <a:solidFill>
                  <a:schemeClr val="tx1"/>
                </a:solidFill>
              </a:rPr>
            </a:br>
            <a:r>
              <a:rPr lang="en-US" sz="4000" b="1" dirty="0">
                <a:solidFill>
                  <a:schemeClr val="tx1"/>
                </a:solidFill>
              </a:rPr>
              <a:t>Computer Architecture and Organization I</a:t>
            </a:r>
          </a:p>
        </p:txBody>
      </p:sp>
      <p:sp>
        <p:nvSpPr>
          <p:cNvPr id="3" name="Title 7"/>
          <p:cNvSpPr txBox="1">
            <a:spLocks/>
          </p:cNvSpPr>
          <p:nvPr/>
        </p:nvSpPr>
        <p:spPr>
          <a:xfrm>
            <a:off x="230187" y="4156650"/>
            <a:ext cx="11734800" cy="1295400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5400" b="0" kern="1200">
                <a:solidFill>
                  <a:schemeClr val="bg1"/>
                </a:solidFill>
                <a:latin typeface="Rockwell" pitchFamily="18" charset="0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chemeClr val="tx1"/>
                </a:solidFill>
              </a:rPr>
              <a:t>SOLVED EXAMPLES: CACHE MAPPING FUNCTIONS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91883" y="1341500"/>
            <a:ext cx="113059" cy="0"/>
          </a:xfrm>
          <a:custGeom>
            <a:avLst/>
            <a:gdLst/>
            <a:ahLst/>
            <a:cxnLst/>
            <a:rect l="l" t="t" r="r" b="b"/>
            <a:pathLst>
              <a:path w="113029">
                <a:moveTo>
                  <a:pt x="0" y="0"/>
                </a:moveTo>
                <a:lnTo>
                  <a:pt x="112712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0187" y="323394"/>
            <a:ext cx="11776282" cy="572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pc="-155" dirty="0">
                <a:latin typeface="Rockwell" panose="02060603020205020403" pitchFamily="18" charset="0"/>
              </a:rPr>
              <a:t>DIRECT MAPPING FUNCTION</a:t>
            </a:r>
            <a:endParaRPr spc="-220" dirty="0">
              <a:latin typeface="Rockwell" panose="02060603020205020403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D79F0AA-F614-4A41-9F74-E754447DF5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105" y="1219200"/>
            <a:ext cx="11663837" cy="30469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Rockwell" panose="02060603020205020403" pitchFamily="18" charset="0"/>
              </a:rPr>
              <a:t>Formula</a:t>
            </a:r>
          </a:p>
          <a:p>
            <a:r>
              <a:rPr lang="en-US" sz="2800" dirty="0">
                <a:latin typeface="Rockwell" panose="02060603020205020403" pitchFamily="18" charset="0"/>
              </a:rPr>
              <a:t>For Direct Mapping:</a:t>
            </a:r>
          </a:p>
          <a:p>
            <a:endParaRPr lang="en-US" sz="2800" dirty="0">
              <a:latin typeface="Rockwell" panose="02060603020205020403" pitchFamily="18" charset="0"/>
            </a:endParaRPr>
          </a:p>
          <a:p>
            <a:r>
              <a:rPr lang="en-US" sz="2400" b="1" dirty="0">
                <a:latin typeface="Rockwell" panose="02060603020205020403" pitchFamily="18" charset="0"/>
              </a:rPr>
              <a:t>Cache Line</a:t>
            </a:r>
            <a:r>
              <a:rPr lang="en-US" sz="2400" dirty="0">
                <a:latin typeface="Rockwell" panose="02060603020205020403" pitchFamily="18" charset="0"/>
              </a:rPr>
              <a:t>=(</a:t>
            </a:r>
            <a:r>
              <a:rPr lang="en-US" sz="2400" b="1" dirty="0">
                <a:solidFill>
                  <a:srgbClr val="662C5B"/>
                </a:solidFill>
                <a:latin typeface="Rockwell" panose="02060603020205020403" pitchFamily="18" charset="0"/>
              </a:rPr>
              <a:t>Main Memory Block Number) mod (Number of Cache Address</a:t>
            </a:r>
            <a:r>
              <a:rPr lang="en-US" sz="2400" b="1" dirty="0">
                <a:latin typeface="Rockwell" panose="02060603020205020403" pitchFamily="18" charset="0"/>
              </a:rPr>
              <a:t>) </a:t>
            </a:r>
          </a:p>
          <a:p>
            <a:endParaRPr lang="en-US" sz="2800" b="1" dirty="0">
              <a:latin typeface="Rockwell" panose="02060603020205020403" pitchFamily="18" charset="0"/>
            </a:endParaRPr>
          </a:p>
          <a:p>
            <a:r>
              <a:rPr lang="en-US" sz="2800" b="1" dirty="0">
                <a:latin typeface="Rockwell" panose="02060603020205020403" pitchFamily="18" charset="0"/>
              </a:rPr>
              <a:t>Format</a:t>
            </a:r>
          </a:p>
          <a:p>
            <a:r>
              <a:rPr lang="en-US" sz="2800" dirty="0">
                <a:latin typeface="Rockwell" panose="02060603020205020403" pitchFamily="18" charset="0"/>
              </a:rPr>
              <a:t>		</a:t>
            </a:r>
            <a:r>
              <a:rPr lang="en-US" sz="2800" b="1" dirty="0">
                <a:solidFill>
                  <a:srgbClr val="0000FF"/>
                </a:solidFill>
                <a:latin typeface="Rockwell" panose="02060603020205020403" pitchFamily="18" charset="0"/>
              </a:rPr>
              <a:t>Tag</a:t>
            </a:r>
            <a:r>
              <a:rPr lang="en-US" sz="2800" b="1" dirty="0">
                <a:latin typeface="Rockwell" panose="02060603020205020403" pitchFamily="18" charset="0"/>
              </a:rPr>
              <a:t> | </a:t>
            </a:r>
            <a:r>
              <a:rPr lang="en-US" sz="2800" b="1" dirty="0">
                <a:solidFill>
                  <a:srgbClr val="0000FF"/>
                </a:solidFill>
                <a:latin typeface="Rockwell" panose="02060603020205020403" pitchFamily="18" charset="0"/>
              </a:rPr>
              <a:t>Index</a:t>
            </a:r>
            <a:r>
              <a:rPr lang="en-US" sz="2800" b="1" dirty="0">
                <a:latin typeface="Rockwell" panose="02060603020205020403" pitchFamily="18" charset="0"/>
              </a:rPr>
              <a:t> |  </a:t>
            </a:r>
            <a:r>
              <a:rPr lang="en-US" sz="2800" b="1" dirty="0">
                <a:solidFill>
                  <a:srgbClr val="0000FF"/>
                </a:solidFill>
                <a:latin typeface="Rockwell" panose="02060603020205020403" pitchFamily="18" charset="0"/>
              </a:rPr>
              <a:t>Offset​</a:t>
            </a:r>
            <a:r>
              <a:rPr lang="en-US" sz="2800" b="1" dirty="0">
                <a:latin typeface="Rockwell" panose="02060603020205020403" pitchFamily="18" charset="0"/>
              </a:rPr>
              <a:t> </a:t>
            </a:r>
            <a:endParaRPr kumimoji="0" lang="en-US" altLang="en-US" sz="27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6492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91883" y="1341500"/>
            <a:ext cx="113059" cy="0"/>
          </a:xfrm>
          <a:custGeom>
            <a:avLst/>
            <a:gdLst/>
            <a:ahLst/>
            <a:cxnLst/>
            <a:rect l="l" t="t" r="r" b="b"/>
            <a:pathLst>
              <a:path w="113029">
                <a:moveTo>
                  <a:pt x="0" y="0"/>
                </a:moveTo>
                <a:lnTo>
                  <a:pt x="112712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0187" y="323394"/>
            <a:ext cx="11776282" cy="572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pc="-155" dirty="0">
                <a:latin typeface="Rockwell" panose="02060603020205020403" pitchFamily="18" charset="0"/>
              </a:rPr>
              <a:t>DIRECT MAPPING FUNCTION</a:t>
            </a:r>
            <a:endParaRPr spc="-220" dirty="0">
              <a:latin typeface="Rockwell" panose="02060603020205020403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D79F0AA-F614-4A41-9F74-E754447DF5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151" y="430886"/>
            <a:ext cx="11663837" cy="483209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Rockwell" panose="02060603020205020403" pitchFamily="18" charset="0"/>
              </a:rPr>
              <a:t>Example 1: 				0000, 0001, 0010….. 1111</a:t>
            </a:r>
          </a:p>
          <a:p>
            <a:r>
              <a:rPr lang="en-US" sz="2800" b="1" dirty="0">
                <a:latin typeface="Rockwell" panose="02060603020205020403" pitchFamily="18" charset="0"/>
              </a:rPr>
              <a:t>Given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800" b="1" dirty="0">
                <a:solidFill>
                  <a:srgbClr val="0000FF"/>
                </a:solidFill>
                <a:latin typeface="Rockwell" panose="02060603020205020403" pitchFamily="18" charset="0"/>
              </a:rPr>
              <a:t>Main Memory = 64 KB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800" b="1" dirty="0">
                <a:solidFill>
                  <a:srgbClr val="0000FF"/>
                </a:solidFill>
                <a:latin typeface="Rockwell" panose="02060603020205020403" pitchFamily="18" charset="0"/>
              </a:rPr>
              <a:t>Cache Size = 1 KB (1024 bytes = 2</a:t>
            </a:r>
            <a:r>
              <a:rPr lang="en-US" sz="2800" b="1" baseline="30000" dirty="0">
                <a:solidFill>
                  <a:srgbClr val="0000FF"/>
                </a:solidFill>
                <a:latin typeface="Rockwell" panose="02060603020205020403" pitchFamily="18" charset="0"/>
              </a:rPr>
              <a:t>10</a:t>
            </a:r>
            <a:r>
              <a:rPr lang="en-US" sz="2800" b="1" dirty="0">
                <a:solidFill>
                  <a:srgbClr val="0000FF"/>
                </a:solidFill>
                <a:latin typeface="Rockwell" panose="02060603020205020403" pitchFamily="18" charset="0"/>
              </a:rPr>
              <a:t> bytes  = 10 bits)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800" b="1" dirty="0">
                <a:solidFill>
                  <a:srgbClr val="0000FF"/>
                </a:solidFill>
                <a:latin typeface="Rockwell" panose="02060603020205020403" pitchFamily="18" charset="0"/>
              </a:rPr>
              <a:t>Block Size/line size = 16 Bytes  = 4bits </a:t>
            </a:r>
          </a:p>
          <a:p>
            <a:endParaRPr lang="en-US" sz="2800" b="1" dirty="0">
              <a:latin typeface="Rockwell" panose="02060603020205020403" pitchFamily="18" charset="0"/>
            </a:endParaRPr>
          </a:p>
          <a:p>
            <a:r>
              <a:rPr lang="en-US" sz="2800" b="1" dirty="0">
                <a:latin typeface="Rockwell" panose="02060603020205020403" pitchFamily="18" charset="0"/>
              </a:rPr>
              <a:t>Find </a:t>
            </a:r>
          </a:p>
          <a:p>
            <a:r>
              <a:rPr lang="en-US" sz="2800" b="1" dirty="0">
                <a:solidFill>
                  <a:srgbClr val="0000FF"/>
                </a:solidFill>
                <a:latin typeface="Rockwell" panose="02060603020205020403" pitchFamily="18" charset="0"/>
              </a:rPr>
              <a:t>Address bits of M/M</a:t>
            </a:r>
          </a:p>
          <a:p>
            <a:r>
              <a:rPr lang="en-US" sz="2800" b="1" dirty="0">
                <a:latin typeface="Rockwell" panose="02060603020205020403" pitchFamily="18" charset="0"/>
              </a:rPr>
              <a:t>64KB = 2</a:t>
            </a:r>
            <a:r>
              <a:rPr lang="en-US" sz="2800" b="1" baseline="30000" dirty="0">
                <a:latin typeface="Rockwell" panose="02060603020205020403" pitchFamily="18" charset="0"/>
              </a:rPr>
              <a:t>16</a:t>
            </a:r>
            <a:r>
              <a:rPr lang="en-US" sz="2800" b="1" dirty="0">
                <a:latin typeface="Rockwell" panose="02060603020205020403" pitchFamily="18" charset="0"/>
              </a:rPr>
              <a:t> bytes (1KB = 1024 BYTES = 2</a:t>
            </a:r>
            <a:r>
              <a:rPr lang="en-US" sz="2800" b="1" baseline="30000" dirty="0">
                <a:latin typeface="Rockwell" panose="02060603020205020403" pitchFamily="18" charset="0"/>
              </a:rPr>
              <a:t>10</a:t>
            </a:r>
            <a:r>
              <a:rPr lang="en-US" sz="2800" b="1" dirty="0">
                <a:latin typeface="Rockwell" panose="02060603020205020403" pitchFamily="18" charset="0"/>
              </a:rPr>
              <a:t> BYTES)</a:t>
            </a:r>
          </a:p>
          <a:p>
            <a:r>
              <a:rPr lang="en-US" sz="2800" b="1" dirty="0">
                <a:latin typeface="Rockwell" panose="02060603020205020403" pitchFamily="18" charset="0"/>
              </a:rPr>
              <a:t>				2</a:t>
            </a:r>
            <a:r>
              <a:rPr lang="en-US" sz="2800" b="1" baseline="30000" dirty="0">
                <a:latin typeface="Rockwell" panose="02060603020205020403" pitchFamily="18" charset="0"/>
              </a:rPr>
              <a:t>6</a:t>
            </a:r>
            <a:r>
              <a:rPr lang="en-US" sz="2800" b="1" dirty="0">
                <a:latin typeface="Rockwell" panose="02060603020205020403" pitchFamily="18" charset="0"/>
              </a:rPr>
              <a:t> X 2</a:t>
            </a:r>
            <a:r>
              <a:rPr lang="en-US" sz="2800" b="1" baseline="30000" dirty="0">
                <a:latin typeface="Rockwell" panose="02060603020205020403" pitchFamily="18" charset="0"/>
              </a:rPr>
              <a:t>10</a:t>
            </a:r>
            <a:r>
              <a:rPr lang="en-US" sz="2800" b="1" dirty="0">
                <a:latin typeface="Rockwell" panose="02060603020205020403" pitchFamily="18" charset="0"/>
              </a:rPr>
              <a:t> = 2</a:t>
            </a:r>
            <a:r>
              <a:rPr lang="en-US" sz="2800" b="1" baseline="30000" dirty="0">
                <a:latin typeface="Rockwell" panose="02060603020205020403" pitchFamily="18" charset="0"/>
              </a:rPr>
              <a:t>16</a:t>
            </a:r>
            <a:r>
              <a:rPr lang="en-US" sz="2800" b="1" dirty="0">
                <a:latin typeface="Rockwell" panose="02060603020205020403" pitchFamily="18" charset="0"/>
              </a:rPr>
              <a:t> = LOG</a:t>
            </a:r>
            <a:r>
              <a:rPr lang="en-US" sz="2800" b="1" baseline="-25000" dirty="0">
                <a:latin typeface="Rockwell" panose="02060603020205020403" pitchFamily="18" charset="0"/>
              </a:rPr>
              <a:t>2</a:t>
            </a:r>
            <a:r>
              <a:rPr lang="en-US" sz="2800" b="1" dirty="0">
                <a:latin typeface="Rockwell" panose="02060603020205020403" pitchFamily="18" charset="0"/>
              </a:rPr>
              <a:t> 2</a:t>
            </a:r>
            <a:r>
              <a:rPr lang="en-US" sz="2800" b="1" baseline="30000" dirty="0">
                <a:latin typeface="Rockwell" panose="02060603020205020403" pitchFamily="18" charset="0"/>
              </a:rPr>
              <a:t>16</a:t>
            </a:r>
          </a:p>
          <a:p>
            <a:r>
              <a:rPr lang="en-US" sz="2800" b="1" dirty="0">
                <a:latin typeface="Rockwell" panose="02060603020205020403" pitchFamily="18" charset="0"/>
              </a:rPr>
              <a:t>Address bits:16</a:t>
            </a:r>
            <a:endParaRPr kumimoji="0" lang="en-US" altLang="en-US" sz="27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0206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91883" y="1341500"/>
            <a:ext cx="113059" cy="0"/>
          </a:xfrm>
          <a:custGeom>
            <a:avLst/>
            <a:gdLst/>
            <a:ahLst/>
            <a:cxnLst/>
            <a:rect l="l" t="t" r="r" b="b"/>
            <a:pathLst>
              <a:path w="113029">
                <a:moveTo>
                  <a:pt x="0" y="0"/>
                </a:moveTo>
                <a:lnTo>
                  <a:pt x="112712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601" y="152400"/>
            <a:ext cx="11776282" cy="572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pc="-155" dirty="0">
                <a:latin typeface="Rockwell" panose="02060603020205020403" pitchFamily="18" charset="0"/>
              </a:rPr>
              <a:t>DIRECT CACHE MAPPING</a:t>
            </a:r>
            <a:endParaRPr spc="-220" dirty="0">
              <a:latin typeface="Rockwell" panose="02060603020205020403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D79F0AA-F614-4A41-9F74-E754447DF5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207" y="3317572"/>
            <a:ext cx="11663837" cy="50783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endParaRPr lang="en-GB" altLang="en-US" sz="2700" b="1" dirty="0">
              <a:solidFill>
                <a:srgbClr val="7A0000"/>
              </a:solidFill>
              <a:latin typeface="Rockwell" panose="020606030202050204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9804EA-A9E4-4F76-AF72-8B73E5AEEA97}"/>
              </a:ext>
            </a:extLst>
          </p:cNvPr>
          <p:cNvSpPr txBox="1"/>
          <p:nvPr/>
        </p:nvSpPr>
        <p:spPr>
          <a:xfrm>
            <a:off x="458787" y="1295401"/>
            <a:ext cx="111252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  <a:latin typeface="Rockwell" panose="02060603020205020403" pitchFamily="18" charset="0"/>
              </a:rPr>
              <a:t>Find Offset Bits: </a:t>
            </a:r>
          </a:p>
          <a:p>
            <a:r>
              <a:rPr lang="en-US" sz="2800" dirty="0">
                <a:latin typeface="Rockwell" panose="02060603020205020403" pitchFamily="18" charset="0"/>
              </a:rPr>
              <a:t>Offset Bits</a:t>
            </a:r>
          </a:p>
          <a:p>
            <a:r>
              <a:rPr lang="en-US" sz="2800" dirty="0">
                <a:latin typeface="Rockwell" panose="02060603020205020403" pitchFamily="18" charset="0"/>
              </a:rPr>
              <a:t>	16B = 24</a:t>
            </a:r>
          </a:p>
          <a:p>
            <a:r>
              <a:rPr lang="en-US" sz="2800" dirty="0">
                <a:latin typeface="Rockwell" panose="02060603020205020403" pitchFamily="18" charset="0"/>
              </a:rPr>
              <a:t>	</a:t>
            </a:r>
            <a:r>
              <a:rPr lang="en-US" sz="2800" b="1" dirty="0">
                <a:solidFill>
                  <a:srgbClr val="0000FF"/>
                </a:solidFill>
                <a:latin typeface="Rockwell" panose="02060603020205020403" pitchFamily="18" charset="0"/>
              </a:rPr>
              <a:t>Offset = 4 bits (0000, 0001, 0010…., 1111)</a:t>
            </a:r>
          </a:p>
          <a:p>
            <a:endParaRPr lang="en-US" sz="2800" dirty="0">
              <a:latin typeface="Rockwell" panose="02060603020205020403" pitchFamily="18" charset="0"/>
            </a:endParaRPr>
          </a:p>
          <a:p>
            <a:r>
              <a:rPr lang="en-US" sz="2800" b="1" dirty="0">
                <a:solidFill>
                  <a:srgbClr val="0000FF"/>
                </a:solidFill>
                <a:latin typeface="Rockwell" panose="02060603020205020403" pitchFamily="18" charset="0"/>
              </a:rPr>
              <a:t>Find number of Cache lines: </a:t>
            </a:r>
          </a:p>
          <a:p>
            <a:r>
              <a:rPr lang="en-US" sz="2800" dirty="0">
                <a:latin typeface="Rockwell" panose="02060603020205020403" pitchFamily="18" charset="0"/>
              </a:rPr>
              <a:t>Number of Cache Lines</a:t>
            </a:r>
          </a:p>
          <a:p>
            <a:r>
              <a:rPr lang="en-US" sz="2800" dirty="0">
                <a:latin typeface="Rockwell" panose="02060603020205020403" pitchFamily="18" charset="0"/>
              </a:rPr>
              <a:t>	1024 bytes/16 bytes ​= </a:t>
            </a:r>
            <a:r>
              <a:rPr lang="en-US" sz="2800" b="1" dirty="0">
                <a:latin typeface="Rockwell" panose="02060603020205020403" pitchFamily="18" charset="0"/>
              </a:rPr>
              <a:t>64 lines </a:t>
            </a:r>
            <a:r>
              <a:rPr lang="en-US" sz="2800" dirty="0">
                <a:latin typeface="Rockwell" panose="02060603020205020403" pitchFamily="18" charset="0"/>
              </a:rPr>
              <a:t>(of size 16bytes each) </a:t>
            </a:r>
          </a:p>
          <a:p>
            <a:r>
              <a:rPr lang="en-US" sz="2800" dirty="0">
                <a:latin typeface="Rockwell" panose="02060603020205020403" pitchFamily="18" charset="0"/>
              </a:rPr>
              <a:t>	64 = 2</a:t>
            </a:r>
            <a:r>
              <a:rPr lang="en-US" sz="2800" baseline="30000" dirty="0">
                <a:latin typeface="Rockwell" panose="02060603020205020403" pitchFamily="18" charset="0"/>
              </a:rPr>
              <a:t>6</a:t>
            </a:r>
          </a:p>
          <a:p>
            <a:r>
              <a:rPr lang="en-US" sz="2800" dirty="0">
                <a:latin typeface="Rockwell" panose="02060603020205020403" pitchFamily="18" charset="0"/>
              </a:rPr>
              <a:t>	</a:t>
            </a:r>
            <a:r>
              <a:rPr lang="en-US" sz="2800" b="1" dirty="0">
                <a:solidFill>
                  <a:srgbClr val="0000FF"/>
                </a:solidFill>
                <a:latin typeface="Rockwell" panose="02060603020205020403" pitchFamily="18" charset="0"/>
              </a:rPr>
              <a:t>Index = 6 bits (number of bits used to identify each line)</a:t>
            </a:r>
          </a:p>
          <a:p>
            <a:r>
              <a:rPr lang="en-US" sz="2800" b="1" dirty="0">
                <a:solidFill>
                  <a:srgbClr val="0000FF"/>
                </a:solidFill>
                <a:latin typeface="Rockwell" panose="02060603020205020403" pitchFamily="18" charset="0"/>
              </a:rPr>
              <a:t>	(000000, 000001, 000010,……., 111111)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120F6D-8F13-499E-8F89-83706F4027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8058" y="-152400"/>
            <a:ext cx="1627773" cy="5316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244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91883" y="1341500"/>
            <a:ext cx="113059" cy="0"/>
          </a:xfrm>
          <a:custGeom>
            <a:avLst/>
            <a:gdLst/>
            <a:ahLst/>
            <a:cxnLst/>
            <a:rect l="l" t="t" r="r" b="b"/>
            <a:pathLst>
              <a:path w="113029">
                <a:moveTo>
                  <a:pt x="0" y="0"/>
                </a:moveTo>
                <a:lnTo>
                  <a:pt x="112712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601" y="152400"/>
            <a:ext cx="11776282" cy="572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pc="-155" dirty="0">
                <a:latin typeface="Rockwell" panose="02060603020205020403" pitchFamily="18" charset="0"/>
              </a:rPr>
              <a:t>DIRECT CACHE MAPPING</a:t>
            </a:r>
            <a:endParaRPr spc="-220" dirty="0">
              <a:latin typeface="Rockwell" panose="02060603020205020403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D79F0AA-F614-4A41-9F74-E754447DF5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207" y="3317572"/>
            <a:ext cx="11663837" cy="50783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endParaRPr lang="en-GB" altLang="en-US" sz="2700" b="1" dirty="0">
              <a:solidFill>
                <a:srgbClr val="7A0000"/>
              </a:solidFill>
              <a:latin typeface="Rockwell" panose="020606030202050204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9804EA-A9E4-4F76-AF72-8B73E5AEEA97}"/>
              </a:ext>
            </a:extLst>
          </p:cNvPr>
          <p:cNvSpPr txBox="1"/>
          <p:nvPr/>
        </p:nvSpPr>
        <p:spPr>
          <a:xfrm>
            <a:off x="992187" y="1295401"/>
            <a:ext cx="105918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  <a:latin typeface="Rockwell" panose="02060603020205020403" pitchFamily="18" charset="0"/>
              </a:rPr>
              <a:t>Find the number of Tag Bits</a:t>
            </a:r>
          </a:p>
          <a:p>
            <a:r>
              <a:rPr lang="en-US" sz="2800" dirty="0">
                <a:latin typeface="Rockwell" panose="02060603020205020403" pitchFamily="18" charset="0"/>
              </a:rPr>
              <a:t>	tag bit = </a:t>
            </a:r>
            <a:r>
              <a:rPr lang="en-US" sz="2800" b="1" dirty="0">
                <a:solidFill>
                  <a:srgbClr val="0000FF"/>
                </a:solidFill>
                <a:latin typeface="Rockwell" panose="02060603020205020403" pitchFamily="18" charset="0"/>
              </a:rPr>
              <a:t>total no. of m/m bits – ( index + offset)</a:t>
            </a:r>
          </a:p>
          <a:p>
            <a:r>
              <a:rPr lang="en-US" sz="2800" b="1" dirty="0">
                <a:latin typeface="Rockwell" panose="02060603020205020403" pitchFamily="18" charset="0"/>
              </a:rPr>
              <a:t>	Tag = 16 − 6 − 4 </a:t>
            </a:r>
          </a:p>
          <a:p>
            <a:r>
              <a:rPr lang="en-US" sz="2800" b="1" dirty="0">
                <a:solidFill>
                  <a:srgbClr val="0000FF"/>
                </a:solidFill>
                <a:latin typeface="Rockwell" panose="02060603020205020403" pitchFamily="18" charset="0"/>
              </a:rPr>
              <a:t>	Tag = 6 bits</a:t>
            </a:r>
          </a:p>
          <a:p>
            <a:endParaRPr lang="en-US" sz="2800" dirty="0">
              <a:latin typeface="Rockwell" panose="02060603020205020403" pitchFamily="18" charset="0"/>
            </a:endParaRPr>
          </a:p>
          <a:p>
            <a:r>
              <a:rPr lang="en-US" sz="2800" dirty="0">
                <a:latin typeface="Rockwell" panose="02060603020205020403" pitchFamily="18" charset="0"/>
              </a:rPr>
              <a:t>Address Format for cache </a:t>
            </a:r>
          </a:p>
          <a:p>
            <a:endParaRPr lang="en-US" sz="2800" dirty="0">
              <a:latin typeface="Rockwell" panose="02060603020205020403" pitchFamily="18" charset="0"/>
            </a:endParaRPr>
          </a:p>
          <a:p>
            <a:r>
              <a:rPr lang="en-US" sz="2800" b="1" dirty="0">
                <a:solidFill>
                  <a:srgbClr val="0000FF"/>
                </a:solidFill>
                <a:latin typeface="Rockwell" panose="02060603020205020403" pitchFamily="18" charset="0"/>
              </a:rPr>
              <a:t>	Tag	   Index	Offset</a:t>
            </a:r>
          </a:p>
          <a:p>
            <a:r>
              <a:rPr lang="en-US" sz="2800" b="1" dirty="0">
                <a:solidFill>
                  <a:srgbClr val="0000FF"/>
                </a:solidFill>
                <a:latin typeface="Rockwell" panose="02060603020205020403" pitchFamily="18" charset="0"/>
              </a:rPr>
              <a:t>	6 bits   6 bits	4 bits	</a:t>
            </a:r>
          </a:p>
          <a:p>
            <a:endParaRPr lang="en-US" sz="2800" b="1" dirty="0">
              <a:solidFill>
                <a:srgbClr val="0000FF"/>
              </a:solidFill>
              <a:latin typeface="Rockwell" panose="02060603020205020403" pitchFamily="18" charset="0"/>
            </a:endParaRPr>
          </a:p>
          <a:p>
            <a:r>
              <a:rPr lang="en-US" sz="2800" b="1" dirty="0">
                <a:solidFill>
                  <a:srgbClr val="0000FF"/>
                </a:solidFill>
                <a:latin typeface="Rockwell" panose="02060603020205020403" pitchFamily="18" charset="0"/>
              </a:rPr>
              <a:t>from </a:t>
            </a:r>
            <a:r>
              <a:rPr lang="en-US" sz="2800" b="1" dirty="0" err="1">
                <a:solidFill>
                  <a:srgbClr val="0000FF"/>
                </a:solidFill>
                <a:latin typeface="Rockwell" panose="02060603020205020403" pitchFamily="18" charset="0"/>
              </a:rPr>
              <a:t>cpu</a:t>
            </a:r>
            <a:r>
              <a:rPr lang="en-US" sz="2800" b="1" dirty="0">
                <a:solidFill>
                  <a:srgbClr val="0000FF"/>
                </a:solidFill>
                <a:latin typeface="Rockwell" panose="02060603020205020403" pitchFamily="18" charset="0"/>
              </a:rPr>
              <a:t>      000010 000011 1001 ( 2 , 3, 9)</a:t>
            </a:r>
          </a:p>
        </p:txBody>
      </p:sp>
    </p:spTree>
    <p:extLst>
      <p:ext uri="{BB962C8B-B14F-4D97-AF65-F5344CB8AC3E}">
        <p14:creationId xmlns:p14="http://schemas.microsoft.com/office/powerpoint/2010/main" val="1893037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91883" y="1341500"/>
            <a:ext cx="113059" cy="0"/>
          </a:xfrm>
          <a:custGeom>
            <a:avLst/>
            <a:gdLst/>
            <a:ahLst/>
            <a:cxnLst/>
            <a:rect l="l" t="t" r="r" b="b"/>
            <a:pathLst>
              <a:path w="113029">
                <a:moveTo>
                  <a:pt x="0" y="0"/>
                </a:moveTo>
                <a:lnTo>
                  <a:pt x="112712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601" y="152400"/>
            <a:ext cx="11776282" cy="572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pc="-155" dirty="0">
                <a:latin typeface="Rockwell" panose="02060603020205020403" pitchFamily="18" charset="0"/>
              </a:rPr>
              <a:t>DIRECT CACHE MAPPING</a:t>
            </a:r>
            <a:endParaRPr spc="-220" dirty="0">
              <a:latin typeface="Rockwell" panose="02060603020205020403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D79F0AA-F614-4A41-9F74-E754447DF5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207" y="3317572"/>
            <a:ext cx="11663837" cy="50783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endParaRPr lang="en-GB" altLang="en-US" sz="2700" b="1" dirty="0">
              <a:solidFill>
                <a:srgbClr val="7A0000"/>
              </a:solidFill>
              <a:latin typeface="Rockwell" panose="020606030202050204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9804EA-A9E4-4F76-AF72-8B73E5AEEA97}"/>
              </a:ext>
            </a:extLst>
          </p:cNvPr>
          <p:cNvSpPr txBox="1"/>
          <p:nvPr/>
        </p:nvSpPr>
        <p:spPr>
          <a:xfrm>
            <a:off x="441142" y="1066800"/>
            <a:ext cx="1143382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  <a:latin typeface="Rockwell" panose="02060603020205020403" pitchFamily="18" charset="0"/>
              </a:rPr>
              <a:t>5. Determine the Tag Directory Size</a:t>
            </a:r>
          </a:p>
          <a:p>
            <a:r>
              <a:rPr lang="en-US" sz="2800" dirty="0">
                <a:latin typeface="Rockwell" panose="02060603020205020403" pitchFamily="18" charset="0"/>
              </a:rPr>
              <a:t>	Tag Directory Size = </a:t>
            </a:r>
            <a:r>
              <a:rPr lang="en-US" sz="2800" b="1" dirty="0">
                <a:latin typeface="Rockwell" panose="02060603020205020403" pitchFamily="18" charset="0"/>
              </a:rPr>
              <a:t>Total cache lines  x  Tag Bits</a:t>
            </a:r>
          </a:p>
          <a:p>
            <a:r>
              <a:rPr lang="en-US" sz="2800" dirty="0">
                <a:latin typeface="Rockwell" panose="02060603020205020403" pitchFamily="18" charset="0"/>
              </a:rPr>
              <a:t>				</a:t>
            </a:r>
            <a:r>
              <a:rPr lang="en-US" sz="2800" b="1" dirty="0">
                <a:latin typeface="Rockwell" panose="02060603020205020403" pitchFamily="18" charset="0"/>
              </a:rPr>
              <a:t>64 × 6 = 384 bits </a:t>
            </a:r>
          </a:p>
          <a:p>
            <a:r>
              <a:rPr lang="en-US" sz="2800" b="1" dirty="0">
                <a:latin typeface="Rockwell" panose="02060603020205020403" pitchFamily="18" charset="0"/>
              </a:rPr>
              <a:t>					  = </a:t>
            </a:r>
            <a:r>
              <a:rPr lang="en-US" sz="2800" b="1" dirty="0">
                <a:solidFill>
                  <a:srgbClr val="0000FF"/>
                </a:solidFill>
                <a:latin typeface="Rockwell" panose="02060603020205020403" pitchFamily="18" charset="0"/>
              </a:rPr>
              <a:t>48 bytes (384/8)</a:t>
            </a:r>
          </a:p>
          <a:p>
            <a:r>
              <a:rPr lang="en-US" sz="2800" b="1" dirty="0">
                <a:latin typeface="Rockwell" panose="02060603020205020403" pitchFamily="18" charset="0"/>
              </a:rPr>
              <a:t>Answer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Rockwell" panose="02060603020205020403" pitchFamily="18" charset="0"/>
              </a:rPr>
              <a:t>Offset = </a:t>
            </a:r>
            <a:r>
              <a:rPr lang="en-US" sz="2800" b="1" dirty="0">
                <a:latin typeface="Rockwell" panose="02060603020205020403" pitchFamily="18" charset="0"/>
              </a:rPr>
              <a:t>4 bits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Rockwell" panose="02060603020205020403" pitchFamily="18" charset="0"/>
              </a:rPr>
              <a:t>Index = </a:t>
            </a:r>
            <a:r>
              <a:rPr lang="en-US" sz="2800" b="1" dirty="0">
                <a:latin typeface="Rockwell" panose="02060603020205020403" pitchFamily="18" charset="0"/>
              </a:rPr>
              <a:t>6 bits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Rockwell" panose="02060603020205020403" pitchFamily="18" charset="0"/>
              </a:rPr>
              <a:t>Tag = </a:t>
            </a:r>
            <a:r>
              <a:rPr lang="en-US" sz="2800" b="1" dirty="0">
                <a:latin typeface="Rockwell" panose="02060603020205020403" pitchFamily="18" charset="0"/>
              </a:rPr>
              <a:t>6 bits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Rockwell" panose="02060603020205020403" pitchFamily="18" charset="0"/>
              </a:rPr>
              <a:t>Tag Directory Size = </a:t>
            </a:r>
            <a:r>
              <a:rPr lang="en-US" sz="2800" b="1" dirty="0">
                <a:latin typeface="Rockwell" panose="02060603020205020403" pitchFamily="18" charset="0"/>
              </a:rPr>
              <a:t>384 bits </a:t>
            </a:r>
            <a:r>
              <a:rPr lang="en-US" sz="2800" dirty="0">
                <a:latin typeface="Rockwell" panose="02060603020205020403" pitchFamily="18" charset="0"/>
              </a:rPr>
              <a:t>(48 bytes)</a:t>
            </a:r>
            <a:endParaRPr lang="en-US" sz="2800" b="1" dirty="0">
              <a:solidFill>
                <a:srgbClr val="0000FF"/>
              </a:solidFill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4291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91883" y="1341500"/>
            <a:ext cx="113059" cy="0"/>
          </a:xfrm>
          <a:custGeom>
            <a:avLst/>
            <a:gdLst/>
            <a:ahLst/>
            <a:cxnLst/>
            <a:rect l="l" t="t" r="r" b="b"/>
            <a:pathLst>
              <a:path w="113029">
                <a:moveTo>
                  <a:pt x="0" y="0"/>
                </a:moveTo>
                <a:lnTo>
                  <a:pt x="112712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601" y="152400"/>
            <a:ext cx="11776282" cy="572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pc="-155" dirty="0">
                <a:latin typeface="Rockwell" panose="02060603020205020403" pitchFamily="18" charset="0"/>
              </a:rPr>
              <a:t>DIRECT CACHE MAPPING</a:t>
            </a:r>
            <a:endParaRPr spc="-220" dirty="0">
              <a:latin typeface="Rockwell" panose="02060603020205020403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D79F0AA-F614-4A41-9F74-E754447DF5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207" y="3317572"/>
            <a:ext cx="11663837" cy="50783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endParaRPr lang="en-GB" altLang="en-US" sz="2700" b="1" dirty="0">
              <a:solidFill>
                <a:srgbClr val="7A0000"/>
              </a:solidFill>
              <a:latin typeface="Rockwell" panose="020606030202050204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6D7E58-A07B-4C43-A1D6-36CA626068DE}"/>
              </a:ext>
            </a:extLst>
          </p:cNvPr>
          <p:cNvSpPr txBox="1"/>
          <p:nvPr/>
        </p:nvSpPr>
        <p:spPr>
          <a:xfrm>
            <a:off x="458787" y="1066800"/>
            <a:ext cx="48006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Rockwell" panose="02060603020205020403" pitchFamily="18" charset="0"/>
              </a:rPr>
              <a:t>Example 2</a:t>
            </a:r>
          </a:p>
          <a:p>
            <a:r>
              <a:rPr lang="en-US" sz="2800" b="1" dirty="0">
                <a:latin typeface="Rockwell" panose="02060603020205020403" pitchFamily="18" charset="0"/>
              </a:rPr>
              <a:t>Given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Rockwell" panose="02060603020205020403" pitchFamily="18" charset="0"/>
              </a:rPr>
              <a:t>Main Memory = 128 KB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Rockwell" panose="02060603020205020403" pitchFamily="18" charset="0"/>
              </a:rPr>
              <a:t>Cache = 4 KB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Rockwell" panose="02060603020205020403" pitchFamily="18" charset="0"/>
              </a:rPr>
              <a:t>Block = 32 B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Rockwell" panose="02060603020205020403" pitchFamily="18" charset="0"/>
            </a:endParaRPr>
          </a:p>
          <a:p>
            <a:r>
              <a:rPr lang="en-US" sz="2800" b="1" dirty="0">
                <a:latin typeface="Rockwell" panose="02060603020205020403" pitchFamily="18" charset="0"/>
              </a:rPr>
              <a:t>Find:</a:t>
            </a:r>
            <a:r>
              <a:rPr lang="en-US" sz="2800" dirty="0">
                <a:latin typeface="Rockwell" panose="02060603020205020403" pitchFamily="18" charset="0"/>
              </a:rPr>
              <a:t> 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800" b="1" dirty="0">
                <a:solidFill>
                  <a:srgbClr val="0000FF"/>
                </a:solidFill>
                <a:latin typeface="Rockwell" panose="02060603020205020403" pitchFamily="18" charset="0"/>
              </a:rPr>
              <a:t>Offset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800" b="1" dirty="0">
                <a:solidFill>
                  <a:srgbClr val="0000FF"/>
                </a:solidFill>
                <a:latin typeface="Rockwell" panose="02060603020205020403" pitchFamily="18" charset="0"/>
              </a:rPr>
              <a:t>Index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800" b="1" dirty="0">
                <a:solidFill>
                  <a:srgbClr val="0000FF"/>
                </a:solidFill>
                <a:latin typeface="Rockwell" panose="02060603020205020403" pitchFamily="18" charset="0"/>
              </a:rPr>
              <a:t>Tag bits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800" b="1" dirty="0">
                <a:solidFill>
                  <a:srgbClr val="0000FF"/>
                </a:solidFill>
                <a:latin typeface="Rockwell" panose="02060603020205020403" pitchFamily="18" charset="0"/>
              </a:rPr>
              <a:t>Tag Directory Size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679E93-6120-4308-9E0A-2529BDF41A01}"/>
              </a:ext>
            </a:extLst>
          </p:cNvPr>
          <p:cNvSpPr txBox="1"/>
          <p:nvPr/>
        </p:nvSpPr>
        <p:spPr>
          <a:xfrm>
            <a:off x="6859587" y="1066800"/>
            <a:ext cx="47244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Rockwell" panose="02060603020205020403" pitchFamily="18" charset="0"/>
              </a:rPr>
              <a:t>Example 3</a:t>
            </a:r>
          </a:p>
          <a:p>
            <a:r>
              <a:rPr lang="en-US" sz="2800" b="1" dirty="0">
                <a:latin typeface="Rockwell" panose="02060603020205020403" pitchFamily="18" charset="0"/>
              </a:rPr>
              <a:t>Given</a:t>
            </a:r>
          </a:p>
          <a:p>
            <a:r>
              <a:rPr lang="en-US" sz="2800" b="1" dirty="0">
                <a:latin typeface="Rockwell" panose="02060603020205020403" pitchFamily="18" charset="0"/>
              </a:rPr>
              <a:t>Main Memory = 1 MB</a:t>
            </a:r>
          </a:p>
          <a:p>
            <a:r>
              <a:rPr lang="en-US" sz="2800" b="1" dirty="0">
                <a:latin typeface="Rockwell" panose="02060603020205020403" pitchFamily="18" charset="0"/>
              </a:rPr>
              <a:t>Cache = 8 KB</a:t>
            </a:r>
          </a:p>
          <a:p>
            <a:r>
              <a:rPr lang="en-US" sz="2800" b="1" dirty="0">
                <a:latin typeface="Rockwell" panose="02060603020205020403" pitchFamily="18" charset="0"/>
              </a:rPr>
              <a:t>Block = 64 B</a:t>
            </a:r>
          </a:p>
          <a:p>
            <a:endParaRPr lang="en-US" sz="2800" dirty="0">
              <a:latin typeface="Rockwell" panose="02060603020205020403" pitchFamily="18" charset="0"/>
            </a:endParaRPr>
          </a:p>
          <a:p>
            <a:r>
              <a:rPr lang="en-US" sz="2800" b="1" dirty="0">
                <a:solidFill>
                  <a:srgbClr val="0000FF"/>
                </a:solidFill>
                <a:latin typeface="Rockwell" panose="02060603020205020403" pitchFamily="18" charset="0"/>
              </a:rPr>
              <a:t>Find: 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800" b="1" dirty="0">
                <a:solidFill>
                  <a:srgbClr val="0000FF"/>
                </a:solidFill>
                <a:latin typeface="Rockwell" panose="02060603020205020403" pitchFamily="18" charset="0"/>
              </a:rPr>
              <a:t>Offset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800" b="1" dirty="0">
                <a:solidFill>
                  <a:srgbClr val="0000FF"/>
                </a:solidFill>
                <a:latin typeface="Rockwell" panose="02060603020205020403" pitchFamily="18" charset="0"/>
              </a:rPr>
              <a:t>Index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800" b="1" dirty="0">
                <a:solidFill>
                  <a:srgbClr val="0000FF"/>
                </a:solidFill>
                <a:latin typeface="Rockwell" panose="02060603020205020403" pitchFamily="18" charset="0"/>
              </a:rPr>
              <a:t>Tag bits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800" b="1" dirty="0">
                <a:solidFill>
                  <a:srgbClr val="0000FF"/>
                </a:solidFill>
                <a:latin typeface="Rockwell" panose="02060603020205020403" pitchFamily="18" charset="0"/>
              </a:rPr>
              <a:t>Tag Directory Size</a:t>
            </a:r>
          </a:p>
        </p:txBody>
      </p:sp>
    </p:spTree>
    <p:extLst>
      <p:ext uri="{BB962C8B-B14F-4D97-AF65-F5344CB8AC3E}">
        <p14:creationId xmlns:p14="http://schemas.microsoft.com/office/powerpoint/2010/main" val="4194732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91883" y="1341500"/>
            <a:ext cx="113059" cy="0"/>
          </a:xfrm>
          <a:custGeom>
            <a:avLst/>
            <a:gdLst/>
            <a:ahLst/>
            <a:cxnLst/>
            <a:rect l="l" t="t" r="r" b="b"/>
            <a:pathLst>
              <a:path w="113029">
                <a:moveTo>
                  <a:pt x="0" y="0"/>
                </a:moveTo>
                <a:lnTo>
                  <a:pt x="112712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601" y="152400"/>
            <a:ext cx="11776282" cy="572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z="3200" spc="-155" dirty="0">
                <a:latin typeface="Rockwell" panose="02060603020205020403" pitchFamily="18" charset="0"/>
              </a:rPr>
              <a:t>FULLY</a:t>
            </a:r>
            <a:r>
              <a:rPr lang="en-GB" spc="-155" dirty="0">
                <a:latin typeface="Rockwell" panose="02060603020205020403" pitchFamily="18" charset="0"/>
              </a:rPr>
              <a:t> ASSOCIATIVE CACHE MAPPING FUNCTION </a:t>
            </a:r>
            <a:endParaRPr spc="-220" dirty="0">
              <a:latin typeface="Rockwell" panose="02060603020205020403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D79F0AA-F614-4A41-9F74-E754447DF5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207" y="3317572"/>
            <a:ext cx="11663837" cy="50783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endParaRPr lang="en-GB" altLang="en-US" sz="2700" b="1" dirty="0">
              <a:solidFill>
                <a:srgbClr val="7A0000"/>
              </a:solidFill>
              <a:latin typeface="Rockwell" panose="020606030202050204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9804EA-A9E4-4F76-AF72-8B73E5AEEA97}"/>
              </a:ext>
            </a:extLst>
          </p:cNvPr>
          <p:cNvSpPr txBox="1"/>
          <p:nvPr/>
        </p:nvSpPr>
        <p:spPr>
          <a:xfrm>
            <a:off x="309563" y="838200"/>
            <a:ext cx="11565405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rgbClr val="0000FF"/>
                </a:solidFill>
                <a:latin typeface="Rockwell" panose="02060603020205020403" pitchFamily="18" charset="0"/>
              </a:rPr>
              <a:t>What are the differences between the three cache mapping functions?</a:t>
            </a:r>
          </a:p>
          <a:p>
            <a:r>
              <a:rPr lang="en-US" sz="2600" b="1" dirty="0">
                <a:solidFill>
                  <a:srgbClr val="0000FF"/>
                </a:solidFill>
                <a:latin typeface="Rockwell" panose="02060603020205020403" pitchFamily="18" charset="0"/>
              </a:rPr>
              <a:t>Direct</a:t>
            </a:r>
            <a:r>
              <a:rPr lang="en-US" sz="2600" b="1" dirty="0">
                <a:latin typeface="Rockwell" panose="02060603020205020403" pitchFamily="18" charset="0"/>
              </a:rPr>
              <a:t> = each block to exactly 1 line </a:t>
            </a:r>
          </a:p>
          <a:p>
            <a:endParaRPr lang="en-US" sz="2600" b="1" dirty="0">
              <a:latin typeface="Rockwell" panose="02060603020205020403" pitchFamily="18" charset="0"/>
            </a:endParaRPr>
          </a:p>
          <a:p>
            <a:r>
              <a:rPr lang="en-US" sz="2600" b="1" dirty="0">
                <a:latin typeface="Rockwell" panose="02060603020205020403" pitchFamily="18" charset="0"/>
              </a:rPr>
              <a:t>Formula</a:t>
            </a:r>
          </a:p>
          <a:p>
            <a:r>
              <a:rPr lang="en-US" sz="2600" dirty="0">
                <a:latin typeface="Rockwell" panose="02060603020205020403" pitchFamily="18" charset="0"/>
              </a:rPr>
              <a:t>Any memory block can be placed in any cache line.</a:t>
            </a:r>
          </a:p>
          <a:p>
            <a:endParaRPr lang="en-US" sz="2600" dirty="0">
              <a:latin typeface="Rockwell" panose="02060603020205020403" pitchFamily="18" charset="0"/>
            </a:endParaRPr>
          </a:p>
          <a:p>
            <a:r>
              <a:rPr lang="en-US" sz="2600" b="1" dirty="0">
                <a:latin typeface="Rockwell" panose="02060603020205020403" pitchFamily="18" charset="0"/>
              </a:rPr>
              <a:t>Address Format</a:t>
            </a:r>
          </a:p>
          <a:p>
            <a:endParaRPr lang="en-US" sz="2600" dirty="0">
              <a:latin typeface="Rockwell" panose="02060603020205020403" pitchFamily="18" charset="0"/>
            </a:endParaRPr>
          </a:p>
          <a:p>
            <a:r>
              <a:rPr lang="en-US" sz="2600" dirty="0">
                <a:latin typeface="Rockwell" panose="02060603020205020403" pitchFamily="18" charset="0"/>
              </a:rPr>
              <a:t>	</a:t>
            </a:r>
            <a:r>
              <a:rPr lang="en-US" sz="2600" b="1" dirty="0">
                <a:solidFill>
                  <a:srgbClr val="0000FF"/>
                </a:solidFill>
                <a:latin typeface="Rockwell" panose="02060603020205020403" pitchFamily="18" charset="0"/>
              </a:rPr>
              <a:t>Tag | Offset</a:t>
            </a:r>
            <a:r>
              <a:rPr lang="en-US" sz="2600" dirty="0">
                <a:latin typeface="Rockwell" panose="02060603020205020403" pitchFamily="18" charset="0"/>
              </a:rPr>
              <a:t>	​</a:t>
            </a:r>
          </a:p>
          <a:p>
            <a:endParaRPr lang="en-US" sz="2600" dirty="0">
              <a:latin typeface="Rockwell" panose="02060603020205020403" pitchFamily="18" charset="0"/>
            </a:endParaRPr>
          </a:p>
          <a:p>
            <a:r>
              <a:rPr lang="en-US" sz="2600" b="1" dirty="0">
                <a:solidFill>
                  <a:srgbClr val="0000FF"/>
                </a:solidFill>
                <a:latin typeface="Rockwell" panose="02060603020205020403" pitchFamily="18" charset="0"/>
              </a:rPr>
              <a:t>There is No index field</a:t>
            </a:r>
          </a:p>
        </p:txBody>
      </p:sp>
    </p:spTree>
    <p:extLst>
      <p:ext uri="{BB962C8B-B14F-4D97-AF65-F5344CB8AC3E}">
        <p14:creationId xmlns:p14="http://schemas.microsoft.com/office/powerpoint/2010/main" val="1585354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91883" y="1341500"/>
            <a:ext cx="113059" cy="0"/>
          </a:xfrm>
          <a:custGeom>
            <a:avLst/>
            <a:gdLst/>
            <a:ahLst/>
            <a:cxnLst/>
            <a:rect l="l" t="t" r="r" b="b"/>
            <a:pathLst>
              <a:path w="113029">
                <a:moveTo>
                  <a:pt x="0" y="0"/>
                </a:moveTo>
                <a:lnTo>
                  <a:pt x="112712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601" y="152400"/>
            <a:ext cx="11776282" cy="572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pc="-155" dirty="0">
                <a:latin typeface="Rockwell" panose="02060603020205020403" pitchFamily="18" charset="0"/>
              </a:rPr>
              <a:t>FULLY ASSOCIATIVE MAPPING </a:t>
            </a:r>
            <a:endParaRPr spc="-220" dirty="0">
              <a:latin typeface="Rockwell" panose="020606030202050204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9804EA-A9E4-4F76-AF72-8B73E5AEEA97}"/>
              </a:ext>
            </a:extLst>
          </p:cNvPr>
          <p:cNvSpPr txBox="1"/>
          <p:nvPr/>
        </p:nvSpPr>
        <p:spPr>
          <a:xfrm>
            <a:off x="437966" y="1066800"/>
            <a:ext cx="4592821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latin typeface="Rockwell" panose="02060603020205020403" pitchFamily="18" charset="0"/>
              </a:rPr>
              <a:t>Example 1</a:t>
            </a:r>
          </a:p>
          <a:p>
            <a:r>
              <a:rPr lang="en-US" sz="2600" b="1" dirty="0">
                <a:solidFill>
                  <a:srgbClr val="0000FF"/>
                </a:solidFill>
                <a:latin typeface="Rockwell" panose="02060603020205020403" pitchFamily="18" charset="0"/>
              </a:rPr>
              <a:t>Given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600" b="1" dirty="0">
                <a:latin typeface="Rockwell" panose="02060603020205020403" pitchFamily="18" charset="0"/>
              </a:rPr>
              <a:t>Main Memory = 64 KB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600" b="1" dirty="0">
                <a:latin typeface="Rockwell" panose="02060603020205020403" pitchFamily="18" charset="0"/>
              </a:rPr>
              <a:t>Cache size = 1 KB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600" b="1" dirty="0">
                <a:latin typeface="Rockwell" panose="02060603020205020403" pitchFamily="18" charset="0"/>
              </a:rPr>
              <a:t>Block size/line size = 16 B</a:t>
            </a:r>
          </a:p>
          <a:p>
            <a:endParaRPr lang="en-US" sz="2600" b="1" dirty="0">
              <a:solidFill>
                <a:srgbClr val="0000FF"/>
              </a:solidFill>
              <a:latin typeface="Rockwell" panose="02060603020205020403" pitchFamily="18" charset="0"/>
            </a:endParaRPr>
          </a:p>
          <a:p>
            <a:r>
              <a:rPr lang="en-US" sz="2600" b="1" dirty="0">
                <a:latin typeface="Rockwell" panose="02060603020205020403" pitchFamily="18" charset="0"/>
              </a:rPr>
              <a:t>Address Bits</a:t>
            </a:r>
          </a:p>
          <a:p>
            <a:r>
              <a:rPr lang="en-US" sz="2600" dirty="0">
                <a:latin typeface="Rockwell" panose="02060603020205020403" pitchFamily="18" charset="0"/>
              </a:rPr>
              <a:t>	</a:t>
            </a:r>
            <a:r>
              <a:rPr lang="en-US" sz="2600" b="1" dirty="0">
                <a:latin typeface="Rockwell" panose="02060603020205020403" pitchFamily="18" charset="0"/>
              </a:rPr>
              <a:t>64KB = 2</a:t>
            </a:r>
            <a:r>
              <a:rPr lang="en-US" sz="2600" b="1" baseline="30000" dirty="0">
                <a:latin typeface="Rockwell" panose="02060603020205020403" pitchFamily="18" charset="0"/>
              </a:rPr>
              <a:t>16</a:t>
            </a:r>
            <a:endParaRPr lang="en-US" sz="2600" b="1" dirty="0">
              <a:latin typeface="Rockwell" panose="02060603020205020403" pitchFamily="18" charset="0"/>
            </a:endParaRPr>
          </a:p>
          <a:p>
            <a:r>
              <a:rPr lang="en-US" sz="2600" dirty="0">
                <a:latin typeface="Rockwell" panose="02060603020205020403" pitchFamily="18" charset="0"/>
              </a:rPr>
              <a:t>	</a:t>
            </a:r>
            <a:r>
              <a:rPr lang="en-US" sz="2600" b="1" dirty="0">
                <a:solidFill>
                  <a:srgbClr val="0000FF"/>
                </a:solidFill>
                <a:latin typeface="Rockwell" panose="02060603020205020403" pitchFamily="18" charset="0"/>
              </a:rPr>
              <a:t>Address = 16 bits</a:t>
            </a:r>
          </a:p>
          <a:p>
            <a:endParaRPr lang="en-US" sz="2600" b="1" dirty="0">
              <a:solidFill>
                <a:srgbClr val="0000FF"/>
              </a:solidFill>
              <a:latin typeface="Rockwell" panose="02060603020205020403" pitchFamily="18" charset="0"/>
            </a:endParaRPr>
          </a:p>
          <a:p>
            <a:endParaRPr lang="en-US" sz="2600" b="1" dirty="0">
              <a:solidFill>
                <a:srgbClr val="0000FF"/>
              </a:solidFill>
              <a:latin typeface="Rockwell" panose="02060603020205020403" pitchFamily="18" charset="0"/>
            </a:endParaRPr>
          </a:p>
          <a:p>
            <a:endParaRPr lang="en-US" sz="2600" b="1" dirty="0">
              <a:solidFill>
                <a:srgbClr val="0000FF"/>
              </a:solidFill>
              <a:latin typeface="Rockwell" panose="02060603020205020403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1E6A12-206A-4801-93AA-4F796B696EAF}"/>
              </a:ext>
            </a:extLst>
          </p:cNvPr>
          <p:cNvSpPr txBox="1"/>
          <p:nvPr/>
        </p:nvSpPr>
        <p:spPr>
          <a:xfrm>
            <a:off x="5564187" y="685800"/>
            <a:ext cx="5715000" cy="489364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400" b="1" dirty="0">
                <a:latin typeface="Rockwell" panose="02060603020205020403" pitchFamily="18" charset="0"/>
              </a:rPr>
              <a:t>Find Offset bit</a:t>
            </a:r>
          </a:p>
          <a:p>
            <a:r>
              <a:rPr lang="en-US" sz="2400" b="1" dirty="0">
                <a:latin typeface="Rockwell" panose="02060603020205020403" pitchFamily="18" charset="0"/>
              </a:rPr>
              <a:t>16B = 2</a:t>
            </a:r>
            <a:r>
              <a:rPr lang="en-US" sz="2400" b="1" baseline="30000" dirty="0">
                <a:latin typeface="Rockwell" panose="02060603020205020403" pitchFamily="18" charset="0"/>
              </a:rPr>
              <a:t>4</a:t>
            </a:r>
          </a:p>
          <a:p>
            <a:r>
              <a:rPr lang="en-US" sz="2400" b="1" dirty="0">
                <a:solidFill>
                  <a:srgbClr val="0000FF"/>
                </a:solidFill>
                <a:latin typeface="Rockwell" panose="02060603020205020403" pitchFamily="18" charset="0"/>
              </a:rPr>
              <a:t>Offset</a:t>
            </a:r>
            <a:r>
              <a:rPr lang="en-US" sz="2400" dirty="0">
                <a:latin typeface="Rockwell" panose="02060603020205020403" pitchFamily="18" charset="0"/>
              </a:rPr>
              <a:t> </a:t>
            </a:r>
            <a:r>
              <a:rPr lang="en-US" sz="2400" b="1" dirty="0">
                <a:latin typeface="Rockwell" panose="02060603020205020403" pitchFamily="18" charset="0"/>
              </a:rPr>
              <a:t>= 4 bits</a:t>
            </a:r>
          </a:p>
          <a:p>
            <a:endParaRPr lang="en-US" sz="2400" dirty="0">
              <a:latin typeface="Rockwell" panose="02060603020205020403" pitchFamily="18" charset="0"/>
            </a:endParaRPr>
          </a:p>
          <a:p>
            <a:r>
              <a:rPr lang="en-US" sz="2400" b="1" dirty="0">
                <a:solidFill>
                  <a:srgbClr val="0000FF"/>
                </a:solidFill>
                <a:latin typeface="Rockwell" panose="02060603020205020403" pitchFamily="18" charset="0"/>
              </a:rPr>
              <a:t>Tag</a:t>
            </a:r>
          </a:p>
          <a:p>
            <a:r>
              <a:rPr lang="en-US" sz="2400" b="1" dirty="0">
                <a:solidFill>
                  <a:srgbClr val="0000FF"/>
                </a:solidFill>
                <a:latin typeface="Rockwell" panose="02060603020205020403" pitchFamily="18" charset="0"/>
              </a:rPr>
              <a:t>16−4 </a:t>
            </a:r>
            <a:r>
              <a:rPr lang="en-US" sz="2400" b="1" dirty="0">
                <a:latin typeface="Rockwell" panose="02060603020205020403" pitchFamily="18" charset="0"/>
              </a:rPr>
              <a:t>= 12 bits</a:t>
            </a:r>
          </a:p>
          <a:p>
            <a:endParaRPr lang="en-US" sz="2400" dirty="0">
              <a:solidFill>
                <a:srgbClr val="0000FF"/>
              </a:solidFill>
              <a:latin typeface="Rockwell" panose="02060603020205020403" pitchFamily="18" charset="0"/>
            </a:endParaRPr>
          </a:p>
          <a:p>
            <a:r>
              <a:rPr lang="en-US" sz="2400" b="1" dirty="0">
                <a:solidFill>
                  <a:srgbClr val="0000FF"/>
                </a:solidFill>
                <a:latin typeface="Rockwell" panose="02060603020205020403" pitchFamily="18" charset="0"/>
              </a:rPr>
              <a:t>Cache Lines </a:t>
            </a:r>
          </a:p>
          <a:p>
            <a:r>
              <a:rPr lang="en-US" sz="2400" dirty="0">
                <a:latin typeface="Rockwell" panose="02060603020205020403" pitchFamily="18" charset="0"/>
              </a:rPr>
              <a:t>	</a:t>
            </a:r>
            <a:r>
              <a:rPr lang="en-US" sz="2400" b="1" dirty="0">
                <a:latin typeface="Rockwell" panose="02060603020205020403" pitchFamily="18" charset="0"/>
              </a:rPr>
              <a:t>1024/16​ = 64 lines</a:t>
            </a:r>
          </a:p>
          <a:p>
            <a:endParaRPr lang="en-US" sz="2400" dirty="0">
              <a:latin typeface="Rockwell" panose="02060603020205020403" pitchFamily="18" charset="0"/>
            </a:endParaRPr>
          </a:p>
          <a:p>
            <a:r>
              <a:rPr lang="en-US" sz="2400" b="1" dirty="0">
                <a:solidFill>
                  <a:srgbClr val="0000FF"/>
                </a:solidFill>
                <a:latin typeface="Rockwell" panose="02060603020205020403" pitchFamily="18" charset="0"/>
              </a:rPr>
              <a:t>Tag Directory</a:t>
            </a:r>
          </a:p>
          <a:p>
            <a:r>
              <a:rPr lang="en-US" sz="2400" b="1" dirty="0">
                <a:latin typeface="Rockwell" panose="02060603020205020403" pitchFamily="18" charset="0"/>
              </a:rPr>
              <a:t>64 × 12  </a:t>
            </a:r>
            <a:r>
              <a:rPr lang="en-US" sz="2400" dirty="0">
                <a:latin typeface="Rockwell" panose="02060603020205020403" pitchFamily="18" charset="0"/>
              </a:rPr>
              <a:t>= </a:t>
            </a:r>
            <a:r>
              <a:rPr lang="en-US" sz="2400" b="1" dirty="0">
                <a:latin typeface="Rockwell" panose="02060603020205020403" pitchFamily="18" charset="0"/>
              </a:rPr>
              <a:t>768 bits</a:t>
            </a:r>
          </a:p>
          <a:p>
            <a:r>
              <a:rPr lang="en-US" sz="2400" dirty="0">
                <a:latin typeface="Rockwell" panose="02060603020205020403" pitchFamily="18" charset="0"/>
              </a:rPr>
              <a:t>	    </a:t>
            </a:r>
            <a:r>
              <a:rPr lang="en-US" sz="2400" b="1" dirty="0">
                <a:latin typeface="Rockwell" panose="02060603020205020403" pitchFamily="18" charset="0"/>
              </a:rPr>
              <a:t>=  96 bytes</a:t>
            </a:r>
          </a:p>
        </p:txBody>
      </p:sp>
    </p:spTree>
    <p:extLst>
      <p:ext uri="{BB962C8B-B14F-4D97-AF65-F5344CB8AC3E}">
        <p14:creationId xmlns:p14="http://schemas.microsoft.com/office/powerpoint/2010/main" val="566995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91883" y="1341500"/>
            <a:ext cx="113059" cy="0"/>
          </a:xfrm>
          <a:custGeom>
            <a:avLst/>
            <a:gdLst/>
            <a:ahLst/>
            <a:cxnLst/>
            <a:rect l="l" t="t" r="r" b="b"/>
            <a:pathLst>
              <a:path w="113029">
                <a:moveTo>
                  <a:pt x="0" y="0"/>
                </a:moveTo>
                <a:lnTo>
                  <a:pt x="112712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601" y="152400"/>
            <a:ext cx="11776282" cy="572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pc="-155" dirty="0">
                <a:latin typeface="Rockwell" panose="02060603020205020403" pitchFamily="18" charset="0"/>
              </a:rPr>
              <a:t>FULLY ASSOCIATIVE MAPPING </a:t>
            </a:r>
            <a:endParaRPr spc="-220" dirty="0">
              <a:latin typeface="Rockwell" panose="020606030202050204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9804EA-A9E4-4F76-AF72-8B73E5AEEA97}"/>
              </a:ext>
            </a:extLst>
          </p:cNvPr>
          <p:cNvSpPr txBox="1"/>
          <p:nvPr/>
        </p:nvSpPr>
        <p:spPr>
          <a:xfrm>
            <a:off x="437966" y="1066800"/>
            <a:ext cx="4592821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Rockwell" panose="02060603020205020403" pitchFamily="18" charset="0"/>
              </a:rPr>
              <a:t>Example 2</a:t>
            </a:r>
          </a:p>
          <a:p>
            <a:r>
              <a:rPr lang="en-US" sz="2400" b="1" dirty="0">
                <a:latin typeface="Rockwell" panose="02060603020205020403" pitchFamily="18" charset="0"/>
              </a:rPr>
              <a:t>Given</a:t>
            </a:r>
          </a:p>
          <a:p>
            <a:r>
              <a:rPr lang="en-US" sz="2400" b="1" dirty="0">
                <a:latin typeface="Rockwell" panose="02060603020205020403" pitchFamily="18" charset="0"/>
              </a:rPr>
              <a:t>Main Memory = 256 KB</a:t>
            </a:r>
          </a:p>
          <a:p>
            <a:r>
              <a:rPr lang="en-US" sz="2400" b="1" dirty="0">
                <a:latin typeface="Rockwell" panose="02060603020205020403" pitchFamily="18" charset="0"/>
              </a:rPr>
              <a:t>Cache = 4 KB</a:t>
            </a:r>
          </a:p>
          <a:p>
            <a:r>
              <a:rPr lang="en-US" sz="2400" b="1" dirty="0">
                <a:latin typeface="Rockwell" panose="02060603020205020403" pitchFamily="18" charset="0"/>
              </a:rPr>
              <a:t>Block = 32 B</a:t>
            </a:r>
            <a:endParaRPr lang="en-US" sz="2400" b="1" dirty="0">
              <a:solidFill>
                <a:srgbClr val="0000FF"/>
              </a:solidFill>
              <a:latin typeface="Rockwell" panose="02060603020205020403" pitchFamily="18" charset="0"/>
            </a:endParaRPr>
          </a:p>
          <a:p>
            <a:endParaRPr lang="en-US" sz="2400" b="1" dirty="0">
              <a:solidFill>
                <a:srgbClr val="0000FF"/>
              </a:solidFill>
              <a:latin typeface="Rockwell" panose="02060603020205020403" pitchFamily="18" charset="0"/>
            </a:endParaRPr>
          </a:p>
          <a:p>
            <a:r>
              <a:rPr lang="en-US" sz="2400" b="1" dirty="0">
                <a:solidFill>
                  <a:srgbClr val="0000FF"/>
                </a:solidFill>
                <a:latin typeface="Rockwell" panose="02060603020205020403" pitchFamily="18" charset="0"/>
              </a:rPr>
              <a:t>Find 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400" b="1" dirty="0">
                <a:solidFill>
                  <a:srgbClr val="0000FF"/>
                </a:solidFill>
                <a:latin typeface="Rockwell" panose="02060603020205020403" pitchFamily="18" charset="0"/>
              </a:rPr>
              <a:t>Offset bits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400" b="1" dirty="0">
                <a:solidFill>
                  <a:srgbClr val="0000FF"/>
                </a:solidFill>
                <a:latin typeface="Rockwell" panose="02060603020205020403" pitchFamily="18" charset="0"/>
              </a:rPr>
              <a:t>Tag bits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400" b="1" dirty="0">
                <a:solidFill>
                  <a:srgbClr val="0000FF"/>
                </a:solidFill>
                <a:latin typeface="Rockwell" panose="02060603020205020403" pitchFamily="18" charset="0"/>
              </a:rPr>
              <a:t>Total Cache lines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400" b="1" dirty="0">
                <a:solidFill>
                  <a:srgbClr val="0000FF"/>
                </a:solidFill>
                <a:latin typeface="Rockwell" panose="02060603020205020403" pitchFamily="18" charset="0"/>
              </a:rPr>
              <a:t>Tag Directory Size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1E6A12-206A-4801-93AA-4F796B696EAF}"/>
              </a:ext>
            </a:extLst>
          </p:cNvPr>
          <p:cNvSpPr txBox="1"/>
          <p:nvPr/>
        </p:nvSpPr>
        <p:spPr>
          <a:xfrm>
            <a:off x="7011987" y="1012954"/>
            <a:ext cx="4800600" cy="415498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400" b="1" dirty="0">
                <a:latin typeface="Rockwell" panose="02060603020205020403" pitchFamily="18" charset="0"/>
              </a:rPr>
              <a:t>Example 3</a:t>
            </a:r>
          </a:p>
          <a:p>
            <a:r>
              <a:rPr lang="en-US" sz="2400" b="1" dirty="0">
                <a:latin typeface="Rockwell" panose="02060603020205020403" pitchFamily="18" charset="0"/>
              </a:rPr>
              <a:t>Given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Rockwell" panose="02060603020205020403" pitchFamily="18" charset="0"/>
              </a:rPr>
              <a:t>Main Memory = 2 MB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Rockwell" panose="02060603020205020403" pitchFamily="18" charset="0"/>
              </a:rPr>
              <a:t>Cache = 16 KB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Rockwell" panose="02060603020205020403" pitchFamily="18" charset="0"/>
              </a:rPr>
              <a:t>Block = 64 B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latin typeface="Rockwell" panose="02060603020205020403" pitchFamily="18" charset="0"/>
            </a:endParaRPr>
          </a:p>
          <a:p>
            <a:r>
              <a:rPr lang="en-US" sz="2400" b="1" dirty="0">
                <a:solidFill>
                  <a:srgbClr val="0000FF"/>
                </a:solidFill>
                <a:latin typeface="Rockwell" panose="02060603020205020403" pitchFamily="18" charset="0"/>
              </a:rPr>
              <a:t>Find 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400" b="1" dirty="0">
                <a:solidFill>
                  <a:srgbClr val="0000FF"/>
                </a:solidFill>
                <a:latin typeface="Rockwell" panose="02060603020205020403" pitchFamily="18" charset="0"/>
              </a:rPr>
              <a:t>Offset bits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400" b="1" dirty="0">
                <a:solidFill>
                  <a:srgbClr val="0000FF"/>
                </a:solidFill>
                <a:latin typeface="Rockwell" panose="02060603020205020403" pitchFamily="18" charset="0"/>
              </a:rPr>
              <a:t>Tag bits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400" b="1" dirty="0">
                <a:solidFill>
                  <a:srgbClr val="0000FF"/>
                </a:solidFill>
                <a:latin typeface="Rockwell" panose="02060603020205020403" pitchFamily="18" charset="0"/>
              </a:rPr>
              <a:t>Total Cache lines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400" b="1" dirty="0">
                <a:solidFill>
                  <a:srgbClr val="0000FF"/>
                </a:solidFill>
                <a:latin typeface="Rockwell" panose="02060603020205020403" pitchFamily="18" charset="0"/>
              </a:rPr>
              <a:t>Tag Directory Size</a:t>
            </a:r>
            <a:endParaRPr lang="en-US" sz="2400" dirty="0"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1893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91883" y="1341500"/>
            <a:ext cx="113059" cy="0"/>
          </a:xfrm>
          <a:custGeom>
            <a:avLst/>
            <a:gdLst/>
            <a:ahLst/>
            <a:cxnLst/>
            <a:rect l="l" t="t" r="r" b="b"/>
            <a:pathLst>
              <a:path w="113029">
                <a:moveTo>
                  <a:pt x="0" y="0"/>
                </a:moveTo>
                <a:lnTo>
                  <a:pt x="112712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601" y="93591"/>
            <a:ext cx="11776282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z="4400" spc="-155" dirty="0">
                <a:latin typeface="Rockwell" panose="02060603020205020403" pitchFamily="18" charset="0"/>
              </a:rPr>
              <a:t>SET ASSOCIATIVE MAPPING </a:t>
            </a:r>
            <a:endParaRPr sz="4400" spc="-220" dirty="0">
              <a:latin typeface="Rockwell" panose="020606030202050204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9804EA-A9E4-4F76-AF72-8B73E5AEEA97}"/>
              </a:ext>
            </a:extLst>
          </p:cNvPr>
          <p:cNvSpPr txBox="1"/>
          <p:nvPr/>
        </p:nvSpPr>
        <p:spPr>
          <a:xfrm>
            <a:off x="458787" y="1066800"/>
            <a:ext cx="113538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Rockwell" panose="02060603020205020403" pitchFamily="18" charset="0"/>
              </a:rPr>
              <a:t>Formula</a:t>
            </a:r>
          </a:p>
          <a:p>
            <a:r>
              <a:rPr lang="en-US" sz="2800" dirty="0">
                <a:latin typeface="Rockwell" panose="02060603020205020403" pitchFamily="18" charset="0"/>
              </a:rPr>
              <a:t>For an </a:t>
            </a:r>
            <a:r>
              <a:rPr lang="en-US" sz="2800" b="1" dirty="0">
                <a:latin typeface="Rockwell" panose="02060603020205020403" pitchFamily="18" charset="0"/>
              </a:rPr>
              <a:t>n-way set associative cache</a:t>
            </a:r>
            <a:r>
              <a:rPr lang="en-US" sz="2800" dirty="0">
                <a:latin typeface="Rockwell" panose="02060603020205020403" pitchFamily="18" charset="0"/>
              </a:rPr>
              <a:t>: (8-way set associative)</a:t>
            </a:r>
          </a:p>
          <a:p>
            <a:endParaRPr lang="en-US" sz="2800" dirty="0">
              <a:latin typeface="Rockwell" panose="02060603020205020403" pitchFamily="18" charset="0"/>
            </a:endParaRPr>
          </a:p>
          <a:p>
            <a:r>
              <a:rPr lang="en-US" sz="2800" dirty="0">
                <a:latin typeface="Rockwell" panose="02060603020205020403" pitchFamily="18" charset="0"/>
              </a:rPr>
              <a:t>	</a:t>
            </a:r>
            <a:r>
              <a:rPr lang="en-US" sz="2800" b="1" dirty="0">
                <a:latin typeface="Rockwell" panose="02060603020205020403" pitchFamily="18" charset="0"/>
              </a:rPr>
              <a:t>Number of Sets </a:t>
            </a:r>
            <a:r>
              <a:rPr lang="en-US" sz="2800" dirty="0">
                <a:latin typeface="Rockwell" panose="02060603020205020403" pitchFamily="18" charset="0"/>
              </a:rPr>
              <a:t>= </a:t>
            </a:r>
            <a:r>
              <a:rPr lang="en-US" sz="2800" b="1" dirty="0">
                <a:latin typeface="Rockwell" panose="02060603020205020403" pitchFamily="18" charset="0"/>
              </a:rPr>
              <a:t>Cache Lines </a:t>
            </a:r>
            <a:r>
              <a:rPr lang="en-US" sz="2800" dirty="0">
                <a:latin typeface="Rockwell" panose="02060603020205020403" pitchFamily="18" charset="0"/>
              </a:rPr>
              <a:t>/ </a:t>
            </a:r>
            <a:r>
              <a:rPr lang="en-US" sz="2800" b="1" dirty="0">
                <a:latin typeface="Rockwell" panose="02060603020205020403" pitchFamily="18" charset="0"/>
              </a:rPr>
              <a:t>n </a:t>
            </a:r>
          </a:p>
          <a:p>
            <a:endParaRPr lang="en-US" sz="2800" b="1" dirty="0">
              <a:latin typeface="Rockwell" panose="02060603020205020403" pitchFamily="18" charset="0"/>
            </a:endParaRPr>
          </a:p>
          <a:p>
            <a:r>
              <a:rPr lang="en-US" sz="2800" b="1" dirty="0">
                <a:latin typeface="Rockwell" panose="02060603020205020403" pitchFamily="18" charset="0"/>
              </a:rPr>
              <a:t>Address Format</a:t>
            </a:r>
          </a:p>
          <a:p>
            <a:endParaRPr lang="en-US" sz="2800" dirty="0">
              <a:latin typeface="Rockwell" panose="02060603020205020403" pitchFamily="18" charset="0"/>
            </a:endParaRPr>
          </a:p>
          <a:p>
            <a:r>
              <a:rPr lang="en-US" sz="2800" dirty="0">
                <a:latin typeface="Rockwell" panose="02060603020205020403" pitchFamily="18" charset="0"/>
              </a:rPr>
              <a:t>	</a:t>
            </a:r>
            <a:r>
              <a:rPr lang="en-US" sz="3600" b="1" dirty="0">
                <a:solidFill>
                  <a:srgbClr val="0000FF"/>
                </a:solidFill>
                <a:latin typeface="Rockwell" panose="02060603020205020403" pitchFamily="18" charset="0"/>
              </a:rPr>
              <a:t>Tag | Set Index | Offset</a:t>
            </a:r>
            <a:endParaRPr lang="en-US" sz="2800" b="1" dirty="0">
              <a:solidFill>
                <a:srgbClr val="0000FF"/>
              </a:solidFill>
              <a:latin typeface="Rockwell" panose="02060603020205020403" pitchFamily="18" charset="0"/>
            </a:endParaRPr>
          </a:p>
          <a:p>
            <a:endParaRPr lang="en-US" sz="2800" dirty="0">
              <a:latin typeface="Rockwell" panose="02060603020205020403" pitchFamily="18" charset="0"/>
            </a:endParaRPr>
          </a:p>
          <a:p>
            <a:r>
              <a:rPr lang="en-US" sz="2800" dirty="0">
                <a:latin typeface="Rockwell" panose="02060603020205020403" pitchFamily="18" charset="0"/>
              </a:rPr>
              <a:t>​</a:t>
            </a:r>
            <a:endParaRPr lang="en-US" sz="2800" b="1" dirty="0">
              <a:solidFill>
                <a:srgbClr val="0000FF"/>
              </a:solidFill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15195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91883" y="1341500"/>
            <a:ext cx="113059" cy="0"/>
          </a:xfrm>
          <a:custGeom>
            <a:avLst/>
            <a:gdLst/>
            <a:ahLst/>
            <a:cxnLst/>
            <a:rect l="l" t="t" r="r" b="b"/>
            <a:pathLst>
              <a:path w="113029">
                <a:moveTo>
                  <a:pt x="0" y="0"/>
                </a:moveTo>
                <a:lnTo>
                  <a:pt x="112712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601" y="152400"/>
            <a:ext cx="11776282" cy="572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pc="-155" dirty="0">
                <a:latin typeface="Rockwell" panose="02060603020205020403" pitchFamily="18" charset="0"/>
              </a:rPr>
              <a:t>SET ASSOCIATIVE MAPPING </a:t>
            </a:r>
            <a:endParaRPr spc="-220" dirty="0">
              <a:latin typeface="Rockwell" panose="020606030202050204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9804EA-A9E4-4F76-AF72-8B73E5AEEA97}"/>
              </a:ext>
            </a:extLst>
          </p:cNvPr>
          <p:cNvSpPr txBox="1"/>
          <p:nvPr/>
        </p:nvSpPr>
        <p:spPr>
          <a:xfrm>
            <a:off x="437966" y="1066800"/>
            <a:ext cx="6193021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Rockwell" panose="02060603020205020403" pitchFamily="18" charset="0"/>
              </a:rPr>
              <a:t>Example 1 (2-Way Set Associative)</a:t>
            </a:r>
          </a:p>
          <a:p>
            <a:r>
              <a:rPr lang="en-US" sz="2800" b="1" dirty="0">
                <a:latin typeface="Rockwell" panose="02060603020205020403" pitchFamily="18" charset="0"/>
              </a:rPr>
              <a:t>Given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800" b="1" dirty="0">
                <a:solidFill>
                  <a:srgbClr val="0000FF"/>
                </a:solidFill>
                <a:latin typeface="Rockwell" panose="02060603020205020403" pitchFamily="18" charset="0"/>
              </a:rPr>
              <a:t>Main Memory = 64 KB 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800" b="1" dirty="0">
                <a:solidFill>
                  <a:srgbClr val="0000FF"/>
                </a:solidFill>
                <a:latin typeface="Rockwell" panose="02060603020205020403" pitchFamily="18" charset="0"/>
              </a:rPr>
              <a:t>Cache = 1 KB 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800" b="1" dirty="0">
                <a:solidFill>
                  <a:srgbClr val="0000FF"/>
                </a:solidFill>
                <a:latin typeface="Rockwell" panose="02060603020205020403" pitchFamily="18" charset="0"/>
              </a:rPr>
              <a:t>Block size = 16 B 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800" b="1" dirty="0">
                <a:solidFill>
                  <a:srgbClr val="0000FF"/>
                </a:solidFill>
                <a:latin typeface="Rockwell" panose="02060603020205020403" pitchFamily="18" charset="0"/>
              </a:rPr>
              <a:t>2-Way Set Associative</a:t>
            </a:r>
          </a:p>
          <a:p>
            <a:pPr marL="571500" indent="-571500">
              <a:buFont typeface="+mj-lt"/>
              <a:buAutoNum type="romanLcPeriod"/>
            </a:pPr>
            <a:endParaRPr lang="en-US" sz="2800" b="1" dirty="0">
              <a:solidFill>
                <a:srgbClr val="0000FF"/>
              </a:solidFill>
              <a:latin typeface="Rockwell" panose="02060603020205020403" pitchFamily="18" charset="0"/>
            </a:endParaRPr>
          </a:p>
          <a:p>
            <a:r>
              <a:rPr lang="en-US" sz="2800" b="1" dirty="0">
                <a:solidFill>
                  <a:srgbClr val="0000FF"/>
                </a:solidFill>
                <a:latin typeface="Rockwell" panose="02060603020205020403" pitchFamily="18" charset="0"/>
              </a:rPr>
              <a:t>Tag Bit = 16 – 5 – 4 = 7 bits</a:t>
            </a:r>
          </a:p>
          <a:p>
            <a:endParaRPr lang="en-US" sz="2800" b="1" dirty="0">
              <a:solidFill>
                <a:srgbClr val="0000FF"/>
              </a:solidFill>
              <a:latin typeface="Rockwell" panose="02060603020205020403" pitchFamily="18" charset="0"/>
            </a:endParaRPr>
          </a:p>
          <a:p>
            <a:r>
              <a:rPr lang="en-US" sz="2800" b="1" dirty="0">
                <a:solidFill>
                  <a:srgbClr val="0000FF"/>
                </a:solidFill>
                <a:latin typeface="Rockwell" panose="02060603020205020403" pitchFamily="18" charset="0"/>
              </a:rPr>
              <a:t>Tag Directory = 7 x 64 = 448 bits </a:t>
            </a:r>
          </a:p>
          <a:p>
            <a:r>
              <a:rPr lang="en-US" sz="2800" b="1" dirty="0">
                <a:solidFill>
                  <a:srgbClr val="0000FF"/>
                </a:solidFill>
                <a:latin typeface="Rockwell" panose="02060603020205020403" pitchFamily="18" charset="0"/>
              </a:rPr>
              <a:t>				   = 56bytes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1E6A12-206A-4801-93AA-4F796B696EAF}"/>
              </a:ext>
            </a:extLst>
          </p:cNvPr>
          <p:cNvSpPr txBox="1"/>
          <p:nvPr/>
        </p:nvSpPr>
        <p:spPr>
          <a:xfrm>
            <a:off x="6696034" y="782121"/>
            <a:ext cx="5181600" cy="529375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rgbClr val="0000FF"/>
                </a:solidFill>
                <a:latin typeface="Rockwell" panose="02060603020205020403" pitchFamily="18" charset="0"/>
              </a:rPr>
              <a:t>Address Bits </a:t>
            </a:r>
          </a:p>
          <a:p>
            <a:r>
              <a:rPr lang="en-US" sz="2600" dirty="0">
                <a:latin typeface="Rockwell" panose="02060603020205020403" pitchFamily="18" charset="0"/>
              </a:rPr>
              <a:t>64KB = 2</a:t>
            </a:r>
            <a:r>
              <a:rPr lang="en-US" sz="2600" baseline="30000" dirty="0">
                <a:latin typeface="Rockwell" panose="02060603020205020403" pitchFamily="18" charset="0"/>
              </a:rPr>
              <a:t>6</a:t>
            </a:r>
            <a:r>
              <a:rPr lang="en-US" sz="2600" dirty="0">
                <a:latin typeface="Rockwell" panose="02060603020205020403" pitchFamily="18" charset="0"/>
              </a:rPr>
              <a:t> X 2</a:t>
            </a:r>
            <a:r>
              <a:rPr lang="en-US" sz="2600" baseline="30000" dirty="0">
                <a:latin typeface="Rockwell" panose="02060603020205020403" pitchFamily="18" charset="0"/>
              </a:rPr>
              <a:t>10</a:t>
            </a:r>
            <a:r>
              <a:rPr lang="en-US" sz="2600" dirty="0">
                <a:latin typeface="Rockwell" panose="02060603020205020403" pitchFamily="18" charset="0"/>
              </a:rPr>
              <a:t> = </a:t>
            </a:r>
            <a:r>
              <a:rPr lang="en-US" sz="2600" b="1" dirty="0">
                <a:latin typeface="Rockwell" panose="02060603020205020403" pitchFamily="18" charset="0"/>
              </a:rPr>
              <a:t>16</a:t>
            </a:r>
          </a:p>
          <a:p>
            <a:endParaRPr lang="en-US" sz="2600" dirty="0">
              <a:latin typeface="Rockwell" panose="02060603020205020403" pitchFamily="18" charset="0"/>
            </a:endParaRPr>
          </a:p>
          <a:p>
            <a:r>
              <a:rPr lang="en-US" sz="2600" b="1" dirty="0">
                <a:latin typeface="Rockwell" panose="02060603020205020403" pitchFamily="18" charset="0"/>
              </a:rPr>
              <a:t>Offset</a:t>
            </a:r>
          </a:p>
          <a:p>
            <a:r>
              <a:rPr lang="en-US" sz="2600" dirty="0">
                <a:latin typeface="Rockwell" panose="02060603020205020403" pitchFamily="18" charset="0"/>
              </a:rPr>
              <a:t>16B = 2</a:t>
            </a:r>
            <a:r>
              <a:rPr lang="en-US" sz="2600" baseline="30000" dirty="0">
                <a:latin typeface="Rockwell" panose="02060603020205020403" pitchFamily="18" charset="0"/>
              </a:rPr>
              <a:t>4</a:t>
            </a:r>
          </a:p>
          <a:p>
            <a:r>
              <a:rPr lang="en-US" sz="2600" b="1" dirty="0">
                <a:latin typeface="Rockwell" panose="02060603020205020403" pitchFamily="18" charset="0"/>
              </a:rPr>
              <a:t>Offset = 4 bits</a:t>
            </a:r>
          </a:p>
          <a:p>
            <a:endParaRPr lang="en-US" sz="2600" dirty="0">
              <a:latin typeface="Rockwell" panose="02060603020205020403" pitchFamily="18" charset="0"/>
            </a:endParaRPr>
          </a:p>
          <a:p>
            <a:r>
              <a:rPr lang="en-US" sz="2600" b="1" dirty="0">
                <a:latin typeface="Rockwell" panose="02060603020205020403" pitchFamily="18" charset="0"/>
              </a:rPr>
              <a:t>Cache Lines</a:t>
            </a:r>
          </a:p>
          <a:p>
            <a:r>
              <a:rPr lang="en-US" sz="2600" b="1" dirty="0">
                <a:latin typeface="Rockwell" panose="02060603020205020403" pitchFamily="18" charset="0"/>
              </a:rPr>
              <a:t>1024/16 = 64</a:t>
            </a:r>
          </a:p>
          <a:p>
            <a:endParaRPr lang="en-US" sz="2600" dirty="0">
              <a:latin typeface="Rockwell" panose="02060603020205020403" pitchFamily="18" charset="0"/>
            </a:endParaRPr>
          </a:p>
          <a:p>
            <a:r>
              <a:rPr lang="en-US" sz="2600" b="1" dirty="0">
                <a:latin typeface="Rockwell" panose="02060603020205020403" pitchFamily="18" charset="0"/>
              </a:rPr>
              <a:t>Sets</a:t>
            </a:r>
          </a:p>
          <a:p>
            <a:r>
              <a:rPr lang="en-US" sz="2600" b="1" dirty="0">
                <a:latin typeface="Rockwell" panose="02060603020205020403" pitchFamily="18" charset="0"/>
              </a:rPr>
              <a:t>64/2 = 32</a:t>
            </a:r>
          </a:p>
          <a:p>
            <a:r>
              <a:rPr lang="en-US" sz="2600" b="1" dirty="0">
                <a:solidFill>
                  <a:srgbClr val="0000FF"/>
                </a:solidFill>
                <a:latin typeface="Rockwell" panose="02060603020205020403" pitchFamily="18" charset="0"/>
              </a:rPr>
              <a:t>Set Index = 5 bits</a:t>
            </a:r>
          </a:p>
        </p:txBody>
      </p:sp>
    </p:spTree>
    <p:extLst>
      <p:ext uri="{BB962C8B-B14F-4D97-AF65-F5344CB8AC3E}">
        <p14:creationId xmlns:p14="http://schemas.microsoft.com/office/powerpoint/2010/main" val="33665989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91883" y="1341500"/>
            <a:ext cx="113059" cy="0"/>
          </a:xfrm>
          <a:custGeom>
            <a:avLst/>
            <a:gdLst/>
            <a:ahLst/>
            <a:cxnLst/>
            <a:rect l="l" t="t" r="r" b="b"/>
            <a:pathLst>
              <a:path w="113029">
                <a:moveTo>
                  <a:pt x="0" y="0"/>
                </a:moveTo>
                <a:lnTo>
                  <a:pt x="112712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601" y="152400"/>
            <a:ext cx="11776282" cy="572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pc="-155" dirty="0">
                <a:latin typeface="Rockwell" panose="02060603020205020403" pitchFamily="18" charset="0"/>
              </a:rPr>
              <a:t>SET ASSOCIATIVE MAPPING </a:t>
            </a:r>
            <a:endParaRPr spc="-220" dirty="0">
              <a:latin typeface="Rockwell" panose="020606030202050204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9804EA-A9E4-4F76-AF72-8B73E5AEEA97}"/>
              </a:ext>
            </a:extLst>
          </p:cNvPr>
          <p:cNvSpPr txBox="1"/>
          <p:nvPr/>
        </p:nvSpPr>
        <p:spPr>
          <a:xfrm>
            <a:off x="437966" y="1066800"/>
            <a:ext cx="5507221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Rockwell" panose="02060603020205020403" pitchFamily="18" charset="0"/>
              </a:rPr>
              <a:t>Example 2 (4-Way Set Associative)</a:t>
            </a:r>
          </a:p>
          <a:p>
            <a:r>
              <a:rPr lang="en-US" sz="2400" b="1" dirty="0">
                <a:latin typeface="Rockwell" panose="02060603020205020403" pitchFamily="18" charset="0"/>
              </a:rPr>
              <a:t>Given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400" b="1" dirty="0">
                <a:latin typeface="Rockwell" panose="02060603020205020403" pitchFamily="18" charset="0"/>
              </a:rPr>
              <a:t>Main Memory = 512 KB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400" b="1" dirty="0">
                <a:latin typeface="Rockwell" panose="02060603020205020403" pitchFamily="18" charset="0"/>
              </a:rPr>
              <a:t>Cache = 8 KB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400" b="1" dirty="0">
                <a:latin typeface="Rockwell" panose="02060603020205020403" pitchFamily="18" charset="0"/>
              </a:rPr>
              <a:t>Block = 32 B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400" b="1" dirty="0">
                <a:latin typeface="Rockwell" panose="02060603020205020403" pitchFamily="18" charset="0"/>
              </a:rPr>
              <a:t>4-Way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b="1" dirty="0">
              <a:latin typeface="Rockwell" panose="02060603020205020403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latin typeface="Rockwell" panose="02060603020205020403" pitchFamily="18" charset="0"/>
              </a:rPr>
              <a:t>Find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FF"/>
                </a:solidFill>
                <a:latin typeface="Rockwell" panose="02060603020205020403" pitchFamily="18" charset="0"/>
              </a:rPr>
              <a:t>Address bits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FF"/>
                </a:solidFill>
                <a:latin typeface="Rockwell" panose="02060603020205020403" pitchFamily="18" charset="0"/>
              </a:rPr>
              <a:t>Offset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FF"/>
                </a:solidFill>
                <a:latin typeface="Rockwell" panose="02060603020205020403" pitchFamily="18" charset="0"/>
              </a:rPr>
              <a:t>Cache lines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FF"/>
                </a:solidFill>
                <a:latin typeface="Rockwell" panose="02060603020205020403" pitchFamily="18" charset="0"/>
              </a:rPr>
              <a:t>Set bit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FF"/>
                </a:solidFill>
                <a:latin typeface="Rockwell" panose="02060603020205020403" pitchFamily="18" charset="0"/>
              </a:rPr>
              <a:t>Tag bits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FF"/>
                </a:solidFill>
                <a:latin typeface="Rockwell" panose="02060603020205020403" pitchFamily="18" charset="0"/>
              </a:rPr>
              <a:t>Tag directory size</a:t>
            </a:r>
            <a:endParaRPr lang="en-US" sz="2400" dirty="0">
              <a:solidFill>
                <a:srgbClr val="0000FF"/>
              </a:solidFill>
              <a:latin typeface="Rockwell" panose="02060603020205020403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1E6A12-206A-4801-93AA-4F796B696EAF}"/>
              </a:ext>
            </a:extLst>
          </p:cNvPr>
          <p:cNvSpPr txBox="1"/>
          <p:nvPr/>
        </p:nvSpPr>
        <p:spPr>
          <a:xfrm>
            <a:off x="6402387" y="990600"/>
            <a:ext cx="5373687" cy="489364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400" b="1" dirty="0">
                <a:latin typeface="Rockwell" panose="02060603020205020403" pitchFamily="18" charset="0"/>
              </a:rPr>
              <a:t>Example 3 (8-Way Set Associative)</a:t>
            </a:r>
          </a:p>
          <a:p>
            <a:r>
              <a:rPr lang="en-US" sz="2400" b="1" dirty="0">
                <a:latin typeface="Rockwell" panose="02060603020205020403" pitchFamily="18" charset="0"/>
              </a:rPr>
              <a:t>Given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400" b="1" dirty="0">
                <a:latin typeface="Rockwell" panose="02060603020205020403" pitchFamily="18" charset="0"/>
              </a:rPr>
              <a:t>Main Memory = 4 MB 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400" b="1" dirty="0">
                <a:latin typeface="Rockwell" panose="02060603020205020403" pitchFamily="18" charset="0"/>
              </a:rPr>
              <a:t>Cache = 32 KB 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400" b="1" dirty="0">
                <a:latin typeface="Rockwell" panose="02060603020205020403" pitchFamily="18" charset="0"/>
              </a:rPr>
              <a:t>Block = 64 B 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400" b="1" dirty="0">
                <a:latin typeface="Rockwell" panose="02060603020205020403" pitchFamily="18" charset="0"/>
              </a:rPr>
              <a:t>8-Way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latin typeface="Rockwell" panose="02060603020205020403" pitchFamily="18" charset="0"/>
              </a:rPr>
              <a:t>Find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FF"/>
                </a:solidFill>
                <a:latin typeface="Rockwell" panose="02060603020205020403" pitchFamily="18" charset="0"/>
              </a:rPr>
              <a:t>Address bits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FF"/>
                </a:solidFill>
                <a:latin typeface="Rockwell" panose="02060603020205020403" pitchFamily="18" charset="0"/>
              </a:rPr>
              <a:t>Offset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FF"/>
                </a:solidFill>
                <a:latin typeface="Rockwell" panose="02060603020205020403" pitchFamily="18" charset="0"/>
              </a:rPr>
              <a:t>Cache lines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FF"/>
                </a:solidFill>
                <a:latin typeface="Rockwell" panose="02060603020205020403" pitchFamily="18" charset="0"/>
              </a:rPr>
              <a:t>Set bit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FF"/>
                </a:solidFill>
                <a:latin typeface="Rockwell" panose="02060603020205020403" pitchFamily="18" charset="0"/>
              </a:rPr>
              <a:t>Tag bits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FF"/>
                </a:solidFill>
                <a:latin typeface="Rockwell" panose="02060603020205020403" pitchFamily="18" charset="0"/>
              </a:rPr>
              <a:t>Tag directory size</a:t>
            </a:r>
            <a:endParaRPr lang="en-US" sz="2400" dirty="0"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99604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58576" y="1341500"/>
            <a:ext cx="46367" cy="0"/>
          </a:xfrm>
          <a:custGeom>
            <a:avLst/>
            <a:gdLst/>
            <a:ahLst/>
            <a:cxnLst/>
            <a:rect l="l" t="t" r="r" b="b"/>
            <a:pathLst>
              <a:path w="46354">
                <a:moveTo>
                  <a:pt x="0" y="0"/>
                </a:moveTo>
                <a:lnTo>
                  <a:pt x="46037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11219306" y="6405384"/>
            <a:ext cx="556404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225"/>
              </a:lnSpc>
            </a:pPr>
            <a:fld id="{81D60167-4931-47E6-BA6A-407CBD079E47}" type="slidenum">
              <a:rPr spc="-5" dirty="0"/>
              <a:t>14</a:t>
            </a:fld>
            <a:endParaRPr spc="-5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3987" y="2514600"/>
            <a:ext cx="11850956" cy="62837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GB" sz="4000" dirty="0">
                <a:latin typeface="Rockwell" panose="02060603020205020403" pitchFamily="18" charset="0"/>
              </a:rPr>
              <a:t>End of Unit</a:t>
            </a:r>
          </a:p>
        </p:txBody>
      </p:sp>
    </p:spTree>
    <p:extLst>
      <p:ext uri="{BB962C8B-B14F-4D97-AF65-F5344CB8AC3E}">
        <p14:creationId xmlns:p14="http://schemas.microsoft.com/office/powerpoint/2010/main" val="3442507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1891916</TotalTime>
  <Words>781</Words>
  <Application>Microsoft Office PowerPoint</Application>
  <PresentationFormat>Custom</PresentationFormat>
  <Paragraphs>205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Georgia</vt:lpstr>
      <vt:lpstr>Rockwell</vt:lpstr>
      <vt:lpstr>Rockwell Condensed</vt:lpstr>
      <vt:lpstr>Wingdings</vt:lpstr>
      <vt:lpstr>Office Theme</vt:lpstr>
      <vt:lpstr>Custom Design</vt:lpstr>
      <vt:lpstr>CSC 227 Computer Architecture and Organization I</vt:lpstr>
      <vt:lpstr>DIRECT MAPPING FUNCTION</vt:lpstr>
      <vt:lpstr>DIRECT MAPPING FUNCTION</vt:lpstr>
      <vt:lpstr>DIRECT CACHE MAPPING</vt:lpstr>
      <vt:lpstr>DIRECT CACHE MAPPING</vt:lpstr>
      <vt:lpstr>DIRECT CACHE MAPPING</vt:lpstr>
      <vt:lpstr>DIRECT CACHE MAPPING</vt:lpstr>
      <vt:lpstr>FULLY ASSOCIATIVE CACHE MAPPING FUNCTION </vt:lpstr>
      <vt:lpstr>FULLY ASSOCIATIVE MAPPING </vt:lpstr>
      <vt:lpstr>FULLY ASSOCIATIVE MAPPING </vt:lpstr>
      <vt:lpstr>SET ASSOCIATIVE MAPPING </vt:lpstr>
      <vt:lpstr>SET ASSOCIATIVE MAPPING </vt:lpstr>
      <vt:lpstr>SET ASSOCIATIVE MAPPING </vt:lpstr>
      <vt:lpstr>End of Unit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Driving Administrative Quality For Vision 10: 2022</dc:title>
  <dc:creator>HP</dc:creator>
  <cp:lastModifiedBy>Oluranti Jonathan</cp:lastModifiedBy>
  <cp:revision>220</cp:revision>
  <cp:lastPrinted>2015-08-03T07:22:59Z</cp:lastPrinted>
  <dcterms:created xsi:type="dcterms:W3CDTF">2014-01-31T21:42:27Z</dcterms:created>
  <dcterms:modified xsi:type="dcterms:W3CDTF">2026-07-24T17:22:07Z</dcterms:modified>
</cp:coreProperties>
</file>