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0"/>
  </p:notesMasterIdLst>
  <p:handoutMasterIdLst>
    <p:handoutMasterId r:id="rId61"/>
  </p:handoutMasterIdLst>
  <p:sldIdLst>
    <p:sldId id="281" r:id="rId3"/>
    <p:sldId id="343" r:id="rId4"/>
    <p:sldId id="391" r:id="rId5"/>
    <p:sldId id="392" r:id="rId6"/>
    <p:sldId id="394" r:id="rId7"/>
    <p:sldId id="395" r:id="rId8"/>
    <p:sldId id="388" r:id="rId9"/>
    <p:sldId id="390" r:id="rId10"/>
    <p:sldId id="389" r:id="rId11"/>
    <p:sldId id="396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6" r:id="rId34"/>
    <p:sldId id="367" r:id="rId35"/>
    <p:sldId id="368" r:id="rId36"/>
    <p:sldId id="369" r:id="rId37"/>
    <p:sldId id="370" r:id="rId38"/>
    <p:sldId id="371" r:id="rId39"/>
    <p:sldId id="374" r:id="rId40"/>
    <p:sldId id="375" r:id="rId41"/>
    <p:sldId id="376" r:id="rId42"/>
    <p:sldId id="377" r:id="rId43"/>
    <p:sldId id="378" r:id="rId44"/>
    <p:sldId id="380" r:id="rId45"/>
    <p:sldId id="382" r:id="rId46"/>
    <p:sldId id="383" r:id="rId47"/>
    <p:sldId id="384" r:id="rId48"/>
    <p:sldId id="379" r:id="rId49"/>
    <p:sldId id="381" r:id="rId50"/>
    <p:sldId id="400" r:id="rId51"/>
    <p:sldId id="401" r:id="rId52"/>
    <p:sldId id="402" r:id="rId53"/>
    <p:sldId id="403" r:id="rId54"/>
    <p:sldId id="385" r:id="rId55"/>
    <p:sldId id="386" r:id="rId56"/>
    <p:sldId id="397" r:id="rId57"/>
    <p:sldId id="398" r:id="rId58"/>
    <p:sldId id="399" r:id="rId59"/>
  </p:sldIdLst>
  <p:sldSz cx="12195175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A0000"/>
    <a:srgbClr val="3B11ED"/>
    <a:srgbClr val="003399"/>
    <a:srgbClr val="FFFFFF"/>
    <a:srgbClr val="DDDDDD"/>
    <a:srgbClr val="662C5B"/>
    <a:srgbClr val="000000"/>
    <a:srgbClr val="660033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3263" autoAdjust="0"/>
  </p:normalViewPr>
  <p:slideViewPr>
    <p:cSldViewPr>
      <p:cViewPr varScale="1">
        <p:scale>
          <a:sx n="80" d="100"/>
          <a:sy n="80" d="100"/>
        </p:scale>
        <p:origin x="775" y="-60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22F73B2-7CF1-4832-BF09-2E3D082F4856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702B329-9B4F-43B9-920A-39268306AF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63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EDA5C1-9818-47C9-A79E-B4D4158DD3E3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813" y="696913"/>
            <a:ext cx="62007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D498802-2017-4E9A-A8AF-781802F703C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22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4813" y="696913"/>
            <a:ext cx="620077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498802-2017-4E9A-A8AF-781802F703C5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Ours\Desktop\flash\c.u.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-169" b="15477"/>
          <a:stretch>
            <a:fillRect/>
          </a:stretch>
        </p:blipFill>
        <p:spPr bwMode="auto">
          <a:xfrm>
            <a:off x="2" y="-54768"/>
            <a:ext cx="12281948" cy="6912768"/>
          </a:xfrm>
          <a:prstGeom prst="rect">
            <a:avLst/>
          </a:prstGeom>
          <a:noFill/>
        </p:spPr>
      </p:pic>
      <p:pic>
        <p:nvPicPr>
          <p:cNvPr id="8" name="Picture 2" descr="C:\Users\Ours\Desktop\my stuffs\1 NTFS_000\LostFiles2\INSPIRATION\PROJECTS\MIND PROJECTS\cu_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1003" y="570166"/>
            <a:ext cx="743452" cy="792088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9003276" y="0"/>
            <a:ext cx="323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www.covenantuniversity.edu.ng</a:t>
            </a:r>
            <a:endParaRPr lang="en-GB" sz="1800" dirty="0"/>
          </a:p>
        </p:txBody>
      </p:sp>
      <p:pic>
        <p:nvPicPr>
          <p:cNvPr id="10" name="Picture 2" descr="C:\Users\Ours\Desktop\Picture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45059" y="570169"/>
            <a:ext cx="4608512" cy="7437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1844828"/>
            <a:ext cx="10366375" cy="2448271"/>
          </a:xfrm>
          <a:solidFill>
            <a:srgbClr val="660033">
              <a:alpha val="61961"/>
            </a:srgbClr>
          </a:solidFill>
        </p:spPr>
        <p:txBody>
          <a:bodyPr>
            <a:noAutofit/>
          </a:bodyPr>
          <a:lstStyle>
            <a:lvl1pPr>
              <a:defRPr sz="5400" b="0">
                <a:solidFill>
                  <a:schemeClr val="bg1"/>
                </a:solidFill>
                <a:latin typeface="Rockwell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509120"/>
            <a:ext cx="8537575" cy="1752600"/>
          </a:xfrm>
          <a:solidFill>
            <a:srgbClr val="FFFFFF">
              <a:alpha val="74118"/>
            </a:srgbClr>
          </a:solidFill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Rockwell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633093" y="1074222"/>
            <a:ext cx="3220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662C5B"/>
                </a:solidFill>
              </a:rPr>
              <a:t>Raising a new Generation of Leaders</a:t>
            </a:r>
            <a:endParaRPr lang="en-GB" sz="1600" dirty="0">
              <a:solidFill>
                <a:srgbClr val="662C5B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Ours\Desktop\flash\c.u.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-169" b="15477"/>
          <a:stretch>
            <a:fillRect/>
          </a:stretch>
        </p:blipFill>
        <p:spPr bwMode="auto">
          <a:xfrm>
            <a:off x="2" y="-54768"/>
            <a:ext cx="12281948" cy="6912768"/>
          </a:xfrm>
          <a:prstGeom prst="rect">
            <a:avLst/>
          </a:prstGeom>
          <a:noFill/>
        </p:spPr>
      </p:pic>
      <p:pic>
        <p:nvPicPr>
          <p:cNvPr id="8" name="Picture 2" descr="C:\Users\Ours\Desktop\my stuffs\1 NTFS_000\LostFiles2\INSPIRATION\PROJECTS\MIND PROJECTS\cu_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941" y="548680"/>
            <a:ext cx="1216557" cy="1296144"/>
          </a:xfrm>
          <a:prstGeom prst="rect">
            <a:avLst/>
          </a:prstGeom>
          <a:noFill/>
        </p:spPr>
      </p:pic>
      <p:sp>
        <p:nvSpPr>
          <p:cNvPr id="10" name="Title 1"/>
          <p:cNvSpPr>
            <a:spLocks noGrp="1"/>
          </p:cNvSpPr>
          <p:nvPr userDrawn="1">
            <p:ph type="ctrTitle"/>
          </p:nvPr>
        </p:nvSpPr>
        <p:spPr>
          <a:xfrm>
            <a:off x="914638" y="2204865"/>
            <a:ext cx="10365899" cy="2520280"/>
          </a:xfrm>
          <a:solidFill>
            <a:srgbClr val="CC3399">
              <a:alpha val="83137"/>
            </a:srgbClr>
          </a:solidFill>
        </p:spPr>
        <p:txBody>
          <a:bodyPr>
            <a:normAutofit/>
          </a:bodyPr>
          <a:lstStyle/>
          <a:p>
            <a:endParaRPr lang="en-GB" sz="6600" b="1" dirty="0">
              <a:solidFill>
                <a:schemeClr val="bg1"/>
              </a:solidFill>
              <a:latin typeface="Rockwell" pitchFamily="18" charset="0"/>
            </a:endParaRPr>
          </a:p>
        </p:txBody>
      </p:sp>
      <p:sp>
        <p:nvSpPr>
          <p:cNvPr id="11" name="Subtitle 2"/>
          <p:cNvSpPr>
            <a:spLocks noGrp="1"/>
          </p:cNvSpPr>
          <p:nvPr userDrawn="1">
            <p:ph type="subTitle" idx="1"/>
          </p:nvPr>
        </p:nvSpPr>
        <p:spPr>
          <a:xfrm>
            <a:off x="1705101" y="4869160"/>
            <a:ext cx="8536623" cy="1752600"/>
          </a:xfrm>
          <a:solidFill>
            <a:srgbClr val="FFFFFF">
              <a:alpha val="63137"/>
            </a:srgbClr>
          </a:solidFill>
        </p:spPr>
        <p:txBody>
          <a:bodyPr>
            <a:normAutofit/>
          </a:bodyPr>
          <a:lstStyle>
            <a:lvl1pPr algn="ctr">
              <a:buNone/>
              <a:defRPr sz="4000">
                <a:ln>
                  <a:noFill/>
                </a:ln>
                <a:solidFill>
                  <a:srgbClr val="002060"/>
                </a:solidFill>
              </a:defRPr>
            </a:lvl1pPr>
          </a:lstStyle>
          <a:p>
            <a:endParaRPr lang="en-GB" dirty="0">
              <a:solidFill>
                <a:schemeClr val="bg1"/>
              </a:solidFill>
              <a:latin typeface="Rockwell" pitchFamily="18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345059" y="1268760"/>
            <a:ext cx="3979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662C5B"/>
                </a:solidFill>
              </a:rPr>
              <a:t>Raising a new Generation of Leaders</a:t>
            </a:r>
            <a:endParaRPr lang="en-GB" sz="2000" dirty="0">
              <a:solidFill>
                <a:srgbClr val="662C5B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9003276" y="0"/>
            <a:ext cx="323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www.covenantuniversity.edu.ng</a:t>
            </a:r>
            <a:endParaRPr lang="en-GB" sz="1800" dirty="0"/>
          </a:p>
        </p:txBody>
      </p:sp>
      <p:pic>
        <p:nvPicPr>
          <p:cNvPr id="3074" name="Picture 2" descr="C:\Users\Ours\Desktop\Picture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9035" y="692700"/>
            <a:ext cx="5065714" cy="81756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387" y="153144"/>
            <a:ext cx="11738670" cy="837456"/>
          </a:xfrm>
          <a:solidFill>
            <a:schemeClr val="bg1"/>
          </a:solidFill>
          <a:ln w="57150">
            <a:noFill/>
          </a:ln>
        </p:spPr>
        <p:txBody>
          <a:bodyPr>
            <a:normAutofit/>
          </a:bodyPr>
          <a:lstStyle>
            <a:lvl1pPr algn="l">
              <a:defRPr sz="3600" b="1">
                <a:solidFill>
                  <a:srgbClr val="FF0000"/>
                </a:solidFill>
                <a:latin typeface="Rockwell Condensed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2" descr="C:\Users\Ours\Desktop\flash\c.u.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41294" b="49226"/>
          <a:stretch>
            <a:fillRect/>
          </a:stretch>
        </p:blipFill>
        <p:spPr bwMode="auto">
          <a:xfrm>
            <a:off x="2" y="6309320"/>
            <a:ext cx="12281948" cy="773752"/>
          </a:xfrm>
          <a:prstGeom prst="rect">
            <a:avLst/>
          </a:prstGeom>
          <a:noFill/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0778109" y="6336704"/>
            <a:ext cx="1045349" cy="548680"/>
          </a:xfrm>
          <a:prstGeom prst="rect">
            <a:avLst/>
          </a:prstGeom>
          <a:solidFill>
            <a:srgbClr val="F7F7F7">
              <a:alpha val="45098"/>
            </a:srgbClr>
          </a:solidFill>
        </p:spPr>
        <p:txBody>
          <a:bodyPr vert="horz" lIns="91440" tIns="45720" rIns="91440" bIns="45720" rtlCol="0" anchor="ctr"/>
          <a:lstStyle>
            <a:lvl1pPr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18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E708FE-ED12-4ACB-81C9-F40A112777FF}" type="slidenum">
              <a:rPr kumimoji="0" lang="en-GB" sz="2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eorgia" pitchFamily="18" charset="0"/>
              <a:ea typeface="+mn-ea"/>
              <a:cs typeface="+mn-cs"/>
            </a:endParaRPr>
          </a:p>
        </p:txBody>
      </p:sp>
      <p:pic>
        <p:nvPicPr>
          <p:cNvPr id="10" name="Picture 2" descr="C:\Users\Ours\Desktop\my stuffs\1 NTFS_000\LostFiles2\INSPIRATION\PROJECTS\MIND PROJECTS\cu_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016" y="6363534"/>
            <a:ext cx="624979" cy="665866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12" y="1066800"/>
            <a:ext cx="11716352" cy="5170512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defRPr sz="2800">
                <a:latin typeface="Rockwell" pitchFamily="18" charset="0"/>
              </a:defRPr>
            </a:lvl1pPr>
            <a:lvl2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Wingdings" pitchFamily="2" charset="2"/>
              <a:buChar char="§"/>
              <a:defRPr sz="2400">
                <a:solidFill>
                  <a:srgbClr val="7A0000"/>
                </a:solidFill>
                <a:latin typeface="Rockwell" pitchFamily="18" charset="0"/>
              </a:defRPr>
            </a:lvl2pPr>
            <a:lvl3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itchFamily="34" charset="0"/>
              <a:buChar char="‒"/>
              <a:defRPr sz="2000">
                <a:solidFill>
                  <a:schemeClr val="accent4">
                    <a:lumMod val="50000"/>
                  </a:schemeClr>
                </a:solidFill>
                <a:latin typeface="Rockwell" pitchFamily="18" charset="0"/>
              </a:defRPr>
            </a:lvl3pPr>
            <a:lvl4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defRPr sz="2800">
                <a:latin typeface="Rockwell" pitchFamily="18" charset="0"/>
              </a:defRPr>
            </a:lvl4pPr>
            <a:lvl5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defRPr sz="2800">
                <a:latin typeface="Rockwell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026" name="Picture 2" descr="C:\Users\Ours\Desktop\Picture1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2972" y="6317328"/>
            <a:ext cx="5976665" cy="640064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 userDrawn="1"/>
        </p:nvSpPr>
        <p:spPr>
          <a:xfrm>
            <a:off x="724026" y="6707435"/>
            <a:ext cx="2215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www.covenantuniversity.edu.ng</a:t>
            </a:r>
            <a:endParaRPr lang="en-GB" sz="1200" dirty="0"/>
          </a:p>
        </p:txBody>
      </p:sp>
      <p:cxnSp>
        <p:nvCxnSpPr>
          <p:cNvPr id="19" name="Straight Connector 18"/>
          <p:cNvCxnSpPr/>
          <p:nvPr userDrawn="1"/>
        </p:nvCxnSpPr>
        <p:spPr>
          <a:xfrm flipV="1">
            <a:off x="8689876" y="1340768"/>
            <a:ext cx="1800001" cy="0"/>
          </a:xfrm>
          <a:prstGeom prst="line">
            <a:avLst/>
          </a:prstGeom>
          <a:ln w="28575">
            <a:solidFill>
              <a:srgbClr val="662C5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flipV="1">
            <a:off x="10526061" y="1340768"/>
            <a:ext cx="719999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flipV="1">
            <a:off x="11282245" y="1340768"/>
            <a:ext cx="719999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336" y="4406905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336" y="2906713"/>
            <a:ext cx="103658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759" y="1600205"/>
            <a:ext cx="538620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214" y="1600205"/>
            <a:ext cx="538620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59" y="1535113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759" y="2174875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983" y="1535113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983" y="2174875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62" y="273050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974" y="273055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62" y="1435103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341" y="4800600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341" y="612775"/>
            <a:ext cx="731710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341" y="5367338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1502" y="274643"/>
            <a:ext cx="274391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759" y="274643"/>
            <a:ext cx="802849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2130429"/>
            <a:ext cx="1036637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757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5" y="4406904"/>
            <a:ext cx="1036637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5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788" y="1600204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79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79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425" y="1535113"/>
            <a:ext cx="539115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425" y="2174875"/>
            <a:ext cx="539115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61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4"/>
            <a:ext cx="68183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61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776" y="4800600"/>
            <a:ext cx="731678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776" y="612775"/>
            <a:ext cx="731678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776" y="5367338"/>
            <a:ext cx="731678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2375" y="274642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74642"/>
            <a:ext cx="8080374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759" y="274638"/>
            <a:ext cx="109756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59" y="1600205"/>
            <a:ext cx="1097565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760" y="6356355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6685" y="6356355"/>
            <a:ext cx="38618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9875" y="6356355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59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597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4"/>
            <a:ext cx="28463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188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9189" y="6356354"/>
            <a:ext cx="28463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6387" y="1447801"/>
            <a:ext cx="11734800" cy="1600199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</a:rPr>
              <a:t>IFT222</a:t>
            </a:r>
            <a:br>
              <a:rPr lang="en-US" sz="40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Computer Architecture and Organization</a:t>
            </a:r>
          </a:p>
        </p:txBody>
      </p:sp>
      <p:sp>
        <p:nvSpPr>
          <p:cNvPr id="3" name="Title 7"/>
          <p:cNvSpPr txBox="1">
            <a:spLocks/>
          </p:cNvSpPr>
          <p:nvPr/>
        </p:nvSpPr>
        <p:spPr>
          <a:xfrm>
            <a:off x="230187" y="4156650"/>
            <a:ext cx="11734800" cy="12954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b="0" kern="1200">
                <a:solidFill>
                  <a:schemeClr val="bg1"/>
                </a:solidFill>
                <a:latin typeface="Rockwell" pitchFamily="18" charset="0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1"/>
                </a:solidFill>
              </a:rPr>
              <a:t>MODULE5: IMPROVING PROCESSOR PERFORMANCE THROUGH PIPELINING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6386" y="2214274"/>
            <a:ext cx="11698555" cy="16748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5400" spc="-155" dirty="0">
                <a:solidFill>
                  <a:schemeClr val="tx1"/>
                </a:solidFill>
              </a:rPr>
              <a:t>Improving System Performance through </a:t>
            </a:r>
            <a:r>
              <a:rPr sz="5400" spc="-155" dirty="0">
                <a:solidFill>
                  <a:schemeClr val="tx1"/>
                </a:solidFill>
              </a:rPr>
              <a:t>Pipelining</a:t>
            </a:r>
            <a:endParaRPr sz="5400" spc="-22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20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General Introduction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668" y="936010"/>
            <a:ext cx="11663837" cy="49859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ts val="3000"/>
              </a:spcAft>
              <a:buFontTx/>
              <a:buChar char="•"/>
            </a:pPr>
            <a:r>
              <a:rPr lang="en-GB" altLang="en-US" sz="2700" dirty="0">
                <a:latin typeface="Rockwell" panose="02060603020205020403" pitchFamily="18" charset="0"/>
              </a:rPr>
              <a:t>In modern computer systems, users expect programs to execute quickly and efficiently.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ts val="3000"/>
              </a:spcAft>
              <a:buFontTx/>
              <a:buChar char="•"/>
            </a:pPr>
            <a:r>
              <a:rPr lang="en-GB" altLang="en-US" sz="2700" dirty="0">
                <a:latin typeface="Rockwell" panose="02060603020205020403" pitchFamily="18" charset="0"/>
              </a:rPr>
              <a:t>One of the major goals of Computer Architecture is to improve the speed and overall performance of a computer system without excessively increasing hardware cost.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ts val="3000"/>
              </a:spcAft>
              <a:buFontTx/>
              <a:buChar char="•"/>
            </a:pPr>
            <a:r>
              <a:rPr lang="en-GB" altLang="en-US" sz="2700" b="1" dirty="0">
                <a:solidFill>
                  <a:srgbClr val="7A0000"/>
                </a:solidFill>
                <a:latin typeface="Rockwell" panose="02060603020205020403" pitchFamily="18" charset="0"/>
              </a:rPr>
              <a:t>One effective technique used to achieve this goal is </a:t>
            </a:r>
            <a:r>
              <a:rPr lang="en-GB" altLang="en-US" sz="2700" b="1" dirty="0">
                <a:solidFill>
                  <a:srgbClr val="0000FF"/>
                </a:solidFill>
                <a:latin typeface="Rockwell" panose="02060603020205020403" pitchFamily="18" charset="0"/>
              </a:rPr>
              <a:t>pipelining.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ts val="3000"/>
              </a:spcAft>
              <a:buFontTx/>
              <a:buChar char="•"/>
            </a:pPr>
            <a:r>
              <a:rPr lang="en-GB" altLang="en-US" sz="2700" b="1" dirty="0">
                <a:solidFill>
                  <a:srgbClr val="7A0000"/>
                </a:solidFill>
                <a:latin typeface="Rockwell" panose="02060603020205020403" pitchFamily="18" charset="0"/>
              </a:rPr>
              <a:t>Pipelining is a performance enhancement </a:t>
            </a:r>
            <a:r>
              <a:rPr lang="en-GB" altLang="en-US" sz="2700" dirty="0">
                <a:latin typeface="Rockwell" panose="02060603020205020403" pitchFamily="18" charset="0"/>
              </a:rPr>
              <a:t>technique in which multiple instructions are </a:t>
            </a:r>
            <a:r>
              <a:rPr lang="en-GB" altLang="en-US" sz="2700" b="1" dirty="0">
                <a:latin typeface="Rockwell" panose="02060603020205020403" pitchFamily="18" charset="0"/>
              </a:rPr>
              <a:t>processed simultaneously </a:t>
            </a:r>
            <a:r>
              <a:rPr lang="en-GB" altLang="en-US" sz="2700" dirty="0">
                <a:latin typeface="Rockwell" panose="02060603020205020403" pitchFamily="18" charset="0"/>
              </a:rPr>
              <a:t>by dividing instruction execution into several stages. </a:t>
            </a: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492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General Introduction -2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07" y="970776"/>
            <a:ext cx="11663837" cy="5201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GB" altLang="en-US" sz="2700" dirty="0">
                <a:latin typeface="Rockwell" panose="02060603020205020403" pitchFamily="18" charset="0"/>
              </a:rPr>
              <a:t> Instead of waiting for one instruction to complete entirely before starting another, the processor overlaps the execution of multiple instructions.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GB" altLang="en-US" sz="2700" dirty="0">
                <a:latin typeface="Rockwell" panose="02060603020205020403" pitchFamily="18" charset="0"/>
              </a:rPr>
              <a:t> This approach is similar to an assembly line in a factory where </a:t>
            </a:r>
            <a:r>
              <a:rPr lang="en-GB" altLang="en-US" sz="2700" b="1" dirty="0">
                <a:solidFill>
                  <a:srgbClr val="0000FF"/>
                </a:solidFill>
                <a:latin typeface="Rockwell" panose="02060603020205020403" pitchFamily="18" charset="0"/>
              </a:rPr>
              <a:t>different stages of production occur at the same time.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GB" altLang="en-US" sz="2700" dirty="0">
                <a:latin typeface="Rockwell" panose="02060603020205020403" pitchFamily="18" charset="0"/>
              </a:rPr>
              <a:t>A typical instruction pipeline consists of stages such as:</a:t>
            </a:r>
          </a:p>
          <a:p>
            <a:pPr lvl="1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GB" altLang="en-US" sz="2700" dirty="0">
                <a:latin typeface="Rockwell" panose="02060603020205020403" pitchFamily="18" charset="0"/>
              </a:rPr>
              <a:t> </a:t>
            </a:r>
            <a:r>
              <a:rPr lang="en-GB" altLang="en-US" sz="2700" b="1" dirty="0">
                <a:solidFill>
                  <a:srgbClr val="7A0000"/>
                </a:solidFill>
                <a:latin typeface="Rockwell" panose="02060603020205020403" pitchFamily="18" charset="0"/>
              </a:rPr>
              <a:t>Instruction Fetch (IF) – retrieving the instruction from memory</a:t>
            </a:r>
          </a:p>
          <a:p>
            <a:pPr lvl="1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GB" altLang="en-US" sz="2700" b="1" dirty="0">
                <a:solidFill>
                  <a:srgbClr val="7A0000"/>
                </a:solidFill>
                <a:latin typeface="Rockwell" panose="02060603020205020403" pitchFamily="18" charset="0"/>
              </a:rPr>
              <a:t> Instruction Decode (ID) – interpreting the instruction</a:t>
            </a:r>
          </a:p>
          <a:p>
            <a:pPr lvl="1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GB" altLang="en-US" sz="2700" b="1" dirty="0">
                <a:solidFill>
                  <a:srgbClr val="7A0000"/>
                </a:solidFill>
                <a:latin typeface="Rockwell" panose="02060603020205020403" pitchFamily="18" charset="0"/>
              </a:rPr>
              <a:t> Execute (EX) – performing the decoded operation</a:t>
            </a:r>
          </a:p>
          <a:p>
            <a:pPr lvl="1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GB" altLang="en-US" sz="2700" b="1" dirty="0">
                <a:solidFill>
                  <a:srgbClr val="7A0000"/>
                </a:solidFill>
                <a:latin typeface="Rockwell" panose="02060603020205020403" pitchFamily="18" charset="0"/>
              </a:rPr>
              <a:t> Memory Access (MEM) – accessing memory if required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GB" altLang="en-US" sz="2700" b="1" dirty="0">
                <a:solidFill>
                  <a:srgbClr val="7A0000"/>
                </a:solidFill>
                <a:latin typeface="Rockwell" panose="02060603020205020403" pitchFamily="18" charset="0"/>
              </a:rPr>
              <a:t> Write Back (WB) – storing the result back into a register</a:t>
            </a:r>
          </a:p>
        </p:txBody>
      </p:sp>
    </p:spTree>
    <p:extLst>
      <p:ext uri="{BB962C8B-B14F-4D97-AF65-F5344CB8AC3E}">
        <p14:creationId xmlns:p14="http://schemas.microsoft.com/office/powerpoint/2010/main" val="236524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General Introduction - 3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05" y="1120676"/>
            <a:ext cx="11550778" cy="46166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ts val="3600"/>
              </a:spcAft>
              <a:buFontTx/>
              <a:buChar char="•"/>
            </a:pPr>
            <a:r>
              <a:rPr lang="en-GB" altLang="en-US" sz="2600" dirty="0">
                <a:latin typeface="Rockwell" panose="02060603020205020403" pitchFamily="18" charset="0"/>
              </a:rPr>
              <a:t> By allowing different instructions to occupy different stages simultaneously, </a:t>
            </a:r>
            <a:r>
              <a:rPr lang="en-GB" altLang="en-US" sz="2600" b="1" dirty="0">
                <a:solidFill>
                  <a:srgbClr val="0000FF"/>
                </a:solidFill>
                <a:latin typeface="Rockwell" panose="02060603020205020403" pitchFamily="18" charset="0"/>
              </a:rPr>
              <a:t>pipelining increases the throughput of the processor</a:t>
            </a:r>
            <a:r>
              <a:rPr lang="en-GB" altLang="en-US" sz="2600" dirty="0">
                <a:latin typeface="Rockwell" panose="02060603020205020403" pitchFamily="18" charset="0"/>
              </a:rPr>
              <a:t>, enabling more instructions to be completed in less time.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ts val="3600"/>
              </a:spcAft>
              <a:buFontTx/>
              <a:buChar char="•"/>
            </a:pPr>
            <a:r>
              <a:rPr lang="en-GB" altLang="en-US" sz="2600" dirty="0">
                <a:latin typeface="Rockwell" panose="02060603020205020403" pitchFamily="18" charset="0"/>
              </a:rPr>
              <a:t> Although pipelining significantly improves system performance, it also introduces challenges such as </a:t>
            </a:r>
            <a:r>
              <a:rPr lang="en-GB" altLang="en-US" sz="2600" b="1" dirty="0">
                <a:solidFill>
                  <a:srgbClr val="0000FF"/>
                </a:solidFill>
                <a:latin typeface="Rockwell" panose="02060603020205020403" pitchFamily="18" charset="0"/>
              </a:rPr>
              <a:t>pipeline hazards</a:t>
            </a:r>
            <a:r>
              <a:rPr lang="en-GB" altLang="en-US" sz="2600" dirty="0">
                <a:latin typeface="Rockwell" panose="02060603020205020403" pitchFamily="18" charset="0"/>
              </a:rPr>
              <a:t>, data dependencies, branch instructions, and resource conflicts.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ts val="3600"/>
              </a:spcAft>
              <a:buFontTx/>
              <a:buChar char="•"/>
            </a:pPr>
            <a:r>
              <a:rPr lang="en-GB" altLang="en-US" sz="2600" dirty="0">
                <a:latin typeface="Rockwell" panose="02060603020205020403" pitchFamily="18" charset="0"/>
              </a:rPr>
              <a:t> Computer architects therefore design techniques such as </a:t>
            </a:r>
            <a:r>
              <a:rPr lang="en-GB" altLang="en-US" sz="2600" b="1" dirty="0">
                <a:solidFill>
                  <a:srgbClr val="0000FF"/>
                </a:solidFill>
                <a:latin typeface="Rockwell" panose="02060603020205020403" pitchFamily="18" charset="0"/>
              </a:rPr>
              <a:t>forwarding, stalling, and branch prediction</a:t>
            </a:r>
            <a:r>
              <a:rPr lang="en-GB" altLang="en-US" sz="2600" dirty="0">
                <a:latin typeface="Rockwell" panose="02060603020205020403" pitchFamily="18" charset="0"/>
              </a:rPr>
              <a:t> to reduce these problems and maintain efficient execution.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27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General Introduction - 4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715" y="1143000"/>
            <a:ext cx="11663837" cy="18158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ts val="1200"/>
              </a:spcAft>
              <a:buFontTx/>
              <a:buChar char="•"/>
            </a:pPr>
            <a:r>
              <a:rPr lang="en-GB" altLang="en-US" sz="2800" dirty="0">
                <a:latin typeface="Rockwell" panose="02060603020205020403" pitchFamily="18" charset="0"/>
              </a:rPr>
              <a:t> Pipelining is widely used in modern processors, including those developed by Intel and AMD, because it improves CPU utilization, enhances instruction throughput, and contributes to faster system performance.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54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265889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Learning Outcomes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93" y="981417"/>
            <a:ext cx="11642789" cy="51706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GB" sz="2600" dirty="0">
                <a:latin typeface="Rockwell" panose="02060603020205020403" pitchFamily="18" charset="0"/>
              </a:rPr>
              <a:t>At the end of this topic, students should be able to: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 Define pipelining and explain its role in improving computer system performance.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 Describe the stages involved in a typical instruction pipeline.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 Explain how pipelining increases instruction throughput and CPU efficiency.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 Differentiate between non-pipelined and pipelined processor execution.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 Analyze the advantages of pipelining in modern computer systems.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 Identify and explain different types of pipeline hazards, including: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ts val="1200"/>
              </a:spcAft>
              <a:buFontTx/>
              <a:buChar char="•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7A0000"/>
                </a:solidFill>
                <a:effectLst/>
                <a:latin typeface="Rockwell" panose="02060603020205020403" pitchFamily="18" charset="0"/>
              </a:rPr>
              <a:t>Structural hazards, Data hazards  and Control hazards </a:t>
            </a:r>
          </a:p>
        </p:txBody>
      </p:sp>
    </p:spTree>
    <p:extLst>
      <p:ext uri="{BB962C8B-B14F-4D97-AF65-F5344CB8AC3E}">
        <p14:creationId xmlns:p14="http://schemas.microsoft.com/office/powerpoint/2010/main" val="301483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152400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-155" dirty="0">
                <a:latin typeface="Rockwell" panose="02060603020205020403" pitchFamily="18" charset="0"/>
              </a:rPr>
              <a:t>Learning Outcomes</a:t>
            </a:r>
            <a:endParaRPr spc="-220" dirty="0">
              <a:latin typeface="Rockwell" panose="02060603020205020403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9F0AA-F614-4A41-9F74-E754447DF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10" y="728261"/>
            <a:ext cx="11663837" cy="54014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 Discuss techniques used to handle pipeline hazards, such as: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A0000"/>
                </a:solidFill>
                <a:effectLst/>
                <a:latin typeface="Rockwell" panose="02060603020205020403" pitchFamily="18" charset="0"/>
              </a:rPr>
              <a:t>Pipeline stalling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A0000"/>
                </a:solidFill>
                <a:effectLst/>
                <a:latin typeface="Rockwell" panose="02060603020205020403" pitchFamily="18" charset="0"/>
              </a:rPr>
              <a:t>Data forwarding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A0000"/>
                </a:solidFill>
                <a:effectLst/>
                <a:latin typeface="Rockwell" panose="02060603020205020403" pitchFamily="18" charset="0"/>
              </a:rPr>
              <a:t>Branch prediction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 Calculate pipeline performance metrics such as: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A0000"/>
                </a:solidFill>
                <a:effectLst/>
                <a:latin typeface="Rockwell" panose="02060603020205020403" pitchFamily="18" charset="0"/>
              </a:rPr>
              <a:t>Speedup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A0000"/>
                </a:solidFill>
                <a:effectLst/>
                <a:latin typeface="Rockwell" panose="02060603020205020403" pitchFamily="18" charset="0"/>
              </a:rPr>
              <a:t>Throughput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A0000"/>
                </a:solidFill>
                <a:effectLst/>
                <a:latin typeface="Rockwell" panose="02060603020205020403" pitchFamily="18" charset="0"/>
              </a:rPr>
              <a:t>Pipeline efficiency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 Evaluate the impact of pipelining on processor design and system performance.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 Apply pipelining concepts to solve numerical and analytical problems in computer architecture. </a:t>
            </a:r>
          </a:p>
        </p:txBody>
      </p:sp>
    </p:spTree>
    <p:extLst>
      <p:ext uri="{BB962C8B-B14F-4D97-AF65-F5344CB8AC3E}">
        <p14:creationId xmlns:p14="http://schemas.microsoft.com/office/powerpoint/2010/main" val="20981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187" y="2286000"/>
            <a:ext cx="11776282" cy="843821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400" spc="-155" dirty="0">
                <a:latin typeface="Rockwell" panose="02060603020205020403" pitchFamily="18" charset="0"/>
              </a:rPr>
              <a:t>Pipelining</a:t>
            </a:r>
            <a:endParaRPr sz="5400" spc="-22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97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83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12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601" y="265889"/>
            <a:ext cx="11776282" cy="572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155" dirty="0">
                <a:latin typeface="Rockwell" panose="02060603020205020403" pitchFamily="18" charset="0"/>
              </a:rPr>
              <a:t>Pipelining </a:t>
            </a:r>
            <a:r>
              <a:rPr spc="-125" dirty="0">
                <a:latin typeface="Rockwell" panose="02060603020205020403" pitchFamily="18" charset="0"/>
              </a:rPr>
              <a:t>-</a:t>
            </a:r>
            <a:r>
              <a:rPr spc="280" dirty="0">
                <a:latin typeface="Rockwell" panose="02060603020205020403" pitchFamily="18" charset="0"/>
              </a:rPr>
              <a:t> </a:t>
            </a:r>
            <a:r>
              <a:rPr spc="-220" dirty="0">
                <a:latin typeface="Rockwell" panose="02060603020205020403" pitchFamily="18" charset="0"/>
              </a:rPr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661" y="1190938"/>
            <a:ext cx="11776282" cy="49284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 marR="884555" algn="just">
              <a:lnSpc>
                <a:spcPct val="129700"/>
              </a:lnSpc>
              <a:spcBef>
                <a:spcPts val="95"/>
              </a:spcBef>
            </a:pPr>
            <a:r>
              <a:rPr sz="2800" spc="80" dirty="0">
                <a:latin typeface="Rockwell" panose="02060603020205020403" pitchFamily="18" charset="0"/>
                <a:cs typeface="Trebuchet MS"/>
              </a:rPr>
              <a:t>In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5" dirty="0">
                <a:latin typeface="Rockwell" panose="02060603020205020403" pitchFamily="18" charset="0"/>
                <a:cs typeface="Trebuchet MS"/>
              </a:rPr>
              <a:t>typical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system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30" dirty="0">
                <a:latin typeface="Rockwell" panose="02060603020205020403" pitchFamily="18" charset="0"/>
                <a:cs typeface="Trebuchet MS"/>
              </a:rPr>
              <a:t>speedup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is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latin typeface="Rockwell" panose="02060603020205020403" pitchFamily="18" charset="0"/>
                <a:cs typeface="Trebuchet MS"/>
              </a:rPr>
              <a:t>achieved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through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parallelism</a:t>
            </a:r>
            <a:r>
              <a:rPr sz="2800" spc="-17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at </a:t>
            </a:r>
            <a:r>
              <a:rPr sz="2800" spc="-5" dirty="0">
                <a:latin typeface="Rockwell" panose="02060603020205020403" pitchFamily="18" charset="0"/>
                <a:cs typeface="Trebuchet MS"/>
              </a:rPr>
              <a:t>all 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levels: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12700" marR="401955" algn="just">
              <a:lnSpc>
                <a:spcPts val="4370"/>
              </a:lnSpc>
              <a:spcBef>
                <a:spcPts val="300"/>
              </a:spcBef>
            </a:pPr>
            <a:r>
              <a:rPr sz="2800" b="1" spc="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Multi-user,</a:t>
            </a:r>
            <a:r>
              <a:rPr lang="en-GB" sz="2800" b="1" spc="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multitasking,</a:t>
            </a:r>
            <a:r>
              <a:rPr lang="en-GB" sz="2800" b="1" spc="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multi-processing,</a:t>
            </a:r>
            <a:r>
              <a:rPr sz="2800" b="1" spc="-37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multi-programming,</a:t>
            </a:r>
            <a:r>
              <a:rPr sz="2800" b="1" spc="-38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multi-</a:t>
            </a:r>
            <a:r>
              <a:rPr sz="2800" b="1" spc="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threading, </a:t>
            </a:r>
            <a:r>
              <a:rPr sz="2800" b="1" spc="7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compiler</a:t>
            </a:r>
            <a:r>
              <a:rPr sz="2800" b="1" spc="-57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optimizations.</a:t>
            </a:r>
            <a:endParaRPr sz="2800" b="1" dirty="0">
              <a:solidFill>
                <a:srgbClr val="0000FF"/>
              </a:solidFill>
              <a:latin typeface="Rockwell" panose="02060603020205020403" pitchFamily="18" charset="0"/>
              <a:cs typeface="Trebuchet MS"/>
            </a:endParaRPr>
          </a:p>
          <a:p>
            <a:pPr marL="441959" indent="-429895" algn="just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441959" algn="l"/>
                <a:tab pos="442595" algn="l"/>
              </a:tabLst>
            </a:pPr>
            <a:r>
              <a:rPr sz="2800" b="1" spc="145" dirty="0">
                <a:latin typeface="Rockwell" panose="02060603020205020403" pitchFamily="18" charset="0"/>
                <a:cs typeface="Trebuchet MS"/>
              </a:rPr>
              <a:t>Pipelining</a:t>
            </a:r>
            <a:r>
              <a:rPr sz="2800" b="1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40" dirty="0">
                <a:latin typeface="Rockwell" panose="02060603020205020403" pitchFamily="18" charset="0"/>
                <a:cs typeface="Trebuchet MS"/>
              </a:rPr>
              <a:t>:</a:t>
            </a:r>
            <a:r>
              <a:rPr sz="2800" b="1" spc="-3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80" dirty="0">
                <a:latin typeface="Rockwell" panose="02060603020205020403" pitchFamily="18" charset="0"/>
                <a:cs typeface="Trebuchet MS"/>
              </a:rPr>
              <a:t>is</a:t>
            </a:r>
            <a:r>
              <a:rPr sz="2800" b="1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35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b="1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55" dirty="0">
                <a:latin typeface="Rockwell" panose="02060603020205020403" pitchFamily="18" charset="0"/>
                <a:cs typeface="Trebuchet MS"/>
              </a:rPr>
              <a:t>technique</a:t>
            </a:r>
            <a:r>
              <a:rPr sz="2800" b="1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0" dirty="0">
                <a:latin typeface="Rockwell" panose="02060603020205020403" pitchFamily="18" charset="0"/>
                <a:cs typeface="Trebuchet MS"/>
              </a:rPr>
              <a:t>for</a:t>
            </a:r>
            <a:r>
              <a:rPr sz="2800" b="1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00" dirty="0">
                <a:latin typeface="Rockwell" panose="02060603020205020403" pitchFamily="18" charset="0"/>
                <a:cs typeface="Trebuchet MS"/>
              </a:rPr>
              <a:t>overlapping</a:t>
            </a:r>
            <a:r>
              <a:rPr sz="2800" b="1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operations</a:t>
            </a:r>
            <a:r>
              <a:rPr sz="2800" spc="-17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30" dirty="0">
                <a:latin typeface="Rockwell" panose="02060603020205020403" pitchFamily="18" charset="0"/>
                <a:cs typeface="Trebuchet MS"/>
              </a:rPr>
              <a:t>during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algn="just">
              <a:lnSpc>
                <a:spcPct val="100000"/>
              </a:lnSpc>
              <a:spcBef>
                <a:spcPts val="994"/>
              </a:spcBef>
            </a:pPr>
            <a:r>
              <a:rPr sz="2800" spc="-5" dirty="0">
                <a:latin typeface="Rockwell" panose="02060603020205020403" pitchFamily="18" charset="0"/>
                <a:cs typeface="Trebuchet MS"/>
              </a:rPr>
              <a:t>execution.</a:t>
            </a:r>
            <a:r>
              <a:rPr sz="2800" spc="-509" dirty="0">
                <a:latin typeface="Rockwell" panose="02060603020205020403" pitchFamily="18" charset="0"/>
                <a:cs typeface="Trebuchet MS"/>
              </a:rPr>
              <a:t> </a:t>
            </a:r>
            <a:endParaRPr lang="en-GB" sz="2800" spc="-509" dirty="0">
              <a:latin typeface="Rockwell" panose="02060603020205020403" pitchFamily="18" charset="0"/>
              <a:cs typeface="Trebuchet MS"/>
            </a:endParaRPr>
          </a:p>
          <a:p>
            <a:pPr marL="355600" algn="just">
              <a:lnSpc>
                <a:spcPct val="100000"/>
              </a:lnSpc>
              <a:spcBef>
                <a:spcPts val="994"/>
              </a:spcBef>
            </a:pPr>
            <a:r>
              <a:rPr sz="2800" spc="45" dirty="0">
                <a:latin typeface="Rockwell" panose="02060603020205020403" pitchFamily="18" charset="0"/>
                <a:cs typeface="Trebuchet MS"/>
              </a:rPr>
              <a:t>Today</a:t>
            </a:r>
            <a:r>
              <a:rPr sz="2800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0" dirty="0">
                <a:latin typeface="Rockwell" panose="02060603020205020403" pitchFamily="18" charset="0"/>
                <a:cs typeface="Trebuchet MS"/>
              </a:rPr>
              <a:t>this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is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key</a:t>
            </a:r>
            <a:r>
              <a:rPr sz="2800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5" dirty="0">
                <a:latin typeface="Rockwell" panose="02060603020205020403" pitchFamily="18" charset="0"/>
                <a:cs typeface="Trebuchet MS"/>
              </a:rPr>
              <a:t>feature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that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5" dirty="0">
                <a:latin typeface="Rockwell" panose="02060603020205020403" pitchFamily="18" charset="0"/>
                <a:cs typeface="Trebuchet MS"/>
              </a:rPr>
              <a:t>makes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65" dirty="0">
                <a:latin typeface="Rockwell" panose="02060603020205020403" pitchFamily="18" charset="0"/>
                <a:cs typeface="Trebuchet MS"/>
              </a:rPr>
              <a:t>fast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0" dirty="0">
                <a:latin typeface="Rockwell" panose="02060603020205020403" pitchFamily="18" charset="0"/>
                <a:cs typeface="Trebuchet MS"/>
              </a:rPr>
              <a:t>CPUs.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443865" algn="l"/>
                <a:tab pos="444500" algn="l"/>
              </a:tabLst>
            </a:pPr>
            <a:r>
              <a:rPr dirty="0">
                <a:latin typeface="Rockwell" panose="02060603020205020403" pitchFamily="18" charset="0"/>
              </a:rPr>
              <a:t>	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Different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types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of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pipeline: </a:t>
            </a:r>
            <a:r>
              <a:rPr sz="2800" b="1" spc="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instruction </a:t>
            </a:r>
            <a:r>
              <a:rPr sz="2800" b="1" spc="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pipeline, </a:t>
            </a:r>
            <a:r>
              <a:rPr sz="2800" b="1" spc="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operation </a:t>
            </a:r>
            <a:r>
              <a:rPr sz="2800" b="1" spc="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pipeline,  </a:t>
            </a:r>
            <a:r>
              <a:rPr sz="2800" b="1" spc="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multi-issue</a:t>
            </a:r>
            <a:r>
              <a:rPr sz="2800" b="1" spc="-14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pipelines.</a:t>
            </a:r>
            <a:endParaRPr lang="en-GB" sz="2800" b="1" spc="55" dirty="0">
              <a:solidFill>
                <a:srgbClr val="0000FF"/>
              </a:solidFill>
              <a:latin typeface="Rockwell" panose="02060603020205020403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75091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4" y="239037"/>
            <a:ext cx="1156318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300" dirty="0">
                <a:latin typeface="Rockwell" panose="02060603020205020403" pitchFamily="18" charset="0"/>
              </a:rPr>
              <a:t>What </a:t>
            </a:r>
            <a:r>
              <a:rPr sz="4000" spc="-114" dirty="0">
                <a:latin typeface="Rockwell" panose="02060603020205020403" pitchFamily="18" charset="0"/>
              </a:rPr>
              <a:t>is </a:t>
            </a:r>
            <a:r>
              <a:rPr sz="4000" spc="-155" dirty="0">
                <a:latin typeface="Rockwell" panose="02060603020205020403" pitchFamily="18" charset="0"/>
              </a:rPr>
              <a:t>Pipelining? </a:t>
            </a:r>
            <a:r>
              <a:rPr sz="4000" spc="-125" dirty="0">
                <a:latin typeface="Rockwell" panose="02060603020205020403" pitchFamily="18" charset="0"/>
              </a:rPr>
              <a:t>-</a:t>
            </a:r>
            <a:r>
              <a:rPr sz="4000" spc="195" dirty="0">
                <a:latin typeface="Rockwell" panose="02060603020205020403" pitchFamily="18" charset="0"/>
              </a:rPr>
              <a:t> </a:t>
            </a:r>
            <a:r>
              <a:rPr sz="4000" spc="-575" dirty="0">
                <a:latin typeface="Rockwell" panose="02060603020205020403" pitchFamily="18" charset="0"/>
              </a:rPr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57113" y="6405384"/>
            <a:ext cx="317583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11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701" y="1219200"/>
            <a:ext cx="11563185" cy="481349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065" rIns="0" bIns="0" rtlCol="0">
            <a:spAutoFit/>
          </a:bodyPr>
          <a:lstStyle/>
          <a:p>
            <a:pPr marL="355600" marR="8255" indent="-342900" algn="just">
              <a:lnSpc>
                <a:spcPct val="100000"/>
              </a:lnSpc>
              <a:spcBef>
                <a:spcPts val="600"/>
              </a:spcBef>
              <a:spcAft>
                <a:spcPts val="3000"/>
              </a:spcAft>
              <a:buFont typeface="Arial"/>
              <a:buChar char="•"/>
              <a:tabLst>
                <a:tab pos="355600" algn="l"/>
              </a:tabLst>
            </a:pPr>
            <a:r>
              <a:rPr sz="2800" b="1" spc="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Pipeline </a:t>
            </a:r>
            <a:r>
              <a:rPr sz="2800" b="1" spc="10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processing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is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an </a:t>
            </a:r>
            <a:r>
              <a:rPr sz="2800" spc="15" dirty="0">
                <a:latin typeface="Rockwell" panose="02060603020205020403" pitchFamily="18" charset="0"/>
                <a:cs typeface="Trebuchet MS"/>
              </a:rPr>
              <a:t>implementation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technique where  </a:t>
            </a:r>
            <a:r>
              <a:rPr sz="2800" spc="-10" dirty="0">
                <a:latin typeface="Rockwell" panose="02060603020205020403" pitchFamily="18" charset="0"/>
                <a:cs typeface="Trebuchet MS"/>
              </a:rPr>
              <a:t>arithmetic </a:t>
            </a:r>
            <a:r>
              <a:rPr sz="2800" spc="60" dirty="0">
                <a:latin typeface="Rockwell" panose="02060603020205020403" pitchFamily="18" charset="0"/>
                <a:cs typeface="Trebuchet MS"/>
              </a:rPr>
              <a:t>sub-operations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or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105" dirty="0">
                <a:latin typeface="Rockwell" panose="02060603020205020403" pitchFamily="18" charset="0"/>
                <a:cs typeface="Trebuchet MS"/>
              </a:rPr>
              <a:t>phases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of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computer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instruction 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cycle </a:t>
            </a:r>
            <a:r>
              <a:rPr sz="2800" b="1" spc="55" dirty="0">
                <a:latin typeface="Rockwell" panose="02060603020205020403" pitchFamily="18" charset="0"/>
                <a:cs typeface="Trebuchet MS"/>
              </a:rPr>
              <a:t>overlap </a:t>
            </a:r>
            <a:r>
              <a:rPr sz="2800" b="1" spc="120" dirty="0">
                <a:latin typeface="Rockwell" panose="02060603020205020403" pitchFamily="18" charset="0"/>
                <a:cs typeface="Trebuchet MS"/>
              </a:rPr>
              <a:t>in</a:t>
            </a:r>
            <a:r>
              <a:rPr sz="2800" b="1" spc="-57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25" dirty="0">
                <a:latin typeface="Rockwell" panose="02060603020205020403" pitchFamily="18" charset="0"/>
                <a:cs typeface="Trebuchet MS"/>
              </a:rPr>
              <a:t>execution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600"/>
              </a:spcBef>
              <a:spcAft>
                <a:spcPts val="3000"/>
              </a:spcAft>
              <a:buFont typeface="Arial"/>
              <a:buChar char="•"/>
              <a:tabLst>
                <a:tab pos="355600" algn="l"/>
              </a:tabLst>
            </a:pPr>
            <a:r>
              <a:rPr sz="2800" spc="75" dirty="0">
                <a:latin typeface="Rockwell" panose="02060603020205020403" pitchFamily="18" charset="0"/>
                <a:cs typeface="Trebuchet MS"/>
              </a:rPr>
              <a:t>Pipelining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exploits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parallelism </a:t>
            </a:r>
            <a:r>
              <a:rPr sz="2800" spc="120" dirty="0">
                <a:latin typeface="Rockwell" panose="02060603020205020403" pitchFamily="18" charset="0"/>
                <a:cs typeface="Trebuchet MS"/>
              </a:rPr>
              <a:t>among </a:t>
            </a:r>
            <a:r>
              <a:rPr sz="2800" spc="20" dirty="0">
                <a:latin typeface="Rockwell" panose="02060603020205020403" pitchFamily="18" charset="0"/>
                <a:cs typeface="Trebuchet MS"/>
              </a:rPr>
              <a:t>instructions </a:t>
            </a:r>
            <a:r>
              <a:rPr sz="2800" spc="165" dirty="0">
                <a:latin typeface="Rockwell" panose="02060603020205020403" pitchFamily="18" charset="0"/>
                <a:cs typeface="Trebuchet MS"/>
              </a:rPr>
              <a:t>by </a:t>
            </a:r>
            <a:r>
              <a:rPr sz="2800" spc="85" dirty="0">
                <a:latin typeface="Rockwell" panose="02060603020205020403" pitchFamily="18" charset="0"/>
                <a:cs typeface="Trebuchet MS"/>
              </a:rPr>
              <a:t>overlapping  </a:t>
            </a:r>
            <a:r>
              <a:rPr sz="2800" spc="-10" dirty="0">
                <a:latin typeface="Rockwell" panose="02060603020205020403" pitchFamily="18" charset="0"/>
                <a:cs typeface="Trebuchet MS"/>
              </a:rPr>
              <a:t>them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-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called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Instruction</a:t>
            </a:r>
            <a:r>
              <a:rPr sz="2800" b="1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Level</a:t>
            </a:r>
            <a:r>
              <a:rPr sz="2800" b="1" spc="-1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Parallelism</a:t>
            </a:r>
            <a:r>
              <a:rPr sz="2800" b="1" spc="-16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(ILP)</a:t>
            </a:r>
            <a:endParaRPr sz="2800" b="1" dirty="0">
              <a:solidFill>
                <a:srgbClr val="0000FF"/>
              </a:solidFill>
              <a:latin typeface="Rockwell" panose="02060603020205020403" pitchFamily="18" charset="0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00"/>
              </a:spcBef>
              <a:spcAft>
                <a:spcPts val="3000"/>
              </a:spcAft>
              <a:buFont typeface="Arial"/>
              <a:buChar char="•"/>
              <a:tabLst>
                <a:tab pos="355600" algn="l"/>
              </a:tabLst>
            </a:pPr>
            <a:r>
              <a:rPr sz="2800" spc="75" dirty="0">
                <a:latin typeface="Rockwell" panose="02060603020205020403" pitchFamily="18" charset="0"/>
                <a:cs typeface="Trebuchet MS"/>
              </a:rPr>
              <a:t>Pipelining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is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technique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of </a:t>
            </a:r>
            <a:r>
              <a:rPr sz="2800" b="1" spc="1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decomposing </a:t>
            </a:r>
            <a:r>
              <a:rPr sz="2800" b="1" spc="1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a </a:t>
            </a:r>
            <a:r>
              <a:rPr sz="2800" b="1" spc="8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sequential </a:t>
            </a:r>
            <a:r>
              <a:rPr sz="2800" b="1" spc="10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process  </a:t>
            </a:r>
            <a:r>
              <a:rPr sz="2800" b="1" spc="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into </a:t>
            </a:r>
            <a:r>
              <a:rPr sz="2800" b="1" spc="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sub-operations, </a:t>
            </a:r>
            <a:r>
              <a:rPr sz="2800" b="1" spc="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with </a:t>
            </a:r>
            <a:r>
              <a:rPr sz="2800" b="1" spc="8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each </a:t>
            </a:r>
            <a:r>
              <a:rPr sz="2800" b="1" spc="10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sub-process</a:t>
            </a:r>
            <a:r>
              <a:rPr sz="2800" b="1" spc="10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45" dirty="0">
                <a:latin typeface="Rockwell" panose="02060603020205020403" pitchFamily="18" charset="0"/>
                <a:cs typeface="Trebuchet MS"/>
              </a:rPr>
              <a:t>being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executed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in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  </a:t>
            </a:r>
            <a:r>
              <a:rPr sz="2800" spc="70" dirty="0">
                <a:latin typeface="Rockwell" panose="02060603020205020403" pitchFamily="18" charset="0"/>
                <a:cs typeface="Trebuchet MS"/>
              </a:rPr>
              <a:t>special </a:t>
            </a:r>
            <a:r>
              <a:rPr sz="2800" spc="55" dirty="0">
                <a:latin typeface="Rockwell" panose="02060603020205020403" pitchFamily="18" charset="0"/>
                <a:cs typeface="Trebuchet MS"/>
              </a:rPr>
              <a:t>dedicated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segment 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that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operates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concurrently 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with </a:t>
            </a:r>
            <a:r>
              <a:rPr sz="2800" spc="-5" dirty="0">
                <a:latin typeface="Rockwell" panose="02060603020205020403" pitchFamily="18" charset="0"/>
                <a:cs typeface="Trebuchet MS"/>
              </a:rPr>
              <a:t>all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other  </a:t>
            </a:r>
            <a:r>
              <a:rPr sz="2800" spc="85" dirty="0">
                <a:latin typeface="Rockwell" panose="02060603020205020403" pitchFamily="18" charset="0"/>
                <a:cs typeface="Trebuchet MS"/>
              </a:rPr>
              <a:t>segments</a:t>
            </a:r>
            <a:endParaRPr sz="2800" dirty="0">
              <a:latin typeface="Rockwell" panose="02060603020205020403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53738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3" y="239037"/>
            <a:ext cx="1156849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300" dirty="0">
                <a:latin typeface="Rockwell" panose="02060603020205020403" pitchFamily="18" charset="0"/>
              </a:rPr>
              <a:t>What </a:t>
            </a:r>
            <a:r>
              <a:rPr sz="4000" spc="-114" dirty="0">
                <a:latin typeface="Rockwell" panose="02060603020205020403" pitchFamily="18" charset="0"/>
              </a:rPr>
              <a:t>is </a:t>
            </a:r>
            <a:r>
              <a:rPr sz="4000" spc="-155" dirty="0">
                <a:latin typeface="Rockwell" panose="02060603020205020403" pitchFamily="18" charset="0"/>
              </a:rPr>
              <a:t>a </a:t>
            </a:r>
            <a:r>
              <a:rPr sz="4000" spc="-220" dirty="0">
                <a:latin typeface="Rockwell" panose="02060603020205020403" pitchFamily="18" charset="0"/>
              </a:rPr>
              <a:t>Pipeline? </a:t>
            </a:r>
            <a:r>
              <a:rPr sz="4000" spc="-125" dirty="0">
                <a:latin typeface="Rockwell" panose="02060603020205020403" pitchFamily="18" charset="0"/>
              </a:rPr>
              <a:t>-</a:t>
            </a:r>
            <a:r>
              <a:rPr sz="4000" spc="-350" dirty="0">
                <a:latin typeface="Rockwell" panose="02060603020205020403" pitchFamily="18" charset="0"/>
              </a:rPr>
              <a:t> </a:t>
            </a:r>
            <a:r>
              <a:rPr sz="4000" spc="-575" dirty="0">
                <a:latin typeface="Rockwell" panose="02060603020205020403" pitchFamily="18" charset="0"/>
              </a:rPr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57113" y="6405384"/>
            <a:ext cx="317583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12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700" y="1190937"/>
            <a:ext cx="11558739" cy="395685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55" dirty="0">
                <a:latin typeface="Rockwell" panose="02060603020205020403" pitchFamily="18" charset="0"/>
                <a:cs typeface="Trebuchet MS"/>
              </a:rPr>
              <a:t>Pipeline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is</a:t>
            </a:r>
            <a:r>
              <a:rPr sz="2800" spc="-18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like</a:t>
            </a:r>
            <a:r>
              <a:rPr sz="2800" spc="-17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an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automobile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5" dirty="0">
                <a:latin typeface="Rockwell" panose="02060603020205020403" pitchFamily="18" charset="0"/>
                <a:cs typeface="Trebuchet MS"/>
              </a:rPr>
              <a:t>assembly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line.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30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pipeline</a:t>
            </a:r>
            <a:r>
              <a:rPr sz="2800" spc="-17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has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0" dirty="0">
                <a:latin typeface="Rockwell" panose="02060603020205020403" pitchFamily="18" charset="0"/>
                <a:cs typeface="Trebuchet MS"/>
              </a:rPr>
              <a:t>many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5" dirty="0">
                <a:latin typeface="Rockwell" panose="02060603020205020403" pitchFamily="18" charset="0"/>
                <a:cs typeface="Trebuchet MS"/>
              </a:rPr>
              <a:t>steps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or</a:t>
            </a:r>
            <a:r>
              <a:rPr sz="2800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14" dirty="0">
                <a:latin typeface="Rockwell" panose="02060603020205020403" pitchFamily="18" charset="0"/>
                <a:cs typeface="Trebuchet MS"/>
              </a:rPr>
              <a:t>stages</a:t>
            </a:r>
            <a:r>
              <a:rPr sz="2800" b="1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35" dirty="0">
                <a:latin typeface="Rockwell" panose="02060603020205020403" pitchFamily="18" charset="0"/>
                <a:cs typeface="Trebuchet MS"/>
              </a:rPr>
              <a:t>or</a:t>
            </a:r>
            <a:r>
              <a:rPr sz="2800" b="1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05" dirty="0">
                <a:latin typeface="Rockwell" panose="02060603020205020403" pitchFamily="18" charset="0"/>
                <a:cs typeface="Trebuchet MS"/>
              </a:rPr>
              <a:t>segments.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441959" indent="-429895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Font typeface="Arial"/>
              <a:buChar char="•"/>
              <a:tabLst>
                <a:tab pos="441959" algn="l"/>
                <a:tab pos="442595" algn="l"/>
              </a:tabLst>
            </a:pPr>
            <a:r>
              <a:rPr sz="2800" spc="100" dirty="0">
                <a:latin typeface="Rockwell" panose="02060603020205020403" pitchFamily="18" charset="0"/>
                <a:cs typeface="Trebuchet MS"/>
              </a:rPr>
              <a:t>Each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stage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carries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5" dirty="0">
                <a:latin typeface="Rockwell" panose="02060603020205020403" pitchFamily="18" charset="0"/>
                <a:cs typeface="Trebuchet MS"/>
              </a:rPr>
              <a:t>out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different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latin typeface="Rockwell" panose="02060603020205020403" pitchFamily="18" charset="0"/>
                <a:cs typeface="Trebuchet MS"/>
              </a:rPr>
              <a:t>part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800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lang="en-GB" sz="2800" spc="-160" dirty="0">
                <a:latin typeface="Rockwell" panose="02060603020205020403" pitchFamily="18" charset="0"/>
                <a:cs typeface="Trebuchet MS"/>
              </a:rPr>
              <a:t>an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instruction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or</a:t>
            </a:r>
            <a:r>
              <a:rPr sz="2800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operation.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428625" indent="-416559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Font typeface="Arial"/>
              <a:buChar char="•"/>
              <a:tabLst>
                <a:tab pos="428625" algn="l"/>
                <a:tab pos="429259" algn="l"/>
              </a:tabLst>
            </a:pPr>
            <a:r>
              <a:rPr sz="2800" spc="5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stages</a:t>
            </a:r>
            <a:r>
              <a:rPr sz="2800" spc="-1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are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connected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90" dirty="0"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0" dirty="0">
                <a:latin typeface="Rockwell" panose="02060603020205020403" pitchFamily="18" charset="0"/>
                <a:cs typeface="Trebuchet MS"/>
              </a:rPr>
              <a:t>form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pipe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Font typeface="Arial"/>
              <a:buChar char="•"/>
              <a:tabLst>
                <a:tab pos="443865" algn="l"/>
                <a:tab pos="444500" algn="l"/>
              </a:tabLst>
            </a:pPr>
            <a:r>
              <a:rPr sz="2800" spc="185" dirty="0">
                <a:latin typeface="Rockwell" panose="02060603020205020403" pitchFamily="18" charset="0"/>
                <a:cs typeface="Trebuchet MS"/>
              </a:rPr>
              <a:t>An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instruction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or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operation </a:t>
            </a:r>
            <a:r>
              <a:rPr sz="2800" spc="25" dirty="0">
                <a:latin typeface="Rockwell" panose="02060603020205020403" pitchFamily="18" charset="0"/>
                <a:cs typeface="Trebuchet MS"/>
              </a:rPr>
              <a:t>enters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through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one </a:t>
            </a:r>
            <a:r>
              <a:rPr sz="2800" spc="105" dirty="0">
                <a:latin typeface="Rockwell" panose="02060603020205020403" pitchFamily="18" charset="0"/>
                <a:cs typeface="Trebuchet MS"/>
              </a:rPr>
              <a:t>end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and </a:t>
            </a:r>
            <a:r>
              <a:rPr sz="2800" spc="105" dirty="0">
                <a:latin typeface="Rockwell" panose="02060603020205020403" pitchFamily="18" charset="0"/>
                <a:cs typeface="Trebuchet MS"/>
              </a:rPr>
              <a:t>progresses 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through</a:t>
            </a:r>
            <a:r>
              <a:rPr sz="2800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stages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90" dirty="0"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exit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at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other</a:t>
            </a:r>
            <a:r>
              <a:rPr sz="2800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end.</a:t>
            </a:r>
            <a:endParaRPr sz="2800" dirty="0">
              <a:latin typeface="Rockwell" panose="02060603020205020403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08979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603" y="121623"/>
            <a:ext cx="1175334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229" dirty="0">
                <a:latin typeface="Rockwell" panose="02060603020205020403" pitchFamily="18" charset="0"/>
              </a:rPr>
              <a:t>Pipeline</a:t>
            </a:r>
            <a:r>
              <a:rPr sz="4400" spc="30" dirty="0">
                <a:latin typeface="Rockwell" panose="02060603020205020403" pitchFamily="18" charset="0"/>
              </a:rPr>
              <a:t> </a:t>
            </a:r>
            <a:r>
              <a:rPr sz="4400" spc="-250" dirty="0">
                <a:latin typeface="Rockwell" panose="02060603020205020403" pitchFamily="18" charset="0"/>
              </a:rPr>
              <a:t>Characteristics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57113" y="6405384"/>
            <a:ext cx="317583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13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603" y="1066800"/>
            <a:ext cx="11637184" cy="50070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tabLst>
                <a:tab pos="355600" algn="l"/>
              </a:tabLst>
            </a:pPr>
            <a:r>
              <a:rPr sz="2600" b="1" spc="85" dirty="0">
                <a:latin typeface="Rockwell" panose="02060603020205020403" pitchFamily="18" charset="0"/>
                <a:cs typeface="Trebuchet MS"/>
              </a:rPr>
              <a:t>Throughput: </a:t>
            </a:r>
            <a:r>
              <a:rPr sz="2600" b="1" spc="17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Number </a:t>
            </a:r>
            <a:r>
              <a:rPr sz="2600" b="1" spc="-1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of </a:t>
            </a:r>
            <a:r>
              <a:rPr sz="2600" b="1" spc="1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items</a:t>
            </a:r>
            <a:r>
              <a:rPr sz="2600" b="1" spc="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65" dirty="0">
                <a:latin typeface="Rockwell" panose="02060603020205020403" pitchFamily="18" charset="0"/>
                <a:cs typeface="Trebuchet MS"/>
              </a:rPr>
              <a:t>(cars, </a:t>
            </a:r>
            <a:r>
              <a:rPr sz="2600" b="1" spc="80" dirty="0">
                <a:latin typeface="Rockwell" panose="02060603020205020403" pitchFamily="18" charset="0"/>
                <a:cs typeface="Trebuchet MS"/>
              </a:rPr>
              <a:t>instructions,  </a:t>
            </a:r>
            <a:r>
              <a:rPr sz="2600" spc="45" dirty="0">
                <a:latin typeface="Rockwell" panose="02060603020205020403" pitchFamily="18" charset="0"/>
                <a:cs typeface="Trebuchet MS"/>
              </a:rPr>
              <a:t>operations) </a:t>
            </a:r>
            <a:r>
              <a:rPr sz="2600" b="1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that </a:t>
            </a:r>
            <a:r>
              <a:rPr sz="2600" b="1" spc="-1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exit </a:t>
            </a:r>
            <a:r>
              <a:rPr sz="2600" b="1" spc="-4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the </a:t>
            </a:r>
            <a:r>
              <a:rPr sz="2600" b="1" spc="8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pipeline </a:t>
            </a:r>
            <a:r>
              <a:rPr sz="2600" b="1" spc="1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per </a:t>
            </a:r>
            <a:r>
              <a:rPr sz="2600" b="1" spc="-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unit </a:t>
            </a:r>
            <a:r>
              <a:rPr sz="2600" b="1" spc="-8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time</a:t>
            </a:r>
            <a:r>
              <a:rPr sz="2600" spc="-80" dirty="0">
                <a:latin typeface="Rockwell" panose="02060603020205020403" pitchFamily="18" charset="0"/>
                <a:cs typeface="Trebuchet MS"/>
              </a:rPr>
              <a:t>. </a:t>
            </a:r>
            <a:r>
              <a:rPr sz="2600" spc="65" dirty="0">
                <a:latin typeface="Rockwell" panose="02060603020205020403" pitchFamily="18" charset="0"/>
                <a:cs typeface="Trebuchet MS"/>
              </a:rPr>
              <a:t>Ex: </a:t>
            </a:r>
            <a:r>
              <a:rPr sz="2600" spc="50" dirty="0">
                <a:latin typeface="Rockwell" panose="02060603020205020403" pitchFamily="18" charset="0"/>
                <a:cs typeface="Trebuchet MS"/>
              </a:rPr>
              <a:t>1 </a:t>
            </a:r>
            <a:r>
              <a:rPr sz="2600" spc="-10" dirty="0">
                <a:latin typeface="Rockwell" panose="02060603020205020403" pitchFamily="18" charset="0"/>
                <a:cs typeface="Trebuchet MS"/>
              </a:rPr>
              <a:t>inst</a:t>
            </a:r>
            <a:r>
              <a:rPr sz="2600" spc="-40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30" dirty="0">
                <a:latin typeface="Rockwell" panose="02060603020205020403" pitchFamily="18" charset="0"/>
                <a:cs typeface="Trebuchet MS"/>
              </a:rPr>
              <a:t>/clock  </a:t>
            </a:r>
            <a:r>
              <a:rPr sz="2600" spc="20" dirty="0">
                <a:latin typeface="Rockwell" panose="02060603020205020403" pitchFamily="18" charset="0"/>
                <a:cs typeface="Trebuchet MS"/>
              </a:rPr>
              <a:t>cycle,</a:t>
            </a:r>
            <a:r>
              <a:rPr sz="2600" spc="-40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45" dirty="0">
                <a:latin typeface="Rockwell" panose="02060603020205020403" pitchFamily="18" charset="0"/>
                <a:cs typeface="Trebuchet MS"/>
              </a:rPr>
              <a:t>10</a:t>
            </a:r>
            <a:r>
              <a:rPr sz="2600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15" dirty="0">
                <a:latin typeface="Rockwell" panose="02060603020205020403" pitchFamily="18" charset="0"/>
                <a:cs typeface="Trebuchet MS"/>
              </a:rPr>
              <a:t>cars/</a:t>
            </a:r>
            <a:r>
              <a:rPr sz="26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25" dirty="0">
                <a:latin typeface="Rockwell" panose="02060603020205020403" pitchFamily="18" charset="0"/>
                <a:cs typeface="Trebuchet MS"/>
              </a:rPr>
              <a:t>hour,</a:t>
            </a:r>
            <a:r>
              <a:rPr sz="2600" spc="-39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45" dirty="0">
                <a:latin typeface="Rockwell" panose="02060603020205020403" pitchFamily="18" charset="0"/>
                <a:cs typeface="Trebuchet MS"/>
              </a:rPr>
              <a:t>10</a:t>
            </a:r>
            <a:r>
              <a:rPr sz="26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10" dirty="0">
                <a:latin typeface="Rockwell" panose="02060603020205020403" pitchFamily="18" charset="0"/>
                <a:cs typeface="Trebuchet MS"/>
              </a:rPr>
              <a:t>floating</a:t>
            </a:r>
            <a:r>
              <a:rPr sz="26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20" dirty="0">
                <a:latin typeface="Rockwell" panose="02060603020205020403" pitchFamily="18" charset="0"/>
                <a:cs typeface="Trebuchet MS"/>
              </a:rPr>
              <a:t>point</a:t>
            </a:r>
            <a:r>
              <a:rPr sz="26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45" dirty="0">
                <a:latin typeface="Rockwell" panose="02060603020205020403" pitchFamily="18" charset="0"/>
                <a:cs typeface="Trebuchet MS"/>
              </a:rPr>
              <a:t>operations</a:t>
            </a:r>
            <a:r>
              <a:rPr sz="26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20" dirty="0">
                <a:latin typeface="Rockwell" panose="02060603020205020403" pitchFamily="18" charset="0"/>
                <a:cs typeface="Trebuchet MS"/>
              </a:rPr>
              <a:t>/cycle.</a:t>
            </a:r>
            <a:endParaRPr sz="2600" dirty="0">
              <a:latin typeface="Rockwell" panose="02060603020205020403" pitchFamily="18" charset="0"/>
              <a:cs typeface="Trebuchet MS"/>
            </a:endParaRPr>
          </a:p>
          <a:p>
            <a:pPr marL="451484" indent="-439420" algn="just">
              <a:lnSpc>
                <a:spcPts val="342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tabLst>
                <a:tab pos="452120" algn="l"/>
              </a:tabLst>
            </a:pPr>
            <a:r>
              <a:rPr sz="2600" b="1" spc="70" dirty="0">
                <a:latin typeface="Rockwell" panose="02060603020205020403" pitchFamily="18" charset="0"/>
                <a:cs typeface="Trebuchet MS"/>
              </a:rPr>
              <a:t>Stage </a:t>
            </a:r>
            <a:r>
              <a:rPr sz="2600" b="1" spc="65" dirty="0">
                <a:latin typeface="Rockwell" panose="02060603020205020403" pitchFamily="18" charset="0"/>
                <a:cs typeface="Trebuchet MS"/>
              </a:rPr>
              <a:t>time: </a:t>
            </a:r>
            <a:r>
              <a:rPr sz="2600" b="1" spc="85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600" b="1" spc="105" dirty="0">
                <a:latin typeface="Rockwell" panose="02060603020205020403" pitchFamily="18" charset="0"/>
                <a:cs typeface="Trebuchet MS"/>
              </a:rPr>
              <a:t>pipeline </a:t>
            </a:r>
            <a:r>
              <a:rPr sz="2600" b="1" spc="100" dirty="0">
                <a:latin typeface="Rockwell" panose="02060603020205020403" pitchFamily="18" charset="0"/>
                <a:cs typeface="Trebuchet MS"/>
              </a:rPr>
              <a:t>designer’s </a:t>
            </a:r>
            <a:r>
              <a:rPr sz="2600" b="1" spc="160" dirty="0">
                <a:latin typeface="Rockwell" panose="02060603020205020403" pitchFamily="18" charset="0"/>
                <a:cs typeface="Trebuchet MS"/>
              </a:rPr>
              <a:t>goal </a:t>
            </a:r>
            <a:r>
              <a:rPr sz="2600" b="1" spc="200" dirty="0">
                <a:latin typeface="Rockwell" panose="02060603020205020403" pitchFamily="18" charset="0"/>
                <a:cs typeface="Trebuchet MS"/>
              </a:rPr>
              <a:t>is </a:t>
            </a:r>
            <a:r>
              <a:rPr sz="2600" b="1" spc="-70" dirty="0">
                <a:latin typeface="Rockwell" panose="02060603020205020403" pitchFamily="18" charset="0"/>
                <a:cs typeface="Trebuchet MS"/>
              </a:rPr>
              <a:t>to </a:t>
            </a:r>
            <a:r>
              <a:rPr sz="2600" b="1" spc="120" dirty="0">
                <a:latin typeface="Rockwell" panose="02060603020205020403" pitchFamily="18" charset="0"/>
                <a:cs typeface="Trebuchet MS"/>
              </a:rPr>
              <a:t>balance</a:t>
            </a:r>
            <a:r>
              <a:rPr sz="2600" b="1" spc="6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-25" dirty="0">
                <a:latin typeface="Rockwell" panose="02060603020205020403" pitchFamily="18" charset="0"/>
                <a:cs typeface="Trebuchet MS"/>
              </a:rPr>
              <a:t>the</a:t>
            </a:r>
            <a:endParaRPr sz="2600" dirty="0">
              <a:latin typeface="Rockwell" panose="02060603020205020403" pitchFamily="18" charset="0"/>
              <a:cs typeface="Trebuchet MS"/>
            </a:endParaRPr>
          </a:p>
          <a:p>
            <a:pPr marL="355600" algn="just">
              <a:lnSpc>
                <a:spcPts val="3420"/>
              </a:lnSpc>
              <a:spcBef>
                <a:spcPts val="600"/>
              </a:spcBef>
              <a:spcAft>
                <a:spcPts val="600"/>
              </a:spcAft>
            </a:pPr>
            <a:r>
              <a:rPr sz="2600" spc="50" dirty="0">
                <a:latin typeface="Rockwell" panose="02060603020205020403" pitchFamily="18" charset="0"/>
                <a:cs typeface="Trebuchet MS"/>
              </a:rPr>
              <a:t>length</a:t>
            </a:r>
            <a:r>
              <a:rPr sz="26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65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6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60" dirty="0">
                <a:latin typeface="Rockwell" panose="02060603020205020403" pitchFamily="18" charset="0"/>
                <a:cs typeface="Trebuchet MS"/>
              </a:rPr>
              <a:t>each</a:t>
            </a:r>
            <a:r>
              <a:rPr sz="26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80" dirty="0">
                <a:latin typeface="Rockwell" panose="02060603020205020403" pitchFamily="18" charset="0"/>
                <a:cs typeface="Trebuchet MS"/>
              </a:rPr>
              <a:t>pipeline</a:t>
            </a:r>
            <a:r>
              <a:rPr sz="26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5" dirty="0">
                <a:latin typeface="Rockwell" panose="02060603020205020403" pitchFamily="18" charset="0"/>
                <a:cs typeface="Trebuchet MS"/>
              </a:rPr>
              <a:t>stage</a:t>
            </a:r>
            <a:r>
              <a:rPr lang="en-US" sz="2600" spc="-5" dirty="0">
                <a:latin typeface="Rockwell" panose="02060603020205020403" pitchFamily="18" charset="0"/>
                <a:cs typeface="Trebuchet MS"/>
              </a:rPr>
              <a:t>(b</a:t>
            </a:r>
            <a:r>
              <a:rPr sz="2600" spc="65" dirty="0">
                <a:latin typeface="Rockwell" panose="02060603020205020403" pitchFamily="18" charset="0"/>
                <a:cs typeface="Trebuchet MS"/>
              </a:rPr>
              <a:t>alanced</a:t>
            </a:r>
            <a:r>
              <a:rPr sz="26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40" dirty="0">
                <a:latin typeface="Rockwell" panose="02060603020205020403" pitchFamily="18" charset="0"/>
                <a:cs typeface="Trebuchet MS"/>
              </a:rPr>
              <a:t>pipeline</a:t>
            </a:r>
            <a:r>
              <a:rPr lang="en-US" sz="2600" spc="40" dirty="0">
                <a:latin typeface="Rockwell" panose="02060603020205020403" pitchFamily="18" charset="0"/>
                <a:cs typeface="Trebuchet MS"/>
              </a:rPr>
              <a:t>)</a:t>
            </a:r>
            <a:r>
              <a:rPr sz="2600" spc="40" dirty="0">
                <a:latin typeface="Rockwell" panose="02060603020205020403" pitchFamily="18" charset="0"/>
                <a:cs typeface="Trebuchet MS"/>
              </a:rPr>
              <a:t>.</a:t>
            </a:r>
            <a:r>
              <a:rPr sz="2600" spc="-365" dirty="0">
                <a:latin typeface="Rockwell" panose="02060603020205020403" pitchFamily="18" charset="0"/>
                <a:cs typeface="Trebuchet MS"/>
              </a:rPr>
              <a:t> </a:t>
            </a:r>
            <a:endParaRPr lang="en-GB" sz="2600" spc="-365" dirty="0">
              <a:latin typeface="Rockwell" panose="02060603020205020403" pitchFamily="18" charset="0"/>
              <a:cs typeface="Trebuchet MS"/>
            </a:endParaRPr>
          </a:p>
          <a:p>
            <a:pPr marL="355600" algn="just">
              <a:lnSpc>
                <a:spcPts val="3420"/>
              </a:lnSpc>
              <a:spcBef>
                <a:spcPts val="600"/>
              </a:spcBef>
              <a:spcAft>
                <a:spcPts val="600"/>
              </a:spcAft>
            </a:pPr>
            <a:r>
              <a:rPr sz="2600" spc="85" dirty="0">
                <a:latin typeface="Rockwell" panose="02060603020205020403" pitchFamily="18" charset="0"/>
                <a:cs typeface="Trebuchet MS"/>
              </a:rPr>
              <a:t>In</a:t>
            </a:r>
            <a:r>
              <a:rPr sz="26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40" dirty="0">
                <a:latin typeface="Rockwell" panose="02060603020205020403" pitchFamily="18" charset="0"/>
                <a:cs typeface="Trebuchet MS"/>
              </a:rPr>
              <a:t>general,</a:t>
            </a:r>
            <a:r>
              <a:rPr lang="en-GB" sz="2600" spc="40" dirty="0">
                <a:latin typeface="Rockwell" panose="02060603020205020403" pitchFamily="18" charset="0"/>
                <a:cs typeface="Trebuchet MS"/>
              </a:rPr>
              <a:t> </a:t>
            </a:r>
            <a:r>
              <a:rPr lang="en-US" sz="2600" b="1" spc="55" dirty="0">
                <a:latin typeface="Rockwell" panose="02060603020205020403" pitchFamily="18" charset="0"/>
                <a:cs typeface="Trebuchet MS"/>
              </a:rPr>
              <a:t>S</a:t>
            </a:r>
            <a:r>
              <a:rPr sz="2600" b="1" spc="55" dirty="0">
                <a:latin typeface="Rockwell" panose="02060603020205020403" pitchFamily="18" charset="0"/>
                <a:cs typeface="Trebuchet MS"/>
              </a:rPr>
              <a:t>tage</a:t>
            </a:r>
            <a:r>
              <a:rPr sz="2600" b="1" spc="-17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-25" dirty="0">
                <a:latin typeface="Rockwell" panose="02060603020205020403" pitchFamily="18" charset="0"/>
                <a:cs typeface="Trebuchet MS"/>
              </a:rPr>
              <a:t>time</a:t>
            </a:r>
            <a:r>
              <a:rPr sz="2600" b="1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425" dirty="0">
                <a:latin typeface="Rockwell" panose="02060603020205020403" pitchFamily="18" charset="0"/>
                <a:cs typeface="Trebuchet MS"/>
              </a:rPr>
              <a:t>=</a:t>
            </a:r>
            <a:r>
              <a:rPr sz="2600" spc="-28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40" dirty="0">
                <a:latin typeface="Rockwell" panose="02060603020205020403" pitchFamily="18" charset="0"/>
                <a:cs typeface="Trebuchet MS"/>
              </a:rPr>
              <a:t>Time</a:t>
            </a:r>
            <a:r>
              <a:rPr sz="2600" b="1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120" dirty="0">
                <a:latin typeface="Rockwell" panose="02060603020205020403" pitchFamily="18" charset="0"/>
                <a:cs typeface="Trebuchet MS"/>
              </a:rPr>
              <a:t>per</a:t>
            </a:r>
            <a:r>
              <a:rPr sz="2600" b="1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10" dirty="0">
                <a:latin typeface="Rockwell" panose="02060603020205020403" pitchFamily="18" charset="0"/>
                <a:cs typeface="Trebuchet MS"/>
              </a:rPr>
              <a:t>instruction</a:t>
            </a:r>
            <a:r>
              <a:rPr sz="2600" b="1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90" dirty="0">
                <a:latin typeface="Rockwell" panose="02060603020205020403" pitchFamily="18" charset="0"/>
                <a:cs typeface="Trebuchet MS"/>
              </a:rPr>
              <a:t>on</a:t>
            </a:r>
            <a:r>
              <a:rPr sz="2600" b="1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80" dirty="0">
                <a:latin typeface="Rockwell" panose="02060603020205020403" pitchFamily="18" charset="0"/>
                <a:cs typeface="Trebuchet MS"/>
              </a:rPr>
              <a:t>non-pipelined</a:t>
            </a:r>
            <a:r>
              <a:rPr sz="2600" b="1" spc="-10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60" dirty="0">
                <a:latin typeface="Rockwell" panose="02060603020205020403" pitchFamily="18" charset="0"/>
                <a:cs typeface="Trebuchet MS"/>
              </a:rPr>
              <a:t>machine</a:t>
            </a:r>
            <a:r>
              <a:rPr sz="2600" spc="-260" dirty="0">
                <a:latin typeface="Rockwell" panose="02060603020205020403" pitchFamily="18" charset="0"/>
                <a:cs typeface="Trebuchet MS"/>
              </a:rPr>
              <a:t>/ </a:t>
            </a:r>
            <a:r>
              <a:rPr sz="2600" b="1" spc="105" dirty="0">
                <a:latin typeface="Rockwell" panose="02060603020205020403" pitchFamily="18" charset="0"/>
                <a:cs typeface="Trebuchet MS"/>
              </a:rPr>
              <a:t>number </a:t>
            </a:r>
            <a:r>
              <a:rPr sz="2600" b="1" spc="-65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600" b="1" spc="-409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30" dirty="0">
                <a:latin typeface="Rockwell" panose="02060603020205020403" pitchFamily="18" charset="0"/>
                <a:cs typeface="Trebuchet MS"/>
              </a:rPr>
              <a:t>stages</a:t>
            </a:r>
            <a:endParaRPr sz="2600" dirty="0">
              <a:latin typeface="Rockwell" panose="02060603020205020403" pitchFamily="18" charset="0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tabLst>
                <a:tab pos="355600" algn="l"/>
              </a:tabLst>
            </a:pPr>
            <a:r>
              <a:rPr sz="2600" spc="85" dirty="0">
                <a:latin typeface="Rockwell" panose="02060603020205020403" pitchFamily="18" charset="0"/>
                <a:cs typeface="Trebuchet MS"/>
              </a:rPr>
              <a:t>In</a:t>
            </a:r>
            <a:r>
              <a:rPr sz="2600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75" dirty="0">
                <a:latin typeface="Rockwell" panose="02060603020205020403" pitchFamily="18" charset="0"/>
                <a:cs typeface="Trebuchet MS"/>
              </a:rPr>
              <a:t>many</a:t>
            </a:r>
            <a:r>
              <a:rPr sz="26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15" dirty="0">
                <a:latin typeface="Rockwell" panose="02060603020205020403" pitchFamily="18" charset="0"/>
                <a:cs typeface="Trebuchet MS"/>
              </a:rPr>
              <a:t>instances,</a:t>
            </a:r>
            <a:r>
              <a:rPr sz="2600" spc="-38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55" dirty="0">
                <a:latin typeface="Rockwell" panose="02060603020205020403" pitchFamily="18" charset="0"/>
                <a:cs typeface="Trebuchet MS"/>
              </a:rPr>
              <a:t>stage</a:t>
            </a:r>
            <a:r>
              <a:rPr sz="2600" b="1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-25" dirty="0">
                <a:latin typeface="Rockwell" panose="02060603020205020403" pitchFamily="18" charset="0"/>
                <a:cs typeface="Trebuchet MS"/>
              </a:rPr>
              <a:t>time</a:t>
            </a:r>
            <a:r>
              <a:rPr sz="2600" b="1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425" dirty="0">
                <a:latin typeface="Rockwell" panose="02060603020205020403" pitchFamily="18" charset="0"/>
                <a:cs typeface="Trebuchet MS"/>
              </a:rPr>
              <a:t>=</a:t>
            </a:r>
            <a:r>
              <a:rPr sz="2600" b="1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85" dirty="0">
                <a:latin typeface="Rockwell" panose="02060603020205020403" pitchFamily="18" charset="0"/>
                <a:cs typeface="Trebuchet MS"/>
              </a:rPr>
              <a:t>max</a:t>
            </a:r>
            <a:r>
              <a:rPr sz="2600" b="1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15" dirty="0">
                <a:latin typeface="Rockwell" panose="02060603020205020403" pitchFamily="18" charset="0"/>
                <a:cs typeface="Trebuchet MS"/>
              </a:rPr>
              <a:t>(times</a:t>
            </a:r>
            <a:r>
              <a:rPr sz="2600" b="1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dirty="0">
                <a:latin typeface="Rockwell" panose="02060603020205020403" pitchFamily="18" charset="0"/>
                <a:cs typeface="Trebuchet MS"/>
              </a:rPr>
              <a:t>for</a:t>
            </a:r>
            <a:r>
              <a:rPr sz="2600" b="1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-5" dirty="0">
                <a:latin typeface="Rockwell" panose="02060603020205020403" pitchFamily="18" charset="0"/>
                <a:cs typeface="Trebuchet MS"/>
              </a:rPr>
              <a:t>all</a:t>
            </a:r>
            <a:r>
              <a:rPr sz="2600" b="1" spc="-17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30" dirty="0">
                <a:latin typeface="Rockwell" panose="02060603020205020403" pitchFamily="18" charset="0"/>
                <a:cs typeface="Trebuchet MS"/>
              </a:rPr>
              <a:t>stages)</a:t>
            </a:r>
            <a:r>
              <a:rPr sz="2600" spc="30" dirty="0">
                <a:latin typeface="Rockwell" panose="02060603020205020403" pitchFamily="18" charset="0"/>
                <a:cs typeface="Trebuchet MS"/>
              </a:rPr>
              <a:t>.</a:t>
            </a:r>
            <a:endParaRPr sz="2600" dirty="0">
              <a:latin typeface="Rockwell" panose="02060603020205020403" pitchFamily="18" charset="0"/>
              <a:cs typeface="Trebuchet MS"/>
            </a:endParaRPr>
          </a:p>
          <a:p>
            <a:pPr marL="355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2600" b="1" spc="395" dirty="0">
                <a:latin typeface="Rockwell" panose="02060603020205020403" pitchFamily="18" charset="0"/>
                <a:cs typeface="Trebuchet MS"/>
              </a:rPr>
              <a:t>CPI</a:t>
            </a:r>
            <a:r>
              <a:rPr sz="2600" b="1" spc="-40" dirty="0">
                <a:latin typeface="Rockwell" panose="02060603020205020403" pitchFamily="18" charset="0"/>
                <a:cs typeface="Trebuchet MS"/>
              </a:rPr>
              <a:t>:</a:t>
            </a:r>
            <a:r>
              <a:rPr lang="en-GB" sz="2600" b="1" spc="-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-38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120" dirty="0">
                <a:latin typeface="Rockwell" panose="02060603020205020403" pitchFamily="18" charset="0"/>
                <a:cs typeface="Trebuchet MS"/>
              </a:rPr>
              <a:t>Pipeline</a:t>
            </a:r>
            <a:r>
              <a:rPr sz="2600" b="1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145" dirty="0">
                <a:latin typeface="Rockwell" panose="02060603020205020403" pitchFamily="18" charset="0"/>
                <a:cs typeface="Trebuchet MS"/>
              </a:rPr>
              <a:t>yields</a:t>
            </a:r>
            <a:r>
              <a:rPr sz="2600" b="1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15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600" b="1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60" dirty="0">
                <a:latin typeface="Rockwell" panose="02060603020205020403" pitchFamily="18" charset="0"/>
                <a:cs typeface="Trebuchet MS"/>
              </a:rPr>
              <a:t>reduction</a:t>
            </a:r>
            <a:r>
              <a:rPr sz="2600" b="1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135" dirty="0">
                <a:latin typeface="Rockwell" panose="02060603020205020403" pitchFamily="18" charset="0"/>
                <a:cs typeface="Trebuchet MS"/>
              </a:rPr>
              <a:t>in</a:t>
            </a:r>
            <a:r>
              <a:rPr sz="2600" b="1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1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cycles</a:t>
            </a:r>
            <a:r>
              <a:rPr sz="2600" b="1" spc="-14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per</a:t>
            </a:r>
            <a:r>
              <a:rPr sz="2600" b="1" spc="-1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7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instruction</a:t>
            </a:r>
            <a:endParaRPr sz="2600" dirty="0">
              <a:latin typeface="Rockwell" panose="02060603020205020403" pitchFamily="18" charset="0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tabLst>
                <a:tab pos="355600" algn="l"/>
              </a:tabLst>
            </a:pPr>
            <a:r>
              <a:rPr sz="2600" b="1" spc="210" dirty="0">
                <a:latin typeface="Rockwell" panose="02060603020205020403" pitchFamily="18" charset="0"/>
                <a:cs typeface="Trebuchet MS"/>
              </a:rPr>
              <a:t>CPI</a:t>
            </a:r>
            <a:r>
              <a:rPr sz="2600" b="1" spc="-175" dirty="0">
                <a:latin typeface="Rockwell" panose="02060603020205020403" pitchFamily="18" charset="0"/>
                <a:cs typeface="Trebuchet MS"/>
              </a:rPr>
              <a:t> </a:t>
            </a:r>
            <a:r>
              <a:rPr lang="en-GB" sz="2600" b="1" spc="-175" dirty="0">
                <a:latin typeface="Rockwell" panose="02060603020205020403" pitchFamily="18" charset="0"/>
                <a:cs typeface="Trebuchet MS"/>
              </a:rPr>
              <a:t>is  </a:t>
            </a:r>
            <a:r>
              <a:rPr sz="2600" b="1" spc="85" dirty="0" err="1">
                <a:latin typeface="Rockwell" panose="02060603020205020403" pitchFamily="18" charset="0"/>
                <a:cs typeface="Trebuchet MS"/>
              </a:rPr>
              <a:t>approx</a:t>
            </a:r>
            <a:r>
              <a:rPr lang="en-GB" sz="2600" b="1" spc="85" dirty="0" err="1">
                <a:latin typeface="Rockwell" panose="02060603020205020403" pitchFamily="18" charset="0"/>
                <a:cs typeface="Trebuchet MS"/>
              </a:rPr>
              <a:t>imately</a:t>
            </a:r>
            <a:r>
              <a:rPr sz="2600" b="1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425" dirty="0">
                <a:latin typeface="Rockwell" panose="02060603020205020403" pitchFamily="18" charset="0"/>
                <a:cs typeface="Trebuchet MS"/>
              </a:rPr>
              <a:t>=</a:t>
            </a:r>
            <a:r>
              <a:rPr sz="2600" b="1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55" dirty="0">
                <a:latin typeface="Rockwell" panose="02060603020205020403" pitchFamily="18" charset="0"/>
                <a:cs typeface="Trebuchet MS"/>
              </a:rPr>
              <a:t>stage</a:t>
            </a:r>
            <a:r>
              <a:rPr sz="2600" b="1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-80" dirty="0">
                <a:latin typeface="Rockwell" panose="02060603020205020403" pitchFamily="18" charset="0"/>
                <a:cs typeface="Trebuchet MS"/>
              </a:rPr>
              <a:t>time.</a:t>
            </a:r>
            <a:endParaRPr sz="2600" b="1" dirty="0">
              <a:latin typeface="Rockwell" panose="02060603020205020403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847757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92239" y="1327214"/>
            <a:ext cx="3312387" cy="28575"/>
            <a:chOff x="8689975" y="1327213"/>
            <a:chExt cx="3311525" cy="28575"/>
          </a:xfrm>
        </p:grpSpPr>
        <p:sp>
          <p:nvSpPr>
            <p:cNvPr id="3" name="object 3"/>
            <p:cNvSpPr/>
            <p:nvPr/>
          </p:nvSpPr>
          <p:spPr>
            <a:xfrm>
              <a:off x="8689975" y="1341500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>
                  <a:moveTo>
                    <a:pt x="0" y="0"/>
                  </a:moveTo>
                  <a:lnTo>
                    <a:pt x="1800225" y="0"/>
                  </a:lnTo>
                </a:path>
              </a:pathLst>
            </a:custGeom>
            <a:ln w="28575">
              <a:solidFill>
                <a:srgbClr val="662C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2677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8242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8944" y="239037"/>
            <a:ext cx="116960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229" dirty="0">
                <a:latin typeface="Rockwell" panose="02060603020205020403" pitchFamily="18" charset="0"/>
              </a:rPr>
              <a:t>Pipeline </a:t>
            </a:r>
            <a:r>
              <a:rPr sz="4000" spc="-204" dirty="0">
                <a:latin typeface="Rockwell" panose="02060603020205020403" pitchFamily="18" charset="0"/>
              </a:rPr>
              <a:t>Analogy </a:t>
            </a:r>
            <a:r>
              <a:rPr sz="4000" spc="475" dirty="0">
                <a:latin typeface="Rockwell" panose="02060603020205020403" pitchFamily="18" charset="0"/>
              </a:rPr>
              <a:t>– </a:t>
            </a:r>
            <a:r>
              <a:rPr sz="4000" spc="-360" dirty="0">
                <a:latin typeface="Rockwell" panose="02060603020205020403" pitchFamily="18" charset="0"/>
              </a:rPr>
              <a:t>The</a:t>
            </a:r>
            <a:r>
              <a:rPr sz="4000" spc="10" dirty="0">
                <a:latin typeface="Rockwell" panose="02060603020205020403" pitchFamily="18" charset="0"/>
              </a:rPr>
              <a:t> </a:t>
            </a:r>
            <a:r>
              <a:rPr sz="4000" spc="-225" dirty="0">
                <a:latin typeface="Rockwell" panose="02060603020205020403" pitchFamily="18" charset="0"/>
              </a:rPr>
              <a:t>Laundry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5163" y="1386585"/>
            <a:ext cx="6342761" cy="1516441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5080" indent="-343535">
              <a:lnSpc>
                <a:spcPts val="2590"/>
              </a:lnSpc>
              <a:spcBef>
                <a:spcPts val="7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b="1" spc="50" dirty="0">
                <a:latin typeface="Trebuchet MS"/>
                <a:cs typeface="Trebuchet MS"/>
              </a:rPr>
              <a:t>Ann,</a:t>
            </a:r>
            <a:r>
              <a:rPr sz="2700" b="1" spc="-375" dirty="0">
                <a:latin typeface="Trebuchet MS"/>
                <a:cs typeface="Trebuchet MS"/>
              </a:rPr>
              <a:t> </a:t>
            </a:r>
            <a:r>
              <a:rPr sz="2700" b="1" spc="10" dirty="0">
                <a:latin typeface="Trebuchet MS"/>
                <a:cs typeface="Trebuchet MS"/>
              </a:rPr>
              <a:t>Brian,</a:t>
            </a:r>
            <a:r>
              <a:rPr sz="2700" b="1" spc="-355" dirty="0">
                <a:latin typeface="Trebuchet MS"/>
                <a:cs typeface="Trebuchet MS"/>
              </a:rPr>
              <a:t> </a:t>
            </a:r>
            <a:r>
              <a:rPr sz="2700" b="1" spc="-20" dirty="0">
                <a:latin typeface="Trebuchet MS"/>
                <a:cs typeface="Trebuchet MS"/>
              </a:rPr>
              <a:t>Cathy,</a:t>
            </a:r>
            <a:r>
              <a:rPr sz="2700" b="1" spc="-340" dirty="0">
                <a:latin typeface="Trebuchet MS"/>
                <a:cs typeface="Trebuchet MS"/>
              </a:rPr>
              <a:t> </a:t>
            </a:r>
            <a:r>
              <a:rPr sz="2700" b="1" spc="100" dirty="0">
                <a:latin typeface="Trebuchet MS"/>
                <a:cs typeface="Trebuchet MS"/>
              </a:rPr>
              <a:t>Dave</a:t>
            </a:r>
            <a:r>
              <a:rPr sz="2700" b="1" spc="-145" dirty="0">
                <a:latin typeface="Trebuchet MS"/>
                <a:cs typeface="Trebuchet MS"/>
              </a:rPr>
              <a:t> </a:t>
            </a:r>
            <a:r>
              <a:rPr sz="2700" b="1" spc="50" dirty="0">
                <a:latin typeface="Trebuchet MS"/>
                <a:cs typeface="Trebuchet MS"/>
              </a:rPr>
              <a:t>each</a:t>
            </a:r>
            <a:r>
              <a:rPr sz="2700" b="1" spc="-130" dirty="0">
                <a:latin typeface="Trebuchet MS"/>
                <a:cs typeface="Trebuchet MS"/>
              </a:rPr>
              <a:t> </a:t>
            </a:r>
            <a:r>
              <a:rPr sz="2700" b="1" spc="40" dirty="0">
                <a:latin typeface="Trebuchet MS"/>
                <a:cs typeface="Trebuchet MS"/>
              </a:rPr>
              <a:t>have</a:t>
            </a:r>
            <a:r>
              <a:rPr sz="2700" b="1" spc="-140" dirty="0">
                <a:latin typeface="Trebuchet MS"/>
                <a:cs typeface="Trebuchet MS"/>
              </a:rPr>
              <a:t> </a:t>
            </a:r>
            <a:r>
              <a:rPr sz="2700" b="1" spc="75" dirty="0">
                <a:latin typeface="Trebuchet MS"/>
                <a:cs typeface="Trebuchet MS"/>
              </a:rPr>
              <a:t>one </a:t>
            </a:r>
            <a:r>
              <a:rPr sz="2700" b="1" spc="70" dirty="0">
                <a:latin typeface="Trebuchet MS"/>
                <a:cs typeface="Trebuchet MS"/>
              </a:rPr>
              <a:t>load</a:t>
            </a:r>
            <a:r>
              <a:rPr sz="2700" b="1" spc="-155" dirty="0">
                <a:latin typeface="Trebuchet MS"/>
                <a:cs typeface="Trebuchet MS"/>
              </a:rPr>
              <a:t> </a:t>
            </a:r>
            <a:r>
              <a:rPr sz="2700" b="1" spc="-60" dirty="0">
                <a:latin typeface="Trebuchet MS"/>
                <a:cs typeface="Trebuchet MS"/>
              </a:rPr>
              <a:t>of</a:t>
            </a:r>
            <a:r>
              <a:rPr sz="2700" b="1" spc="-140" dirty="0">
                <a:latin typeface="Trebuchet MS"/>
                <a:cs typeface="Trebuchet MS"/>
              </a:rPr>
              <a:t> </a:t>
            </a:r>
            <a:r>
              <a:rPr sz="2700" b="1" spc="25" dirty="0">
                <a:latin typeface="Trebuchet MS"/>
                <a:cs typeface="Trebuchet MS"/>
              </a:rPr>
              <a:t>clothes</a:t>
            </a:r>
            <a:r>
              <a:rPr sz="2700" b="1" spc="-135" dirty="0">
                <a:latin typeface="Trebuchet MS"/>
                <a:cs typeface="Trebuchet MS"/>
              </a:rPr>
              <a:t> </a:t>
            </a:r>
            <a:r>
              <a:rPr sz="2700" b="1" spc="-80" dirty="0">
                <a:latin typeface="Trebuchet MS"/>
                <a:cs typeface="Trebuchet MS"/>
              </a:rPr>
              <a:t>to</a:t>
            </a:r>
            <a:r>
              <a:rPr sz="2700" b="1" spc="-130" dirty="0">
                <a:latin typeface="Trebuchet MS"/>
                <a:cs typeface="Trebuchet MS"/>
              </a:rPr>
              <a:t> </a:t>
            </a:r>
            <a:r>
              <a:rPr sz="2700" b="1" spc="5" dirty="0">
                <a:latin typeface="Trebuchet MS"/>
                <a:cs typeface="Trebuchet MS"/>
              </a:rPr>
              <a:t>wash,</a:t>
            </a:r>
            <a:r>
              <a:rPr sz="2700" b="1" spc="-350" dirty="0">
                <a:latin typeface="Trebuchet MS"/>
                <a:cs typeface="Trebuchet MS"/>
              </a:rPr>
              <a:t> </a:t>
            </a:r>
            <a:r>
              <a:rPr sz="2700" b="1" dirty="0">
                <a:latin typeface="Trebuchet MS"/>
                <a:cs typeface="Trebuchet MS"/>
              </a:rPr>
              <a:t>dry,</a:t>
            </a:r>
            <a:r>
              <a:rPr sz="2700" b="1" spc="-350" dirty="0">
                <a:latin typeface="Trebuchet MS"/>
                <a:cs typeface="Trebuchet MS"/>
              </a:rPr>
              <a:t> </a:t>
            </a:r>
            <a:r>
              <a:rPr lang="en-US" sz="2700" b="1" spc="-350" dirty="0">
                <a:latin typeface="Trebuchet MS"/>
                <a:cs typeface="Trebuchet MS"/>
              </a:rPr>
              <a:t>stash, </a:t>
            </a:r>
            <a:r>
              <a:rPr sz="2700" b="1" spc="80" dirty="0">
                <a:latin typeface="Trebuchet MS"/>
                <a:cs typeface="Trebuchet MS"/>
              </a:rPr>
              <a:t>and</a:t>
            </a:r>
            <a:r>
              <a:rPr sz="2700" b="1" spc="-135" dirty="0">
                <a:latin typeface="Trebuchet MS"/>
                <a:cs typeface="Trebuchet MS"/>
              </a:rPr>
              <a:t> </a:t>
            </a:r>
            <a:r>
              <a:rPr sz="2700" b="1" spc="20" dirty="0">
                <a:latin typeface="Trebuchet MS"/>
                <a:cs typeface="Trebuchet MS"/>
              </a:rPr>
              <a:t>fold</a:t>
            </a:r>
            <a:r>
              <a:rPr lang="en-US" sz="2700" b="1" spc="20" dirty="0">
                <a:latin typeface="Trebuchet MS"/>
                <a:cs typeface="Trebuchet MS"/>
              </a:rPr>
              <a:t> </a:t>
            </a:r>
          </a:p>
          <a:p>
            <a:pPr marL="355600" marR="5080" indent="-343535">
              <a:lnSpc>
                <a:spcPts val="2590"/>
              </a:lnSpc>
              <a:spcBef>
                <a:spcPts val="7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b="1" spc="90" dirty="0">
                <a:latin typeface="Trebuchet MS"/>
                <a:cs typeface="Trebuchet MS"/>
              </a:rPr>
              <a:t>Washer </a:t>
            </a:r>
            <a:r>
              <a:rPr sz="2700" b="1" spc="10" dirty="0">
                <a:latin typeface="Trebuchet MS"/>
                <a:cs typeface="Trebuchet MS"/>
              </a:rPr>
              <a:t>takes </a:t>
            </a:r>
            <a:r>
              <a:rPr sz="2700" b="1" spc="45" dirty="0">
                <a:latin typeface="Trebuchet MS"/>
                <a:cs typeface="Trebuchet MS"/>
              </a:rPr>
              <a:t>30</a:t>
            </a:r>
            <a:r>
              <a:rPr sz="2700" b="1" spc="-515" dirty="0">
                <a:latin typeface="Trebuchet MS"/>
                <a:cs typeface="Trebuchet MS"/>
              </a:rPr>
              <a:t> </a:t>
            </a:r>
            <a:r>
              <a:rPr sz="2700" b="1" spc="20" dirty="0">
                <a:latin typeface="Trebuchet MS"/>
                <a:cs typeface="Trebuchet MS"/>
              </a:rPr>
              <a:t>minutes</a:t>
            </a:r>
            <a:endParaRPr sz="2700" b="1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5164" y="3304414"/>
            <a:ext cx="6756254" cy="2578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b="1" spc="125" dirty="0">
                <a:latin typeface="Trebuchet MS"/>
                <a:cs typeface="Trebuchet MS"/>
              </a:rPr>
              <a:t>Dryer </a:t>
            </a:r>
            <a:r>
              <a:rPr sz="2700" b="1" spc="10" dirty="0">
                <a:latin typeface="Trebuchet MS"/>
                <a:cs typeface="Trebuchet MS"/>
              </a:rPr>
              <a:t>takes </a:t>
            </a:r>
            <a:r>
              <a:rPr sz="2700" b="1" spc="45" dirty="0">
                <a:latin typeface="Trebuchet MS"/>
                <a:cs typeface="Trebuchet MS"/>
              </a:rPr>
              <a:t>30</a:t>
            </a:r>
            <a:r>
              <a:rPr sz="2700" b="1" spc="-570" dirty="0">
                <a:latin typeface="Trebuchet MS"/>
                <a:cs typeface="Trebuchet MS"/>
              </a:rPr>
              <a:t> </a:t>
            </a:r>
            <a:r>
              <a:rPr sz="2700" b="1" spc="20" dirty="0">
                <a:latin typeface="Trebuchet MS"/>
                <a:cs typeface="Trebuchet MS"/>
              </a:rPr>
              <a:t>minutes</a:t>
            </a:r>
            <a:endParaRPr sz="2700" b="1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200" dirty="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spc="25" dirty="0">
                <a:latin typeface="Trebuchet MS"/>
                <a:cs typeface="Trebuchet MS"/>
              </a:rPr>
              <a:t>“</a:t>
            </a:r>
            <a:r>
              <a:rPr sz="2700" b="1" spc="25" dirty="0">
                <a:latin typeface="Trebuchet MS"/>
                <a:cs typeface="Trebuchet MS"/>
              </a:rPr>
              <a:t>Folder”</a:t>
            </a:r>
            <a:r>
              <a:rPr sz="2700" b="1" spc="-365" dirty="0">
                <a:latin typeface="Trebuchet MS"/>
                <a:cs typeface="Trebuchet MS"/>
              </a:rPr>
              <a:t> </a:t>
            </a:r>
            <a:r>
              <a:rPr sz="2700" b="1" spc="10" dirty="0">
                <a:latin typeface="Trebuchet MS"/>
                <a:cs typeface="Trebuchet MS"/>
              </a:rPr>
              <a:t>takes</a:t>
            </a:r>
            <a:r>
              <a:rPr sz="2700" b="1" spc="-135" dirty="0">
                <a:latin typeface="Trebuchet MS"/>
                <a:cs typeface="Trebuchet MS"/>
              </a:rPr>
              <a:t> </a:t>
            </a:r>
            <a:r>
              <a:rPr sz="2700" b="1" spc="45" dirty="0">
                <a:latin typeface="Trebuchet MS"/>
                <a:cs typeface="Trebuchet MS"/>
              </a:rPr>
              <a:t>30</a:t>
            </a:r>
            <a:r>
              <a:rPr sz="2700" b="1" spc="-140" dirty="0">
                <a:latin typeface="Trebuchet MS"/>
                <a:cs typeface="Trebuchet MS"/>
              </a:rPr>
              <a:t> </a:t>
            </a:r>
            <a:r>
              <a:rPr sz="2700" b="1" spc="20" dirty="0">
                <a:latin typeface="Trebuchet MS"/>
                <a:cs typeface="Trebuchet MS"/>
              </a:rPr>
              <a:t>minutes</a:t>
            </a:r>
            <a:endParaRPr sz="2700" b="1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750" dirty="0">
              <a:latin typeface="Trebuchet MS"/>
              <a:cs typeface="Trebuchet MS"/>
            </a:endParaRPr>
          </a:p>
          <a:p>
            <a:pPr marL="355600" marR="5080" indent="-343535">
              <a:lnSpc>
                <a:spcPct val="8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b="1" spc="20" dirty="0">
                <a:latin typeface="Trebuchet MS"/>
                <a:cs typeface="Trebuchet MS"/>
              </a:rPr>
              <a:t>“Stasher”</a:t>
            </a:r>
            <a:r>
              <a:rPr sz="2700" b="1" spc="-340" dirty="0">
                <a:latin typeface="Trebuchet MS"/>
                <a:cs typeface="Trebuchet MS"/>
              </a:rPr>
              <a:t> </a:t>
            </a:r>
            <a:r>
              <a:rPr sz="2700" b="1" spc="10" dirty="0">
                <a:latin typeface="Trebuchet MS"/>
                <a:cs typeface="Trebuchet MS"/>
              </a:rPr>
              <a:t>takes</a:t>
            </a:r>
            <a:r>
              <a:rPr sz="2700" b="1" spc="-120" dirty="0">
                <a:latin typeface="Trebuchet MS"/>
                <a:cs typeface="Trebuchet MS"/>
              </a:rPr>
              <a:t> </a:t>
            </a:r>
            <a:r>
              <a:rPr sz="2700" b="1" spc="45" dirty="0">
                <a:latin typeface="Trebuchet MS"/>
                <a:cs typeface="Trebuchet MS"/>
              </a:rPr>
              <a:t>30</a:t>
            </a:r>
            <a:r>
              <a:rPr sz="2700" b="1" spc="-130" dirty="0">
                <a:latin typeface="Trebuchet MS"/>
                <a:cs typeface="Trebuchet MS"/>
              </a:rPr>
              <a:t> </a:t>
            </a:r>
            <a:r>
              <a:rPr sz="2700" b="1" spc="20" dirty="0">
                <a:latin typeface="Trebuchet MS"/>
                <a:cs typeface="Trebuchet MS"/>
              </a:rPr>
              <a:t>minutes</a:t>
            </a:r>
            <a:r>
              <a:rPr sz="2700" b="1" spc="-150" dirty="0">
                <a:latin typeface="Trebuchet MS"/>
                <a:cs typeface="Trebuchet MS"/>
              </a:rPr>
              <a:t> </a:t>
            </a:r>
            <a:r>
              <a:rPr sz="2700" b="1" spc="-80" dirty="0">
                <a:latin typeface="Trebuchet MS"/>
                <a:cs typeface="Trebuchet MS"/>
              </a:rPr>
              <a:t>to</a:t>
            </a:r>
            <a:r>
              <a:rPr sz="2700" b="1" spc="-135" dirty="0">
                <a:latin typeface="Trebuchet MS"/>
                <a:cs typeface="Trebuchet MS"/>
              </a:rPr>
              <a:t> </a:t>
            </a:r>
            <a:r>
              <a:rPr sz="2700" b="1" spc="-10" dirty="0">
                <a:latin typeface="Trebuchet MS"/>
                <a:cs typeface="Trebuchet MS"/>
              </a:rPr>
              <a:t>put</a:t>
            </a:r>
            <a:r>
              <a:rPr sz="2700" b="1" spc="-150" dirty="0">
                <a:latin typeface="Trebuchet MS"/>
                <a:cs typeface="Trebuchet MS"/>
              </a:rPr>
              <a:t> </a:t>
            </a:r>
            <a:r>
              <a:rPr sz="2700" b="1" spc="25" dirty="0">
                <a:latin typeface="Trebuchet MS"/>
                <a:cs typeface="Trebuchet MS"/>
              </a:rPr>
              <a:t>clothes  </a:t>
            </a:r>
            <a:r>
              <a:rPr sz="2700" b="1" spc="-20" dirty="0">
                <a:latin typeface="Trebuchet MS"/>
                <a:cs typeface="Trebuchet MS"/>
              </a:rPr>
              <a:t>into</a:t>
            </a:r>
            <a:r>
              <a:rPr sz="2700" b="1" spc="-155" dirty="0">
                <a:latin typeface="Trebuchet MS"/>
                <a:cs typeface="Trebuchet MS"/>
              </a:rPr>
              <a:t> </a:t>
            </a:r>
            <a:r>
              <a:rPr sz="2700" b="1" spc="60" dirty="0">
                <a:latin typeface="Trebuchet MS"/>
                <a:cs typeface="Trebuchet MS"/>
              </a:rPr>
              <a:t>drawers</a:t>
            </a:r>
            <a:endParaRPr sz="2700" b="1" dirty="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66626" y="3236849"/>
            <a:ext cx="619286" cy="733425"/>
            <a:chOff x="7964551" y="3236848"/>
            <a:chExt cx="619125" cy="733425"/>
          </a:xfrm>
        </p:grpSpPr>
        <p:sp>
          <p:nvSpPr>
            <p:cNvPr id="10" name="object 10"/>
            <p:cNvSpPr/>
            <p:nvPr/>
          </p:nvSpPr>
          <p:spPr>
            <a:xfrm>
              <a:off x="8425688" y="3357625"/>
              <a:ext cx="151765" cy="606425"/>
            </a:xfrm>
            <a:custGeom>
              <a:avLst/>
              <a:gdLst/>
              <a:ahLst/>
              <a:cxnLst/>
              <a:rect l="l" t="t" r="r" b="b"/>
              <a:pathLst>
                <a:path w="151765" h="606425">
                  <a:moveTo>
                    <a:pt x="151637" y="0"/>
                  </a:moveTo>
                  <a:lnTo>
                    <a:pt x="0" y="151637"/>
                  </a:lnTo>
                  <a:lnTo>
                    <a:pt x="0" y="606298"/>
                  </a:lnTo>
                  <a:lnTo>
                    <a:pt x="151637" y="454787"/>
                  </a:lnTo>
                  <a:lnTo>
                    <a:pt x="15163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70901" y="3357625"/>
              <a:ext cx="606425" cy="151765"/>
            </a:xfrm>
            <a:custGeom>
              <a:avLst/>
              <a:gdLst/>
              <a:ahLst/>
              <a:cxnLst/>
              <a:rect l="l" t="t" r="r" b="b"/>
              <a:pathLst>
                <a:path w="606425" h="151764">
                  <a:moveTo>
                    <a:pt x="606425" y="0"/>
                  </a:moveTo>
                  <a:lnTo>
                    <a:pt x="151510" y="0"/>
                  </a:lnTo>
                  <a:lnTo>
                    <a:pt x="0" y="151637"/>
                  </a:lnTo>
                  <a:lnTo>
                    <a:pt x="454787" y="151637"/>
                  </a:lnTo>
                  <a:lnTo>
                    <a:pt x="606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70901" y="3357625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0" y="151637"/>
                  </a:moveTo>
                  <a:lnTo>
                    <a:pt x="151510" y="0"/>
                  </a:lnTo>
                  <a:lnTo>
                    <a:pt x="606425" y="0"/>
                  </a:lnTo>
                  <a:lnTo>
                    <a:pt x="606425" y="454787"/>
                  </a:lnTo>
                  <a:lnTo>
                    <a:pt x="454787" y="606298"/>
                  </a:lnTo>
                  <a:lnTo>
                    <a:pt x="0" y="606298"/>
                  </a:lnTo>
                  <a:lnTo>
                    <a:pt x="0" y="151637"/>
                  </a:lnTo>
                  <a:close/>
                </a:path>
                <a:path w="606425" h="606425">
                  <a:moveTo>
                    <a:pt x="0" y="151637"/>
                  </a:moveTo>
                  <a:lnTo>
                    <a:pt x="454787" y="151637"/>
                  </a:lnTo>
                  <a:lnTo>
                    <a:pt x="606425" y="0"/>
                  </a:lnTo>
                </a:path>
                <a:path w="606425" h="606425">
                  <a:moveTo>
                    <a:pt x="454787" y="151637"/>
                  </a:moveTo>
                  <a:lnTo>
                    <a:pt x="454787" y="60629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08188" y="3274669"/>
              <a:ext cx="438150" cy="94615"/>
            </a:xfrm>
            <a:custGeom>
              <a:avLst/>
              <a:gdLst/>
              <a:ahLst/>
              <a:cxnLst/>
              <a:rect l="l" t="t" r="r" b="b"/>
              <a:pathLst>
                <a:path w="438150" h="94614">
                  <a:moveTo>
                    <a:pt x="437667" y="0"/>
                  </a:moveTo>
                  <a:lnTo>
                    <a:pt x="0" y="0"/>
                  </a:lnTo>
                  <a:lnTo>
                    <a:pt x="0" y="94386"/>
                  </a:lnTo>
                  <a:lnTo>
                    <a:pt x="437667" y="94386"/>
                  </a:lnTo>
                  <a:lnTo>
                    <a:pt x="4376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45830" y="3243198"/>
              <a:ext cx="31750" cy="126364"/>
            </a:xfrm>
            <a:custGeom>
              <a:avLst/>
              <a:gdLst/>
              <a:ahLst/>
              <a:cxnLst/>
              <a:rect l="l" t="t" r="r" b="b"/>
              <a:pathLst>
                <a:path w="31750" h="126364">
                  <a:moveTo>
                    <a:pt x="31496" y="0"/>
                  </a:moveTo>
                  <a:lnTo>
                    <a:pt x="0" y="31496"/>
                  </a:lnTo>
                  <a:lnTo>
                    <a:pt x="0" y="125856"/>
                  </a:lnTo>
                  <a:lnTo>
                    <a:pt x="31496" y="94487"/>
                  </a:lnTo>
                  <a:lnTo>
                    <a:pt x="31496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08188" y="3243198"/>
              <a:ext cx="469265" cy="31750"/>
            </a:xfrm>
            <a:custGeom>
              <a:avLst/>
              <a:gdLst/>
              <a:ahLst/>
              <a:cxnLst/>
              <a:rect l="l" t="t" r="r" b="b"/>
              <a:pathLst>
                <a:path w="469265" h="31750">
                  <a:moveTo>
                    <a:pt x="469137" y="0"/>
                  </a:moveTo>
                  <a:lnTo>
                    <a:pt x="31368" y="0"/>
                  </a:lnTo>
                  <a:lnTo>
                    <a:pt x="0" y="31496"/>
                  </a:lnTo>
                  <a:lnTo>
                    <a:pt x="437641" y="31496"/>
                  </a:lnTo>
                  <a:lnTo>
                    <a:pt x="4691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08188" y="3243198"/>
              <a:ext cx="469265" cy="126364"/>
            </a:xfrm>
            <a:custGeom>
              <a:avLst/>
              <a:gdLst/>
              <a:ahLst/>
              <a:cxnLst/>
              <a:rect l="l" t="t" r="r" b="b"/>
              <a:pathLst>
                <a:path w="469265" h="126364">
                  <a:moveTo>
                    <a:pt x="0" y="31496"/>
                  </a:moveTo>
                  <a:lnTo>
                    <a:pt x="31368" y="0"/>
                  </a:lnTo>
                  <a:lnTo>
                    <a:pt x="469137" y="0"/>
                  </a:lnTo>
                  <a:lnTo>
                    <a:pt x="469137" y="94487"/>
                  </a:lnTo>
                  <a:lnTo>
                    <a:pt x="437641" y="125856"/>
                  </a:lnTo>
                  <a:lnTo>
                    <a:pt x="0" y="125856"/>
                  </a:lnTo>
                  <a:lnTo>
                    <a:pt x="0" y="31496"/>
                  </a:lnTo>
                  <a:close/>
                </a:path>
                <a:path w="469265" h="126364">
                  <a:moveTo>
                    <a:pt x="0" y="31496"/>
                  </a:moveTo>
                  <a:lnTo>
                    <a:pt x="437641" y="31496"/>
                  </a:lnTo>
                  <a:lnTo>
                    <a:pt x="469137" y="0"/>
                  </a:lnTo>
                </a:path>
                <a:path w="469265" h="126364">
                  <a:moveTo>
                    <a:pt x="437641" y="31496"/>
                  </a:moveTo>
                  <a:lnTo>
                    <a:pt x="437641" y="12585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53908" y="3300475"/>
              <a:ext cx="80645" cy="45720"/>
            </a:xfrm>
            <a:custGeom>
              <a:avLst/>
              <a:gdLst/>
              <a:ahLst/>
              <a:cxnLst/>
              <a:rect l="l" t="t" r="r" b="b"/>
              <a:pathLst>
                <a:path w="80645" h="45720">
                  <a:moveTo>
                    <a:pt x="40005" y="0"/>
                  </a:moveTo>
                  <a:lnTo>
                    <a:pt x="24431" y="1803"/>
                  </a:lnTo>
                  <a:lnTo>
                    <a:pt x="11715" y="6715"/>
                  </a:lnTo>
                  <a:lnTo>
                    <a:pt x="3143" y="13983"/>
                  </a:lnTo>
                  <a:lnTo>
                    <a:pt x="0" y="22860"/>
                  </a:lnTo>
                  <a:lnTo>
                    <a:pt x="3143" y="31789"/>
                  </a:lnTo>
                  <a:lnTo>
                    <a:pt x="11715" y="39052"/>
                  </a:lnTo>
                  <a:lnTo>
                    <a:pt x="24431" y="43934"/>
                  </a:lnTo>
                  <a:lnTo>
                    <a:pt x="40005" y="45720"/>
                  </a:lnTo>
                  <a:lnTo>
                    <a:pt x="55598" y="43934"/>
                  </a:lnTo>
                  <a:lnTo>
                    <a:pt x="68357" y="39052"/>
                  </a:lnTo>
                  <a:lnTo>
                    <a:pt x="76973" y="31789"/>
                  </a:lnTo>
                  <a:lnTo>
                    <a:pt x="80137" y="22860"/>
                  </a:lnTo>
                  <a:lnTo>
                    <a:pt x="76973" y="13983"/>
                  </a:lnTo>
                  <a:lnTo>
                    <a:pt x="68357" y="6715"/>
                  </a:lnTo>
                  <a:lnTo>
                    <a:pt x="55598" y="1803"/>
                  </a:lnTo>
                  <a:lnTo>
                    <a:pt x="400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53908" y="3300475"/>
              <a:ext cx="80645" cy="45720"/>
            </a:xfrm>
            <a:custGeom>
              <a:avLst/>
              <a:gdLst/>
              <a:ahLst/>
              <a:cxnLst/>
              <a:rect l="l" t="t" r="r" b="b"/>
              <a:pathLst>
                <a:path w="80645" h="45720">
                  <a:moveTo>
                    <a:pt x="0" y="22860"/>
                  </a:moveTo>
                  <a:lnTo>
                    <a:pt x="3143" y="13983"/>
                  </a:lnTo>
                  <a:lnTo>
                    <a:pt x="11715" y="6715"/>
                  </a:lnTo>
                  <a:lnTo>
                    <a:pt x="24431" y="1803"/>
                  </a:lnTo>
                  <a:lnTo>
                    <a:pt x="40005" y="0"/>
                  </a:lnTo>
                  <a:lnTo>
                    <a:pt x="55598" y="1803"/>
                  </a:lnTo>
                  <a:lnTo>
                    <a:pt x="68357" y="6715"/>
                  </a:lnTo>
                  <a:lnTo>
                    <a:pt x="76973" y="13983"/>
                  </a:lnTo>
                  <a:lnTo>
                    <a:pt x="80137" y="22860"/>
                  </a:lnTo>
                  <a:lnTo>
                    <a:pt x="76973" y="31789"/>
                  </a:lnTo>
                  <a:lnTo>
                    <a:pt x="68357" y="39052"/>
                  </a:lnTo>
                  <a:lnTo>
                    <a:pt x="55598" y="43934"/>
                  </a:lnTo>
                  <a:lnTo>
                    <a:pt x="40005" y="45720"/>
                  </a:lnTo>
                  <a:lnTo>
                    <a:pt x="24431" y="43934"/>
                  </a:lnTo>
                  <a:lnTo>
                    <a:pt x="11715" y="39052"/>
                  </a:lnTo>
                  <a:lnTo>
                    <a:pt x="3143" y="31789"/>
                  </a:lnTo>
                  <a:lnTo>
                    <a:pt x="0" y="2286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45196" y="3637914"/>
              <a:ext cx="320675" cy="137795"/>
            </a:xfrm>
            <a:custGeom>
              <a:avLst/>
              <a:gdLst/>
              <a:ahLst/>
              <a:cxnLst/>
              <a:rect l="l" t="t" r="r" b="b"/>
              <a:pathLst>
                <a:path w="320675" h="137795">
                  <a:moveTo>
                    <a:pt x="0" y="40259"/>
                  </a:moveTo>
                  <a:lnTo>
                    <a:pt x="40258" y="0"/>
                  </a:lnTo>
                  <a:lnTo>
                    <a:pt x="280161" y="0"/>
                  </a:lnTo>
                  <a:lnTo>
                    <a:pt x="320421" y="40259"/>
                  </a:lnTo>
                  <a:lnTo>
                    <a:pt x="320421" y="97155"/>
                  </a:lnTo>
                  <a:lnTo>
                    <a:pt x="280161" y="137287"/>
                  </a:lnTo>
                  <a:lnTo>
                    <a:pt x="40258" y="137287"/>
                  </a:lnTo>
                  <a:lnTo>
                    <a:pt x="0" y="97155"/>
                  </a:lnTo>
                  <a:lnTo>
                    <a:pt x="0" y="4025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7964974" y="4211573"/>
            <a:ext cx="595785" cy="589280"/>
            <a:chOff x="7962900" y="4211573"/>
            <a:chExt cx="595630" cy="589280"/>
          </a:xfrm>
        </p:grpSpPr>
        <p:sp>
          <p:nvSpPr>
            <p:cNvPr id="21" name="object 21"/>
            <p:cNvSpPr/>
            <p:nvPr/>
          </p:nvSpPr>
          <p:spPr>
            <a:xfrm>
              <a:off x="7965694" y="4493653"/>
              <a:ext cx="593090" cy="307340"/>
            </a:xfrm>
            <a:custGeom>
              <a:avLst/>
              <a:gdLst/>
              <a:ahLst/>
              <a:cxnLst/>
              <a:rect l="l" t="t" r="r" b="b"/>
              <a:pathLst>
                <a:path w="593090" h="307339">
                  <a:moveTo>
                    <a:pt x="165608" y="130009"/>
                  </a:moveTo>
                  <a:lnTo>
                    <a:pt x="0" y="130009"/>
                  </a:lnTo>
                  <a:lnTo>
                    <a:pt x="0" y="148577"/>
                  </a:lnTo>
                  <a:lnTo>
                    <a:pt x="165608" y="148577"/>
                  </a:lnTo>
                  <a:lnTo>
                    <a:pt x="165608" y="130009"/>
                  </a:lnTo>
                  <a:close/>
                </a:path>
                <a:path w="593090" h="307339">
                  <a:moveTo>
                    <a:pt x="592518" y="0"/>
                  </a:moveTo>
                  <a:lnTo>
                    <a:pt x="281305" y="0"/>
                  </a:lnTo>
                  <a:lnTo>
                    <a:pt x="281305" y="17132"/>
                  </a:lnTo>
                  <a:lnTo>
                    <a:pt x="381889" y="17132"/>
                  </a:lnTo>
                  <a:lnTo>
                    <a:pt x="345490" y="130009"/>
                  </a:lnTo>
                  <a:lnTo>
                    <a:pt x="279908" y="130009"/>
                  </a:lnTo>
                  <a:lnTo>
                    <a:pt x="279908" y="148577"/>
                  </a:lnTo>
                  <a:lnTo>
                    <a:pt x="339509" y="148577"/>
                  </a:lnTo>
                  <a:lnTo>
                    <a:pt x="288417" y="307073"/>
                  </a:lnTo>
                  <a:lnTo>
                    <a:pt x="325501" y="307073"/>
                  </a:lnTo>
                  <a:lnTo>
                    <a:pt x="376593" y="148577"/>
                  </a:lnTo>
                  <a:lnTo>
                    <a:pt x="591121" y="148577"/>
                  </a:lnTo>
                  <a:lnTo>
                    <a:pt x="591121" y="130009"/>
                  </a:lnTo>
                  <a:lnTo>
                    <a:pt x="382574" y="130009"/>
                  </a:lnTo>
                  <a:lnTo>
                    <a:pt x="418973" y="17132"/>
                  </a:lnTo>
                  <a:lnTo>
                    <a:pt x="592518" y="17132"/>
                  </a:lnTo>
                  <a:lnTo>
                    <a:pt x="592518" y="0"/>
                  </a:lnTo>
                  <a:close/>
                </a:path>
              </a:pathLst>
            </a:custGeom>
            <a:solidFill>
              <a:srgbClr val="FCA3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76437" y="4211573"/>
              <a:ext cx="91185" cy="913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62900" y="4328032"/>
              <a:ext cx="308610" cy="473075"/>
            </a:xfrm>
            <a:custGeom>
              <a:avLst/>
              <a:gdLst/>
              <a:ahLst/>
              <a:cxnLst/>
              <a:rect l="l" t="t" r="r" b="b"/>
              <a:pathLst>
                <a:path w="308609" h="473075">
                  <a:moveTo>
                    <a:pt x="138429" y="0"/>
                  </a:moveTo>
                  <a:lnTo>
                    <a:pt x="125602" y="0"/>
                  </a:lnTo>
                  <a:lnTo>
                    <a:pt x="119888" y="1397"/>
                  </a:lnTo>
                  <a:lnTo>
                    <a:pt x="115697" y="2794"/>
                  </a:lnTo>
                  <a:lnTo>
                    <a:pt x="109981" y="4191"/>
                  </a:lnTo>
                  <a:lnTo>
                    <a:pt x="105664" y="7112"/>
                  </a:lnTo>
                  <a:lnTo>
                    <a:pt x="99949" y="9906"/>
                  </a:lnTo>
                  <a:lnTo>
                    <a:pt x="94233" y="18542"/>
                  </a:lnTo>
                  <a:lnTo>
                    <a:pt x="91313" y="21336"/>
                  </a:lnTo>
                  <a:lnTo>
                    <a:pt x="88519" y="27051"/>
                  </a:lnTo>
                  <a:lnTo>
                    <a:pt x="85598" y="29972"/>
                  </a:lnTo>
                  <a:lnTo>
                    <a:pt x="84200" y="35687"/>
                  </a:lnTo>
                  <a:lnTo>
                    <a:pt x="1397" y="221361"/>
                  </a:lnTo>
                  <a:lnTo>
                    <a:pt x="1397" y="224155"/>
                  </a:lnTo>
                  <a:lnTo>
                    <a:pt x="0" y="227076"/>
                  </a:lnTo>
                  <a:lnTo>
                    <a:pt x="0" y="239903"/>
                  </a:lnTo>
                  <a:lnTo>
                    <a:pt x="17145" y="262763"/>
                  </a:lnTo>
                  <a:lnTo>
                    <a:pt x="19939" y="265557"/>
                  </a:lnTo>
                  <a:lnTo>
                    <a:pt x="201295" y="265557"/>
                  </a:lnTo>
                  <a:lnTo>
                    <a:pt x="201295" y="472694"/>
                  </a:lnTo>
                  <a:lnTo>
                    <a:pt x="254126" y="472694"/>
                  </a:lnTo>
                  <a:lnTo>
                    <a:pt x="254126" y="224155"/>
                  </a:lnTo>
                  <a:lnTo>
                    <a:pt x="251205" y="218440"/>
                  </a:lnTo>
                  <a:lnTo>
                    <a:pt x="251205" y="217043"/>
                  </a:lnTo>
                  <a:lnTo>
                    <a:pt x="245491" y="211328"/>
                  </a:lnTo>
                  <a:lnTo>
                    <a:pt x="236981" y="207010"/>
                  </a:lnTo>
                  <a:lnTo>
                    <a:pt x="218440" y="207010"/>
                  </a:lnTo>
                  <a:lnTo>
                    <a:pt x="121284" y="201295"/>
                  </a:lnTo>
                  <a:lnTo>
                    <a:pt x="148463" y="119888"/>
                  </a:lnTo>
                  <a:lnTo>
                    <a:pt x="168401" y="148463"/>
                  </a:lnTo>
                  <a:lnTo>
                    <a:pt x="286893" y="148463"/>
                  </a:lnTo>
                  <a:lnTo>
                    <a:pt x="289814" y="147066"/>
                  </a:lnTo>
                  <a:lnTo>
                    <a:pt x="295528" y="147066"/>
                  </a:lnTo>
                  <a:lnTo>
                    <a:pt x="298323" y="144145"/>
                  </a:lnTo>
                  <a:lnTo>
                    <a:pt x="301244" y="142748"/>
                  </a:lnTo>
                  <a:lnTo>
                    <a:pt x="302641" y="139954"/>
                  </a:lnTo>
                  <a:lnTo>
                    <a:pt x="305561" y="138430"/>
                  </a:lnTo>
                  <a:lnTo>
                    <a:pt x="306958" y="135636"/>
                  </a:lnTo>
                  <a:lnTo>
                    <a:pt x="306958" y="132715"/>
                  </a:lnTo>
                  <a:lnTo>
                    <a:pt x="308355" y="129921"/>
                  </a:lnTo>
                  <a:lnTo>
                    <a:pt x="308355" y="121412"/>
                  </a:lnTo>
                  <a:lnTo>
                    <a:pt x="304038" y="112776"/>
                  </a:lnTo>
                  <a:lnTo>
                    <a:pt x="296925" y="105664"/>
                  </a:lnTo>
                  <a:lnTo>
                    <a:pt x="294131" y="104267"/>
                  </a:lnTo>
                  <a:lnTo>
                    <a:pt x="292607" y="102743"/>
                  </a:lnTo>
                  <a:lnTo>
                    <a:pt x="195579" y="102743"/>
                  </a:lnTo>
                  <a:lnTo>
                    <a:pt x="175641" y="69977"/>
                  </a:lnTo>
                  <a:lnTo>
                    <a:pt x="178434" y="67056"/>
                  </a:lnTo>
                  <a:lnTo>
                    <a:pt x="179831" y="62738"/>
                  </a:lnTo>
                  <a:lnTo>
                    <a:pt x="179831" y="58547"/>
                  </a:lnTo>
                  <a:lnTo>
                    <a:pt x="181355" y="54229"/>
                  </a:lnTo>
                  <a:lnTo>
                    <a:pt x="181355" y="38481"/>
                  </a:lnTo>
                  <a:lnTo>
                    <a:pt x="178434" y="29972"/>
                  </a:lnTo>
                  <a:lnTo>
                    <a:pt x="177038" y="28448"/>
                  </a:lnTo>
                  <a:lnTo>
                    <a:pt x="175641" y="24257"/>
                  </a:lnTo>
                  <a:lnTo>
                    <a:pt x="174117" y="21336"/>
                  </a:lnTo>
                  <a:lnTo>
                    <a:pt x="171323" y="17018"/>
                  </a:lnTo>
                  <a:lnTo>
                    <a:pt x="168401" y="14224"/>
                  </a:lnTo>
                  <a:lnTo>
                    <a:pt x="164210" y="11303"/>
                  </a:lnTo>
                  <a:lnTo>
                    <a:pt x="161290" y="8509"/>
                  </a:lnTo>
                  <a:lnTo>
                    <a:pt x="157099" y="5715"/>
                  </a:lnTo>
                  <a:lnTo>
                    <a:pt x="152780" y="4191"/>
                  </a:lnTo>
                  <a:lnTo>
                    <a:pt x="148463" y="1397"/>
                  </a:lnTo>
                  <a:lnTo>
                    <a:pt x="142748" y="1397"/>
                  </a:lnTo>
                  <a:lnTo>
                    <a:pt x="138429" y="0"/>
                  </a:lnTo>
                  <a:close/>
                </a:path>
              </a:pathLst>
            </a:custGeom>
            <a:solidFill>
              <a:srgbClr val="FCA3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979329" y="2322577"/>
            <a:ext cx="619286" cy="733425"/>
            <a:chOff x="7977251" y="2322576"/>
            <a:chExt cx="619125" cy="733425"/>
          </a:xfrm>
        </p:grpSpPr>
        <p:sp>
          <p:nvSpPr>
            <p:cNvPr id="25" name="object 25"/>
            <p:cNvSpPr/>
            <p:nvPr/>
          </p:nvSpPr>
          <p:spPr>
            <a:xfrm>
              <a:off x="7983601" y="2594749"/>
              <a:ext cx="455295" cy="455295"/>
            </a:xfrm>
            <a:custGeom>
              <a:avLst/>
              <a:gdLst/>
              <a:ahLst/>
              <a:cxnLst/>
              <a:rect l="l" t="t" r="r" b="b"/>
              <a:pathLst>
                <a:path w="455295" h="455294">
                  <a:moveTo>
                    <a:pt x="454875" y="0"/>
                  </a:moveTo>
                  <a:lnTo>
                    <a:pt x="0" y="0"/>
                  </a:lnTo>
                  <a:lnTo>
                    <a:pt x="0" y="454774"/>
                  </a:lnTo>
                  <a:lnTo>
                    <a:pt x="454875" y="454774"/>
                  </a:lnTo>
                  <a:lnTo>
                    <a:pt x="454875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438388" y="2443226"/>
              <a:ext cx="151765" cy="606425"/>
            </a:xfrm>
            <a:custGeom>
              <a:avLst/>
              <a:gdLst/>
              <a:ahLst/>
              <a:cxnLst/>
              <a:rect l="l" t="t" r="r" b="b"/>
              <a:pathLst>
                <a:path w="151765" h="606425">
                  <a:moveTo>
                    <a:pt x="151637" y="0"/>
                  </a:moveTo>
                  <a:lnTo>
                    <a:pt x="0" y="151637"/>
                  </a:lnTo>
                  <a:lnTo>
                    <a:pt x="0" y="606298"/>
                  </a:lnTo>
                  <a:lnTo>
                    <a:pt x="151637" y="454787"/>
                  </a:lnTo>
                  <a:lnTo>
                    <a:pt x="151637" y="0"/>
                  </a:lnTo>
                  <a:close/>
                </a:path>
              </a:pathLst>
            </a:custGeom>
            <a:solidFill>
              <a:srgbClr val="B00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983601" y="2443226"/>
              <a:ext cx="606425" cy="151765"/>
            </a:xfrm>
            <a:custGeom>
              <a:avLst/>
              <a:gdLst/>
              <a:ahLst/>
              <a:cxnLst/>
              <a:rect l="l" t="t" r="r" b="b"/>
              <a:pathLst>
                <a:path w="606425" h="151764">
                  <a:moveTo>
                    <a:pt x="606425" y="0"/>
                  </a:moveTo>
                  <a:lnTo>
                    <a:pt x="151510" y="0"/>
                  </a:lnTo>
                  <a:lnTo>
                    <a:pt x="0" y="151637"/>
                  </a:lnTo>
                  <a:lnTo>
                    <a:pt x="454787" y="151637"/>
                  </a:lnTo>
                  <a:lnTo>
                    <a:pt x="606425" y="0"/>
                  </a:lnTo>
                  <a:close/>
                </a:path>
              </a:pathLst>
            </a:custGeom>
            <a:solidFill>
              <a:srgbClr val="E23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983601" y="2443226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0" y="151637"/>
                  </a:moveTo>
                  <a:lnTo>
                    <a:pt x="151510" y="0"/>
                  </a:lnTo>
                  <a:lnTo>
                    <a:pt x="606425" y="0"/>
                  </a:lnTo>
                  <a:lnTo>
                    <a:pt x="606425" y="454787"/>
                  </a:lnTo>
                  <a:lnTo>
                    <a:pt x="454787" y="606298"/>
                  </a:lnTo>
                  <a:lnTo>
                    <a:pt x="0" y="606298"/>
                  </a:lnTo>
                  <a:lnTo>
                    <a:pt x="0" y="151637"/>
                  </a:lnTo>
                  <a:close/>
                </a:path>
                <a:path w="606425" h="606425">
                  <a:moveTo>
                    <a:pt x="0" y="151637"/>
                  </a:moveTo>
                  <a:lnTo>
                    <a:pt x="454787" y="151637"/>
                  </a:lnTo>
                  <a:lnTo>
                    <a:pt x="606425" y="0"/>
                  </a:lnTo>
                </a:path>
                <a:path w="606425" h="606425">
                  <a:moveTo>
                    <a:pt x="454787" y="151637"/>
                  </a:moveTo>
                  <a:lnTo>
                    <a:pt x="454787" y="60629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20888" y="2360268"/>
              <a:ext cx="438150" cy="94615"/>
            </a:xfrm>
            <a:custGeom>
              <a:avLst/>
              <a:gdLst/>
              <a:ahLst/>
              <a:cxnLst/>
              <a:rect l="l" t="t" r="r" b="b"/>
              <a:pathLst>
                <a:path w="438150" h="94614">
                  <a:moveTo>
                    <a:pt x="437667" y="0"/>
                  </a:moveTo>
                  <a:lnTo>
                    <a:pt x="0" y="0"/>
                  </a:lnTo>
                  <a:lnTo>
                    <a:pt x="0" y="94387"/>
                  </a:lnTo>
                  <a:lnTo>
                    <a:pt x="437667" y="94387"/>
                  </a:lnTo>
                  <a:lnTo>
                    <a:pt x="437667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558530" y="2328926"/>
              <a:ext cx="31750" cy="125730"/>
            </a:xfrm>
            <a:custGeom>
              <a:avLst/>
              <a:gdLst/>
              <a:ahLst/>
              <a:cxnLst/>
              <a:rect l="l" t="t" r="r" b="b"/>
              <a:pathLst>
                <a:path w="31750" h="125730">
                  <a:moveTo>
                    <a:pt x="31496" y="0"/>
                  </a:moveTo>
                  <a:lnTo>
                    <a:pt x="0" y="31369"/>
                  </a:lnTo>
                  <a:lnTo>
                    <a:pt x="0" y="125729"/>
                  </a:lnTo>
                  <a:lnTo>
                    <a:pt x="31496" y="94361"/>
                  </a:lnTo>
                  <a:lnTo>
                    <a:pt x="31496" y="0"/>
                  </a:lnTo>
                  <a:close/>
                </a:path>
              </a:pathLst>
            </a:custGeom>
            <a:solidFill>
              <a:srgbClr val="B00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20888" y="2328926"/>
              <a:ext cx="469265" cy="31750"/>
            </a:xfrm>
            <a:custGeom>
              <a:avLst/>
              <a:gdLst/>
              <a:ahLst/>
              <a:cxnLst/>
              <a:rect l="l" t="t" r="r" b="b"/>
              <a:pathLst>
                <a:path w="469265" h="31750">
                  <a:moveTo>
                    <a:pt x="469137" y="0"/>
                  </a:moveTo>
                  <a:lnTo>
                    <a:pt x="31368" y="0"/>
                  </a:lnTo>
                  <a:lnTo>
                    <a:pt x="0" y="31369"/>
                  </a:lnTo>
                  <a:lnTo>
                    <a:pt x="437641" y="31369"/>
                  </a:lnTo>
                  <a:lnTo>
                    <a:pt x="469137" y="0"/>
                  </a:lnTo>
                  <a:close/>
                </a:path>
              </a:pathLst>
            </a:custGeom>
            <a:solidFill>
              <a:srgbClr val="E23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20888" y="2328926"/>
              <a:ext cx="469265" cy="125730"/>
            </a:xfrm>
            <a:custGeom>
              <a:avLst/>
              <a:gdLst/>
              <a:ahLst/>
              <a:cxnLst/>
              <a:rect l="l" t="t" r="r" b="b"/>
              <a:pathLst>
                <a:path w="469265" h="125730">
                  <a:moveTo>
                    <a:pt x="0" y="31369"/>
                  </a:moveTo>
                  <a:lnTo>
                    <a:pt x="31368" y="0"/>
                  </a:lnTo>
                  <a:lnTo>
                    <a:pt x="469137" y="0"/>
                  </a:lnTo>
                  <a:lnTo>
                    <a:pt x="469137" y="94361"/>
                  </a:lnTo>
                  <a:lnTo>
                    <a:pt x="437641" y="125729"/>
                  </a:lnTo>
                  <a:lnTo>
                    <a:pt x="0" y="125729"/>
                  </a:lnTo>
                  <a:lnTo>
                    <a:pt x="0" y="31369"/>
                  </a:lnTo>
                  <a:close/>
                </a:path>
                <a:path w="469265" h="125730">
                  <a:moveTo>
                    <a:pt x="0" y="31369"/>
                  </a:moveTo>
                  <a:lnTo>
                    <a:pt x="437641" y="31369"/>
                  </a:lnTo>
                  <a:lnTo>
                    <a:pt x="469137" y="0"/>
                  </a:lnTo>
                </a:path>
                <a:path w="469265" h="125730">
                  <a:moveTo>
                    <a:pt x="437641" y="31369"/>
                  </a:moveTo>
                  <a:lnTo>
                    <a:pt x="437641" y="12572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03616" y="2494788"/>
              <a:ext cx="320675" cy="45720"/>
            </a:xfrm>
            <a:custGeom>
              <a:avLst/>
              <a:gdLst/>
              <a:ahLst/>
              <a:cxnLst/>
              <a:rect l="l" t="t" r="r" b="b"/>
              <a:pathLst>
                <a:path w="320675" h="45719">
                  <a:moveTo>
                    <a:pt x="320420" y="0"/>
                  </a:moveTo>
                  <a:lnTo>
                    <a:pt x="80136" y="0"/>
                  </a:lnTo>
                  <a:lnTo>
                    <a:pt x="0" y="45720"/>
                  </a:lnTo>
                  <a:lnTo>
                    <a:pt x="240410" y="45720"/>
                  </a:lnTo>
                  <a:lnTo>
                    <a:pt x="320420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103616" y="2494788"/>
              <a:ext cx="320675" cy="45720"/>
            </a:xfrm>
            <a:custGeom>
              <a:avLst/>
              <a:gdLst/>
              <a:ahLst/>
              <a:cxnLst/>
              <a:rect l="l" t="t" r="r" b="b"/>
              <a:pathLst>
                <a:path w="320675" h="45719">
                  <a:moveTo>
                    <a:pt x="0" y="45720"/>
                  </a:moveTo>
                  <a:lnTo>
                    <a:pt x="80136" y="0"/>
                  </a:lnTo>
                  <a:lnTo>
                    <a:pt x="320420" y="0"/>
                  </a:lnTo>
                  <a:lnTo>
                    <a:pt x="240410" y="45720"/>
                  </a:lnTo>
                  <a:lnTo>
                    <a:pt x="0" y="4572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452612" y="2386076"/>
              <a:ext cx="80645" cy="45720"/>
            </a:xfrm>
            <a:custGeom>
              <a:avLst/>
              <a:gdLst/>
              <a:ahLst/>
              <a:cxnLst/>
              <a:rect l="l" t="t" r="r" b="b"/>
              <a:pathLst>
                <a:path w="80645" h="45719">
                  <a:moveTo>
                    <a:pt x="40132" y="0"/>
                  </a:moveTo>
                  <a:lnTo>
                    <a:pt x="24538" y="1803"/>
                  </a:lnTo>
                  <a:lnTo>
                    <a:pt x="11779" y="6715"/>
                  </a:lnTo>
                  <a:lnTo>
                    <a:pt x="3163" y="13983"/>
                  </a:lnTo>
                  <a:lnTo>
                    <a:pt x="0" y="22860"/>
                  </a:lnTo>
                  <a:lnTo>
                    <a:pt x="3163" y="31789"/>
                  </a:lnTo>
                  <a:lnTo>
                    <a:pt x="11779" y="39052"/>
                  </a:lnTo>
                  <a:lnTo>
                    <a:pt x="24538" y="43934"/>
                  </a:lnTo>
                  <a:lnTo>
                    <a:pt x="40132" y="45720"/>
                  </a:lnTo>
                  <a:lnTo>
                    <a:pt x="55705" y="43934"/>
                  </a:lnTo>
                  <a:lnTo>
                    <a:pt x="68421" y="39052"/>
                  </a:lnTo>
                  <a:lnTo>
                    <a:pt x="76993" y="31789"/>
                  </a:lnTo>
                  <a:lnTo>
                    <a:pt x="80137" y="22860"/>
                  </a:lnTo>
                  <a:lnTo>
                    <a:pt x="76993" y="13983"/>
                  </a:lnTo>
                  <a:lnTo>
                    <a:pt x="68421" y="6715"/>
                  </a:lnTo>
                  <a:lnTo>
                    <a:pt x="55705" y="1803"/>
                  </a:lnTo>
                  <a:lnTo>
                    <a:pt x="40132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452612" y="2386076"/>
              <a:ext cx="80645" cy="45720"/>
            </a:xfrm>
            <a:custGeom>
              <a:avLst/>
              <a:gdLst/>
              <a:ahLst/>
              <a:cxnLst/>
              <a:rect l="l" t="t" r="r" b="b"/>
              <a:pathLst>
                <a:path w="80645" h="45719">
                  <a:moveTo>
                    <a:pt x="0" y="22860"/>
                  </a:moveTo>
                  <a:lnTo>
                    <a:pt x="3163" y="13983"/>
                  </a:lnTo>
                  <a:lnTo>
                    <a:pt x="11779" y="6715"/>
                  </a:lnTo>
                  <a:lnTo>
                    <a:pt x="24538" y="1803"/>
                  </a:lnTo>
                  <a:lnTo>
                    <a:pt x="40132" y="0"/>
                  </a:lnTo>
                  <a:lnTo>
                    <a:pt x="55705" y="1803"/>
                  </a:lnTo>
                  <a:lnTo>
                    <a:pt x="68421" y="6715"/>
                  </a:lnTo>
                  <a:lnTo>
                    <a:pt x="76993" y="13983"/>
                  </a:lnTo>
                  <a:lnTo>
                    <a:pt x="80137" y="22860"/>
                  </a:lnTo>
                  <a:lnTo>
                    <a:pt x="76993" y="31789"/>
                  </a:lnTo>
                  <a:lnTo>
                    <a:pt x="68421" y="39052"/>
                  </a:lnTo>
                  <a:lnTo>
                    <a:pt x="55705" y="43934"/>
                  </a:lnTo>
                  <a:lnTo>
                    <a:pt x="40132" y="45720"/>
                  </a:lnTo>
                  <a:lnTo>
                    <a:pt x="24538" y="43934"/>
                  </a:lnTo>
                  <a:lnTo>
                    <a:pt x="11779" y="39052"/>
                  </a:lnTo>
                  <a:lnTo>
                    <a:pt x="3163" y="31789"/>
                  </a:lnTo>
                  <a:lnTo>
                    <a:pt x="0" y="2286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7236185" y="1441451"/>
            <a:ext cx="2235782" cy="479425"/>
            <a:chOff x="7234301" y="1441450"/>
            <a:chExt cx="2235200" cy="479425"/>
          </a:xfrm>
        </p:grpSpPr>
        <p:sp>
          <p:nvSpPr>
            <p:cNvPr id="38" name="object 38"/>
            <p:cNvSpPr/>
            <p:nvPr/>
          </p:nvSpPr>
          <p:spPr>
            <a:xfrm>
              <a:off x="7240651" y="1447800"/>
              <a:ext cx="520700" cy="466725"/>
            </a:xfrm>
            <a:custGeom>
              <a:avLst/>
              <a:gdLst/>
              <a:ahLst/>
              <a:cxnLst/>
              <a:rect l="l" t="t" r="r" b="b"/>
              <a:pathLst>
                <a:path w="520700" h="466725">
                  <a:moveTo>
                    <a:pt x="484124" y="0"/>
                  </a:moveTo>
                  <a:lnTo>
                    <a:pt x="353949" y="23749"/>
                  </a:lnTo>
                  <a:lnTo>
                    <a:pt x="355473" y="0"/>
                  </a:lnTo>
                  <a:lnTo>
                    <a:pt x="247650" y="0"/>
                  </a:lnTo>
                  <a:lnTo>
                    <a:pt x="247650" y="25400"/>
                  </a:lnTo>
                  <a:lnTo>
                    <a:pt x="146050" y="0"/>
                  </a:lnTo>
                  <a:lnTo>
                    <a:pt x="147574" y="22225"/>
                  </a:lnTo>
                  <a:lnTo>
                    <a:pt x="63500" y="6350"/>
                  </a:lnTo>
                  <a:lnTo>
                    <a:pt x="182499" y="131699"/>
                  </a:lnTo>
                  <a:lnTo>
                    <a:pt x="161925" y="136525"/>
                  </a:lnTo>
                  <a:lnTo>
                    <a:pt x="99949" y="157099"/>
                  </a:lnTo>
                  <a:lnTo>
                    <a:pt x="55499" y="187325"/>
                  </a:lnTo>
                  <a:lnTo>
                    <a:pt x="22225" y="223774"/>
                  </a:lnTo>
                  <a:lnTo>
                    <a:pt x="4699" y="268224"/>
                  </a:lnTo>
                  <a:lnTo>
                    <a:pt x="0" y="303149"/>
                  </a:lnTo>
                  <a:lnTo>
                    <a:pt x="1524" y="319024"/>
                  </a:lnTo>
                  <a:lnTo>
                    <a:pt x="20574" y="368300"/>
                  </a:lnTo>
                  <a:lnTo>
                    <a:pt x="47625" y="401700"/>
                  </a:lnTo>
                  <a:lnTo>
                    <a:pt x="88900" y="431800"/>
                  </a:lnTo>
                  <a:lnTo>
                    <a:pt x="142875" y="455675"/>
                  </a:lnTo>
                  <a:lnTo>
                    <a:pt x="193675" y="465200"/>
                  </a:lnTo>
                  <a:lnTo>
                    <a:pt x="211074" y="466725"/>
                  </a:lnTo>
                  <a:lnTo>
                    <a:pt x="299974" y="466725"/>
                  </a:lnTo>
                  <a:lnTo>
                    <a:pt x="341249" y="463550"/>
                  </a:lnTo>
                  <a:lnTo>
                    <a:pt x="390398" y="450850"/>
                  </a:lnTo>
                  <a:lnTo>
                    <a:pt x="425323" y="434975"/>
                  </a:lnTo>
                  <a:lnTo>
                    <a:pt x="463423" y="409575"/>
                  </a:lnTo>
                  <a:lnTo>
                    <a:pt x="493649" y="376174"/>
                  </a:lnTo>
                  <a:lnTo>
                    <a:pt x="519049" y="317500"/>
                  </a:lnTo>
                  <a:lnTo>
                    <a:pt x="520573" y="296799"/>
                  </a:lnTo>
                  <a:lnTo>
                    <a:pt x="519049" y="276225"/>
                  </a:lnTo>
                  <a:lnTo>
                    <a:pt x="501523" y="228600"/>
                  </a:lnTo>
                  <a:lnTo>
                    <a:pt x="452374" y="176149"/>
                  </a:lnTo>
                  <a:lnTo>
                    <a:pt x="396748" y="147574"/>
                  </a:lnTo>
                  <a:lnTo>
                    <a:pt x="358648" y="136525"/>
                  </a:lnTo>
                  <a:lnTo>
                    <a:pt x="325374" y="131699"/>
                  </a:lnTo>
                  <a:lnTo>
                    <a:pt x="48412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39" name="object 39"/>
            <p:cNvSpPr/>
            <p:nvPr/>
          </p:nvSpPr>
          <p:spPr>
            <a:xfrm>
              <a:off x="7240651" y="1447800"/>
              <a:ext cx="520700" cy="466725"/>
            </a:xfrm>
            <a:custGeom>
              <a:avLst/>
              <a:gdLst/>
              <a:ahLst/>
              <a:cxnLst/>
              <a:rect l="l" t="t" r="r" b="b"/>
              <a:pathLst>
                <a:path w="520700" h="466725">
                  <a:moveTo>
                    <a:pt x="63500" y="6350"/>
                  </a:moveTo>
                  <a:lnTo>
                    <a:pt x="147574" y="22225"/>
                  </a:lnTo>
                  <a:lnTo>
                    <a:pt x="146050" y="0"/>
                  </a:lnTo>
                  <a:lnTo>
                    <a:pt x="247650" y="25400"/>
                  </a:lnTo>
                  <a:lnTo>
                    <a:pt x="247650" y="0"/>
                  </a:lnTo>
                  <a:lnTo>
                    <a:pt x="355473" y="0"/>
                  </a:lnTo>
                  <a:lnTo>
                    <a:pt x="353949" y="23749"/>
                  </a:lnTo>
                  <a:lnTo>
                    <a:pt x="484124" y="0"/>
                  </a:lnTo>
                  <a:lnTo>
                    <a:pt x="325374" y="131699"/>
                  </a:lnTo>
                  <a:lnTo>
                    <a:pt x="341249" y="133350"/>
                  </a:lnTo>
                  <a:lnTo>
                    <a:pt x="358648" y="136525"/>
                  </a:lnTo>
                  <a:lnTo>
                    <a:pt x="379349" y="141224"/>
                  </a:lnTo>
                  <a:lnTo>
                    <a:pt x="396748" y="147574"/>
                  </a:lnTo>
                  <a:lnTo>
                    <a:pt x="417449" y="157099"/>
                  </a:lnTo>
                  <a:lnTo>
                    <a:pt x="434848" y="165100"/>
                  </a:lnTo>
                  <a:lnTo>
                    <a:pt x="452374" y="176149"/>
                  </a:lnTo>
                  <a:lnTo>
                    <a:pt x="466598" y="188849"/>
                  </a:lnTo>
                  <a:lnTo>
                    <a:pt x="479298" y="200025"/>
                  </a:lnTo>
                  <a:lnTo>
                    <a:pt x="509524" y="245999"/>
                  </a:lnTo>
                  <a:lnTo>
                    <a:pt x="520573" y="296799"/>
                  </a:lnTo>
                  <a:lnTo>
                    <a:pt x="519049" y="317500"/>
                  </a:lnTo>
                  <a:lnTo>
                    <a:pt x="514223" y="333375"/>
                  </a:lnTo>
                  <a:lnTo>
                    <a:pt x="509524" y="349250"/>
                  </a:lnTo>
                  <a:lnTo>
                    <a:pt x="480949" y="392175"/>
                  </a:lnTo>
                  <a:lnTo>
                    <a:pt x="444373" y="423925"/>
                  </a:lnTo>
                  <a:lnTo>
                    <a:pt x="407924" y="442975"/>
                  </a:lnTo>
                  <a:lnTo>
                    <a:pt x="355473" y="460375"/>
                  </a:lnTo>
                  <a:lnTo>
                    <a:pt x="319024" y="465200"/>
                  </a:lnTo>
                  <a:lnTo>
                    <a:pt x="299974" y="466725"/>
                  </a:lnTo>
                  <a:lnTo>
                    <a:pt x="211074" y="466725"/>
                  </a:lnTo>
                  <a:lnTo>
                    <a:pt x="193675" y="465200"/>
                  </a:lnTo>
                  <a:lnTo>
                    <a:pt x="142875" y="455675"/>
                  </a:lnTo>
                  <a:lnTo>
                    <a:pt x="88900" y="431800"/>
                  </a:lnTo>
                  <a:lnTo>
                    <a:pt x="47625" y="401700"/>
                  </a:lnTo>
                  <a:lnTo>
                    <a:pt x="20574" y="368300"/>
                  </a:lnTo>
                  <a:lnTo>
                    <a:pt x="6350" y="333375"/>
                  </a:lnTo>
                  <a:lnTo>
                    <a:pt x="1524" y="319024"/>
                  </a:lnTo>
                  <a:lnTo>
                    <a:pt x="0" y="303149"/>
                  </a:lnTo>
                  <a:lnTo>
                    <a:pt x="1524" y="290449"/>
                  </a:lnTo>
                  <a:lnTo>
                    <a:pt x="4699" y="268224"/>
                  </a:lnTo>
                  <a:lnTo>
                    <a:pt x="22225" y="223774"/>
                  </a:lnTo>
                  <a:lnTo>
                    <a:pt x="55499" y="187325"/>
                  </a:lnTo>
                  <a:lnTo>
                    <a:pt x="99949" y="157099"/>
                  </a:lnTo>
                  <a:lnTo>
                    <a:pt x="161925" y="136525"/>
                  </a:lnTo>
                  <a:lnTo>
                    <a:pt x="182499" y="131699"/>
                  </a:lnTo>
                  <a:lnTo>
                    <a:pt x="63500" y="6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40" name="object 40"/>
            <p:cNvSpPr/>
            <p:nvPr/>
          </p:nvSpPr>
          <p:spPr>
            <a:xfrm>
              <a:off x="7812151" y="1447800"/>
              <a:ext cx="520700" cy="466725"/>
            </a:xfrm>
            <a:custGeom>
              <a:avLst/>
              <a:gdLst/>
              <a:ahLst/>
              <a:cxnLst/>
              <a:rect l="l" t="t" r="r" b="b"/>
              <a:pathLst>
                <a:path w="520700" h="466725">
                  <a:moveTo>
                    <a:pt x="484124" y="0"/>
                  </a:moveTo>
                  <a:lnTo>
                    <a:pt x="353949" y="23749"/>
                  </a:lnTo>
                  <a:lnTo>
                    <a:pt x="355473" y="0"/>
                  </a:lnTo>
                  <a:lnTo>
                    <a:pt x="247650" y="0"/>
                  </a:lnTo>
                  <a:lnTo>
                    <a:pt x="247650" y="25400"/>
                  </a:lnTo>
                  <a:lnTo>
                    <a:pt x="146050" y="0"/>
                  </a:lnTo>
                  <a:lnTo>
                    <a:pt x="147574" y="22225"/>
                  </a:lnTo>
                  <a:lnTo>
                    <a:pt x="63500" y="6350"/>
                  </a:lnTo>
                  <a:lnTo>
                    <a:pt x="182499" y="131699"/>
                  </a:lnTo>
                  <a:lnTo>
                    <a:pt x="161925" y="136525"/>
                  </a:lnTo>
                  <a:lnTo>
                    <a:pt x="99949" y="157099"/>
                  </a:lnTo>
                  <a:lnTo>
                    <a:pt x="55499" y="187325"/>
                  </a:lnTo>
                  <a:lnTo>
                    <a:pt x="22225" y="223774"/>
                  </a:lnTo>
                  <a:lnTo>
                    <a:pt x="4699" y="268224"/>
                  </a:lnTo>
                  <a:lnTo>
                    <a:pt x="0" y="303149"/>
                  </a:lnTo>
                  <a:lnTo>
                    <a:pt x="1524" y="319024"/>
                  </a:lnTo>
                  <a:lnTo>
                    <a:pt x="20574" y="368300"/>
                  </a:lnTo>
                  <a:lnTo>
                    <a:pt x="47625" y="401700"/>
                  </a:lnTo>
                  <a:lnTo>
                    <a:pt x="88900" y="431800"/>
                  </a:lnTo>
                  <a:lnTo>
                    <a:pt x="142875" y="455675"/>
                  </a:lnTo>
                  <a:lnTo>
                    <a:pt x="193675" y="465200"/>
                  </a:lnTo>
                  <a:lnTo>
                    <a:pt x="211074" y="466725"/>
                  </a:lnTo>
                  <a:lnTo>
                    <a:pt x="299974" y="466725"/>
                  </a:lnTo>
                  <a:lnTo>
                    <a:pt x="341249" y="463550"/>
                  </a:lnTo>
                  <a:lnTo>
                    <a:pt x="390398" y="450850"/>
                  </a:lnTo>
                  <a:lnTo>
                    <a:pt x="425323" y="434975"/>
                  </a:lnTo>
                  <a:lnTo>
                    <a:pt x="463423" y="409575"/>
                  </a:lnTo>
                  <a:lnTo>
                    <a:pt x="493649" y="376174"/>
                  </a:lnTo>
                  <a:lnTo>
                    <a:pt x="519049" y="317500"/>
                  </a:lnTo>
                  <a:lnTo>
                    <a:pt x="520573" y="296799"/>
                  </a:lnTo>
                  <a:lnTo>
                    <a:pt x="519049" y="276225"/>
                  </a:lnTo>
                  <a:lnTo>
                    <a:pt x="501523" y="228600"/>
                  </a:lnTo>
                  <a:lnTo>
                    <a:pt x="452374" y="176149"/>
                  </a:lnTo>
                  <a:lnTo>
                    <a:pt x="396748" y="147574"/>
                  </a:lnTo>
                  <a:lnTo>
                    <a:pt x="358648" y="136525"/>
                  </a:lnTo>
                  <a:lnTo>
                    <a:pt x="325374" y="131699"/>
                  </a:lnTo>
                  <a:lnTo>
                    <a:pt x="48412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41" name="object 41"/>
            <p:cNvSpPr/>
            <p:nvPr/>
          </p:nvSpPr>
          <p:spPr>
            <a:xfrm>
              <a:off x="7812151" y="1447800"/>
              <a:ext cx="520700" cy="466725"/>
            </a:xfrm>
            <a:custGeom>
              <a:avLst/>
              <a:gdLst/>
              <a:ahLst/>
              <a:cxnLst/>
              <a:rect l="l" t="t" r="r" b="b"/>
              <a:pathLst>
                <a:path w="520700" h="466725">
                  <a:moveTo>
                    <a:pt x="63500" y="6350"/>
                  </a:moveTo>
                  <a:lnTo>
                    <a:pt x="147574" y="22225"/>
                  </a:lnTo>
                  <a:lnTo>
                    <a:pt x="146050" y="0"/>
                  </a:lnTo>
                  <a:lnTo>
                    <a:pt x="247650" y="25400"/>
                  </a:lnTo>
                  <a:lnTo>
                    <a:pt x="247650" y="0"/>
                  </a:lnTo>
                  <a:lnTo>
                    <a:pt x="355473" y="0"/>
                  </a:lnTo>
                  <a:lnTo>
                    <a:pt x="353949" y="23749"/>
                  </a:lnTo>
                  <a:lnTo>
                    <a:pt x="484124" y="0"/>
                  </a:lnTo>
                  <a:lnTo>
                    <a:pt x="325374" y="131699"/>
                  </a:lnTo>
                  <a:lnTo>
                    <a:pt x="341249" y="133350"/>
                  </a:lnTo>
                  <a:lnTo>
                    <a:pt x="358648" y="136525"/>
                  </a:lnTo>
                  <a:lnTo>
                    <a:pt x="379349" y="141224"/>
                  </a:lnTo>
                  <a:lnTo>
                    <a:pt x="396748" y="147574"/>
                  </a:lnTo>
                  <a:lnTo>
                    <a:pt x="417449" y="157099"/>
                  </a:lnTo>
                  <a:lnTo>
                    <a:pt x="434848" y="165100"/>
                  </a:lnTo>
                  <a:lnTo>
                    <a:pt x="452374" y="176149"/>
                  </a:lnTo>
                  <a:lnTo>
                    <a:pt x="466598" y="188849"/>
                  </a:lnTo>
                  <a:lnTo>
                    <a:pt x="479298" y="200025"/>
                  </a:lnTo>
                  <a:lnTo>
                    <a:pt x="509524" y="245999"/>
                  </a:lnTo>
                  <a:lnTo>
                    <a:pt x="520573" y="296799"/>
                  </a:lnTo>
                  <a:lnTo>
                    <a:pt x="519049" y="317500"/>
                  </a:lnTo>
                  <a:lnTo>
                    <a:pt x="514223" y="333375"/>
                  </a:lnTo>
                  <a:lnTo>
                    <a:pt x="509524" y="349250"/>
                  </a:lnTo>
                  <a:lnTo>
                    <a:pt x="480949" y="392175"/>
                  </a:lnTo>
                  <a:lnTo>
                    <a:pt x="444373" y="423925"/>
                  </a:lnTo>
                  <a:lnTo>
                    <a:pt x="407924" y="442975"/>
                  </a:lnTo>
                  <a:lnTo>
                    <a:pt x="355473" y="460375"/>
                  </a:lnTo>
                  <a:lnTo>
                    <a:pt x="319024" y="465200"/>
                  </a:lnTo>
                  <a:lnTo>
                    <a:pt x="299974" y="466725"/>
                  </a:lnTo>
                  <a:lnTo>
                    <a:pt x="211074" y="466725"/>
                  </a:lnTo>
                  <a:lnTo>
                    <a:pt x="193675" y="465200"/>
                  </a:lnTo>
                  <a:lnTo>
                    <a:pt x="142875" y="455675"/>
                  </a:lnTo>
                  <a:lnTo>
                    <a:pt x="88900" y="431800"/>
                  </a:lnTo>
                  <a:lnTo>
                    <a:pt x="47625" y="401700"/>
                  </a:lnTo>
                  <a:lnTo>
                    <a:pt x="20574" y="368300"/>
                  </a:lnTo>
                  <a:lnTo>
                    <a:pt x="6350" y="333375"/>
                  </a:lnTo>
                  <a:lnTo>
                    <a:pt x="1524" y="319024"/>
                  </a:lnTo>
                  <a:lnTo>
                    <a:pt x="0" y="303149"/>
                  </a:lnTo>
                  <a:lnTo>
                    <a:pt x="1524" y="290449"/>
                  </a:lnTo>
                  <a:lnTo>
                    <a:pt x="4699" y="268224"/>
                  </a:lnTo>
                  <a:lnTo>
                    <a:pt x="22225" y="223774"/>
                  </a:lnTo>
                  <a:lnTo>
                    <a:pt x="55499" y="187325"/>
                  </a:lnTo>
                  <a:lnTo>
                    <a:pt x="99949" y="157099"/>
                  </a:lnTo>
                  <a:lnTo>
                    <a:pt x="161925" y="136525"/>
                  </a:lnTo>
                  <a:lnTo>
                    <a:pt x="182499" y="131699"/>
                  </a:lnTo>
                  <a:lnTo>
                    <a:pt x="63500" y="6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42" name="object 42"/>
            <p:cNvSpPr/>
            <p:nvPr/>
          </p:nvSpPr>
          <p:spPr>
            <a:xfrm>
              <a:off x="8383651" y="1447800"/>
              <a:ext cx="520700" cy="466725"/>
            </a:xfrm>
            <a:custGeom>
              <a:avLst/>
              <a:gdLst/>
              <a:ahLst/>
              <a:cxnLst/>
              <a:rect l="l" t="t" r="r" b="b"/>
              <a:pathLst>
                <a:path w="520700" h="466725">
                  <a:moveTo>
                    <a:pt x="484124" y="0"/>
                  </a:moveTo>
                  <a:lnTo>
                    <a:pt x="353949" y="23749"/>
                  </a:lnTo>
                  <a:lnTo>
                    <a:pt x="355600" y="0"/>
                  </a:lnTo>
                  <a:lnTo>
                    <a:pt x="247650" y="0"/>
                  </a:lnTo>
                  <a:lnTo>
                    <a:pt x="247650" y="25400"/>
                  </a:lnTo>
                  <a:lnTo>
                    <a:pt x="146050" y="0"/>
                  </a:lnTo>
                  <a:lnTo>
                    <a:pt x="147574" y="22225"/>
                  </a:lnTo>
                  <a:lnTo>
                    <a:pt x="63500" y="6350"/>
                  </a:lnTo>
                  <a:lnTo>
                    <a:pt x="182499" y="131699"/>
                  </a:lnTo>
                  <a:lnTo>
                    <a:pt x="161925" y="136525"/>
                  </a:lnTo>
                  <a:lnTo>
                    <a:pt x="99949" y="157099"/>
                  </a:lnTo>
                  <a:lnTo>
                    <a:pt x="55499" y="187325"/>
                  </a:lnTo>
                  <a:lnTo>
                    <a:pt x="22225" y="223774"/>
                  </a:lnTo>
                  <a:lnTo>
                    <a:pt x="4699" y="268224"/>
                  </a:lnTo>
                  <a:lnTo>
                    <a:pt x="0" y="303149"/>
                  </a:lnTo>
                  <a:lnTo>
                    <a:pt x="1524" y="319024"/>
                  </a:lnTo>
                  <a:lnTo>
                    <a:pt x="20574" y="368300"/>
                  </a:lnTo>
                  <a:lnTo>
                    <a:pt x="47625" y="401700"/>
                  </a:lnTo>
                  <a:lnTo>
                    <a:pt x="88900" y="431800"/>
                  </a:lnTo>
                  <a:lnTo>
                    <a:pt x="142875" y="455675"/>
                  </a:lnTo>
                  <a:lnTo>
                    <a:pt x="193675" y="465200"/>
                  </a:lnTo>
                  <a:lnTo>
                    <a:pt x="211074" y="466725"/>
                  </a:lnTo>
                  <a:lnTo>
                    <a:pt x="299974" y="466725"/>
                  </a:lnTo>
                  <a:lnTo>
                    <a:pt x="341249" y="463550"/>
                  </a:lnTo>
                  <a:lnTo>
                    <a:pt x="390525" y="450850"/>
                  </a:lnTo>
                  <a:lnTo>
                    <a:pt x="425450" y="434975"/>
                  </a:lnTo>
                  <a:lnTo>
                    <a:pt x="463550" y="409575"/>
                  </a:lnTo>
                  <a:lnTo>
                    <a:pt x="493649" y="376174"/>
                  </a:lnTo>
                  <a:lnTo>
                    <a:pt x="519049" y="317500"/>
                  </a:lnTo>
                  <a:lnTo>
                    <a:pt x="520700" y="296799"/>
                  </a:lnTo>
                  <a:lnTo>
                    <a:pt x="519049" y="276225"/>
                  </a:lnTo>
                  <a:lnTo>
                    <a:pt x="501650" y="228600"/>
                  </a:lnTo>
                  <a:lnTo>
                    <a:pt x="452374" y="176149"/>
                  </a:lnTo>
                  <a:lnTo>
                    <a:pt x="396875" y="147574"/>
                  </a:lnTo>
                  <a:lnTo>
                    <a:pt x="358775" y="136525"/>
                  </a:lnTo>
                  <a:lnTo>
                    <a:pt x="325374" y="131699"/>
                  </a:lnTo>
                  <a:lnTo>
                    <a:pt x="48412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43" name="object 43"/>
            <p:cNvSpPr/>
            <p:nvPr/>
          </p:nvSpPr>
          <p:spPr>
            <a:xfrm>
              <a:off x="8383651" y="1447800"/>
              <a:ext cx="520700" cy="466725"/>
            </a:xfrm>
            <a:custGeom>
              <a:avLst/>
              <a:gdLst/>
              <a:ahLst/>
              <a:cxnLst/>
              <a:rect l="l" t="t" r="r" b="b"/>
              <a:pathLst>
                <a:path w="520700" h="466725">
                  <a:moveTo>
                    <a:pt x="63500" y="6350"/>
                  </a:moveTo>
                  <a:lnTo>
                    <a:pt x="147574" y="22225"/>
                  </a:lnTo>
                  <a:lnTo>
                    <a:pt x="146050" y="0"/>
                  </a:lnTo>
                  <a:lnTo>
                    <a:pt x="247650" y="25400"/>
                  </a:lnTo>
                  <a:lnTo>
                    <a:pt x="247650" y="0"/>
                  </a:lnTo>
                  <a:lnTo>
                    <a:pt x="355600" y="0"/>
                  </a:lnTo>
                  <a:lnTo>
                    <a:pt x="353949" y="23749"/>
                  </a:lnTo>
                  <a:lnTo>
                    <a:pt x="484124" y="0"/>
                  </a:lnTo>
                  <a:lnTo>
                    <a:pt x="325374" y="131699"/>
                  </a:lnTo>
                  <a:lnTo>
                    <a:pt x="341249" y="133350"/>
                  </a:lnTo>
                  <a:lnTo>
                    <a:pt x="358775" y="136525"/>
                  </a:lnTo>
                  <a:lnTo>
                    <a:pt x="379349" y="141224"/>
                  </a:lnTo>
                  <a:lnTo>
                    <a:pt x="396875" y="147574"/>
                  </a:lnTo>
                  <a:lnTo>
                    <a:pt x="417449" y="157099"/>
                  </a:lnTo>
                  <a:lnTo>
                    <a:pt x="434975" y="165100"/>
                  </a:lnTo>
                  <a:lnTo>
                    <a:pt x="452374" y="176149"/>
                  </a:lnTo>
                  <a:lnTo>
                    <a:pt x="466725" y="188849"/>
                  </a:lnTo>
                  <a:lnTo>
                    <a:pt x="479425" y="200025"/>
                  </a:lnTo>
                  <a:lnTo>
                    <a:pt x="490474" y="214249"/>
                  </a:lnTo>
                  <a:lnTo>
                    <a:pt x="501650" y="228600"/>
                  </a:lnTo>
                  <a:lnTo>
                    <a:pt x="509524" y="245999"/>
                  </a:lnTo>
                  <a:lnTo>
                    <a:pt x="515874" y="261874"/>
                  </a:lnTo>
                  <a:lnTo>
                    <a:pt x="519049" y="276225"/>
                  </a:lnTo>
                  <a:lnTo>
                    <a:pt x="520700" y="296799"/>
                  </a:lnTo>
                  <a:lnTo>
                    <a:pt x="519049" y="317500"/>
                  </a:lnTo>
                  <a:lnTo>
                    <a:pt x="503174" y="361950"/>
                  </a:lnTo>
                  <a:lnTo>
                    <a:pt x="463550" y="409575"/>
                  </a:lnTo>
                  <a:lnTo>
                    <a:pt x="425450" y="434975"/>
                  </a:lnTo>
                  <a:lnTo>
                    <a:pt x="390525" y="450850"/>
                  </a:lnTo>
                  <a:lnTo>
                    <a:pt x="341249" y="463550"/>
                  </a:lnTo>
                  <a:lnTo>
                    <a:pt x="319024" y="465200"/>
                  </a:lnTo>
                  <a:lnTo>
                    <a:pt x="299974" y="466725"/>
                  </a:lnTo>
                  <a:lnTo>
                    <a:pt x="211074" y="466725"/>
                  </a:lnTo>
                  <a:lnTo>
                    <a:pt x="193675" y="465200"/>
                  </a:lnTo>
                  <a:lnTo>
                    <a:pt x="142875" y="455675"/>
                  </a:lnTo>
                  <a:lnTo>
                    <a:pt x="88900" y="431800"/>
                  </a:lnTo>
                  <a:lnTo>
                    <a:pt x="47625" y="401700"/>
                  </a:lnTo>
                  <a:lnTo>
                    <a:pt x="20574" y="368300"/>
                  </a:lnTo>
                  <a:lnTo>
                    <a:pt x="6350" y="333375"/>
                  </a:lnTo>
                  <a:lnTo>
                    <a:pt x="1524" y="319024"/>
                  </a:lnTo>
                  <a:lnTo>
                    <a:pt x="0" y="303149"/>
                  </a:lnTo>
                  <a:lnTo>
                    <a:pt x="1524" y="290449"/>
                  </a:lnTo>
                  <a:lnTo>
                    <a:pt x="4699" y="268224"/>
                  </a:lnTo>
                  <a:lnTo>
                    <a:pt x="22225" y="223774"/>
                  </a:lnTo>
                  <a:lnTo>
                    <a:pt x="55499" y="187325"/>
                  </a:lnTo>
                  <a:lnTo>
                    <a:pt x="99949" y="157099"/>
                  </a:lnTo>
                  <a:lnTo>
                    <a:pt x="161925" y="136525"/>
                  </a:lnTo>
                  <a:lnTo>
                    <a:pt x="182499" y="131699"/>
                  </a:lnTo>
                  <a:lnTo>
                    <a:pt x="63500" y="6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44" name="object 44"/>
            <p:cNvSpPr/>
            <p:nvPr/>
          </p:nvSpPr>
          <p:spPr>
            <a:xfrm>
              <a:off x="8942451" y="1447800"/>
              <a:ext cx="520700" cy="466725"/>
            </a:xfrm>
            <a:custGeom>
              <a:avLst/>
              <a:gdLst/>
              <a:ahLst/>
              <a:cxnLst/>
              <a:rect l="l" t="t" r="r" b="b"/>
              <a:pathLst>
                <a:path w="520700" h="466725">
                  <a:moveTo>
                    <a:pt x="484124" y="0"/>
                  </a:moveTo>
                  <a:lnTo>
                    <a:pt x="353949" y="23749"/>
                  </a:lnTo>
                  <a:lnTo>
                    <a:pt x="355600" y="0"/>
                  </a:lnTo>
                  <a:lnTo>
                    <a:pt x="247650" y="0"/>
                  </a:lnTo>
                  <a:lnTo>
                    <a:pt x="247650" y="25400"/>
                  </a:lnTo>
                  <a:lnTo>
                    <a:pt x="146050" y="0"/>
                  </a:lnTo>
                  <a:lnTo>
                    <a:pt x="147574" y="22225"/>
                  </a:lnTo>
                  <a:lnTo>
                    <a:pt x="63500" y="6350"/>
                  </a:lnTo>
                  <a:lnTo>
                    <a:pt x="182499" y="131699"/>
                  </a:lnTo>
                  <a:lnTo>
                    <a:pt x="161925" y="136525"/>
                  </a:lnTo>
                  <a:lnTo>
                    <a:pt x="99949" y="157099"/>
                  </a:lnTo>
                  <a:lnTo>
                    <a:pt x="55499" y="187325"/>
                  </a:lnTo>
                  <a:lnTo>
                    <a:pt x="22225" y="223774"/>
                  </a:lnTo>
                  <a:lnTo>
                    <a:pt x="4699" y="268224"/>
                  </a:lnTo>
                  <a:lnTo>
                    <a:pt x="0" y="303149"/>
                  </a:lnTo>
                  <a:lnTo>
                    <a:pt x="1524" y="319024"/>
                  </a:lnTo>
                  <a:lnTo>
                    <a:pt x="20574" y="368300"/>
                  </a:lnTo>
                  <a:lnTo>
                    <a:pt x="47625" y="401700"/>
                  </a:lnTo>
                  <a:lnTo>
                    <a:pt x="88900" y="431800"/>
                  </a:lnTo>
                  <a:lnTo>
                    <a:pt x="142875" y="455675"/>
                  </a:lnTo>
                  <a:lnTo>
                    <a:pt x="193675" y="465200"/>
                  </a:lnTo>
                  <a:lnTo>
                    <a:pt x="211074" y="466725"/>
                  </a:lnTo>
                  <a:lnTo>
                    <a:pt x="299974" y="466725"/>
                  </a:lnTo>
                  <a:lnTo>
                    <a:pt x="341249" y="463550"/>
                  </a:lnTo>
                  <a:lnTo>
                    <a:pt x="390525" y="450850"/>
                  </a:lnTo>
                  <a:lnTo>
                    <a:pt x="425450" y="434975"/>
                  </a:lnTo>
                  <a:lnTo>
                    <a:pt x="463550" y="409575"/>
                  </a:lnTo>
                  <a:lnTo>
                    <a:pt x="493649" y="376174"/>
                  </a:lnTo>
                  <a:lnTo>
                    <a:pt x="519049" y="317500"/>
                  </a:lnTo>
                  <a:lnTo>
                    <a:pt x="520700" y="296799"/>
                  </a:lnTo>
                  <a:lnTo>
                    <a:pt x="519049" y="276225"/>
                  </a:lnTo>
                  <a:lnTo>
                    <a:pt x="501650" y="228600"/>
                  </a:lnTo>
                  <a:lnTo>
                    <a:pt x="452374" y="176149"/>
                  </a:lnTo>
                  <a:lnTo>
                    <a:pt x="396875" y="147574"/>
                  </a:lnTo>
                  <a:lnTo>
                    <a:pt x="358775" y="136525"/>
                  </a:lnTo>
                  <a:lnTo>
                    <a:pt x="325374" y="131699"/>
                  </a:lnTo>
                  <a:lnTo>
                    <a:pt x="48412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45" name="object 45"/>
            <p:cNvSpPr/>
            <p:nvPr/>
          </p:nvSpPr>
          <p:spPr>
            <a:xfrm>
              <a:off x="8942451" y="1447800"/>
              <a:ext cx="520700" cy="466725"/>
            </a:xfrm>
            <a:custGeom>
              <a:avLst/>
              <a:gdLst/>
              <a:ahLst/>
              <a:cxnLst/>
              <a:rect l="l" t="t" r="r" b="b"/>
              <a:pathLst>
                <a:path w="520700" h="466725">
                  <a:moveTo>
                    <a:pt x="63500" y="6350"/>
                  </a:moveTo>
                  <a:lnTo>
                    <a:pt x="147574" y="22225"/>
                  </a:lnTo>
                  <a:lnTo>
                    <a:pt x="146050" y="0"/>
                  </a:lnTo>
                  <a:lnTo>
                    <a:pt x="247650" y="25400"/>
                  </a:lnTo>
                  <a:lnTo>
                    <a:pt x="247650" y="0"/>
                  </a:lnTo>
                  <a:lnTo>
                    <a:pt x="355600" y="0"/>
                  </a:lnTo>
                  <a:lnTo>
                    <a:pt x="353949" y="23749"/>
                  </a:lnTo>
                  <a:lnTo>
                    <a:pt x="484124" y="0"/>
                  </a:lnTo>
                  <a:lnTo>
                    <a:pt x="325374" y="131699"/>
                  </a:lnTo>
                  <a:lnTo>
                    <a:pt x="341249" y="133350"/>
                  </a:lnTo>
                  <a:lnTo>
                    <a:pt x="358775" y="136525"/>
                  </a:lnTo>
                  <a:lnTo>
                    <a:pt x="379349" y="141224"/>
                  </a:lnTo>
                  <a:lnTo>
                    <a:pt x="396875" y="147574"/>
                  </a:lnTo>
                  <a:lnTo>
                    <a:pt x="417449" y="157099"/>
                  </a:lnTo>
                  <a:lnTo>
                    <a:pt x="434975" y="165100"/>
                  </a:lnTo>
                  <a:lnTo>
                    <a:pt x="452374" y="176149"/>
                  </a:lnTo>
                  <a:lnTo>
                    <a:pt x="466725" y="188849"/>
                  </a:lnTo>
                  <a:lnTo>
                    <a:pt x="479425" y="200025"/>
                  </a:lnTo>
                  <a:lnTo>
                    <a:pt x="490474" y="214249"/>
                  </a:lnTo>
                  <a:lnTo>
                    <a:pt x="501650" y="228600"/>
                  </a:lnTo>
                  <a:lnTo>
                    <a:pt x="509524" y="245999"/>
                  </a:lnTo>
                  <a:lnTo>
                    <a:pt x="515874" y="261874"/>
                  </a:lnTo>
                  <a:lnTo>
                    <a:pt x="519049" y="276225"/>
                  </a:lnTo>
                  <a:lnTo>
                    <a:pt x="520700" y="296799"/>
                  </a:lnTo>
                  <a:lnTo>
                    <a:pt x="519049" y="317500"/>
                  </a:lnTo>
                  <a:lnTo>
                    <a:pt x="503174" y="361950"/>
                  </a:lnTo>
                  <a:lnTo>
                    <a:pt x="463550" y="409575"/>
                  </a:lnTo>
                  <a:lnTo>
                    <a:pt x="425450" y="434975"/>
                  </a:lnTo>
                  <a:lnTo>
                    <a:pt x="390525" y="450850"/>
                  </a:lnTo>
                  <a:lnTo>
                    <a:pt x="341249" y="463550"/>
                  </a:lnTo>
                  <a:lnTo>
                    <a:pt x="319024" y="465200"/>
                  </a:lnTo>
                  <a:lnTo>
                    <a:pt x="299974" y="466725"/>
                  </a:lnTo>
                  <a:lnTo>
                    <a:pt x="211074" y="466725"/>
                  </a:lnTo>
                  <a:lnTo>
                    <a:pt x="193675" y="465200"/>
                  </a:lnTo>
                  <a:lnTo>
                    <a:pt x="142875" y="455675"/>
                  </a:lnTo>
                  <a:lnTo>
                    <a:pt x="88900" y="431800"/>
                  </a:lnTo>
                  <a:lnTo>
                    <a:pt x="47625" y="401700"/>
                  </a:lnTo>
                  <a:lnTo>
                    <a:pt x="20574" y="368300"/>
                  </a:lnTo>
                  <a:lnTo>
                    <a:pt x="6350" y="333375"/>
                  </a:lnTo>
                  <a:lnTo>
                    <a:pt x="1524" y="319024"/>
                  </a:lnTo>
                  <a:lnTo>
                    <a:pt x="0" y="303149"/>
                  </a:lnTo>
                  <a:lnTo>
                    <a:pt x="1524" y="290449"/>
                  </a:lnTo>
                  <a:lnTo>
                    <a:pt x="4699" y="268224"/>
                  </a:lnTo>
                  <a:lnTo>
                    <a:pt x="22225" y="223774"/>
                  </a:lnTo>
                  <a:lnTo>
                    <a:pt x="55499" y="187325"/>
                  </a:lnTo>
                  <a:lnTo>
                    <a:pt x="99949" y="157099"/>
                  </a:lnTo>
                  <a:lnTo>
                    <a:pt x="161925" y="136525"/>
                  </a:lnTo>
                  <a:lnTo>
                    <a:pt x="182499" y="131699"/>
                  </a:lnTo>
                  <a:lnTo>
                    <a:pt x="63500" y="6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402218" y="1553336"/>
            <a:ext cx="1948052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3565" algn="l"/>
                <a:tab pos="1155065" algn="l"/>
                <a:tab pos="1714500" algn="l"/>
              </a:tabLst>
            </a:pPr>
            <a:r>
              <a:rPr sz="2400" b="1" dirty="0">
                <a:latin typeface="Arial"/>
                <a:cs typeface="Arial"/>
              </a:rPr>
              <a:t>A	B	</a:t>
            </a:r>
            <a:r>
              <a:rPr sz="2400" b="1" spc="-5" dirty="0">
                <a:latin typeface="Arial"/>
                <a:cs typeface="Arial"/>
              </a:rPr>
              <a:t>C	D</a:t>
            </a:r>
            <a:endParaRPr sz="2400" b="1" dirty="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074603" y="5024373"/>
            <a:ext cx="481455" cy="695960"/>
            <a:chOff x="8072501" y="5024373"/>
            <a:chExt cx="481330" cy="695960"/>
          </a:xfrm>
        </p:grpSpPr>
        <p:sp>
          <p:nvSpPr>
            <p:cNvPr id="48" name="object 48"/>
            <p:cNvSpPr/>
            <p:nvPr/>
          </p:nvSpPr>
          <p:spPr>
            <a:xfrm>
              <a:off x="8078851" y="5030723"/>
              <a:ext cx="468630" cy="683260"/>
            </a:xfrm>
            <a:custGeom>
              <a:avLst/>
              <a:gdLst/>
              <a:ahLst/>
              <a:cxnLst/>
              <a:rect l="l" t="t" r="r" b="b"/>
              <a:pathLst>
                <a:path w="468629" h="683260">
                  <a:moveTo>
                    <a:pt x="227075" y="0"/>
                  </a:moveTo>
                  <a:lnTo>
                    <a:pt x="212725" y="5714"/>
                  </a:lnTo>
                  <a:lnTo>
                    <a:pt x="202692" y="14350"/>
                  </a:lnTo>
                  <a:lnTo>
                    <a:pt x="196976" y="30099"/>
                  </a:lnTo>
                  <a:lnTo>
                    <a:pt x="194182" y="41528"/>
                  </a:lnTo>
                  <a:lnTo>
                    <a:pt x="196976" y="52958"/>
                  </a:lnTo>
                  <a:lnTo>
                    <a:pt x="202692" y="70103"/>
                  </a:lnTo>
                  <a:lnTo>
                    <a:pt x="208406" y="94361"/>
                  </a:lnTo>
                  <a:lnTo>
                    <a:pt x="205613" y="108584"/>
                  </a:lnTo>
                  <a:lnTo>
                    <a:pt x="196976" y="120014"/>
                  </a:lnTo>
                  <a:lnTo>
                    <a:pt x="182752" y="132969"/>
                  </a:lnTo>
                  <a:lnTo>
                    <a:pt x="165607" y="141477"/>
                  </a:lnTo>
                  <a:lnTo>
                    <a:pt x="152780" y="149987"/>
                  </a:lnTo>
                  <a:lnTo>
                    <a:pt x="141350" y="161417"/>
                  </a:lnTo>
                  <a:lnTo>
                    <a:pt x="129921" y="177164"/>
                  </a:lnTo>
                  <a:lnTo>
                    <a:pt x="118491" y="202945"/>
                  </a:lnTo>
                  <a:lnTo>
                    <a:pt x="108457" y="232917"/>
                  </a:lnTo>
                  <a:lnTo>
                    <a:pt x="99949" y="255778"/>
                  </a:lnTo>
                  <a:lnTo>
                    <a:pt x="97027" y="285750"/>
                  </a:lnTo>
                  <a:lnTo>
                    <a:pt x="94233" y="321437"/>
                  </a:lnTo>
                  <a:lnTo>
                    <a:pt x="94233" y="358647"/>
                  </a:lnTo>
                  <a:lnTo>
                    <a:pt x="97027" y="371475"/>
                  </a:lnTo>
                  <a:lnTo>
                    <a:pt x="102743" y="377189"/>
                  </a:lnTo>
                  <a:lnTo>
                    <a:pt x="114173" y="379984"/>
                  </a:lnTo>
                  <a:lnTo>
                    <a:pt x="121284" y="377189"/>
                  </a:lnTo>
                  <a:lnTo>
                    <a:pt x="124205" y="371475"/>
                  </a:lnTo>
                  <a:lnTo>
                    <a:pt x="124205" y="311403"/>
                  </a:lnTo>
                  <a:lnTo>
                    <a:pt x="127000" y="288544"/>
                  </a:lnTo>
                  <a:lnTo>
                    <a:pt x="129921" y="274319"/>
                  </a:lnTo>
                  <a:lnTo>
                    <a:pt x="138429" y="258572"/>
                  </a:lnTo>
                  <a:lnTo>
                    <a:pt x="149859" y="255778"/>
                  </a:lnTo>
                  <a:lnTo>
                    <a:pt x="161290" y="258572"/>
                  </a:lnTo>
                  <a:lnTo>
                    <a:pt x="165607" y="267207"/>
                  </a:lnTo>
                  <a:lnTo>
                    <a:pt x="161290" y="294259"/>
                  </a:lnTo>
                  <a:lnTo>
                    <a:pt x="158496" y="330072"/>
                  </a:lnTo>
                  <a:lnTo>
                    <a:pt x="152780" y="361441"/>
                  </a:lnTo>
                  <a:lnTo>
                    <a:pt x="144145" y="391413"/>
                  </a:lnTo>
                  <a:lnTo>
                    <a:pt x="135635" y="430022"/>
                  </a:lnTo>
                  <a:lnTo>
                    <a:pt x="124205" y="461391"/>
                  </a:lnTo>
                  <a:lnTo>
                    <a:pt x="97027" y="502919"/>
                  </a:lnTo>
                  <a:lnTo>
                    <a:pt x="77089" y="529970"/>
                  </a:lnTo>
                  <a:lnTo>
                    <a:pt x="17018" y="599998"/>
                  </a:lnTo>
                  <a:lnTo>
                    <a:pt x="0" y="627138"/>
                  </a:lnTo>
                  <a:lnTo>
                    <a:pt x="0" y="638568"/>
                  </a:lnTo>
                  <a:lnTo>
                    <a:pt x="17018" y="659993"/>
                  </a:lnTo>
                  <a:lnTo>
                    <a:pt x="44196" y="682853"/>
                  </a:lnTo>
                  <a:lnTo>
                    <a:pt x="71374" y="682853"/>
                  </a:lnTo>
                  <a:lnTo>
                    <a:pt x="77089" y="677138"/>
                  </a:lnTo>
                  <a:lnTo>
                    <a:pt x="64262" y="662851"/>
                  </a:lnTo>
                  <a:lnTo>
                    <a:pt x="52831" y="647141"/>
                  </a:lnTo>
                  <a:lnTo>
                    <a:pt x="52831" y="635711"/>
                  </a:lnTo>
                  <a:lnTo>
                    <a:pt x="71374" y="608571"/>
                  </a:lnTo>
                  <a:lnTo>
                    <a:pt x="99949" y="579996"/>
                  </a:lnTo>
                  <a:lnTo>
                    <a:pt x="144145" y="524256"/>
                  </a:lnTo>
                  <a:lnTo>
                    <a:pt x="182752" y="477138"/>
                  </a:lnTo>
                  <a:lnTo>
                    <a:pt x="196976" y="461391"/>
                  </a:lnTo>
                  <a:lnTo>
                    <a:pt x="205613" y="449960"/>
                  </a:lnTo>
                  <a:lnTo>
                    <a:pt x="255650" y="468629"/>
                  </a:lnTo>
                  <a:lnTo>
                    <a:pt x="291338" y="515747"/>
                  </a:lnTo>
                  <a:lnTo>
                    <a:pt x="332740" y="571436"/>
                  </a:lnTo>
                  <a:lnTo>
                    <a:pt x="394080" y="659993"/>
                  </a:lnTo>
                  <a:lnTo>
                    <a:pt x="404114" y="665708"/>
                  </a:lnTo>
                  <a:lnTo>
                    <a:pt x="418465" y="665708"/>
                  </a:lnTo>
                  <a:lnTo>
                    <a:pt x="432689" y="652856"/>
                  </a:lnTo>
                  <a:lnTo>
                    <a:pt x="451230" y="641426"/>
                  </a:lnTo>
                  <a:lnTo>
                    <a:pt x="465581" y="629996"/>
                  </a:lnTo>
                  <a:lnTo>
                    <a:pt x="468375" y="618566"/>
                  </a:lnTo>
                  <a:lnTo>
                    <a:pt x="451230" y="621423"/>
                  </a:lnTo>
                  <a:lnTo>
                    <a:pt x="432689" y="618566"/>
                  </a:lnTo>
                  <a:lnTo>
                    <a:pt x="371348" y="538607"/>
                  </a:lnTo>
                  <a:lnTo>
                    <a:pt x="315595" y="447166"/>
                  </a:lnTo>
                  <a:lnTo>
                    <a:pt x="285623" y="397128"/>
                  </a:lnTo>
                  <a:lnTo>
                    <a:pt x="265556" y="355726"/>
                  </a:lnTo>
                  <a:lnTo>
                    <a:pt x="262763" y="332866"/>
                  </a:lnTo>
                  <a:lnTo>
                    <a:pt x="262763" y="305688"/>
                  </a:lnTo>
                  <a:lnTo>
                    <a:pt x="268477" y="288544"/>
                  </a:lnTo>
                  <a:lnTo>
                    <a:pt x="279907" y="280034"/>
                  </a:lnTo>
                  <a:lnTo>
                    <a:pt x="288417" y="280034"/>
                  </a:lnTo>
                  <a:lnTo>
                    <a:pt x="299847" y="285750"/>
                  </a:lnTo>
                  <a:lnTo>
                    <a:pt x="321309" y="302894"/>
                  </a:lnTo>
                  <a:lnTo>
                    <a:pt x="346964" y="321437"/>
                  </a:lnTo>
                  <a:lnTo>
                    <a:pt x="365632" y="330072"/>
                  </a:lnTo>
                  <a:lnTo>
                    <a:pt x="377063" y="332866"/>
                  </a:lnTo>
                  <a:lnTo>
                    <a:pt x="385572" y="330072"/>
                  </a:lnTo>
                  <a:lnTo>
                    <a:pt x="391287" y="321437"/>
                  </a:lnTo>
                  <a:lnTo>
                    <a:pt x="388366" y="314325"/>
                  </a:lnTo>
                  <a:lnTo>
                    <a:pt x="385572" y="305688"/>
                  </a:lnTo>
                  <a:lnTo>
                    <a:pt x="368426" y="288544"/>
                  </a:lnTo>
                  <a:lnTo>
                    <a:pt x="335533" y="267207"/>
                  </a:lnTo>
                  <a:lnTo>
                    <a:pt x="318389" y="252856"/>
                  </a:lnTo>
                  <a:lnTo>
                    <a:pt x="306958" y="232917"/>
                  </a:lnTo>
                  <a:lnTo>
                    <a:pt x="297052" y="202945"/>
                  </a:lnTo>
                  <a:lnTo>
                    <a:pt x="294131" y="174370"/>
                  </a:lnTo>
                  <a:lnTo>
                    <a:pt x="288417" y="161417"/>
                  </a:lnTo>
                  <a:lnTo>
                    <a:pt x="279907" y="147193"/>
                  </a:lnTo>
                  <a:lnTo>
                    <a:pt x="265556" y="132969"/>
                  </a:lnTo>
                  <a:lnTo>
                    <a:pt x="255650" y="124332"/>
                  </a:lnTo>
                  <a:lnTo>
                    <a:pt x="255650" y="111506"/>
                  </a:lnTo>
                  <a:lnTo>
                    <a:pt x="262763" y="94361"/>
                  </a:lnTo>
                  <a:lnTo>
                    <a:pt x="268477" y="85725"/>
                  </a:lnTo>
                  <a:lnTo>
                    <a:pt x="274193" y="74294"/>
                  </a:lnTo>
                  <a:lnTo>
                    <a:pt x="279907" y="55752"/>
                  </a:lnTo>
                  <a:lnTo>
                    <a:pt x="274193" y="35813"/>
                  </a:lnTo>
                  <a:lnTo>
                    <a:pt x="271272" y="20065"/>
                  </a:lnTo>
                  <a:lnTo>
                    <a:pt x="262763" y="8636"/>
                  </a:lnTo>
                  <a:lnTo>
                    <a:pt x="247015" y="2920"/>
                  </a:lnTo>
                  <a:lnTo>
                    <a:pt x="227075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078851" y="5030723"/>
              <a:ext cx="468630" cy="683260"/>
            </a:xfrm>
            <a:custGeom>
              <a:avLst/>
              <a:gdLst/>
              <a:ahLst/>
              <a:cxnLst/>
              <a:rect l="l" t="t" r="r" b="b"/>
              <a:pathLst>
                <a:path w="468629" h="683260">
                  <a:moveTo>
                    <a:pt x="465581" y="629996"/>
                  </a:moveTo>
                  <a:lnTo>
                    <a:pt x="468375" y="618566"/>
                  </a:lnTo>
                  <a:lnTo>
                    <a:pt x="451230" y="621423"/>
                  </a:lnTo>
                  <a:lnTo>
                    <a:pt x="432689" y="618566"/>
                  </a:lnTo>
                  <a:lnTo>
                    <a:pt x="371348" y="538607"/>
                  </a:lnTo>
                  <a:lnTo>
                    <a:pt x="315595" y="447166"/>
                  </a:lnTo>
                  <a:lnTo>
                    <a:pt x="285623" y="397128"/>
                  </a:lnTo>
                  <a:lnTo>
                    <a:pt x="265556" y="355726"/>
                  </a:lnTo>
                  <a:lnTo>
                    <a:pt x="262763" y="332866"/>
                  </a:lnTo>
                  <a:lnTo>
                    <a:pt x="262763" y="305688"/>
                  </a:lnTo>
                  <a:lnTo>
                    <a:pt x="268477" y="288544"/>
                  </a:lnTo>
                  <a:lnTo>
                    <a:pt x="279907" y="280034"/>
                  </a:lnTo>
                  <a:lnTo>
                    <a:pt x="288417" y="280034"/>
                  </a:lnTo>
                  <a:lnTo>
                    <a:pt x="299847" y="285750"/>
                  </a:lnTo>
                  <a:lnTo>
                    <a:pt x="321309" y="302894"/>
                  </a:lnTo>
                  <a:lnTo>
                    <a:pt x="346964" y="321437"/>
                  </a:lnTo>
                  <a:lnTo>
                    <a:pt x="365632" y="330072"/>
                  </a:lnTo>
                  <a:lnTo>
                    <a:pt x="377063" y="332866"/>
                  </a:lnTo>
                  <a:lnTo>
                    <a:pt x="385572" y="330072"/>
                  </a:lnTo>
                  <a:lnTo>
                    <a:pt x="391287" y="321437"/>
                  </a:lnTo>
                  <a:lnTo>
                    <a:pt x="388366" y="314325"/>
                  </a:lnTo>
                  <a:lnTo>
                    <a:pt x="385572" y="305688"/>
                  </a:lnTo>
                  <a:lnTo>
                    <a:pt x="368426" y="288544"/>
                  </a:lnTo>
                  <a:lnTo>
                    <a:pt x="335533" y="267207"/>
                  </a:lnTo>
                  <a:lnTo>
                    <a:pt x="318389" y="252856"/>
                  </a:lnTo>
                  <a:lnTo>
                    <a:pt x="306958" y="232917"/>
                  </a:lnTo>
                  <a:lnTo>
                    <a:pt x="297052" y="202945"/>
                  </a:lnTo>
                  <a:lnTo>
                    <a:pt x="294131" y="174370"/>
                  </a:lnTo>
                  <a:lnTo>
                    <a:pt x="288417" y="161417"/>
                  </a:lnTo>
                  <a:lnTo>
                    <a:pt x="279907" y="147193"/>
                  </a:lnTo>
                  <a:lnTo>
                    <a:pt x="265556" y="132969"/>
                  </a:lnTo>
                  <a:lnTo>
                    <a:pt x="255650" y="124332"/>
                  </a:lnTo>
                  <a:lnTo>
                    <a:pt x="255650" y="111506"/>
                  </a:lnTo>
                  <a:lnTo>
                    <a:pt x="262763" y="94361"/>
                  </a:lnTo>
                  <a:lnTo>
                    <a:pt x="268477" y="85725"/>
                  </a:lnTo>
                  <a:lnTo>
                    <a:pt x="274193" y="74294"/>
                  </a:lnTo>
                  <a:lnTo>
                    <a:pt x="279907" y="55752"/>
                  </a:lnTo>
                  <a:lnTo>
                    <a:pt x="274193" y="35813"/>
                  </a:lnTo>
                  <a:lnTo>
                    <a:pt x="271272" y="20065"/>
                  </a:lnTo>
                  <a:lnTo>
                    <a:pt x="262763" y="8636"/>
                  </a:lnTo>
                  <a:lnTo>
                    <a:pt x="247015" y="2920"/>
                  </a:lnTo>
                  <a:lnTo>
                    <a:pt x="227075" y="0"/>
                  </a:lnTo>
                  <a:lnTo>
                    <a:pt x="212725" y="5714"/>
                  </a:lnTo>
                  <a:lnTo>
                    <a:pt x="202692" y="14350"/>
                  </a:lnTo>
                  <a:lnTo>
                    <a:pt x="196976" y="30099"/>
                  </a:lnTo>
                  <a:lnTo>
                    <a:pt x="194182" y="41528"/>
                  </a:lnTo>
                  <a:lnTo>
                    <a:pt x="196976" y="52958"/>
                  </a:lnTo>
                  <a:lnTo>
                    <a:pt x="202692" y="70103"/>
                  </a:lnTo>
                  <a:lnTo>
                    <a:pt x="205613" y="82931"/>
                  </a:lnTo>
                  <a:lnTo>
                    <a:pt x="208406" y="94361"/>
                  </a:lnTo>
                  <a:lnTo>
                    <a:pt x="205613" y="108584"/>
                  </a:lnTo>
                  <a:lnTo>
                    <a:pt x="196976" y="120014"/>
                  </a:lnTo>
                  <a:lnTo>
                    <a:pt x="182752" y="132969"/>
                  </a:lnTo>
                  <a:lnTo>
                    <a:pt x="165607" y="141477"/>
                  </a:lnTo>
                  <a:lnTo>
                    <a:pt x="152780" y="149987"/>
                  </a:lnTo>
                  <a:lnTo>
                    <a:pt x="141350" y="161417"/>
                  </a:lnTo>
                  <a:lnTo>
                    <a:pt x="129921" y="177164"/>
                  </a:lnTo>
                  <a:lnTo>
                    <a:pt x="118491" y="202945"/>
                  </a:lnTo>
                  <a:lnTo>
                    <a:pt x="108457" y="232917"/>
                  </a:lnTo>
                  <a:lnTo>
                    <a:pt x="99949" y="255778"/>
                  </a:lnTo>
                  <a:lnTo>
                    <a:pt x="97027" y="285750"/>
                  </a:lnTo>
                  <a:lnTo>
                    <a:pt x="94233" y="321437"/>
                  </a:lnTo>
                  <a:lnTo>
                    <a:pt x="94233" y="341503"/>
                  </a:lnTo>
                  <a:lnTo>
                    <a:pt x="94233" y="358647"/>
                  </a:lnTo>
                  <a:lnTo>
                    <a:pt x="97027" y="371475"/>
                  </a:lnTo>
                  <a:lnTo>
                    <a:pt x="102743" y="377189"/>
                  </a:lnTo>
                  <a:lnTo>
                    <a:pt x="114173" y="379984"/>
                  </a:lnTo>
                  <a:lnTo>
                    <a:pt x="121284" y="377189"/>
                  </a:lnTo>
                  <a:lnTo>
                    <a:pt x="124205" y="371475"/>
                  </a:lnTo>
                  <a:lnTo>
                    <a:pt x="124205" y="347217"/>
                  </a:lnTo>
                  <a:lnTo>
                    <a:pt x="124205" y="311403"/>
                  </a:lnTo>
                  <a:lnTo>
                    <a:pt x="127000" y="288544"/>
                  </a:lnTo>
                  <a:lnTo>
                    <a:pt x="129921" y="274319"/>
                  </a:lnTo>
                  <a:lnTo>
                    <a:pt x="138429" y="258572"/>
                  </a:lnTo>
                  <a:lnTo>
                    <a:pt x="149859" y="255778"/>
                  </a:lnTo>
                  <a:lnTo>
                    <a:pt x="161290" y="258572"/>
                  </a:lnTo>
                  <a:lnTo>
                    <a:pt x="165607" y="267207"/>
                  </a:lnTo>
                  <a:lnTo>
                    <a:pt x="161290" y="294259"/>
                  </a:lnTo>
                  <a:lnTo>
                    <a:pt x="158496" y="330072"/>
                  </a:lnTo>
                  <a:lnTo>
                    <a:pt x="152780" y="361441"/>
                  </a:lnTo>
                  <a:lnTo>
                    <a:pt x="144145" y="391413"/>
                  </a:lnTo>
                  <a:lnTo>
                    <a:pt x="135635" y="430022"/>
                  </a:lnTo>
                  <a:lnTo>
                    <a:pt x="124205" y="461391"/>
                  </a:lnTo>
                  <a:lnTo>
                    <a:pt x="97027" y="502919"/>
                  </a:lnTo>
                  <a:lnTo>
                    <a:pt x="77089" y="529970"/>
                  </a:lnTo>
                  <a:lnTo>
                    <a:pt x="41401" y="571436"/>
                  </a:lnTo>
                  <a:lnTo>
                    <a:pt x="17018" y="599998"/>
                  </a:lnTo>
                  <a:lnTo>
                    <a:pt x="0" y="627138"/>
                  </a:lnTo>
                  <a:lnTo>
                    <a:pt x="0" y="638568"/>
                  </a:lnTo>
                  <a:lnTo>
                    <a:pt x="17018" y="659993"/>
                  </a:lnTo>
                  <a:lnTo>
                    <a:pt x="44196" y="682853"/>
                  </a:lnTo>
                  <a:lnTo>
                    <a:pt x="71374" y="682853"/>
                  </a:lnTo>
                  <a:lnTo>
                    <a:pt x="77089" y="677138"/>
                  </a:lnTo>
                  <a:lnTo>
                    <a:pt x="64262" y="662851"/>
                  </a:lnTo>
                  <a:lnTo>
                    <a:pt x="52831" y="647141"/>
                  </a:lnTo>
                  <a:lnTo>
                    <a:pt x="52831" y="635711"/>
                  </a:lnTo>
                  <a:lnTo>
                    <a:pt x="71374" y="608571"/>
                  </a:lnTo>
                  <a:lnTo>
                    <a:pt x="99949" y="579996"/>
                  </a:lnTo>
                  <a:lnTo>
                    <a:pt x="144145" y="524256"/>
                  </a:lnTo>
                  <a:lnTo>
                    <a:pt x="182752" y="477138"/>
                  </a:lnTo>
                  <a:lnTo>
                    <a:pt x="196976" y="461391"/>
                  </a:lnTo>
                  <a:lnTo>
                    <a:pt x="205613" y="449960"/>
                  </a:lnTo>
                  <a:lnTo>
                    <a:pt x="255650" y="468629"/>
                  </a:lnTo>
                  <a:lnTo>
                    <a:pt x="291338" y="515747"/>
                  </a:lnTo>
                  <a:lnTo>
                    <a:pt x="332740" y="571436"/>
                  </a:lnTo>
                  <a:lnTo>
                    <a:pt x="371348" y="627138"/>
                  </a:lnTo>
                  <a:lnTo>
                    <a:pt x="394080" y="659993"/>
                  </a:lnTo>
                  <a:lnTo>
                    <a:pt x="404114" y="665708"/>
                  </a:lnTo>
                  <a:lnTo>
                    <a:pt x="418465" y="665708"/>
                  </a:lnTo>
                  <a:lnTo>
                    <a:pt x="432689" y="652856"/>
                  </a:lnTo>
                  <a:lnTo>
                    <a:pt x="451230" y="641426"/>
                  </a:lnTo>
                  <a:lnTo>
                    <a:pt x="465581" y="629996"/>
                  </a:lnTo>
                </a:path>
              </a:pathLst>
            </a:custGeom>
            <a:ln w="12700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1457113" y="6405384"/>
            <a:ext cx="317583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14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B20EF7-1D54-4161-86CD-1C5B70842BA9}"/>
              </a:ext>
            </a:extLst>
          </p:cNvPr>
          <p:cNvSpPr txBox="1"/>
          <p:nvPr/>
        </p:nvSpPr>
        <p:spPr>
          <a:xfrm>
            <a:off x="9138632" y="2071225"/>
            <a:ext cx="34255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Ann’s clothes </a:t>
            </a:r>
          </a:p>
          <a:p>
            <a:r>
              <a:rPr lang="en-US" sz="2400" b="1" dirty="0"/>
              <a:t>30 mins x 4 = 120 mins) </a:t>
            </a:r>
          </a:p>
          <a:p>
            <a:endParaRPr lang="en-US" sz="2400" b="1" dirty="0"/>
          </a:p>
          <a:p>
            <a:r>
              <a:rPr lang="en-US" sz="2400" b="1" dirty="0"/>
              <a:t>Brian</a:t>
            </a:r>
          </a:p>
          <a:p>
            <a:r>
              <a:rPr lang="en-US" sz="2400" b="1" dirty="0"/>
              <a:t>30mins x 4 = 120mins</a:t>
            </a:r>
          </a:p>
          <a:p>
            <a:endParaRPr lang="en-US" sz="2400" b="1" dirty="0"/>
          </a:p>
          <a:p>
            <a:r>
              <a:rPr lang="en-US" sz="2400" b="1" dirty="0"/>
              <a:t>Cathy</a:t>
            </a:r>
          </a:p>
          <a:p>
            <a:r>
              <a:rPr lang="en-US" sz="2400" b="1" dirty="0"/>
              <a:t>30mins x 4 = 120mins</a:t>
            </a:r>
          </a:p>
          <a:p>
            <a:endParaRPr lang="en-US" sz="2400" b="1" dirty="0"/>
          </a:p>
          <a:p>
            <a:r>
              <a:rPr lang="en-US" sz="2400" b="1" dirty="0"/>
              <a:t>480mins</a:t>
            </a:r>
          </a:p>
        </p:txBody>
      </p:sp>
    </p:spTree>
    <p:extLst>
      <p:ext uri="{BB962C8B-B14F-4D97-AF65-F5344CB8AC3E}">
        <p14:creationId xmlns:p14="http://schemas.microsoft.com/office/powerpoint/2010/main" val="3152024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92239" y="1327214"/>
            <a:ext cx="3312387" cy="28575"/>
            <a:chOff x="8689975" y="1327213"/>
            <a:chExt cx="3311525" cy="28575"/>
          </a:xfrm>
        </p:grpSpPr>
        <p:sp>
          <p:nvSpPr>
            <p:cNvPr id="3" name="object 3"/>
            <p:cNvSpPr/>
            <p:nvPr/>
          </p:nvSpPr>
          <p:spPr>
            <a:xfrm>
              <a:off x="8689975" y="1341500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>
                  <a:moveTo>
                    <a:pt x="0" y="0"/>
                  </a:moveTo>
                  <a:lnTo>
                    <a:pt x="1800225" y="0"/>
                  </a:lnTo>
                </a:path>
              </a:pathLst>
            </a:custGeom>
            <a:ln w="28575">
              <a:solidFill>
                <a:srgbClr val="662C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2677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8242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4484" y="240660"/>
            <a:ext cx="1108338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30315" algn="l"/>
              </a:tabLst>
            </a:pPr>
            <a:r>
              <a:rPr sz="4000" spc="-229" dirty="0"/>
              <a:t>Pipeline </a:t>
            </a:r>
            <a:r>
              <a:rPr sz="4000" spc="-204" dirty="0"/>
              <a:t>Analogy  </a:t>
            </a:r>
            <a:r>
              <a:rPr sz="4000" spc="475" dirty="0"/>
              <a:t>–</a:t>
            </a:r>
            <a:r>
              <a:rPr sz="4000" spc="-440" dirty="0"/>
              <a:t> </a:t>
            </a:r>
            <a:r>
              <a:rPr sz="4000" spc="-360" dirty="0"/>
              <a:t>The</a:t>
            </a:r>
            <a:r>
              <a:rPr sz="4000" spc="125" dirty="0"/>
              <a:t> </a:t>
            </a:r>
            <a:r>
              <a:rPr sz="4000" spc="-225" dirty="0"/>
              <a:t>Laundry	</a:t>
            </a:r>
            <a:r>
              <a:rPr sz="4000" spc="-125" dirty="0"/>
              <a:t>- </a:t>
            </a:r>
            <a:r>
              <a:rPr sz="4000" spc="-275" dirty="0">
                <a:solidFill>
                  <a:srgbClr val="0000FF"/>
                </a:solidFill>
              </a:rPr>
              <a:t>Sequential</a:t>
            </a:r>
            <a:r>
              <a:rPr sz="4000" spc="340" dirty="0">
                <a:solidFill>
                  <a:srgbClr val="0000FF"/>
                </a:solidFill>
              </a:rPr>
              <a:t> </a:t>
            </a:r>
            <a:r>
              <a:rPr sz="4000" spc="-310" dirty="0">
                <a:solidFill>
                  <a:srgbClr val="0000FF"/>
                </a:solidFill>
              </a:rPr>
              <a:t>Operation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85979" y="2755900"/>
            <a:ext cx="414763" cy="374650"/>
            <a:chOff x="685800" y="2755900"/>
            <a:chExt cx="414655" cy="374650"/>
          </a:xfrm>
        </p:grpSpPr>
        <p:sp>
          <p:nvSpPr>
            <p:cNvPr id="8" name="object 8"/>
            <p:cNvSpPr/>
            <p:nvPr/>
          </p:nvSpPr>
          <p:spPr>
            <a:xfrm>
              <a:off x="698500" y="2768600"/>
              <a:ext cx="389255" cy="349250"/>
            </a:xfrm>
            <a:custGeom>
              <a:avLst/>
              <a:gdLst/>
              <a:ahLst/>
              <a:cxnLst/>
              <a:rect l="l" t="t" r="r" b="b"/>
              <a:pathLst>
                <a:path w="389255" h="349250">
                  <a:moveTo>
                    <a:pt x="361950" y="0"/>
                  </a:moveTo>
                  <a:lnTo>
                    <a:pt x="265112" y="17399"/>
                  </a:lnTo>
                  <a:lnTo>
                    <a:pt x="265112" y="0"/>
                  </a:lnTo>
                  <a:lnTo>
                    <a:pt x="185737" y="0"/>
                  </a:lnTo>
                  <a:lnTo>
                    <a:pt x="185737" y="19050"/>
                  </a:lnTo>
                  <a:lnTo>
                    <a:pt x="109537" y="0"/>
                  </a:lnTo>
                  <a:lnTo>
                    <a:pt x="109537" y="15875"/>
                  </a:lnTo>
                  <a:lnTo>
                    <a:pt x="47625" y="4699"/>
                  </a:lnTo>
                  <a:lnTo>
                    <a:pt x="136525" y="98425"/>
                  </a:lnTo>
                  <a:lnTo>
                    <a:pt x="120650" y="101600"/>
                  </a:lnTo>
                  <a:lnTo>
                    <a:pt x="74612" y="117475"/>
                  </a:lnTo>
                  <a:lnTo>
                    <a:pt x="41275" y="139700"/>
                  </a:lnTo>
                  <a:lnTo>
                    <a:pt x="15875" y="168275"/>
                  </a:lnTo>
                  <a:lnTo>
                    <a:pt x="1587" y="217424"/>
                  </a:lnTo>
                  <a:lnTo>
                    <a:pt x="0" y="226949"/>
                  </a:lnTo>
                  <a:lnTo>
                    <a:pt x="15875" y="276225"/>
                  </a:lnTo>
                  <a:lnTo>
                    <a:pt x="49212" y="311150"/>
                  </a:lnTo>
                  <a:lnTo>
                    <a:pt x="87312" y="333375"/>
                  </a:lnTo>
                  <a:lnTo>
                    <a:pt x="128587" y="346075"/>
                  </a:lnTo>
                  <a:lnTo>
                    <a:pt x="144462" y="347599"/>
                  </a:lnTo>
                  <a:lnTo>
                    <a:pt x="157162" y="349250"/>
                  </a:lnTo>
                  <a:lnTo>
                    <a:pt x="223837" y="349250"/>
                  </a:lnTo>
                  <a:lnTo>
                    <a:pt x="238125" y="347599"/>
                  </a:lnTo>
                  <a:lnTo>
                    <a:pt x="255587" y="347599"/>
                  </a:lnTo>
                  <a:lnTo>
                    <a:pt x="265112" y="344424"/>
                  </a:lnTo>
                  <a:lnTo>
                    <a:pt x="279400" y="341249"/>
                  </a:lnTo>
                  <a:lnTo>
                    <a:pt x="292100" y="338074"/>
                  </a:lnTo>
                  <a:lnTo>
                    <a:pt x="331787" y="317500"/>
                  </a:lnTo>
                  <a:lnTo>
                    <a:pt x="368300" y="280924"/>
                  </a:lnTo>
                  <a:lnTo>
                    <a:pt x="376237" y="271399"/>
                  </a:lnTo>
                  <a:lnTo>
                    <a:pt x="381000" y="261874"/>
                  </a:lnTo>
                  <a:lnTo>
                    <a:pt x="384175" y="249174"/>
                  </a:lnTo>
                  <a:lnTo>
                    <a:pt x="387350" y="238125"/>
                  </a:lnTo>
                  <a:lnTo>
                    <a:pt x="388937" y="222250"/>
                  </a:lnTo>
                  <a:lnTo>
                    <a:pt x="387350" y="206375"/>
                  </a:lnTo>
                  <a:lnTo>
                    <a:pt x="385762" y="195199"/>
                  </a:lnTo>
                  <a:lnTo>
                    <a:pt x="358775" y="149225"/>
                  </a:lnTo>
                  <a:lnTo>
                    <a:pt x="325437" y="123825"/>
                  </a:lnTo>
                  <a:lnTo>
                    <a:pt x="284162" y="106299"/>
                  </a:lnTo>
                  <a:lnTo>
                    <a:pt x="242887" y="98425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8500" y="2768600"/>
              <a:ext cx="389255" cy="349250"/>
            </a:xfrm>
            <a:custGeom>
              <a:avLst/>
              <a:gdLst/>
              <a:ahLst/>
              <a:cxnLst/>
              <a:rect l="l" t="t" r="r" b="b"/>
              <a:pathLst>
                <a:path w="389255" h="349250">
                  <a:moveTo>
                    <a:pt x="47625" y="4699"/>
                  </a:moveTo>
                  <a:lnTo>
                    <a:pt x="109537" y="15875"/>
                  </a:lnTo>
                  <a:lnTo>
                    <a:pt x="109537" y="0"/>
                  </a:lnTo>
                  <a:lnTo>
                    <a:pt x="185737" y="19050"/>
                  </a:lnTo>
                  <a:lnTo>
                    <a:pt x="185737" y="0"/>
                  </a:lnTo>
                  <a:lnTo>
                    <a:pt x="265112" y="0"/>
                  </a:lnTo>
                  <a:lnTo>
                    <a:pt x="265112" y="17399"/>
                  </a:lnTo>
                  <a:lnTo>
                    <a:pt x="361950" y="0"/>
                  </a:lnTo>
                  <a:lnTo>
                    <a:pt x="242887" y="98425"/>
                  </a:lnTo>
                  <a:lnTo>
                    <a:pt x="255587" y="99949"/>
                  </a:lnTo>
                  <a:lnTo>
                    <a:pt x="268287" y="101600"/>
                  </a:lnTo>
                  <a:lnTo>
                    <a:pt x="284162" y="106299"/>
                  </a:lnTo>
                  <a:lnTo>
                    <a:pt x="296862" y="111125"/>
                  </a:lnTo>
                  <a:lnTo>
                    <a:pt x="311150" y="117475"/>
                  </a:lnTo>
                  <a:lnTo>
                    <a:pt x="325437" y="123825"/>
                  </a:lnTo>
                  <a:lnTo>
                    <a:pt x="338137" y="131699"/>
                  </a:lnTo>
                  <a:lnTo>
                    <a:pt x="349250" y="141224"/>
                  </a:lnTo>
                  <a:lnTo>
                    <a:pt x="358775" y="149225"/>
                  </a:lnTo>
                  <a:lnTo>
                    <a:pt x="381000" y="184150"/>
                  </a:lnTo>
                  <a:lnTo>
                    <a:pt x="388937" y="222250"/>
                  </a:lnTo>
                  <a:lnTo>
                    <a:pt x="387350" y="238125"/>
                  </a:lnTo>
                  <a:lnTo>
                    <a:pt x="384175" y="249174"/>
                  </a:lnTo>
                  <a:lnTo>
                    <a:pt x="381000" y="261874"/>
                  </a:lnTo>
                  <a:lnTo>
                    <a:pt x="376237" y="271399"/>
                  </a:lnTo>
                  <a:lnTo>
                    <a:pt x="368300" y="280924"/>
                  </a:lnTo>
                  <a:lnTo>
                    <a:pt x="358775" y="293624"/>
                  </a:lnTo>
                  <a:lnTo>
                    <a:pt x="346075" y="306324"/>
                  </a:lnTo>
                  <a:lnTo>
                    <a:pt x="331787" y="317500"/>
                  </a:lnTo>
                  <a:lnTo>
                    <a:pt x="317500" y="325374"/>
                  </a:lnTo>
                  <a:lnTo>
                    <a:pt x="304800" y="331724"/>
                  </a:lnTo>
                  <a:lnTo>
                    <a:pt x="292100" y="338074"/>
                  </a:lnTo>
                  <a:lnTo>
                    <a:pt x="279400" y="341249"/>
                  </a:lnTo>
                  <a:lnTo>
                    <a:pt x="265112" y="344424"/>
                  </a:lnTo>
                  <a:lnTo>
                    <a:pt x="255587" y="347599"/>
                  </a:lnTo>
                  <a:lnTo>
                    <a:pt x="238125" y="347599"/>
                  </a:lnTo>
                  <a:lnTo>
                    <a:pt x="223837" y="349250"/>
                  </a:lnTo>
                  <a:lnTo>
                    <a:pt x="157162" y="349250"/>
                  </a:lnTo>
                  <a:lnTo>
                    <a:pt x="144462" y="347599"/>
                  </a:lnTo>
                  <a:lnTo>
                    <a:pt x="128587" y="346075"/>
                  </a:lnTo>
                  <a:lnTo>
                    <a:pt x="106362" y="341249"/>
                  </a:lnTo>
                  <a:lnTo>
                    <a:pt x="66675" y="323850"/>
                  </a:lnTo>
                  <a:lnTo>
                    <a:pt x="34925" y="299974"/>
                  </a:lnTo>
                  <a:lnTo>
                    <a:pt x="7937" y="260350"/>
                  </a:lnTo>
                  <a:lnTo>
                    <a:pt x="4762" y="249174"/>
                  </a:lnTo>
                  <a:lnTo>
                    <a:pt x="1587" y="238125"/>
                  </a:lnTo>
                  <a:lnTo>
                    <a:pt x="0" y="226949"/>
                  </a:lnTo>
                  <a:lnTo>
                    <a:pt x="1587" y="217424"/>
                  </a:lnTo>
                  <a:lnTo>
                    <a:pt x="3175" y="200025"/>
                  </a:lnTo>
                  <a:lnTo>
                    <a:pt x="28575" y="153924"/>
                  </a:lnTo>
                  <a:lnTo>
                    <a:pt x="58737" y="127000"/>
                  </a:lnTo>
                  <a:lnTo>
                    <a:pt x="96837" y="107950"/>
                  </a:lnTo>
                  <a:lnTo>
                    <a:pt x="136525" y="98425"/>
                  </a:lnTo>
                  <a:lnTo>
                    <a:pt x="47625" y="469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259278" y="2722498"/>
            <a:ext cx="813012" cy="543560"/>
            <a:chOff x="1258950" y="2722498"/>
            <a:chExt cx="812800" cy="543560"/>
          </a:xfrm>
        </p:grpSpPr>
        <p:sp>
          <p:nvSpPr>
            <p:cNvPr id="11" name="object 11"/>
            <p:cNvSpPr/>
            <p:nvPr/>
          </p:nvSpPr>
          <p:spPr>
            <a:xfrm>
              <a:off x="1271650" y="2904375"/>
              <a:ext cx="259715" cy="348615"/>
            </a:xfrm>
            <a:custGeom>
              <a:avLst/>
              <a:gdLst/>
              <a:ahLst/>
              <a:cxnLst/>
              <a:rect l="l" t="t" r="r" b="b"/>
              <a:pathLst>
                <a:path w="259715" h="348614">
                  <a:moveTo>
                    <a:pt x="259575" y="0"/>
                  </a:moveTo>
                  <a:lnTo>
                    <a:pt x="0" y="0"/>
                  </a:lnTo>
                  <a:lnTo>
                    <a:pt x="0" y="348475"/>
                  </a:lnTo>
                  <a:lnTo>
                    <a:pt x="259575" y="348475"/>
                  </a:lnTo>
                  <a:lnTo>
                    <a:pt x="259575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1111" y="2817748"/>
              <a:ext cx="86995" cy="435609"/>
            </a:xfrm>
            <a:custGeom>
              <a:avLst/>
              <a:gdLst/>
              <a:ahLst/>
              <a:cxnLst/>
              <a:rect l="l" t="t" r="r" b="b"/>
              <a:pathLst>
                <a:path w="86994" h="435610">
                  <a:moveTo>
                    <a:pt x="86613" y="0"/>
                  </a:moveTo>
                  <a:lnTo>
                    <a:pt x="0" y="86613"/>
                  </a:lnTo>
                  <a:lnTo>
                    <a:pt x="0" y="435101"/>
                  </a:lnTo>
                  <a:lnTo>
                    <a:pt x="86613" y="348488"/>
                  </a:lnTo>
                  <a:lnTo>
                    <a:pt x="86613" y="0"/>
                  </a:lnTo>
                  <a:close/>
                </a:path>
              </a:pathLst>
            </a:custGeom>
            <a:solidFill>
              <a:srgbClr val="B00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1650" y="2817748"/>
              <a:ext cx="346075" cy="86995"/>
            </a:xfrm>
            <a:custGeom>
              <a:avLst/>
              <a:gdLst/>
              <a:ahLst/>
              <a:cxnLst/>
              <a:rect l="l" t="t" r="r" b="b"/>
              <a:pathLst>
                <a:path w="346075" h="86994">
                  <a:moveTo>
                    <a:pt x="346075" y="0"/>
                  </a:moveTo>
                  <a:lnTo>
                    <a:pt x="86487" y="0"/>
                  </a:lnTo>
                  <a:lnTo>
                    <a:pt x="0" y="86613"/>
                  </a:lnTo>
                  <a:lnTo>
                    <a:pt x="259461" y="86613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E23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71650" y="2817748"/>
              <a:ext cx="346075" cy="435609"/>
            </a:xfrm>
            <a:custGeom>
              <a:avLst/>
              <a:gdLst/>
              <a:ahLst/>
              <a:cxnLst/>
              <a:rect l="l" t="t" r="r" b="b"/>
              <a:pathLst>
                <a:path w="346075" h="435610">
                  <a:moveTo>
                    <a:pt x="0" y="86613"/>
                  </a:moveTo>
                  <a:lnTo>
                    <a:pt x="86487" y="0"/>
                  </a:lnTo>
                  <a:lnTo>
                    <a:pt x="346075" y="0"/>
                  </a:lnTo>
                  <a:lnTo>
                    <a:pt x="346075" y="348488"/>
                  </a:lnTo>
                  <a:lnTo>
                    <a:pt x="259461" y="435101"/>
                  </a:lnTo>
                  <a:lnTo>
                    <a:pt x="0" y="435101"/>
                  </a:lnTo>
                  <a:lnTo>
                    <a:pt x="0" y="86613"/>
                  </a:lnTo>
                  <a:close/>
                </a:path>
                <a:path w="346075" h="435610">
                  <a:moveTo>
                    <a:pt x="0" y="86613"/>
                  </a:moveTo>
                  <a:lnTo>
                    <a:pt x="259461" y="86613"/>
                  </a:lnTo>
                  <a:lnTo>
                    <a:pt x="346075" y="0"/>
                  </a:lnTo>
                </a:path>
                <a:path w="346075" h="435610">
                  <a:moveTo>
                    <a:pt x="259461" y="86613"/>
                  </a:moveTo>
                  <a:lnTo>
                    <a:pt x="259461" y="43510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55724" y="2754704"/>
              <a:ext cx="242570" cy="58419"/>
            </a:xfrm>
            <a:custGeom>
              <a:avLst/>
              <a:gdLst/>
              <a:ahLst/>
              <a:cxnLst/>
              <a:rect l="l" t="t" r="r" b="b"/>
              <a:pathLst>
                <a:path w="242569" h="58419">
                  <a:moveTo>
                    <a:pt x="242493" y="0"/>
                  </a:moveTo>
                  <a:lnTo>
                    <a:pt x="0" y="0"/>
                  </a:lnTo>
                  <a:lnTo>
                    <a:pt x="0" y="58345"/>
                  </a:lnTo>
                  <a:lnTo>
                    <a:pt x="242493" y="58345"/>
                  </a:lnTo>
                  <a:lnTo>
                    <a:pt x="242493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98167" y="2735198"/>
              <a:ext cx="19685" cy="78105"/>
            </a:xfrm>
            <a:custGeom>
              <a:avLst/>
              <a:gdLst/>
              <a:ahLst/>
              <a:cxnLst/>
              <a:rect l="l" t="t" r="r" b="b"/>
              <a:pathLst>
                <a:path w="19684" h="78105">
                  <a:moveTo>
                    <a:pt x="19557" y="0"/>
                  </a:moveTo>
                  <a:lnTo>
                    <a:pt x="0" y="19558"/>
                  </a:lnTo>
                  <a:lnTo>
                    <a:pt x="0" y="77850"/>
                  </a:lnTo>
                  <a:lnTo>
                    <a:pt x="19557" y="58420"/>
                  </a:lnTo>
                  <a:lnTo>
                    <a:pt x="19557" y="0"/>
                  </a:lnTo>
                  <a:close/>
                </a:path>
              </a:pathLst>
            </a:custGeom>
            <a:solidFill>
              <a:srgbClr val="B00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55724" y="2735198"/>
              <a:ext cx="262255" cy="19685"/>
            </a:xfrm>
            <a:custGeom>
              <a:avLst/>
              <a:gdLst/>
              <a:ahLst/>
              <a:cxnLst/>
              <a:rect l="l" t="t" r="r" b="b"/>
              <a:pathLst>
                <a:path w="262255" h="19685">
                  <a:moveTo>
                    <a:pt x="262000" y="0"/>
                  </a:moveTo>
                  <a:lnTo>
                    <a:pt x="19431" y="0"/>
                  </a:lnTo>
                  <a:lnTo>
                    <a:pt x="0" y="19558"/>
                  </a:lnTo>
                  <a:lnTo>
                    <a:pt x="242443" y="19558"/>
                  </a:lnTo>
                  <a:lnTo>
                    <a:pt x="262000" y="0"/>
                  </a:lnTo>
                  <a:close/>
                </a:path>
              </a:pathLst>
            </a:custGeom>
            <a:solidFill>
              <a:srgbClr val="E23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55724" y="2735198"/>
              <a:ext cx="262255" cy="78105"/>
            </a:xfrm>
            <a:custGeom>
              <a:avLst/>
              <a:gdLst/>
              <a:ahLst/>
              <a:cxnLst/>
              <a:rect l="l" t="t" r="r" b="b"/>
              <a:pathLst>
                <a:path w="262255" h="78105">
                  <a:moveTo>
                    <a:pt x="0" y="19558"/>
                  </a:moveTo>
                  <a:lnTo>
                    <a:pt x="19431" y="0"/>
                  </a:lnTo>
                  <a:lnTo>
                    <a:pt x="262000" y="0"/>
                  </a:lnTo>
                  <a:lnTo>
                    <a:pt x="262000" y="58420"/>
                  </a:lnTo>
                  <a:lnTo>
                    <a:pt x="242443" y="77850"/>
                  </a:lnTo>
                  <a:lnTo>
                    <a:pt x="0" y="77850"/>
                  </a:lnTo>
                  <a:lnTo>
                    <a:pt x="0" y="19558"/>
                  </a:lnTo>
                  <a:close/>
                </a:path>
                <a:path w="262255" h="78105">
                  <a:moveTo>
                    <a:pt x="0" y="19558"/>
                  </a:moveTo>
                  <a:lnTo>
                    <a:pt x="242443" y="19558"/>
                  </a:lnTo>
                  <a:lnTo>
                    <a:pt x="262000" y="0"/>
                  </a:lnTo>
                </a:path>
                <a:path w="262255" h="78105">
                  <a:moveTo>
                    <a:pt x="242443" y="19558"/>
                  </a:moveTo>
                  <a:lnTo>
                    <a:pt x="242443" y="778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41500" y="2852673"/>
              <a:ext cx="180975" cy="28575"/>
            </a:xfrm>
            <a:custGeom>
              <a:avLst/>
              <a:gdLst/>
              <a:ahLst/>
              <a:cxnLst/>
              <a:rect l="l" t="t" r="r" b="b"/>
              <a:pathLst>
                <a:path w="180975" h="28575">
                  <a:moveTo>
                    <a:pt x="180975" y="0"/>
                  </a:moveTo>
                  <a:lnTo>
                    <a:pt x="45212" y="0"/>
                  </a:lnTo>
                  <a:lnTo>
                    <a:pt x="0" y="28575"/>
                  </a:lnTo>
                  <a:lnTo>
                    <a:pt x="135636" y="285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41500" y="2852673"/>
              <a:ext cx="180975" cy="28575"/>
            </a:xfrm>
            <a:custGeom>
              <a:avLst/>
              <a:gdLst/>
              <a:ahLst/>
              <a:cxnLst/>
              <a:rect l="l" t="t" r="r" b="b"/>
              <a:pathLst>
                <a:path w="180975" h="28575">
                  <a:moveTo>
                    <a:pt x="0" y="28575"/>
                  </a:moveTo>
                  <a:lnTo>
                    <a:pt x="45212" y="0"/>
                  </a:lnTo>
                  <a:lnTo>
                    <a:pt x="180975" y="0"/>
                  </a:lnTo>
                  <a:lnTo>
                    <a:pt x="135636" y="28575"/>
                  </a:lnTo>
                  <a:lnTo>
                    <a:pt x="0" y="285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51481" y="2817748"/>
              <a:ext cx="107950" cy="435609"/>
            </a:xfrm>
            <a:custGeom>
              <a:avLst/>
              <a:gdLst/>
              <a:ahLst/>
              <a:cxnLst/>
              <a:rect l="l" t="t" r="r" b="b"/>
              <a:pathLst>
                <a:path w="107950" h="435610">
                  <a:moveTo>
                    <a:pt x="107568" y="0"/>
                  </a:moveTo>
                  <a:lnTo>
                    <a:pt x="0" y="107568"/>
                  </a:lnTo>
                  <a:lnTo>
                    <a:pt x="0" y="435101"/>
                  </a:lnTo>
                  <a:lnTo>
                    <a:pt x="107568" y="327533"/>
                  </a:lnTo>
                  <a:lnTo>
                    <a:pt x="107568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28774" y="2817748"/>
              <a:ext cx="430530" cy="107950"/>
            </a:xfrm>
            <a:custGeom>
              <a:avLst/>
              <a:gdLst/>
              <a:ahLst/>
              <a:cxnLst/>
              <a:rect l="l" t="t" r="r" b="b"/>
              <a:pathLst>
                <a:path w="430530" h="107950">
                  <a:moveTo>
                    <a:pt x="430275" y="0"/>
                  </a:moveTo>
                  <a:lnTo>
                    <a:pt x="107568" y="0"/>
                  </a:lnTo>
                  <a:lnTo>
                    <a:pt x="0" y="107568"/>
                  </a:lnTo>
                  <a:lnTo>
                    <a:pt x="322706" y="107568"/>
                  </a:lnTo>
                  <a:lnTo>
                    <a:pt x="430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28774" y="2817748"/>
              <a:ext cx="430530" cy="435609"/>
            </a:xfrm>
            <a:custGeom>
              <a:avLst/>
              <a:gdLst/>
              <a:ahLst/>
              <a:cxnLst/>
              <a:rect l="l" t="t" r="r" b="b"/>
              <a:pathLst>
                <a:path w="430530" h="435610">
                  <a:moveTo>
                    <a:pt x="0" y="107568"/>
                  </a:moveTo>
                  <a:lnTo>
                    <a:pt x="107568" y="0"/>
                  </a:lnTo>
                  <a:lnTo>
                    <a:pt x="430275" y="0"/>
                  </a:lnTo>
                  <a:lnTo>
                    <a:pt x="430275" y="327533"/>
                  </a:lnTo>
                  <a:lnTo>
                    <a:pt x="322706" y="435101"/>
                  </a:lnTo>
                  <a:lnTo>
                    <a:pt x="0" y="435101"/>
                  </a:lnTo>
                  <a:lnTo>
                    <a:pt x="0" y="107568"/>
                  </a:lnTo>
                  <a:close/>
                </a:path>
                <a:path w="430530" h="435610">
                  <a:moveTo>
                    <a:pt x="0" y="107568"/>
                  </a:moveTo>
                  <a:lnTo>
                    <a:pt x="322706" y="107568"/>
                  </a:lnTo>
                  <a:lnTo>
                    <a:pt x="430275" y="0"/>
                  </a:lnTo>
                </a:path>
                <a:path w="430530" h="435610">
                  <a:moveTo>
                    <a:pt x="322706" y="107568"/>
                  </a:moveTo>
                  <a:lnTo>
                    <a:pt x="322706" y="43510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39492" y="2735198"/>
              <a:ext cx="19685" cy="78105"/>
            </a:xfrm>
            <a:custGeom>
              <a:avLst/>
              <a:gdLst/>
              <a:ahLst/>
              <a:cxnLst/>
              <a:rect l="l" t="t" r="r" b="b"/>
              <a:pathLst>
                <a:path w="19685" h="78105">
                  <a:moveTo>
                    <a:pt x="19557" y="0"/>
                  </a:moveTo>
                  <a:lnTo>
                    <a:pt x="0" y="19558"/>
                  </a:lnTo>
                  <a:lnTo>
                    <a:pt x="0" y="77850"/>
                  </a:lnTo>
                  <a:lnTo>
                    <a:pt x="19557" y="58420"/>
                  </a:lnTo>
                  <a:lnTo>
                    <a:pt x="1955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30374" y="2735198"/>
              <a:ext cx="328930" cy="19685"/>
            </a:xfrm>
            <a:custGeom>
              <a:avLst/>
              <a:gdLst/>
              <a:ahLst/>
              <a:cxnLst/>
              <a:rect l="l" t="t" r="r" b="b"/>
              <a:pathLst>
                <a:path w="328930" h="19685">
                  <a:moveTo>
                    <a:pt x="328675" y="0"/>
                  </a:moveTo>
                  <a:lnTo>
                    <a:pt x="19431" y="0"/>
                  </a:lnTo>
                  <a:lnTo>
                    <a:pt x="0" y="19558"/>
                  </a:lnTo>
                  <a:lnTo>
                    <a:pt x="309118" y="19558"/>
                  </a:lnTo>
                  <a:lnTo>
                    <a:pt x="328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30374" y="2735198"/>
              <a:ext cx="328930" cy="78105"/>
            </a:xfrm>
            <a:custGeom>
              <a:avLst/>
              <a:gdLst/>
              <a:ahLst/>
              <a:cxnLst/>
              <a:rect l="l" t="t" r="r" b="b"/>
              <a:pathLst>
                <a:path w="328930" h="78105">
                  <a:moveTo>
                    <a:pt x="0" y="19558"/>
                  </a:moveTo>
                  <a:lnTo>
                    <a:pt x="19431" y="0"/>
                  </a:lnTo>
                  <a:lnTo>
                    <a:pt x="328675" y="0"/>
                  </a:lnTo>
                  <a:lnTo>
                    <a:pt x="328675" y="58420"/>
                  </a:lnTo>
                  <a:lnTo>
                    <a:pt x="309118" y="77850"/>
                  </a:lnTo>
                  <a:lnTo>
                    <a:pt x="0" y="77850"/>
                  </a:lnTo>
                  <a:lnTo>
                    <a:pt x="0" y="19558"/>
                  </a:lnTo>
                  <a:close/>
                </a:path>
                <a:path w="328930" h="78105">
                  <a:moveTo>
                    <a:pt x="0" y="19558"/>
                  </a:moveTo>
                  <a:lnTo>
                    <a:pt x="309118" y="19558"/>
                  </a:lnTo>
                  <a:lnTo>
                    <a:pt x="328675" y="0"/>
                  </a:lnTo>
                </a:path>
                <a:path w="328930" h="78105">
                  <a:moveTo>
                    <a:pt x="309118" y="19558"/>
                  </a:moveTo>
                  <a:lnTo>
                    <a:pt x="309118" y="778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65299" y="2779648"/>
              <a:ext cx="43180" cy="12700"/>
            </a:xfrm>
            <a:custGeom>
              <a:avLst/>
              <a:gdLst/>
              <a:ahLst/>
              <a:cxnLst/>
              <a:rect l="l" t="t" r="r" b="b"/>
              <a:pathLst>
                <a:path w="43180" h="12700">
                  <a:moveTo>
                    <a:pt x="0" y="6350"/>
                  </a:moveTo>
                  <a:lnTo>
                    <a:pt x="0" y="2921"/>
                  </a:lnTo>
                  <a:lnTo>
                    <a:pt x="9651" y="0"/>
                  </a:lnTo>
                  <a:lnTo>
                    <a:pt x="21462" y="0"/>
                  </a:lnTo>
                  <a:lnTo>
                    <a:pt x="33274" y="0"/>
                  </a:lnTo>
                  <a:lnTo>
                    <a:pt x="42925" y="2921"/>
                  </a:lnTo>
                  <a:lnTo>
                    <a:pt x="42925" y="6350"/>
                  </a:lnTo>
                  <a:lnTo>
                    <a:pt x="42925" y="9905"/>
                  </a:lnTo>
                  <a:lnTo>
                    <a:pt x="33274" y="12700"/>
                  </a:lnTo>
                  <a:lnTo>
                    <a:pt x="9651" y="12700"/>
                  </a:lnTo>
                  <a:lnTo>
                    <a:pt x="0" y="9905"/>
                  </a:lnTo>
                  <a:lnTo>
                    <a:pt x="0" y="635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79574" y="3024123"/>
              <a:ext cx="230504" cy="93980"/>
            </a:xfrm>
            <a:custGeom>
              <a:avLst/>
              <a:gdLst/>
              <a:ahLst/>
              <a:cxnLst/>
              <a:rect l="l" t="t" r="r" b="b"/>
              <a:pathLst>
                <a:path w="230505" h="93980">
                  <a:moveTo>
                    <a:pt x="0" y="27431"/>
                  </a:moveTo>
                  <a:lnTo>
                    <a:pt x="27431" y="0"/>
                  </a:lnTo>
                  <a:lnTo>
                    <a:pt x="202819" y="0"/>
                  </a:lnTo>
                  <a:lnTo>
                    <a:pt x="230250" y="27431"/>
                  </a:lnTo>
                  <a:lnTo>
                    <a:pt x="230250" y="66293"/>
                  </a:lnTo>
                  <a:lnTo>
                    <a:pt x="202819" y="93725"/>
                  </a:lnTo>
                  <a:lnTo>
                    <a:pt x="27431" y="93725"/>
                  </a:lnTo>
                  <a:lnTo>
                    <a:pt x="0" y="66293"/>
                  </a:lnTo>
                  <a:lnTo>
                    <a:pt x="0" y="2743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135808" y="2789173"/>
            <a:ext cx="338543" cy="438784"/>
            <a:chOff x="2135251" y="2789173"/>
            <a:chExt cx="338455" cy="438784"/>
          </a:xfrm>
        </p:grpSpPr>
        <p:sp>
          <p:nvSpPr>
            <p:cNvPr id="30" name="object 30"/>
            <p:cNvSpPr/>
            <p:nvPr/>
          </p:nvSpPr>
          <p:spPr>
            <a:xfrm>
              <a:off x="2346325" y="3000374"/>
              <a:ext cx="127000" cy="2270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38426" y="2801873"/>
              <a:ext cx="136525" cy="306705"/>
            </a:xfrm>
            <a:custGeom>
              <a:avLst/>
              <a:gdLst/>
              <a:ahLst/>
              <a:cxnLst/>
              <a:rect l="l" t="t" r="r" b="b"/>
              <a:pathLst>
                <a:path w="136525" h="306705">
                  <a:moveTo>
                    <a:pt x="125412" y="290576"/>
                  </a:moveTo>
                  <a:lnTo>
                    <a:pt x="0" y="290576"/>
                  </a:lnTo>
                  <a:lnTo>
                    <a:pt x="0" y="306451"/>
                  </a:lnTo>
                  <a:lnTo>
                    <a:pt x="125412" y="306451"/>
                  </a:lnTo>
                  <a:lnTo>
                    <a:pt x="125412" y="290576"/>
                  </a:lnTo>
                  <a:close/>
                </a:path>
                <a:path w="136525" h="306705">
                  <a:moveTo>
                    <a:pt x="136525" y="21463"/>
                  </a:moveTo>
                  <a:lnTo>
                    <a:pt x="135001" y="13131"/>
                  </a:lnTo>
                  <a:lnTo>
                    <a:pt x="130898" y="6311"/>
                  </a:lnTo>
                  <a:lnTo>
                    <a:pt x="124841" y="1701"/>
                  </a:lnTo>
                  <a:lnTo>
                    <a:pt x="117475" y="0"/>
                  </a:lnTo>
                  <a:lnTo>
                    <a:pt x="110045" y="1701"/>
                  </a:lnTo>
                  <a:lnTo>
                    <a:pt x="103987" y="6311"/>
                  </a:lnTo>
                  <a:lnTo>
                    <a:pt x="99910" y="13131"/>
                  </a:lnTo>
                  <a:lnTo>
                    <a:pt x="98425" y="21463"/>
                  </a:lnTo>
                  <a:lnTo>
                    <a:pt x="99910" y="29806"/>
                  </a:lnTo>
                  <a:lnTo>
                    <a:pt x="103987" y="36626"/>
                  </a:lnTo>
                  <a:lnTo>
                    <a:pt x="110045" y="41236"/>
                  </a:lnTo>
                  <a:lnTo>
                    <a:pt x="117475" y="42926"/>
                  </a:lnTo>
                  <a:lnTo>
                    <a:pt x="124841" y="41236"/>
                  </a:lnTo>
                  <a:lnTo>
                    <a:pt x="130898" y="36626"/>
                  </a:lnTo>
                  <a:lnTo>
                    <a:pt x="135001" y="29806"/>
                  </a:lnTo>
                  <a:lnTo>
                    <a:pt x="136525" y="21463"/>
                  </a:lnTo>
                  <a:close/>
                </a:path>
              </a:pathLst>
            </a:custGeom>
            <a:solidFill>
              <a:srgbClr val="F39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36851" y="2801873"/>
              <a:ext cx="38100" cy="43180"/>
            </a:xfrm>
            <a:custGeom>
              <a:avLst/>
              <a:gdLst/>
              <a:ahLst/>
              <a:cxnLst/>
              <a:rect l="l" t="t" r="r" b="b"/>
              <a:pathLst>
                <a:path w="38100" h="43180">
                  <a:moveTo>
                    <a:pt x="0" y="21462"/>
                  </a:moveTo>
                  <a:lnTo>
                    <a:pt x="1494" y="13126"/>
                  </a:lnTo>
                  <a:lnTo>
                    <a:pt x="5572" y="6302"/>
                  </a:lnTo>
                  <a:lnTo>
                    <a:pt x="11626" y="1692"/>
                  </a:lnTo>
                  <a:lnTo>
                    <a:pt x="19050" y="0"/>
                  </a:lnTo>
                  <a:lnTo>
                    <a:pt x="26419" y="1692"/>
                  </a:lnTo>
                  <a:lnTo>
                    <a:pt x="32480" y="6302"/>
                  </a:lnTo>
                  <a:lnTo>
                    <a:pt x="36587" y="13126"/>
                  </a:lnTo>
                  <a:lnTo>
                    <a:pt x="38100" y="21462"/>
                  </a:lnTo>
                  <a:lnTo>
                    <a:pt x="36587" y="29799"/>
                  </a:lnTo>
                  <a:lnTo>
                    <a:pt x="32480" y="36623"/>
                  </a:lnTo>
                  <a:lnTo>
                    <a:pt x="26419" y="41233"/>
                  </a:lnTo>
                  <a:lnTo>
                    <a:pt x="19050" y="42925"/>
                  </a:lnTo>
                  <a:lnTo>
                    <a:pt x="11626" y="41233"/>
                  </a:lnTo>
                  <a:lnTo>
                    <a:pt x="5572" y="36623"/>
                  </a:lnTo>
                  <a:lnTo>
                    <a:pt x="1494" y="29799"/>
                  </a:lnTo>
                  <a:lnTo>
                    <a:pt x="0" y="2146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35251" y="2876549"/>
              <a:ext cx="230504" cy="351155"/>
            </a:xfrm>
            <a:custGeom>
              <a:avLst/>
              <a:gdLst/>
              <a:ahLst/>
              <a:cxnLst/>
              <a:rect l="l" t="t" r="r" b="b"/>
              <a:pathLst>
                <a:path w="230505" h="351155">
                  <a:moveTo>
                    <a:pt x="103124" y="0"/>
                  </a:moveTo>
                  <a:lnTo>
                    <a:pt x="93599" y="0"/>
                  </a:lnTo>
                  <a:lnTo>
                    <a:pt x="88900" y="1650"/>
                  </a:lnTo>
                  <a:lnTo>
                    <a:pt x="85725" y="1650"/>
                  </a:lnTo>
                  <a:lnTo>
                    <a:pt x="79375" y="4825"/>
                  </a:lnTo>
                  <a:lnTo>
                    <a:pt x="74549" y="8000"/>
                  </a:lnTo>
                  <a:lnTo>
                    <a:pt x="73025" y="11175"/>
                  </a:lnTo>
                  <a:lnTo>
                    <a:pt x="69850" y="12700"/>
                  </a:lnTo>
                  <a:lnTo>
                    <a:pt x="68199" y="15875"/>
                  </a:lnTo>
                  <a:lnTo>
                    <a:pt x="65024" y="19050"/>
                  </a:lnTo>
                  <a:lnTo>
                    <a:pt x="63500" y="22225"/>
                  </a:lnTo>
                  <a:lnTo>
                    <a:pt x="61849" y="27050"/>
                  </a:lnTo>
                  <a:lnTo>
                    <a:pt x="1524" y="161925"/>
                  </a:lnTo>
                  <a:lnTo>
                    <a:pt x="1524" y="166750"/>
                  </a:lnTo>
                  <a:lnTo>
                    <a:pt x="0" y="168275"/>
                  </a:lnTo>
                  <a:lnTo>
                    <a:pt x="0" y="177800"/>
                  </a:lnTo>
                  <a:lnTo>
                    <a:pt x="1524" y="180975"/>
                  </a:lnTo>
                  <a:lnTo>
                    <a:pt x="1524" y="184150"/>
                  </a:lnTo>
                  <a:lnTo>
                    <a:pt x="3175" y="185800"/>
                  </a:lnTo>
                  <a:lnTo>
                    <a:pt x="4699" y="188975"/>
                  </a:lnTo>
                  <a:lnTo>
                    <a:pt x="9525" y="193675"/>
                  </a:lnTo>
                  <a:lnTo>
                    <a:pt x="12700" y="195325"/>
                  </a:lnTo>
                  <a:lnTo>
                    <a:pt x="14224" y="196850"/>
                  </a:lnTo>
                  <a:lnTo>
                    <a:pt x="15875" y="196850"/>
                  </a:lnTo>
                  <a:lnTo>
                    <a:pt x="19050" y="198500"/>
                  </a:lnTo>
                  <a:lnTo>
                    <a:pt x="150749" y="198500"/>
                  </a:lnTo>
                  <a:lnTo>
                    <a:pt x="150749" y="350900"/>
                  </a:lnTo>
                  <a:lnTo>
                    <a:pt x="190500" y="350900"/>
                  </a:lnTo>
                  <a:lnTo>
                    <a:pt x="190500" y="166750"/>
                  </a:lnTo>
                  <a:lnTo>
                    <a:pt x="188849" y="165100"/>
                  </a:lnTo>
                  <a:lnTo>
                    <a:pt x="187325" y="161925"/>
                  </a:lnTo>
                  <a:lnTo>
                    <a:pt x="180975" y="155575"/>
                  </a:lnTo>
                  <a:lnTo>
                    <a:pt x="179324" y="155575"/>
                  </a:lnTo>
                  <a:lnTo>
                    <a:pt x="176149" y="154050"/>
                  </a:lnTo>
                  <a:lnTo>
                    <a:pt x="174625" y="154050"/>
                  </a:lnTo>
                  <a:lnTo>
                    <a:pt x="171450" y="152400"/>
                  </a:lnTo>
                  <a:lnTo>
                    <a:pt x="163449" y="152400"/>
                  </a:lnTo>
                  <a:lnTo>
                    <a:pt x="90424" y="149225"/>
                  </a:lnTo>
                  <a:lnTo>
                    <a:pt x="111125" y="88900"/>
                  </a:lnTo>
                  <a:lnTo>
                    <a:pt x="125349" y="111125"/>
                  </a:lnTo>
                  <a:lnTo>
                    <a:pt x="214249" y="111125"/>
                  </a:lnTo>
                  <a:lnTo>
                    <a:pt x="215900" y="109600"/>
                  </a:lnTo>
                  <a:lnTo>
                    <a:pt x="217424" y="109600"/>
                  </a:lnTo>
                  <a:lnTo>
                    <a:pt x="220599" y="107950"/>
                  </a:lnTo>
                  <a:lnTo>
                    <a:pt x="222250" y="106425"/>
                  </a:lnTo>
                  <a:lnTo>
                    <a:pt x="225425" y="104775"/>
                  </a:lnTo>
                  <a:lnTo>
                    <a:pt x="225425" y="103250"/>
                  </a:lnTo>
                  <a:lnTo>
                    <a:pt x="228600" y="103250"/>
                  </a:lnTo>
                  <a:lnTo>
                    <a:pt x="228600" y="98425"/>
                  </a:lnTo>
                  <a:lnTo>
                    <a:pt x="230124" y="96900"/>
                  </a:lnTo>
                  <a:lnTo>
                    <a:pt x="230124" y="90550"/>
                  </a:lnTo>
                  <a:lnTo>
                    <a:pt x="228600" y="87375"/>
                  </a:lnTo>
                  <a:lnTo>
                    <a:pt x="228600" y="85725"/>
                  </a:lnTo>
                  <a:lnTo>
                    <a:pt x="219075" y="76200"/>
                  </a:lnTo>
                  <a:lnTo>
                    <a:pt x="146050" y="76200"/>
                  </a:lnTo>
                  <a:lnTo>
                    <a:pt x="131699" y="52450"/>
                  </a:lnTo>
                  <a:lnTo>
                    <a:pt x="134874" y="46100"/>
                  </a:lnTo>
                  <a:lnTo>
                    <a:pt x="134874" y="25400"/>
                  </a:lnTo>
                  <a:lnTo>
                    <a:pt x="133350" y="22225"/>
                  </a:lnTo>
                  <a:lnTo>
                    <a:pt x="133350" y="20700"/>
                  </a:lnTo>
                  <a:lnTo>
                    <a:pt x="131699" y="17525"/>
                  </a:lnTo>
                  <a:lnTo>
                    <a:pt x="120650" y="6350"/>
                  </a:lnTo>
                  <a:lnTo>
                    <a:pt x="111125" y="1650"/>
                  </a:lnTo>
                  <a:lnTo>
                    <a:pt x="106299" y="1650"/>
                  </a:lnTo>
                  <a:lnTo>
                    <a:pt x="103124" y="0"/>
                  </a:lnTo>
                  <a:close/>
                </a:path>
              </a:pathLst>
            </a:custGeom>
            <a:solidFill>
              <a:srgbClr val="F39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2553365" y="2738374"/>
            <a:ext cx="355693" cy="509905"/>
            <a:chOff x="2552700" y="2738373"/>
            <a:chExt cx="355600" cy="509905"/>
          </a:xfrm>
        </p:grpSpPr>
        <p:sp>
          <p:nvSpPr>
            <p:cNvPr id="35" name="object 35"/>
            <p:cNvSpPr/>
            <p:nvPr/>
          </p:nvSpPr>
          <p:spPr>
            <a:xfrm>
              <a:off x="2565400" y="2751073"/>
              <a:ext cx="330200" cy="484505"/>
            </a:xfrm>
            <a:custGeom>
              <a:avLst/>
              <a:gdLst/>
              <a:ahLst/>
              <a:cxnLst/>
              <a:rect l="l" t="t" r="r" b="b"/>
              <a:pathLst>
                <a:path w="330200" h="484505">
                  <a:moveTo>
                    <a:pt x="160400" y="0"/>
                  </a:moveTo>
                  <a:lnTo>
                    <a:pt x="149225" y="4825"/>
                  </a:lnTo>
                  <a:lnTo>
                    <a:pt x="142875" y="11175"/>
                  </a:lnTo>
                  <a:lnTo>
                    <a:pt x="139700" y="20700"/>
                  </a:lnTo>
                  <a:lnTo>
                    <a:pt x="136525" y="28575"/>
                  </a:lnTo>
                  <a:lnTo>
                    <a:pt x="139700" y="38100"/>
                  </a:lnTo>
                  <a:lnTo>
                    <a:pt x="142875" y="50800"/>
                  </a:lnTo>
                  <a:lnTo>
                    <a:pt x="146050" y="58800"/>
                  </a:lnTo>
                  <a:lnTo>
                    <a:pt x="147700" y="66675"/>
                  </a:lnTo>
                  <a:lnTo>
                    <a:pt x="146050" y="77850"/>
                  </a:lnTo>
                  <a:lnTo>
                    <a:pt x="139700" y="85725"/>
                  </a:lnTo>
                  <a:lnTo>
                    <a:pt x="128650" y="93725"/>
                  </a:lnTo>
                  <a:lnTo>
                    <a:pt x="115950" y="100075"/>
                  </a:lnTo>
                  <a:lnTo>
                    <a:pt x="107950" y="106425"/>
                  </a:lnTo>
                  <a:lnTo>
                    <a:pt x="100075" y="114300"/>
                  </a:lnTo>
                  <a:lnTo>
                    <a:pt x="92075" y="125475"/>
                  </a:lnTo>
                  <a:lnTo>
                    <a:pt x="82550" y="144525"/>
                  </a:lnTo>
                  <a:lnTo>
                    <a:pt x="76200" y="165100"/>
                  </a:lnTo>
                  <a:lnTo>
                    <a:pt x="69850" y="180975"/>
                  </a:lnTo>
                  <a:lnTo>
                    <a:pt x="66675" y="227075"/>
                  </a:lnTo>
                  <a:lnTo>
                    <a:pt x="66675" y="254000"/>
                  </a:lnTo>
                  <a:lnTo>
                    <a:pt x="68199" y="263525"/>
                  </a:lnTo>
                  <a:lnTo>
                    <a:pt x="73025" y="266700"/>
                  </a:lnTo>
                  <a:lnTo>
                    <a:pt x="80899" y="269875"/>
                  </a:lnTo>
                  <a:lnTo>
                    <a:pt x="85725" y="266700"/>
                  </a:lnTo>
                  <a:lnTo>
                    <a:pt x="87375" y="263525"/>
                  </a:lnTo>
                  <a:lnTo>
                    <a:pt x="87375" y="220725"/>
                  </a:lnTo>
                  <a:lnTo>
                    <a:pt x="88900" y="204850"/>
                  </a:lnTo>
                  <a:lnTo>
                    <a:pt x="92075" y="193675"/>
                  </a:lnTo>
                  <a:lnTo>
                    <a:pt x="96900" y="184150"/>
                  </a:lnTo>
                  <a:lnTo>
                    <a:pt x="106425" y="180975"/>
                  </a:lnTo>
                  <a:lnTo>
                    <a:pt x="114300" y="184150"/>
                  </a:lnTo>
                  <a:lnTo>
                    <a:pt x="115950" y="190500"/>
                  </a:lnTo>
                  <a:lnTo>
                    <a:pt x="114300" y="208025"/>
                  </a:lnTo>
                  <a:lnTo>
                    <a:pt x="112775" y="233425"/>
                  </a:lnTo>
                  <a:lnTo>
                    <a:pt x="107950" y="257175"/>
                  </a:lnTo>
                  <a:lnTo>
                    <a:pt x="101600" y="277875"/>
                  </a:lnTo>
                  <a:lnTo>
                    <a:pt x="95250" y="304800"/>
                  </a:lnTo>
                  <a:lnTo>
                    <a:pt x="87375" y="327025"/>
                  </a:lnTo>
                  <a:lnTo>
                    <a:pt x="68199" y="357250"/>
                  </a:lnTo>
                  <a:lnTo>
                    <a:pt x="53975" y="376300"/>
                  </a:lnTo>
                  <a:lnTo>
                    <a:pt x="28575" y="404875"/>
                  </a:lnTo>
                  <a:lnTo>
                    <a:pt x="12700" y="425450"/>
                  </a:lnTo>
                  <a:lnTo>
                    <a:pt x="0" y="444500"/>
                  </a:lnTo>
                  <a:lnTo>
                    <a:pt x="0" y="452500"/>
                  </a:lnTo>
                  <a:lnTo>
                    <a:pt x="12700" y="466725"/>
                  </a:lnTo>
                  <a:lnTo>
                    <a:pt x="31750" y="484250"/>
                  </a:lnTo>
                  <a:lnTo>
                    <a:pt x="49149" y="484250"/>
                  </a:lnTo>
                  <a:lnTo>
                    <a:pt x="53975" y="479425"/>
                  </a:lnTo>
                  <a:lnTo>
                    <a:pt x="45974" y="469900"/>
                  </a:lnTo>
                  <a:lnTo>
                    <a:pt x="38100" y="458850"/>
                  </a:lnTo>
                  <a:lnTo>
                    <a:pt x="38100" y="450850"/>
                  </a:lnTo>
                  <a:lnTo>
                    <a:pt x="49149" y="431800"/>
                  </a:lnTo>
                  <a:lnTo>
                    <a:pt x="69850" y="411225"/>
                  </a:lnTo>
                  <a:lnTo>
                    <a:pt x="101600" y="371475"/>
                  </a:lnTo>
                  <a:lnTo>
                    <a:pt x="128650" y="338200"/>
                  </a:lnTo>
                  <a:lnTo>
                    <a:pt x="139700" y="327025"/>
                  </a:lnTo>
                  <a:lnTo>
                    <a:pt x="146050" y="319150"/>
                  </a:lnTo>
                  <a:lnTo>
                    <a:pt x="206375" y="365125"/>
                  </a:lnTo>
                  <a:lnTo>
                    <a:pt x="234950" y="404875"/>
                  </a:lnTo>
                  <a:lnTo>
                    <a:pt x="262000" y="444500"/>
                  </a:lnTo>
                  <a:lnTo>
                    <a:pt x="277875" y="466725"/>
                  </a:lnTo>
                  <a:lnTo>
                    <a:pt x="284225" y="471550"/>
                  </a:lnTo>
                  <a:lnTo>
                    <a:pt x="295275" y="471550"/>
                  </a:lnTo>
                  <a:lnTo>
                    <a:pt x="304800" y="463550"/>
                  </a:lnTo>
                  <a:lnTo>
                    <a:pt x="317500" y="455675"/>
                  </a:lnTo>
                  <a:lnTo>
                    <a:pt x="328675" y="446150"/>
                  </a:lnTo>
                  <a:lnTo>
                    <a:pt x="330200" y="438150"/>
                  </a:lnTo>
                  <a:lnTo>
                    <a:pt x="317500" y="439800"/>
                  </a:lnTo>
                  <a:lnTo>
                    <a:pt x="304800" y="438150"/>
                  </a:lnTo>
                  <a:lnTo>
                    <a:pt x="262000" y="382650"/>
                  </a:lnTo>
                  <a:lnTo>
                    <a:pt x="222250" y="317500"/>
                  </a:lnTo>
                  <a:lnTo>
                    <a:pt x="201675" y="281050"/>
                  </a:lnTo>
                  <a:lnTo>
                    <a:pt x="184150" y="236600"/>
                  </a:lnTo>
                  <a:lnTo>
                    <a:pt x="184150" y="217550"/>
                  </a:lnTo>
                  <a:lnTo>
                    <a:pt x="188975" y="204850"/>
                  </a:lnTo>
                  <a:lnTo>
                    <a:pt x="196850" y="198500"/>
                  </a:lnTo>
                  <a:lnTo>
                    <a:pt x="203200" y="198500"/>
                  </a:lnTo>
                  <a:lnTo>
                    <a:pt x="211200" y="203200"/>
                  </a:lnTo>
                  <a:lnTo>
                    <a:pt x="227075" y="214375"/>
                  </a:lnTo>
                  <a:lnTo>
                    <a:pt x="244475" y="227075"/>
                  </a:lnTo>
                  <a:lnTo>
                    <a:pt x="257175" y="233425"/>
                  </a:lnTo>
                  <a:lnTo>
                    <a:pt x="265175" y="236600"/>
                  </a:lnTo>
                  <a:lnTo>
                    <a:pt x="271525" y="233425"/>
                  </a:lnTo>
                  <a:lnTo>
                    <a:pt x="276225" y="227075"/>
                  </a:lnTo>
                  <a:lnTo>
                    <a:pt x="271525" y="217550"/>
                  </a:lnTo>
                  <a:lnTo>
                    <a:pt x="260350" y="204850"/>
                  </a:lnTo>
                  <a:lnTo>
                    <a:pt x="236600" y="190500"/>
                  </a:lnTo>
                  <a:lnTo>
                    <a:pt x="223900" y="179450"/>
                  </a:lnTo>
                  <a:lnTo>
                    <a:pt x="215900" y="165100"/>
                  </a:lnTo>
                  <a:lnTo>
                    <a:pt x="209550" y="144525"/>
                  </a:lnTo>
                  <a:lnTo>
                    <a:pt x="208025" y="123825"/>
                  </a:lnTo>
                  <a:lnTo>
                    <a:pt x="203200" y="114300"/>
                  </a:lnTo>
                  <a:lnTo>
                    <a:pt x="196850" y="104775"/>
                  </a:lnTo>
                  <a:lnTo>
                    <a:pt x="187325" y="93725"/>
                  </a:lnTo>
                  <a:lnTo>
                    <a:pt x="180975" y="87375"/>
                  </a:lnTo>
                  <a:lnTo>
                    <a:pt x="180975" y="79375"/>
                  </a:lnTo>
                  <a:lnTo>
                    <a:pt x="184150" y="66675"/>
                  </a:lnTo>
                  <a:lnTo>
                    <a:pt x="188975" y="60325"/>
                  </a:lnTo>
                  <a:lnTo>
                    <a:pt x="193675" y="52450"/>
                  </a:lnTo>
                  <a:lnTo>
                    <a:pt x="196850" y="39750"/>
                  </a:lnTo>
                  <a:lnTo>
                    <a:pt x="193675" y="25400"/>
                  </a:lnTo>
                  <a:lnTo>
                    <a:pt x="190500" y="14350"/>
                  </a:lnTo>
                  <a:lnTo>
                    <a:pt x="184150" y="6350"/>
                  </a:lnTo>
                  <a:lnTo>
                    <a:pt x="174625" y="1650"/>
                  </a:lnTo>
                  <a:lnTo>
                    <a:pt x="16040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65400" y="2751073"/>
              <a:ext cx="330200" cy="484505"/>
            </a:xfrm>
            <a:custGeom>
              <a:avLst/>
              <a:gdLst/>
              <a:ahLst/>
              <a:cxnLst/>
              <a:rect l="l" t="t" r="r" b="b"/>
              <a:pathLst>
                <a:path w="330200" h="484505">
                  <a:moveTo>
                    <a:pt x="328675" y="446150"/>
                  </a:moveTo>
                  <a:lnTo>
                    <a:pt x="330200" y="438150"/>
                  </a:lnTo>
                  <a:lnTo>
                    <a:pt x="317500" y="439800"/>
                  </a:lnTo>
                  <a:lnTo>
                    <a:pt x="304800" y="438150"/>
                  </a:lnTo>
                  <a:lnTo>
                    <a:pt x="262000" y="382650"/>
                  </a:lnTo>
                  <a:lnTo>
                    <a:pt x="222250" y="317500"/>
                  </a:lnTo>
                  <a:lnTo>
                    <a:pt x="201675" y="281050"/>
                  </a:lnTo>
                  <a:lnTo>
                    <a:pt x="184150" y="236600"/>
                  </a:lnTo>
                  <a:lnTo>
                    <a:pt x="184150" y="217550"/>
                  </a:lnTo>
                  <a:lnTo>
                    <a:pt x="188975" y="204850"/>
                  </a:lnTo>
                  <a:lnTo>
                    <a:pt x="196850" y="198500"/>
                  </a:lnTo>
                  <a:lnTo>
                    <a:pt x="203200" y="198500"/>
                  </a:lnTo>
                  <a:lnTo>
                    <a:pt x="211200" y="203200"/>
                  </a:lnTo>
                  <a:lnTo>
                    <a:pt x="227075" y="214375"/>
                  </a:lnTo>
                  <a:lnTo>
                    <a:pt x="244475" y="227075"/>
                  </a:lnTo>
                  <a:lnTo>
                    <a:pt x="257175" y="233425"/>
                  </a:lnTo>
                  <a:lnTo>
                    <a:pt x="265175" y="236600"/>
                  </a:lnTo>
                  <a:lnTo>
                    <a:pt x="271525" y="233425"/>
                  </a:lnTo>
                  <a:lnTo>
                    <a:pt x="276225" y="227075"/>
                  </a:lnTo>
                  <a:lnTo>
                    <a:pt x="274700" y="223900"/>
                  </a:lnTo>
                  <a:lnTo>
                    <a:pt x="271525" y="217550"/>
                  </a:lnTo>
                  <a:lnTo>
                    <a:pt x="260350" y="204850"/>
                  </a:lnTo>
                  <a:lnTo>
                    <a:pt x="236600" y="190500"/>
                  </a:lnTo>
                  <a:lnTo>
                    <a:pt x="223900" y="179450"/>
                  </a:lnTo>
                  <a:lnTo>
                    <a:pt x="215900" y="165100"/>
                  </a:lnTo>
                  <a:lnTo>
                    <a:pt x="209550" y="144525"/>
                  </a:lnTo>
                  <a:lnTo>
                    <a:pt x="208025" y="123825"/>
                  </a:lnTo>
                  <a:lnTo>
                    <a:pt x="203200" y="114300"/>
                  </a:lnTo>
                  <a:lnTo>
                    <a:pt x="196850" y="104775"/>
                  </a:lnTo>
                  <a:lnTo>
                    <a:pt x="187325" y="93725"/>
                  </a:lnTo>
                  <a:lnTo>
                    <a:pt x="180975" y="87375"/>
                  </a:lnTo>
                  <a:lnTo>
                    <a:pt x="180975" y="79375"/>
                  </a:lnTo>
                  <a:lnTo>
                    <a:pt x="184150" y="66675"/>
                  </a:lnTo>
                  <a:lnTo>
                    <a:pt x="188975" y="60325"/>
                  </a:lnTo>
                  <a:lnTo>
                    <a:pt x="193675" y="52450"/>
                  </a:lnTo>
                  <a:lnTo>
                    <a:pt x="196850" y="39750"/>
                  </a:lnTo>
                  <a:lnTo>
                    <a:pt x="193675" y="25400"/>
                  </a:lnTo>
                  <a:lnTo>
                    <a:pt x="190500" y="14350"/>
                  </a:lnTo>
                  <a:lnTo>
                    <a:pt x="184150" y="6350"/>
                  </a:lnTo>
                  <a:lnTo>
                    <a:pt x="174625" y="1650"/>
                  </a:lnTo>
                  <a:lnTo>
                    <a:pt x="160400" y="0"/>
                  </a:lnTo>
                  <a:lnTo>
                    <a:pt x="149225" y="4825"/>
                  </a:lnTo>
                  <a:lnTo>
                    <a:pt x="142875" y="11175"/>
                  </a:lnTo>
                  <a:lnTo>
                    <a:pt x="139700" y="20700"/>
                  </a:lnTo>
                  <a:lnTo>
                    <a:pt x="136525" y="28575"/>
                  </a:lnTo>
                  <a:lnTo>
                    <a:pt x="139700" y="38100"/>
                  </a:lnTo>
                  <a:lnTo>
                    <a:pt x="142875" y="50800"/>
                  </a:lnTo>
                  <a:lnTo>
                    <a:pt x="146050" y="58800"/>
                  </a:lnTo>
                  <a:lnTo>
                    <a:pt x="147700" y="66675"/>
                  </a:lnTo>
                  <a:lnTo>
                    <a:pt x="146050" y="77850"/>
                  </a:lnTo>
                  <a:lnTo>
                    <a:pt x="139700" y="85725"/>
                  </a:lnTo>
                  <a:lnTo>
                    <a:pt x="128650" y="93725"/>
                  </a:lnTo>
                  <a:lnTo>
                    <a:pt x="115950" y="100075"/>
                  </a:lnTo>
                  <a:lnTo>
                    <a:pt x="107950" y="106425"/>
                  </a:lnTo>
                  <a:lnTo>
                    <a:pt x="100075" y="114300"/>
                  </a:lnTo>
                  <a:lnTo>
                    <a:pt x="92075" y="125475"/>
                  </a:lnTo>
                  <a:lnTo>
                    <a:pt x="82550" y="144525"/>
                  </a:lnTo>
                  <a:lnTo>
                    <a:pt x="76200" y="165100"/>
                  </a:lnTo>
                  <a:lnTo>
                    <a:pt x="69850" y="180975"/>
                  </a:lnTo>
                  <a:lnTo>
                    <a:pt x="68199" y="203200"/>
                  </a:lnTo>
                  <a:lnTo>
                    <a:pt x="66675" y="227075"/>
                  </a:lnTo>
                  <a:lnTo>
                    <a:pt x="66675" y="242950"/>
                  </a:lnTo>
                  <a:lnTo>
                    <a:pt x="66675" y="254000"/>
                  </a:lnTo>
                  <a:lnTo>
                    <a:pt x="68199" y="263525"/>
                  </a:lnTo>
                  <a:lnTo>
                    <a:pt x="73025" y="266700"/>
                  </a:lnTo>
                  <a:lnTo>
                    <a:pt x="80899" y="269875"/>
                  </a:lnTo>
                  <a:lnTo>
                    <a:pt x="85725" y="266700"/>
                  </a:lnTo>
                  <a:lnTo>
                    <a:pt x="87375" y="263525"/>
                  </a:lnTo>
                  <a:lnTo>
                    <a:pt x="87375" y="246125"/>
                  </a:lnTo>
                  <a:lnTo>
                    <a:pt x="87375" y="220725"/>
                  </a:lnTo>
                  <a:lnTo>
                    <a:pt x="88900" y="204850"/>
                  </a:lnTo>
                  <a:lnTo>
                    <a:pt x="92075" y="193675"/>
                  </a:lnTo>
                  <a:lnTo>
                    <a:pt x="96900" y="184150"/>
                  </a:lnTo>
                  <a:lnTo>
                    <a:pt x="106425" y="180975"/>
                  </a:lnTo>
                  <a:lnTo>
                    <a:pt x="114300" y="184150"/>
                  </a:lnTo>
                  <a:lnTo>
                    <a:pt x="115950" y="190500"/>
                  </a:lnTo>
                  <a:lnTo>
                    <a:pt x="114300" y="208025"/>
                  </a:lnTo>
                  <a:lnTo>
                    <a:pt x="112775" y="233425"/>
                  </a:lnTo>
                  <a:lnTo>
                    <a:pt x="107950" y="257175"/>
                  </a:lnTo>
                  <a:lnTo>
                    <a:pt x="101600" y="277875"/>
                  </a:lnTo>
                  <a:lnTo>
                    <a:pt x="95250" y="304800"/>
                  </a:lnTo>
                  <a:lnTo>
                    <a:pt x="87375" y="327025"/>
                  </a:lnTo>
                  <a:lnTo>
                    <a:pt x="68199" y="357250"/>
                  </a:lnTo>
                  <a:lnTo>
                    <a:pt x="53975" y="376300"/>
                  </a:lnTo>
                  <a:lnTo>
                    <a:pt x="28575" y="404875"/>
                  </a:lnTo>
                  <a:lnTo>
                    <a:pt x="12700" y="425450"/>
                  </a:lnTo>
                  <a:lnTo>
                    <a:pt x="0" y="444500"/>
                  </a:lnTo>
                  <a:lnTo>
                    <a:pt x="0" y="452500"/>
                  </a:lnTo>
                  <a:lnTo>
                    <a:pt x="12700" y="466725"/>
                  </a:lnTo>
                  <a:lnTo>
                    <a:pt x="31750" y="484250"/>
                  </a:lnTo>
                  <a:lnTo>
                    <a:pt x="49149" y="484250"/>
                  </a:lnTo>
                  <a:lnTo>
                    <a:pt x="53975" y="479425"/>
                  </a:lnTo>
                  <a:lnTo>
                    <a:pt x="45974" y="469900"/>
                  </a:lnTo>
                  <a:lnTo>
                    <a:pt x="38100" y="458850"/>
                  </a:lnTo>
                  <a:lnTo>
                    <a:pt x="38100" y="450850"/>
                  </a:lnTo>
                  <a:lnTo>
                    <a:pt x="49149" y="431800"/>
                  </a:lnTo>
                  <a:lnTo>
                    <a:pt x="69850" y="411225"/>
                  </a:lnTo>
                  <a:lnTo>
                    <a:pt x="101600" y="371475"/>
                  </a:lnTo>
                  <a:lnTo>
                    <a:pt x="128650" y="338200"/>
                  </a:lnTo>
                  <a:lnTo>
                    <a:pt x="139700" y="327025"/>
                  </a:lnTo>
                  <a:lnTo>
                    <a:pt x="146050" y="319150"/>
                  </a:lnTo>
                  <a:lnTo>
                    <a:pt x="206375" y="365125"/>
                  </a:lnTo>
                  <a:lnTo>
                    <a:pt x="234950" y="404875"/>
                  </a:lnTo>
                  <a:lnTo>
                    <a:pt x="262000" y="444500"/>
                  </a:lnTo>
                  <a:lnTo>
                    <a:pt x="277875" y="466725"/>
                  </a:lnTo>
                  <a:lnTo>
                    <a:pt x="284225" y="471550"/>
                  </a:lnTo>
                  <a:lnTo>
                    <a:pt x="295275" y="471550"/>
                  </a:lnTo>
                  <a:lnTo>
                    <a:pt x="304800" y="463550"/>
                  </a:lnTo>
                  <a:lnTo>
                    <a:pt x="317500" y="455675"/>
                  </a:lnTo>
                  <a:lnTo>
                    <a:pt x="328675" y="446150"/>
                  </a:lnTo>
                </a:path>
              </a:pathLst>
            </a:custGeom>
            <a:ln w="25400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1171880" y="1577976"/>
            <a:ext cx="7577523" cy="631825"/>
            <a:chOff x="1171575" y="1577975"/>
            <a:chExt cx="7575550" cy="631825"/>
          </a:xfrm>
        </p:grpSpPr>
        <p:sp>
          <p:nvSpPr>
            <p:cNvPr id="38" name="object 38"/>
            <p:cNvSpPr/>
            <p:nvPr/>
          </p:nvSpPr>
          <p:spPr>
            <a:xfrm>
              <a:off x="1196975" y="2041525"/>
              <a:ext cx="421005" cy="0"/>
            </a:xfrm>
            <a:custGeom>
              <a:avLst/>
              <a:gdLst/>
              <a:ahLst/>
              <a:cxnLst/>
              <a:rect l="l" t="t" r="r" b="b"/>
              <a:pathLst>
                <a:path w="421005">
                  <a:moveTo>
                    <a:pt x="0" y="0"/>
                  </a:moveTo>
                  <a:lnTo>
                    <a:pt x="420750" y="0"/>
                  </a:lnTo>
                </a:path>
              </a:pathLst>
            </a:custGeom>
            <a:ln w="25400">
              <a:solidFill>
                <a:srgbClr val="DC0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49476" y="1895475"/>
              <a:ext cx="473075" cy="301625"/>
            </a:xfrm>
            <a:custGeom>
              <a:avLst/>
              <a:gdLst/>
              <a:ahLst/>
              <a:cxnLst/>
              <a:rect l="l" t="t" r="r" b="b"/>
              <a:pathLst>
                <a:path w="473075" h="301625">
                  <a:moveTo>
                    <a:pt x="20574" y="146050"/>
                  </a:moveTo>
                  <a:lnTo>
                    <a:pt x="460375" y="146050"/>
                  </a:lnTo>
                </a:path>
                <a:path w="473075" h="301625">
                  <a:moveTo>
                    <a:pt x="0" y="0"/>
                  </a:moveTo>
                  <a:lnTo>
                    <a:pt x="0" y="301625"/>
                  </a:lnTo>
                </a:path>
                <a:path w="473075" h="301625">
                  <a:moveTo>
                    <a:pt x="473075" y="0"/>
                  </a:moveTo>
                  <a:lnTo>
                    <a:pt x="473075" y="3016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146300" y="2041525"/>
              <a:ext cx="415925" cy="0"/>
            </a:xfrm>
            <a:custGeom>
              <a:avLst/>
              <a:gdLst/>
              <a:ahLst/>
              <a:cxnLst/>
              <a:rect l="l" t="t" r="r" b="b"/>
              <a:pathLst>
                <a:path w="415925">
                  <a:moveTo>
                    <a:pt x="0" y="0"/>
                  </a:moveTo>
                  <a:lnTo>
                    <a:pt x="415925" y="0"/>
                  </a:lnTo>
                </a:path>
              </a:pathLst>
            </a:custGeom>
            <a:ln w="25400">
              <a:solidFill>
                <a:srgbClr val="F39F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65526" y="1895475"/>
              <a:ext cx="0" cy="301625"/>
            </a:xfrm>
            <a:custGeom>
              <a:avLst/>
              <a:gdLst/>
              <a:ahLst/>
              <a:cxnLst/>
              <a:rect l="l" t="t" r="r" b="b"/>
              <a:pathLst>
                <a:path h="301625">
                  <a:moveTo>
                    <a:pt x="0" y="0"/>
                  </a:moveTo>
                  <a:lnTo>
                    <a:pt x="0" y="3016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14675" y="2041525"/>
              <a:ext cx="433705" cy="15875"/>
            </a:xfrm>
            <a:custGeom>
              <a:avLst/>
              <a:gdLst/>
              <a:ahLst/>
              <a:cxnLst/>
              <a:rect l="l" t="t" r="r" b="b"/>
              <a:pathLst>
                <a:path w="433705" h="15875">
                  <a:moveTo>
                    <a:pt x="0" y="0"/>
                  </a:moveTo>
                  <a:lnTo>
                    <a:pt x="433324" y="15875"/>
                  </a:lnTo>
                </a:path>
              </a:pathLst>
            </a:custGeom>
            <a:ln w="25400">
              <a:solidFill>
                <a:srgbClr val="9191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86100" y="2041525"/>
              <a:ext cx="422275" cy="0"/>
            </a:xfrm>
            <a:custGeom>
              <a:avLst/>
              <a:gdLst/>
              <a:ahLst/>
              <a:cxnLst/>
              <a:rect l="l" t="t" r="r" b="b"/>
              <a:pathLst>
                <a:path w="422275">
                  <a:moveTo>
                    <a:pt x="0" y="0"/>
                  </a:moveTo>
                  <a:lnTo>
                    <a:pt x="422275" y="0"/>
                  </a:lnTo>
                </a:path>
              </a:pathLst>
            </a:custGeom>
            <a:ln w="25400">
              <a:solidFill>
                <a:srgbClr val="DC0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38601" y="1895475"/>
              <a:ext cx="471805" cy="301625"/>
            </a:xfrm>
            <a:custGeom>
              <a:avLst/>
              <a:gdLst/>
              <a:ahLst/>
              <a:cxnLst/>
              <a:rect l="l" t="t" r="r" b="b"/>
              <a:pathLst>
                <a:path w="471804" h="301625">
                  <a:moveTo>
                    <a:pt x="22225" y="146050"/>
                  </a:moveTo>
                  <a:lnTo>
                    <a:pt x="458724" y="146050"/>
                  </a:lnTo>
                </a:path>
                <a:path w="471804" h="301625">
                  <a:moveTo>
                    <a:pt x="0" y="0"/>
                  </a:moveTo>
                  <a:lnTo>
                    <a:pt x="0" y="301625"/>
                  </a:lnTo>
                </a:path>
                <a:path w="471804" h="301625">
                  <a:moveTo>
                    <a:pt x="471424" y="0"/>
                  </a:moveTo>
                  <a:lnTo>
                    <a:pt x="471424" y="3016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35425" y="2041525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>
                  <a:moveTo>
                    <a:pt x="0" y="0"/>
                  </a:moveTo>
                  <a:lnTo>
                    <a:pt x="412750" y="0"/>
                  </a:lnTo>
                </a:path>
              </a:pathLst>
            </a:custGeom>
            <a:ln w="25400">
              <a:solidFill>
                <a:srgbClr val="F39F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956175" y="1895475"/>
              <a:ext cx="0" cy="301625"/>
            </a:xfrm>
            <a:custGeom>
              <a:avLst/>
              <a:gdLst/>
              <a:ahLst/>
              <a:cxnLst/>
              <a:rect l="l" t="t" r="r" b="b"/>
              <a:pathLst>
                <a:path h="301625">
                  <a:moveTo>
                    <a:pt x="0" y="0"/>
                  </a:moveTo>
                  <a:lnTo>
                    <a:pt x="0" y="3016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505325" y="2041525"/>
              <a:ext cx="417830" cy="3175"/>
            </a:xfrm>
            <a:custGeom>
              <a:avLst/>
              <a:gdLst/>
              <a:ahLst/>
              <a:cxnLst/>
              <a:rect l="l" t="t" r="r" b="b"/>
              <a:pathLst>
                <a:path w="417829" h="3175">
                  <a:moveTo>
                    <a:pt x="0" y="0"/>
                  </a:moveTo>
                  <a:lnTo>
                    <a:pt x="417575" y="3175"/>
                  </a:lnTo>
                </a:path>
              </a:pathLst>
            </a:custGeom>
            <a:ln w="25400">
              <a:solidFill>
                <a:srgbClr val="9191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75225" y="2041525"/>
              <a:ext cx="421005" cy="0"/>
            </a:xfrm>
            <a:custGeom>
              <a:avLst/>
              <a:gdLst/>
              <a:ahLst/>
              <a:cxnLst/>
              <a:rect l="l" t="t" r="r" b="b"/>
              <a:pathLst>
                <a:path w="421004">
                  <a:moveTo>
                    <a:pt x="0" y="0"/>
                  </a:moveTo>
                  <a:lnTo>
                    <a:pt x="420750" y="0"/>
                  </a:lnTo>
                </a:path>
              </a:pathLst>
            </a:custGeom>
            <a:ln w="25400">
              <a:solidFill>
                <a:srgbClr val="DC0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427726" y="1895475"/>
              <a:ext cx="473075" cy="301625"/>
            </a:xfrm>
            <a:custGeom>
              <a:avLst/>
              <a:gdLst/>
              <a:ahLst/>
              <a:cxnLst/>
              <a:rect l="l" t="t" r="r" b="b"/>
              <a:pathLst>
                <a:path w="473075" h="301625">
                  <a:moveTo>
                    <a:pt x="22225" y="146050"/>
                  </a:moveTo>
                  <a:lnTo>
                    <a:pt x="460375" y="146050"/>
                  </a:lnTo>
                </a:path>
                <a:path w="473075" h="301625">
                  <a:moveTo>
                    <a:pt x="0" y="0"/>
                  </a:moveTo>
                  <a:lnTo>
                    <a:pt x="0" y="301625"/>
                  </a:lnTo>
                </a:path>
                <a:path w="473075" h="301625">
                  <a:moveTo>
                    <a:pt x="473075" y="0"/>
                  </a:moveTo>
                  <a:lnTo>
                    <a:pt x="473075" y="3016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926201" y="2041525"/>
              <a:ext cx="414655" cy="0"/>
            </a:xfrm>
            <a:custGeom>
              <a:avLst/>
              <a:gdLst/>
              <a:ahLst/>
              <a:cxnLst/>
              <a:rect l="l" t="t" r="r" b="b"/>
              <a:pathLst>
                <a:path w="414654">
                  <a:moveTo>
                    <a:pt x="0" y="0"/>
                  </a:moveTo>
                  <a:lnTo>
                    <a:pt x="414274" y="0"/>
                  </a:lnTo>
                </a:path>
              </a:pathLst>
            </a:custGeom>
            <a:ln w="25400">
              <a:solidFill>
                <a:srgbClr val="F39F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45300" y="1895475"/>
              <a:ext cx="0" cy="301625"/>
            </a:xfrm>
            <a:custGeom>
              <a:avLst/>
              <a:gdLst/>
              <a:ahLst/>
              <a:cxnLst/>
              <a:rect l="l" t="t" r="r" b="b"/>
              <a:pathLst>
                <a:path h="301625">
                  <a:moveTo>
                    <a:pt x="0" y="0"/>
                  </a:moveTo>
                  <a:lnTo>
                    <a:pt x="0" y="3016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94450" y="2041525"/>
              <a:ext cx="417830" cy="3175"/>
            </a:xfrm>
            <a:custGeom>
              <a:avLst/>
              <a:gdLst/>
              <a:ahLst/>
              <a:cxnLst/>
              <a:rect l="l" t="t" r="r" b="b"/>
              <a:pathLst>
                <a:path w="417829" h="3175">
                  <a:moveTo>
                    <a:pt x="0" y="0"/>
                  </a:moveTo>
                  <a:lnTo>
                    <a:pt x="417575" y="3175"/>
                  </a:lnTo>
                </a:path>
              </a:pathLst>
            </a:custGeom>
            <a:ln w="25400">
              <a:solidFill>
                <a:srgbClr val="9191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866001" y="2041525"/>
              <a:ext cx="421005" cy="0"/>
            </a:xfrm>
            <a:custGeom>
              <a:avLst/>
              <a:gdLst/>
              <a:ahLst/>
              <a:cxnLst/>
              <a:rect l="l" t="t" r="r" b="b"/>
              <a:pathLst>
                <a:path w="421004">
                  <a:moveTo>
                    <a:pt x="0" y="0"/>
                  </a:moveTo>
                  <a:lnTo>
                    <a:pt x="420624" y="0"/>
                  </a:lnTo>
                </a:path>
              </a:pathLst>
            </a:custGeom>
            <a:ln w="25400">
              <a:solidFill>
                <a:srgbClr val="DC0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320026" y="1895475"/>
              <a:ext cx="469900" cy="301625"/>
            </a:xfrm>
            <a:custGeom>
              <a:avLst/>
              <a:gdLst/>
              <a:ahLst/>
              <a:cxnLst/>
              <a:rect l="l" t="t" r="r" b="b"/>
              <a:pathLst>
                <a:path w="469900" h="301625">
                  <a:moveTo>
                    <a:pt x="19050" y="146050"/>
                  </a:moveTo>
                  <a:lnTo>
                    <a:pt x="457200" y="146050"/>
                  </a:lnTo>
                </a:path>
                <a:path w="469900" h="301625">
                  <a:moveTo>
                    <a:pt x="0" y="0"/>
                  </a:moveTo>
                  <a:lnTo>
                    <a:pt x="0" y="301625"/>
                  </a:lnTo>
                </a:path>
                <a:path w="469900" h="301625">
                  <a:moveTo>
                    <a:pt x="469900" y="0"/>
                  </a:moveTo>
                  <a:lnTo>
                    <a:pt x="469900" y="3016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813675" y="2041525"/>
              <a:ext cx="415925" cy="0"/>
            </a:xfrm>
            <a:custGeom>
              <a:avLst/>
              <a:gdLst/>
              <a:ahLst/>
              <a:cxnLst/>
              <a:rect l="l" t="t" r="r" b="b"/>
              <a:pathLst>
                <a:path w="415925">
                  <a:moveTo>
                    <a:pt x="0" y="0"/>
                  </a:moveTo>
                  <a:lnTo>
                    <a:pt x="415925" y="0"/>
                  </a:lnTo>
                </a:path>
              </a:pathLst>
            </a:custGeom>
            <a:ln w="25400">
              <a:solidFill>
                <a:srgbClr val="F39F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734425" y="1895475"/>
              <a:ext cx="0" cy="301625"/>
            </a:xfrm>
            <a:custGeom>
              <a:avLst/>
              <a:gdLst/>
              <a:ahLst/>
              <a:cxnLst/>
              <a:rect l="l" t="t" r="r" b="b"/>
              <a:pathLst>
                <a:path h="301625">
                  <a:moveTo>
                    <a:pt x="0" y="0"/>
                  </a:moveTo>
                  <a:lnTo>
                    <a:pt x="0" y="3016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283575" y="2041525"/>
              <a:ext cx="419100" cy="3175"/>
            </a:xfrm>
            <a:custGeom>
              <a:avLst/>
              <a:gdLst/>
              <a:ahLst/>
              <a:cxnLst/>
              <a:rect l="l" t="t" r="r" b="b"/>
              <a:pathLst>
                <a:path w="419100" h="3175">
                  <a:moveTo>
                    <a:pt x="0" y="0"/>
                  </a:moveTo>
                  <a:lnTo>
                    <a:pt x="419100" y="3175"/>
                  </a:lnTo>
                </a:path>
              </a:pathLst>
            </a:custGeom>
            <a:ln w="25400">
              <a:solidFill>
                <a:srgbClr val="9191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184275" y="1590675"/>
              <a:ext cx="0" cy="265430"/>
            </a:xfrm>
            <a:custGeom>
              <a:avLst/>
              <a:gdLst/>
              <a:ahLst/>
              <a:cxnLst/>
              <a:rect l="l" t="t" r="r" b="b"/>
              <a:pathLst>
                <a:path h="265430">
                  <a:moveTo>
                    <a:pt x="0" y="0"/>
                  </a:moveTo>
                  <a:lnTo>
                    <a:pt x="0" y="26517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685979" y="3371850"/>
            <a:ext cx="414763" cy="374650"/>
            <a:chOff x="685800" y="3371850"/>
            <a:chExt cx="414655" cy="374650"/>
          </a:xfrm>
        </p:grpSpPr>
        <p:sp>
          <p:nvSpPr>
            <p:cNvPr id="60" name="object 60"/>
            <p:cNvSpPr/>
            <p:nvPr/>
          </p:nvSpPr>
          <p:spPr>
            <a:xfrm>
              <a:off x="698500" y="3384550"/>
              <a:ext cx="389255" cy="349250"/>
            </a:xfrm>
            <a:custGeom>
              <a:avLst/>
              <a:gdLst/>
              <a:ahLst/>
              <a:cxnLst/>
              <a:rect l="l" t="t" r="r" b="b"/>
              <a:pathLst>
                <a:path w="389255" h="349250">
                  <a:moveTo>
                    <a:pt x="361950" y="0"/>
                  </a:moveTo>
                  <a:lnTo>
                    <a:pt x="265112" y="17399"/>
                  </a:lnTo>
                  <a:lnTo>
                    <a:pt x="265112" y="0"/>
                  </a:lnTo>
                  <a:lnTo>
                    <a:pt x="185737" y="0"/>
                  </a:lnTo>
                  <a:lnTo>
                    <a:pt x="185737" y="19050"/>
                  </a:lnTo>
                  <a:lnTo>
                    <a:pt x="109537" y="0"/>
                  </a:lnTo>
                  <a:lnTo>
                    <a:pt x="109537" y="15875"/>
                  </a:lnTo>
                  <a:lnTo>
                    <a:pt x="47625" y="4699"/>
                  </a:lnTo>
                  <a:lnTo>
                    <a:pt x="136525" y="98425"/>
                  </a:lnTo>
                  <a:lnTo>
                    <a:pt x="120650" y="101600"/>
                  </a:lnTo>
                  <a:lnTo>
                    <a:pt x="74612" y="117475"/>
                  </a:lnTo>
                  <a:lnTo>
                    <a:pt x="41275" y="139700"/>
                  </a:lnTo>
                  <a:lnTo>
                    <a:pt x="15875" y="168275"/>
                  </a:lnTo>
                  <a:lnTo>
                    <a:pt x="1587" y="217424"/>
                  </a:lnTo>
                  <a:lnTo>
                    <a:pt x="0" y="226949"/>
                  </a:lnTo>
                  <a:lnTo>
                    <a:pt x="15875" y="276225"/>
                  </a:lnTo>
                  <a:lnTo>
                    <a:pt x="49212" y="311150"/>
                  </a:lnTo>
                  <a:lnTo>
                    <a:pt x="87312" y="333375"/>
                  </a:lnTo>
                  <a:lnTo>
                    <a:pt x="128587" y="346075"/>
                  </a:lnTo>
                  <a:lnTo>
                    <a:pt x="157162" y="349250"/>
                  </a:lnTo>
                  <a:lnTo>
                    <a:pt x="223837" y="349250"/>
                  </a:lnTo>
                  <a:lnTo>
                    <a:pt x="238125" y="347725"/>
                  </a:lnTo>
                  <a:lnTo>
                    <a:pt x="255587" y="347725"/>
                  </a:lnTo>
                  <a:lnTo>
                    <a:pt x="265112" y="344550"/>
                  </a:lnTo>
                  <a:lnTo>
                    <a:pt x="279400" y="341375"/>
                  </a:lnTo>
                  <a:lnTo>
                    <a:pt x="292100" y="338200"/>
                  </a:lnTo>
                  <a:lnTo>
                    <a:pt x="331787" y="317500"/>
                  </a:lnTo>
                  <a:lnTo>
                    <a:pt x="368300" y="281050"/>
                  </a:lnTo>
                  <a:lnTo>
                    <a:pt x="376237" y="271525"/>
                  </a:lnTo>
                  <a:lnTo>
                    <a:pt x="381000" y="262000"/>
                  </a:lnTo>
                  <a:lnTo>
                    <a:pt x="384175" y="249174"/>
                  </a:lnTo>
                  <a:lnTo>
                    <a:pt x="387350" y="238125"/>
                  </a:lnTo>
                  <a:lnTo>
                    <a:pt x="388937" y="222250"/>
                  </a:lnTo>
                  <a:lnTo>
                    <a:pt x="387350" y="206375"/>
                  </a:lnTo>
                  <a:lnTo>
                    <a:pt x="385762" y="195199"/>
                  </a:lnTo>
                  <a:lnTo>
                    <a:pt x="358775" y="149225"/>
                  </a:lnTo>
                  <a:lnTo>
                    <a:pt x="325437" y="123825"/>
                  </a:lnTo>
                  <a:lnTo>
                    <a:pt x="284162" y="106299"/>
                  </a:lnTo>
                  <a:lnTo>
                    <a:pt x="242887" y="98425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98500" y="3384550"/>
              <a:ext cx="389255" cy="349250"/>
            </a:xfrm>
            <a:custGeom>
              <a:avLst/>
              <a:gdLst/>
              <a:ahLst/>
              <a:cxnLst/>
              <a:rect l="l" t="t" r="r" b="b"/>
              <a:pathLst>
                <a:path w="389255" h="349250">
                  <a:moveTo>
                    <a:pt x="47625" y="4699"/>
                  </a:moveTo>
                  <a:lnTo>
                    <a:pt x="109537" y="15875"/>
                  </a:lnTo>
                  <a:lnTo>
                    <a:pt x="109537" y="0"/>
                  </a:lnTo>
                  <a:lnTo>
                    <a:pt x="185737" y="19050"/>
                  </a:lnTo>
                  <a:lnTo>
                    <a:pt x="185737" y="0"/>
                  </a:lnTo>
                  <a:lnTo>
                    <a:pt x="265112" y="0"/>
                  </a:lnTo>
                  <a:lnTo>
                    <a:pt x="265112" y="17399"/>
                  </a:lnTo>
                  <a:lnTo>
                    <a:pt x="361950" y="0"/>
                  </a:lnTo>
                  <a:lnTo>
                    <a:pt x="242887" y="98425"/>
                  </a:lnTo>
                  <a:lnTo>
                    <a:pt x="255587" y="99949"/>
                  </a:lnTo>
                  <a:lnTo>
                    <a:pt x="268287" y="101600"/>
                  </a:lnTo>
                  <a:lnTo>
                    <a:pt x="284162" y="106299"/>
                  </a:lnTo>
                  <a:lnTo>
                    <a:pt x="296862" y="111125"/>
                  </a:lnTo>
                  <a:lnTo>
                    <a:pt x="311150" y="117475"/>
                  </a:lnTo>
                  <a:lnTo>
                    <a:pt x="325437" y="123825"/>
                  </a:lnTo>
                  <a:lnTo>
                    <a:pt x="338137" y="131699"/>
                  </a:lnTo>
                  <a:lnTo>
                    <a:pt x="349250" y="141224"/>
                  </a:lnTo>
                  <a:lnTo>
                    <a:pt x="358775" y="149225"/>
                  </a:lnTo>
                  <a:lnTo>
                    <a:pt x="381000" y="184150"/>
                  </a:lnTo>
                  <a:lnTo>
                    <a:pt x="388937" y="222250"/>
                  </a:lnTo>
                  <a:lnTo>
                    <a:pt x="387350" y="238125"/>
                  </a:lnTo>
                  <a:lnTo>
                    <a:pt x="384175" y="249174"/>
                  </a:lnTo>
                  <a:lnTo>
                    <a:pt x="381000" y="262000"/>
                  </a:lnTo>
                  <a:lnTo>
                    <a:pt x="376237" y="271525"/>
                  </a:lnTo>
                  <a:lnTo>
                    <a:pt x="368300" y="281050"/>
                  </a:lnTo>
                  <a:lnTo>
                    <a:pt x="358775" y="293750"/>
                  </a:lnTo>
                  <a:lnTo>
                    <a:pt x="346075" y="306450"/>
                  </a:lnTo>
                  <a:lnTo>
                    <a:pt x="331787" y="317500"/>
                  </a:lnTo>
                  <a:lnTo>
                    <a:pt x="317500" y="325500"/>
                  </a:lnTo>
                  <a:lnTo>
                    <a:pt x="304800" y="331850"/>
                  </a:lnTo>
                  <a:lnTo>
                    <a:pt x="292100" y="338200"/>
                  </a:lnTo>
                  <a:lnTo>
                    <a:pt x="279400" y="341375"/>
                  </a:lnTo>
                  <a:lnTo>
                    <a:pt x="265112" y="344550"/>
                  </a:lnTo>
                  <a:lnTo>
                    <a:pt x="255587" y="347725"/>
                  </a:lnTo>
                  <a:lnTo>
                    <a:pt x="238125" y="347725"/>
                  </a:lnTo>
                  <a:lnTo>
                    <a:pt x="223837" y="349250"/>
                  </a:lnTo>
                  <a:lnTo>
                    <a:pt x="157162" y="349250"/>
                  </a:lnTo>
                  <a:lnTo>
                    <a:pt x="144462" y="347725"/>
                  </a:lnTo>
                  <a:lnTo>
                    <a:pt x="128587" y="346075"/>
                  </a:lnTo>
                  <a:lnTo>
                    <a:pt x="106362" y="341375"/>
                  </a:lnTo>
                  <a:lnTo>
                    <a:pt x="66675" y="323850"/>
                  </a:lnTo>
                  <a:lnTo>
                    <a:pt x="34925" y="300100"/>
                  </a:lnTo>
                  <a:lnTo>
                    <a:pt x="7937" y="260350"/>
                  </a:lnTo>
                  <a:lnTo>
                    <a:pt x="4762" y="249174"/>
                  </a:lnTo>
                  <a:lnTo>
                    <a:pt x="1587" y="238125"/>
                  </a:lnTo>
                  <a:lnTo>
                    <a:pt x="0" y="226949"/>
                  </a:lnTo>
                  <a:lnTo>
                    <a:pt x="1587" y="217424"/>
                  </a:lnTo>
                  <a:lnTo>
                    <a:pt x="3175" y="200025"/>
                  </a:lnTo>
                  <a:lnTo>
                    <a:pt x="28575" y="153924"/>
                  </a:lnTo>
                  <a:lnTo>
                    <a:pt x="58737" y="127000"/>
                  </a:lnTo>
                  <a:lnTo>
                    <a:pt x="96837" y="107950"/>
                  </a:lnTo>
                  <a:lnTo>
                    <a:pt x="136525" y="98425"/>
                  </a:lnTo>
                  <a:lnTo>
                    <a:pt x="47625" y="469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3152071" y="3257551"/>
            <a:ext cx="813012" cy="542925"/>
            <a:chOff x="3151251" y="3257550"/>
            <a:chExt cx="812800" cy="542925"/>
          </a:xfrm>
        </p:grpSpPr>
        <p:sp>
          <p:nvSpPr>
            <p:cNvPr id="63" name="object 63"/>
            <p:cNvSpPr/>
            <p:nvPr/>
          </p:nvSpPr>
          <p:spPr>
            <a:xfrm>
              <a:off x="3163951" y="3442080"/>
              <a:ext cx="258445" cy="346075"/>
            </a:xfrm>
            <a:custGeom>
              <a:avLst/>
              <a:gdLst/>
              <a:ahLst/>
              <a:cxnLst/>
              <a:rect l="l" t="t" r="r" b="b"/>
              <a:pathLst>
                <a:path w="258445" h="346075">
                  <a:moveTo>
                    <a:pt x="258381" y="0"/>
                  </a:moveTo>
                  <a:lnTo>
                    <a:pt x="0" y="0"/>
                  </a:lnTo>
                  <a:lnTo>
                    <a:pt x="0" y="345694"/>
                  </a:lnTo>
                  <a:lnTo>
                    <a:pt x="258381" y="345694"/>
                  </a:lnTo>
                  <a:lnTo>
                    <a:pt x="258381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422269" y="3355975"/>
              <a:ext cx="86360" cy="431800"/>
            </a:xfrm>
            <a:custGeom>
              <a:avLst/>
              <a:gdLst/>
              <a:ahLst/>
              <a:cxnLst/>
              <a:rect l="l" t="t" r="r" b="b"/>
              <a:pathLst>
                <a:path w="86360" h="431800">
                  <a:moveTo>
                    <a:pt x="86105" y="0"/>
                  </a:moveTo>
                  <a:lnTo>
                    <a:pt x="0" y="86105"/>
                  </a:lnTo>
                  <a:lnTo>
                    <a:pt x="0" y="431800"/>
                  </a:lnTo>
                  <a:lnTo>
                    <a:pt x="86105" y="345694"/>
                  </a:lnTo>
                  <a:lnTo>
                    <a:pt x="86105" y="0"/>
                  </a:lnTo>
                  <a:close/>
                </a:path>
              </a:pathLst>
            </a:custGeom>
            <a:solidFill>
              <a:srgbClr val="B00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163951" y="3355975"/>
              <a:ext cx="344805" cy="86360"/>
            </a:xfrm>
            <a:custGeom>
              <a:avLst/>
              <a:gdLst/>
              <a:ahLst/>
              <a:cxnLst/>
              <a:rect l="l" t="t" r="r" b="b"/>
              <a:pathLst>
                <a:path w="344804" h="86360">
                  <a:moveTo>
                    <a:pt x="344424" y="0"/>
                  </a:moveTo>
                  <a:lnTo>
                    <a:pt x="85979" y="0"/>
                  </a:lnTo>
                  <a:lnTo>
                    <a:pt x="0" y="86105"/>
                  </a:lnTo>
                  <a:lnTo>
                    <a:pt x="258318" y="86105"/>
                  </a:lnTo>
                  <a:lnTo>
                    <a:pt x="344424" y="0"/>
                  </a:lnTo>
                  <a:close/>
                </a:path>
              </a:pathLst>
            </a:custGeom>
            <a:solidFill>
              <a:srgbClr val="E23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163951" y="3355975"/>
              <a:ext cx="344805" cy="431800"/>
            </a:xfrm>
            <a:custGeom>
              <a:avLst/>
              <a:gdLst/>
              <a:ahLst/>
              <a:cxnLst/>
              <a:rect l="l" t="t" r="r" b="b"/>
              <a:pathLst>
                <a:path w="344804" h="431800">
                  <a:moveTo>
                    <a:pt x="0" y="86105"/>
                  </a:moveTo>
                  <a:lnTo>
                    <a:pt x="85979" y="0"/>
                  </a:lnTo>
                  <a:lnTo>
                    <a:pt x="344424" y="0"/>
                  </a:lnTo>
                  <a:lnTo>
                    <a:pt x="344424" y="345694"/>
                  </a:lnTo>
                  <a:lnTo>
                    <a:pt x="258318" y="431800"/>
                  </a:lnTo>
                  <a:lnTo>
                    <a:pt x="0" y="431800"/>
                  </a:lnTo>
                  <a:lnTo>
                    <a:pt x="0" y="86105"/>
                  </a:lnTo>
                  <a:close/>
                </a:path>
                <a:path w="344804" h="431800">
                  <a:moveTo>
                    <a:pt x="0" y="86105"/>
                  </a:moveTo>
                  <a:lnTo>
                    <a:pt x="258318" y="86105"/>
                  </a:lnTo>
                  <a:lnTo>
                    <a:pt x="344424" y="0"/>
                  </a:lnTo>
                </a:path>
                <a:path w="344804" h="431800">
                  <a:moveTo>
                    <a:pt x="258318" y="86105"/>
                  </a:moveTo>
                  <a:lnTo>
                    <a:pt x="258318" y="4318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244850" y="3289755"/>
              <a:ext cx="244475" cy="58419"/>
            </a:xfrm>
            <a:custGeom>
              <a:avLst/>
              <a:gdLst/>
              <a:ahLst/>
              <a:cxnLst/>
              <a:rect l="l" t="t" r="r" b="b"/>
              <a:pathLst>
                <a:path w="244475" h="58420">
                  <a:moveTo>
                    <a:pt x="244081" y="0"/>
                  </a:moveTo>
                  <a:lnTo>
                    <a:pt x="0" y="0"/>
                  </a:lnTo>
                  <a:lnTo>
                    <a:pt x="0" y="58345"/>
                  </a:lnTo>
                  <a:lnTo>
                    <a:pt x="244081" y="58345"/>
                  </a:lnTo>
                  <a:lnTo>
                    <a:pt x="244081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488944" y="3270250"/>
              <a:ext cx="19685" cy="78105"/>
            </a:xfrm>
            <a:custGeom>
              <a:avLst/>
              <a:gdLst/>
              <a:ahLst/>
              <a:cxnLst/>
              <a:rect l="l" t="t" r="r" b="b"/>
              <a:pathLst>
                <a:path w="19685" h="78104">
                  <a:moveTo>
                    <a:pt x="19430" y="0"/>
                  </a:moveTo>
                  <a:lnTo>
                    <a:pt x="0" y="19430"/>
                  </a:lnTo>
                  <a:lnTo>
                    <a:pt x="0" y="77850"/>
                  </a:lnTo>
                  <a:lnTo>
                    <a:pt x="19430" y="58292"/>
                  </a:lnTo>
                  <a:lnTo>
                    <a:pt x="19430" y="0"/>
                  </a:lnTo>
                  <a:close/>
                </a:path>
              </a:pathLst>
            </a:custGeom>
            <a:solidFill>
              <a:srgbClr val="B00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44850" y="3270250"/>
              <a:ext cx="263525" cy="19685"/>
            </a:xfrm>
            <a:custGeom>
              <a:avLst/>
              <a:gdLst/>
              <a:ahLst/>
              <a:cxnLst/>
              <a:rect l="l" t="t" r="r" b="b"/>
              <a:pathLst>
                <a:path w="263525" h="19685">
                  <a:moveTo>
                    <a:pt x="263525" y="0"/>
                  </a:moveTo>
                  <a:lnTo>
                    <a:pt x="19430" y="0"/>
                  </a:lnTo>
                  <a:lnTo>
                    <a:pt x="0" y="19430"/>
                  </a:lnTo>
                  <a:lnTo>
                    <a:pt x="244094" y="19430"/>
                  </a:lnTo>
                  <a:lnTo>
                    <a:pt x="263525" y="0"/>
                  </a:lnTo>
                  <a:close/>
                </a:path>
              </a:pathLst>
            </a:custGeom>
            <a:solidFill>
              <a:srgbClr val="E23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244850" y="3270250"/>
              <a:ext cx="263525" cy="78105"/>
            </a:xfrm>
            <a:custGeom>
              <a:avLst/>
              <a:gdLst/>
              <a:ahLst/>
              <a:cxnLst/>
              <a:rect l="l" t="t" r="r" b="b"/>
              <a:pathLst>
                <a:path w="263525" h="78104">
                  <a:moveTo>
                    <a:pt x="0" y="19430"/>
                  </a:moveTo>
                  <a:lnTo>
                    <a:pt x="19430" y="0"/>
                  </a:lnTo>
                  <a:lnTo>
                    <a:pt x="263525" y="0"/>
                  </a:lnTo>
                  <a:lnTo>
                    <a:pt x="263525" y="58292"/>
                  </a:lnTo>
                  <a:lnTo>
                    <a:pt x="244094" y="77850"/>
                  </a:lnTo>
                  <a:lnTo>
                    <a:pt x="0" y="77850"/>
                  </a:lnTo>
                  <a:lnTo>
                    <a:pt x="0" y="19430"/>
                  </a:lnTo>
                  <a:close/>
                </a:path>
                <a:path w="263525" h="78104">
                  <a:moveTo>
                    <a:pt x="0" y="19430"/>
                  </a:moveTo>
                  <a:lnTo>
                    <a:pt x="244094" y="19430"/>
                  </a:lnTo>
                  <a:lnTo>
                    <a:pt x="263525" y="0"/>
                  </a:lnTo>
                </a:path>
                <a:path w="263525" h="78104">
                  <a:moveTo>
                    <a:pt x="244094" y="19430"/>
                  </a:moveTo>
                  <a:lnTo>
                    <a:pt x="244094" y="778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32150" y="3387725"/>
              <a:ext cx="176530" cy="28575"/>
            </a:xfrm>
            <a:custGeom>
              <a:avLst/>
              <a:gdLst/>
              <a:ahLst/>
              <a:cxnLst/>
              <a:rect l="l" t="t" r="r" b="b"/>
              <a:pathLst>
                <a:path w="176529" h="28575">
                  <a:moveTo>
                    <a:pt x="176275" y="0"/>
                  </a:moveTo>
                  <a:lnTo>
                    <a:pt x="44069" y="0"/>
                  </a:lnTo>
                  <a:lnTo>
                    <a:pt x="0" y="28575"/>
                  </a:lnTo>
                  <a:lnTo>
                    <a:pt x="132207" y="28575"/>
                  </a:lnTo>
                  <a:lnTo>
                    <a:pt x="176275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232150" y="3387725"/>
              <a:ext cx="176530" cy="28575"/>
            </a:xfrm>
            <a:custGeom>
              <a:avLst/>
              <a:gdLst/>
              <a:ahLst/>
              <a:cxnLst/>
              <a:rect l="l" t="t" r="r" b="b"/>
              <a:pathLst>
                <a:path w="176529" h="28575">
                  <a:moveTo>
                    <a:pt x="0" y="28575"/>
                  </a:moveTo>
                  <a:lnTo>
                    <a:pt x="44069" y="0"/>
                  </a:lnTo>
                  <a:lnTo>
                    <a:pt x="176275" y="0"/>
                  </a:lnTo>
                  <a:lnTo>
                    <a:pt x="132207" y="28575"/>
                  </a:lnTo>
                  <a:lnTo>
                    <a:pt x="0" y="285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843401" y="3355975"/>
              <a:ext cx="107950" cy="431800"/>
            </a:xfrm>
            <a:custGeom>
              <a:avLst/>
              <a:gdLst/>
              <a:ahLst/>
              <a:cxnLst/>
              <a:rect l="l" t="t" r="r" b="b"/>
              <a:pathLst>
                <a:path w="107950" h="431800">
                  <a:moveTo>
                    <a:pt x="107950" y="0"/>
                  </a:moveTo>
                  <a:lnTo>
                    <a:pt x="0" y="107950"/>
                  </a:lnTo>
                  <a:lnTo>
                    <a:pt x="0" y="431800"/>
                  </a:lnTo>
                  <a:lnTo>
                    <a:pt x="107950" y="3238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517900" y="3355975"/>
              <a:ext cx="433705" cy="107950"/>
            </a:xfrm>
            <a:custGeom>
              <a:avLst/>
              <a:gdLst/>
              <a:ahLst/>
              <a:cxnLst/>
              <a:rect l="l" t="t" r="r" b="b"/>
              <a:pathLst>
                <a:path w="433704" h="107950">
                  <a:moveTo>
                    <a:pt x="433450" y="0"/>
                  </a:moveTo>
                  <a:lnTo>
                    <a:pt x="107950" y="0"/>
                  </a:lnTo>
                  <a:lnTo>
                    <a:pt x="0" y="107950"/>
                  </a:lnTo>
                  <a:lnTo>
                    <a:pt x="325500" y="107950"/>
                  </a:lnTo>
                  <a:lnTo>
                    <a:pt x="43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517900" y="3355975"/>
              <a:ext cx="433705" cy="431800"/>
            </a:xfrm>
            <a:custGeom>
              <a:avLst/>
              <a:gdLst/>
              <a:ahLst/>
              <a:cxnLst/>
              <a:rect l="l" t="t" r="r" b="b"/>
              <a:pathLst>
                <a:path w="433704" h="431800">
                  <a:moveTo>
                    <a:pt x="0" y="107950"/>
                  </a:moveTo>
                  <a:lnTo>
                    <a:pt x="107950" y="0"/>
                  </a:lnTo>
                  <a:lnTo>
                    <a:pt x="433450" y="0"/>
                  </a:lnTo>
                  <a:lnTo>
                    <a:pt x="433450" y="323850"/>
                  </a:lnTo>
                  <a:lnTo>
                    <a:pt x="325500" y="431800"/>
                  </a:lnTo>
                  <a:lnTo>
                    <a:pt x="0" y="431800"/>
                  </a:lnTo>
                  <a:lnTo>
                    <a:pt x="0" y="107950"/>
                  </a:lnTo>
                  <a:close/>
                </a:path>
                <a:path w="433704" h="431800">
                  <a:moveTo>
                    <a:pt x="0" y="107950"/>
                  </a:moveTo>
                  <a:lnTo>
                    <a:pt x="325500" y="107950"/>
                  </a:lnTo>
                  <a:lnTo>
                    <a:pt x="433450" y="0"/>
                  </a:lnTo>
                </a:path>
                <a:path w="433704" h="431800">
                  <a:moveTo>
                    <a:pt x="325500" y="107950"/>
                  </a:moveTo>
                  <a:lnTo>
                    <a:pt x="325500" y="4318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931793" y="3270250"/>
              <a:ext cx="19685" cy="78105"/>
            </a:xfrm>
            <a:custGeom>
              <a:avLst/>
              <a:gdLst/>
              <a:ahLst/>
              <a:cxnLst/>
              <a:rect l="l" t="t" r="r" b="b"/>
              <a:pathLst>
                <a:path w="19685" h="78104">
                  <a:moveTo>
                    <a:pt x="19558" y="0"/>
                  </a:moveTo>
                  <a:lnTo>
                    <a:pt x="0" y="19430"/>
                  </a:lnTo>
                  <a:lnTo>
                    <a:pt x="0" y="77850"/>
                  </a:lnTo>
                  <a:lnTo>
                    <a:pt x="19558" y="58292"/>
                  </a:lnTo>
                  <a:lnTo>
                    <a:pt x="19558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622675" y="3270250"/>
              <a:ext cx="328930" cy="19685"/>
            </a:xfrm>
            <a:custGeom>
              <a:avLst/>
              <a:gdLst/>
              <a:ahLst/>
              <a:cxnLst/>
              <a:rect l="l" t="t" r="r" b="b"/>
              <a:pathLst>
                <a:path w="328929" h="19685">
                  <a:moveTo>
                    <a:pt x="328675" y="0"/>
                  </a:moveTo>
                  <a:lnTo>
                    <a:pt x="19430" y="0"/>
                  </a:lnTo>
                  <a:lnTo>
                    <a:pt x="0" y="19430"/>
                  </a:lnTo>
                  <a:lnTo>
                    <a:pt x="309117" y="19430"/>
                  </a:lnTo>
                  <a:lnTo>
                    <a:pt x="328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622675" y="3270250"/>
              <a:ext cx="328930" cy="78105"/>
            </a:xfrm>
            <a:custGeom>
              <a:avLst/>
              <a:gdLst/>
              <a:ahLst/>
              <a:cxnLst/>
              <a:rect l="l" t="t" r="r" b="b"/>
              <a:pathLst>
                <a:path w="328929" h="78104">
                  <a:moveTo>
                    <a:pt x="0" y="19430"/>
                  </a:moveTo>
                  <a:lnTo>
                    <a:pt x="19430" y="0"/>
                  </a:lnTo>
                  <a:lnTo>
                    <a:pt x="328675" y="0"/>
                  </a:lnTo>
                  <a:lnTo>
                    <a:pt x="328675" y="58292"/>
                  </a:lnTo>
                  <a:lnTo>
                    <a:pt x="309117" y="77850"/>
                  </a:lnTo>
                  <a:lnTo>
                    <a:pt x="0" y="77850"/>
                  </a:lnTo>
                  <a:lnTo>
                    <a:pt x="0" y="19430"/>
                  </a:lnTo>
                  <a:close/>
                </a:path>
                <a:path w="328929" h="78104">
                  <a:moveTo>
                    <a:pt x="0" y="19430"/>
                  </a:moveTo>
                  <a:lnTo>
                    <a:pt x="309117" y="19430"/>
                  </a:lnTo>
                  <a:lnTo>
                    <a:pt x="328675" y="0"/>
                  </a:lnTo>
                </a:path>
                <a:path w="328929" h="78104">
                  <a:moveTo>
                    <a:pt x="309117" y="19430"/>
                  </a:moveTo>
                  <a:lnTo>
                    <a:pt x="309117" y="778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654425" y="3314700"/>
              <a:ext cx="43180" cy="15875"/>
            </a:xfrm>
            <a:custGeom>
              <a:avLst/>
              <a:gdLst/>
              <a:ahLst/>
              <a:cxnLst/>
              <a:rect l="l" t="t" r="r" b="b"/>
              <a:pathLst>
                <a:path w="43179" h="15875">
                  <a:moveTo>
                    <a:pt x="0" y="8000"/>
                  </a:moveTo>
                  <a:lnTo>
                    <a:pt x="0" y="3555"/>
                  </a:lnTo>
                  <a:lnTo>
                    <a:pt x="9651" y="0"/>
                  </a:lnTo>
                  <a:lnTo>
                    <a:pt x="21462" y="0"/>
                  </a:lnTo>
                  <a:lnTo>
                    <a:pt x="33274" y="0"/>
                  </a:lnTo>
                  <a:lnTo>
                    <a:pt x="42925" y="3555"/>
                  </a:lnTo>
                  <a:lnTo>
                    <a:pt x="42925" y="8000"/>
                  </a:lnTo>
                  <a:lnTo>
                    <a:pt x="42925" y="12319"/>
                  </a:lnTo>
                  <a:lnTo>
                    <a:pt x="33274" y="15875"/>
                  </a:lnTo>
                  <a:lnTo>
                    <a:pt x="9651" y="15875"/>
                  </a:lnTo>
                  <a:lnTo>
                    <a:pt x="0" y="12319"/>
                  </a:lnTo>
                  <a:lnTo>
                    <a:pt x="0" y="80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568700" y="3557650"/>
              <a:ext cx="230504" cy="95250"/>
            </a:xfrm>
            <a:custGeom>
              <a:avLst/>
              <a:gdLst/>
              <a:ahLst/>
              <a:cxnLst/>
              <a:rect l="l" t="t" r="r" b="b"/>
              <a:pathLst>
                <a:path w="230504" h="95250">
                  <a:moveTo>
                    <a:pt x="0" y="27812"/>
                  </a:moveTo>
                  <a:lnTo>
                    <a:pt x="27939" y="0"/>
                  </a:lnTo>
                  <a:lnTo>
                    <a:pt x="202311" y="0"/>
                  </a:lnTo>
                  <a:lnTo>
                    <a:pt x="230250" y="27812"/>
                  </a:lnTo>
                  <a:lnTo>
                    <a:pt x="230250" y="67310"/>
                  </a:lnTo>
                  <a:lnTo>
                    <a:pt x="202311" y="95250"/>
                  </a:lnTo>
                  <a:lnTo>
                    <a:pt x="27939" y="95250"/>
                  </a:lnTo>
                  <a:lnTo>
                    <a:pt x="0" y="67310"/>
                  </a:lnTo>
                  <a:lnTo>
                    <a:pt x="0" y="278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4028600" y="3325877"/>
            <a:ext cx="335367" cy="440055"/>
            <a:chOff x="4027551" y="3325876"/>
            <a:chExt cx="335280" cy="440055"/>
          </a:xfrm>
        </p:grpSpPr>
        <p:sp>
          <p:nvSpPr>
            <p:cNvPr id="82" name="object 82"/>
            <p:cNvSpPr/>
            <p:nvPr/>
          </p:nvSpPr>
          <p:spPr>
            <a:xfrm>
              <a:off x="4235450" y="3536950"/>
              <a:ext cx="127000" cy="228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029075" y="3338575"/>
              <a:ext cx="135255" cy="306705"/>
            </a:xfrm>
            <a:custGeom>
              <a:avLst/>
              <a:gdLst/>
              <a:ahLst/>
              <a:cxnLst/>
              <a:rect l="l" t="t" r="r" b="b"/>
              <a:pathLst>
                <a:path w="135254" h="306704">
                  <a:moveTo>
                    <a:pt x="123825" y="292036"/>
                  </a:moveTo>
                  <a:lnTo>
                    <a:pt x="0" y="292036"/>
                  </a:lnTo>
                  <a:lnTo>
                    <a:pt x="0" y="306324"/>
                  </a:lnTo>
                  <a:lnTo>
                    <a:pt x="123825" y="306324"/>
                  </a:lnTo>
                  <a:lnTo>
                    <a:pt x="123825" y="292036"/>
                  </a:lnTo>
                  <a:close/>
                </a:path>
                <a:path w="135254" h="306704">
                  <a:moveTo>
                    <a:pt x="135001" y="21336"/>
                  </a:moveTo>
                  <a:lnTo>
                    <a:pt x="133477" y="13030"/>
                  </a:lnTo>
                  <a:lnTo>
                    <a:pt x="129374" y="6248"/>
                  </a:lnTo>
                  <a:lnTo>
                    <a:pt x="123317" y="1676"/>
                  </a:lnTo>
                  <a:lnTo>
                    <a:pt x="115951" y="0"/>
                  </a:lnTo>
                  <a:lnTo>
                    <a:pt x="108521" y="1676"/>
                  </a:lnTo>
                  <a:lnTo>
                    <a:pt x="102463" y="6248"/>
                  </a:lnTo>
                  <a:lnTo>
                    <a:pt x="98386" y="13030"/>
                  </a:lnTo>
                  <a:lnTo>
                    <a:pt x="96901" y="21336"/>
                  </a:lnTo>
                  <a:lnTo>
                    <a:pt x="98386" y="29679"/>
                  </a:lnTo>
                  <a:lnTo>
                    <a:pt x="102463" y="36499"/>
                  </a:lnTo>
                  <a:lnTo>
                    <a:pt x="108521" y="41109"/>
                  </a:lnTo>
                  <a:lnTo>
                    <a:pt x="115951" y="42799"/>
                  </a:lnTo>
                  <a:lnTo>
                    <a:pt x="123317" y="41109"/>
                  </a:lnTo>
                  <a:lnTo>
                    <a:pt x="129374" y="36499"/>
                  </a:lnTo>
                  <a:lnTo>
                    <a:pt x="133477" y="29679"/>
                  </a:lnTo>
                  <a:lnTo>
                    <a:pt x="135001" y="21336"/>
                  </a:lnTo>
                  <a:close/>
                </a:path>
              </a:pathLst>
            </a:custGeom>
            <a:solidFill>
              <a:srgbClr val="F39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125976" y="3338576"/>
              <a:ext cx="38100" cy="43180"/>
            </a:xfrm>
            <a:custGeom>
              <a:avLst/>
              <a:gdLst/>
              <a:ahLst/>
              <a:cxnLst/>
              <a:rect l="l" t="t" r="r" b="b"/>
              <a:pathLst>
                <a:path w="38100" h="43179">
                  <a:moveTo>
                    <a:pt x="0" y="21336"/>
                  </a:moveTo>
                  <a:lnTo>
                    <a:pt x="1494" y="13019"/>
                  </a:lnTo>
                  <a:lnTo>
                    <a:pt x="5572" y="6238"/>
                  </a:lnTo>
                  <a:lnTo>
                    <a:pt x="11626" y="1672"/>
                  </a:lnTo>
                  <a:lnTo>
                    <a:pt x="19050" y="0"/>
                  </a:lnTo>
                  <a:lnTo>
                    <a:pt x="26419" y="1672"/>
                  </a:lnTo>
                  <a:lnTo>
                    <a:pt x="32480" y="6238"/>
                  </a:lnTo>
                  <a:lnTo>
                    <a:pt x="36587" y="13019"/>
                  </a:lnTo>
                  <a:lnTo>
                    <a:pt x="38100" y="21336"/>
                  </a:lnTo>
                  <a:lnTo>
                    <a:pt x="36587" y="29672"/>
                  </a:lnTo>
                  <a:lnTo>
                    <a:pt x="32480" y="36496"/>
                  </a:lnTo>
                  <a:lnTo>
                    <a:pt x="26419" y="41106"/>
                  </a:lnTo>
                  <a:lnTo>
                    <a:pt x="19050" y="42799"/>
                  </a:lnTo>
                  <a:lnTo>
                    <a:pt x="11626" y="41106"/>
                  </a:lnTo>
                  <a:lnTo>
                    <a:pt x="5572" y="36496"/>
                  </a:lnTo>
                  <a:lnTo>
                    <a:pt x="1494" y="29672"/>
                  </a:lnTo>
                  <a:lnTo>
                    <a:pt x="0" y="2133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027551" y="3411601"/>
              <a:ext cx="227329" cy="354330"/>
            </a:xfrm>
            <a:custGeom>
              <a:avLst/>
              <a:gdLst/>
              <a:ahLst/>
              <a:cxnLst/>
              <a:rect l="l" t="t" r="r" b="b"/>
              <a:pathLst>
                <a:path w="227329" h="354329">
                  <a:moveTo>
                    <a:pt x="101600" y="0"/>
                  </a:moveTo>
                  <a:lnTo>
                    <a:pt x="92075" y="0"/>
                  </a:lnTo>
                  <a:lnTo>
                    <a:pt x="88900" y="1524"/>
                  </a:lnTo>
                  <a:lnTo>
                    <a:pt x="85725" y="1524"/>
                  </a:lnTo>
                  <a:lnTo>
                    <a:pt x="61849" y="26924"/>
                  </a:lnTo>
                  <a:lnTo>
                    <a:pt x="1524" y="163449"/>
                  </a:lnTo>
                  <a:lnTo>
                    <a:pt x="1524" y="168275"/>
                  </a:lnTo>
                  <a:lnTo>
                    <a:pt x="0" y="169799"/>
                  </a:lnTo>
                  <a:lnTo>
                    <a:pt x="0" y="179324"/>
                  </a:lnTo>
                  <a:lnTo>
                    <a:pt x="1524" y="182499"/>
                  </a:lnTo>
                  <a:lnTo>
                    <a:pt x="1524" y="185674"/>
                  </a:lnTo>
                  <a:lnTo>
                    <a:pt x="3175" y="187325"/>
                  </a:lnTo>
                  <a:lnTo>
                    <a:pt x="6350" y="193675"/>
                  </a:lnTo>
                  <a:lnTo>
                    <a:pt x="12700" y="196850"/>
                  </a:lnTo>
                  <a:lnTo>
                    <a:pt x="14224" y="198374"/>
                  </a:lnTo>
                  <a:lnTo>
                    <a:pt x="15875" y="198374"/>
                  </a:lnTo>
                  <a:lnTo>
                    <a:pt x="17399" y="200025"/>
                  </a:lnTo>
                  <a:lnTo>
                    <a:pt x="147574" y="200025"/>
                  </a:lnTo>
                  <a:lnTo>
                    <a:pt x="147574" y="353949"/>
                  </a:lnTo>
                  <a:lnTo>
                    <a:pt x="187325" y="353949"/>
                  </a:lnTo>
                  <a:lnTo>
                    <a:pt x="187325" y="168275"/>
                  </a:lnTo>
                  <a:lnTo>
                    <a:pt x="185674" y="166624"/>
                  </a:lnTo>
                  <a:lnTo>
                    <a:pt x="185674" y="163449"/>
                  </a:lnTo>
                  <a:lnTo>
                    <a:pt x="184150" y="163449"/>
                  </a:lnTo>
                  <a:lnTo>
                    <a:pt x="184150" y="161925"/>
                  </a:lnTo>
                  <a:lnTo>
                    <a:pt x="180975" y="160274"/>
                  </a:lnTo>
                  <a:lnTo>
                    <a:pt x="180975" y="158750"/>
                  </a:lnTo>
                  <a:lnTo>
                    <a:pt x="177800" y="157099"/>
                  </a:lnTo>
                  <a:lnTo>
                    <a:pt x="176149" y="157099"/>
                  </a:lnTo>
                  <a:lnTo>
                    <a:pt x="174625" y="155575"/>
                  </a:lnTo>
                  <a:lnTo>
                    <a:pt x="172974" y="155575"/>
                  </a:lnTo>
                  <a:lnTo>
                    <a:pt x="169799" y="153924"/>
                  </a:lnTo>
                  <a:lnTo>
                    <a:pt x="161925" y="153924"/>
                  </a:lnTo>
                  <a:lnTo>
                    <a:pt x="88900" y="150749"/>
                  </a:lnTo>
                  <a:lnTo>
                    <a:pt x="109474" y="90424"/>
                  </a:lnTo>
                  <a:lnTo>
                    <a:pt x="123825" y="111125"/>
                  </a:lnTo>
                  <a:lnTo>
                    <a:pt x="214249" y="111125"/>
                  </a:lnTo>
                  <a:lnTo>
                    <a:pt x="220599" y="107950"/>
                  </a:lnTo>
                  <a:lnTo>
                    <a:pt x="222250" y="106299"/>
                  </a:lnTo>
                  <a:lnTo>
                    <a:pt x="222250" y="104775"/>
                  </a:lnTo>
                  <a:lnTo>
                    <a:pt x="225425" y="103124"/>
                  </a:lnTo>
                  <a:lnTo>
                    <a:pt x="225425" y="98425"/>
                  </a:lnTo>
                  <a:lnTo>
                    <a:pt x="226949" y="96774"/>
                  </a:lnTo>
                  <a:lnTo>
                    <a:pt x="226949" y="90424"/>
                  </a:lnTo>
                  <a:lnTo>
                    <a:pt x="225425" y="88900"/>
                  </a:lnTo>
                  <a:lnTo>
                    <a:pt x="225425" y="87249"/>
                  </a:lnTo>
                  <a:lnTo>
                    <a:pt x="223774" y="84074"/>
                  </a:lnTo>
                  <a:lnTo>
                    <a:pt x="217424" y="77724"/>
                  </a:lnTo>
                  <a:lnTo>
                    <a:pt x="144399" y="77724"/>
                  </a:lnTo>
                  <a:lnTo>
                    <a:pt x="130175" y="52324"/>
                  </a:lnTo>
                  <a:lnTo>
                    <a:pt x="131699" y="50800"/>
                  </a:lnTo>
                  <a:lnTo>
                    <a:pt x="133350" y="47625"/>
                  </a:lnTo>
                  <a:lnTo>
                    <a:pt x="133350" y="25400"/>
                  </a:lnTo>
                  <a:lnTo>
                    <a:pt x="131699" y="22225"/>
                  </a:lnTo>
                  <a:lnTo>
                    <a:pt x="130175" y="20574"/>
                  </a:lnTo>
                  <a:lnTo>
                    <a:pt x="130175" y="17399"/>
                  </a:lnTo>
                  <a:lnTo>
                    <a:pt x="127000" y="15875"/>
                  </a:lnTo>
                  <a:lnTo>
                    <a:pt x="125349" y="12700"/>
                  </a:lnTo>
                  <a:lnTo>
                    <a:pt x="118999" y="6350"/>
                  </a:lnTo>
                  <a:lnTo>
                    <a:pt x="109474" y="1524"/>
                  </a:lnTo>
                  <a:lnTo>
                    <a:pt x="104775" y="1524"/>
                  </a:lnTo>
                  <a:lnTo>
                    <a:pt x="101600" y="0"/>
                  </a:lnTo>
                  <a:close/>
                </a:path>
              </a:pathLst>
            </a:custGeom>
            <a:solidFill>
              <a:srgbClr val="F39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" name="object 86"/>
          <p:cNvGrpSpPr/>
          <p:nvPr/>
        </p:nvGrpSpPr>
        <p:grpSpPr>
          <a:xfrm>
            <a:off x="4442982" y="3273425"/>
            <a:ext cx="355693" cy="513080"/>
            <a:chOff x="4441825" y="3273425"/>
            <a:chExt cx="355600" cy="513080"/>
          </a:xfrm>
        </p:grpSpPr>
        <p:sp>
          <p:nvSpPr>
            <p:cNvPr id="87" name="object 87"/>
            <p:cNvSpPr/>
            <p:nvPr/>
          </p:nvSpPr>
          <p:spPr>
            <a:xfrm>
              <a:off x="4454525" y="3286125"/>
              <a:ext cx="330200" cy="487680"/>
            </a:xfrm>
            <a:custGeom>
              <a:avLst/>
              <a:gdLst/>
              <a:ahLst/>
              <a:cxnLst/>
              <a:rect l="l" t="t" r="r" b="b"/>
              <a:pathLst>
                <a:path w="330200" h="487679">
                  <a:moveTo>
                    <a:pt x="160400" y="0"/>
                  </a:moveTo>
                  <a:lnTo>
                    <a:pt x="149225" y="4699"/>
                  </a:lnTo>
                  <a:lnTo>
                    <a:pt x="142875" y="11049"/>
                  </a:lnTo>
                  <a:lnTo>
                    <a:pt x="136525" y="30099"/>
                  </a:lnTo>
                  <a:lnTo>
                    <a:pt x="139700" y="38100"/>
                  </a:lnTo>
                  <a:lnTo>
                    <a:pt x="142875" y="50800"/>
                  </a:lnTo>
                  <a:lnTo>
                    <a:pt x="146050" y="58674"/>
                  </a:lnTo>
                  <a:lnTo>
                    <a:pt x="147574" y="66675"/>
                  </a:lnTo>
                  <a:lnTo>
                    <a:pt x="146050" y="77724"/>
                  </a:lnTo>
                  <a:lnTo>
                    <a:pt x="139700" y="85725"/>
                  </a:lnTo>
                  <a:lnTo>
                    <a:pt x="128524" y="95250"/>
                  </a:lnTo>
                  <a:lnTo>
                    <a:pt x="115824" y="101600"/>
                  </a:lnTo>
                  <a:lnTo>
                    <a:pt x="107950" y="106299"/>
                  </a:lnTo>
                  <a:lnTo>
                    <a:pt x="92075" y="125349"/>
                  </a:lnTo>
                  <a:lnTo>
                    <a:pt x="82550" y="144399"/>
                  </a:lnTo>
                  <a:lnTo>
                    <a:pt x="76200" y="166624"/>
                  </a:lnTo>
                  <a:lnTo>
                    <a:pt x="69850" y="182499"/>
                  </a:lnTo>
                  <a:lnTo>
                    <a:pt x="68199" y="203200"/>
                  </a:lnTo>
                  <a:lnTo>
                    <a:pt x="66675" y="228600"/>
                  </a:lnTo>
                  <a:lnTo>
                    <a:pt x="66675" y="255524"/>
                  </a:lnTo>
                  <a:lnTo>
                    <a:pt x="68199" y="265049"/>
                  </a:lnTo>
                  <a:lnTo>
                    <a:pt x="73025" y="268224"/>
                  </a:lnTo>
                  <a:lnTo>
                    <a:pt x="80899" y="271399"/>
                  </a:lnTo>
                  <a:lnTo>
                    <a:pt x="85725" y="268224"/>
                  </a:lnTo>
                  <a:lnTo>
                    <a:pt x="87249" y="265049"/>
                  </a:lnTo>
                  <a:lnTo>
                    <a:pt x="87249" y="222250"/>
                  </a:lnTo>
                  <a:lnTo>
                    <a:pt x="88900" y="206375"/>
                  </a:lnTo>
                  <a:lnTo>
                    <a:pt x="92075" y="195199"/>
                  </a:lnTo>
                  <a:lnTo>
                    <a:pt x="96774" y="184150"/>
                  </a:lnTo>
                  <a:lnTo>
                    <a:pt x="106299" y="182499"/>
                  </a:lnTo>
                  <a:lnTo>
                    <a:pt x="114300" y="184150"/>
                  </a:lnTo>
                  <a:lnTo>
                    <a:pt x="115824" y="190500"/>
                  </a:lnTo>
                  <a:lnTo>
                    <a:pt x="114300" y="209550"/>
                  </a:lnTo>
                  <a:lnTo>
                    <a:pt x="112649" y="234950"/>
                  </a:lnTo>
                  <a:lnTo>
                    <a:pt x="107950" y="258699"/>
                  </a:lnTo>
                  <a:lnTo>
                    <a:pt x="101600" y="279400"/>
                  </a:lnTo>
                  <a:lnTo>
                    <a:pt x="95250" y="306324"/>
                  </a:lnTo>
                  <a:lnTo>
                    <a:pt x="87249" y="330200"/>
                  </a:lnTo>
                  <a:lnTo>
                    <a:pt x="68199" y="358775"/>
                  </a:lnTo>
                  <a:lnTo>
                    <a:pt x="53975" y="377825"/>
                  </a:lnTo>
                  <a:lnTo>
                    <a:pt x="28575" y="407924"/>
                  </a:lnTo>
                  <a:lnTo>
                    <a:pt x="12700" y="428625"/>
                  </a:lnTo>
                  <a:lnTo>
                    <a:pt x="0" y="447675"/>
                  </a:lnTo>
                  <a:lnTo>
                    <a:pt x="0" y="455549"/>
                  </a:lnTo>
                  <a:lnTo>
                    <a:pt x="12700" y="469900"/>
                  </a:lnTo>
                  <a:lnTo>
                    <a:pt x="31750" y="487299"/>
                  </a:lnTo>
                  <a:lnTo>
                    <a:pt x="49149" y="487299"/>
                  </a:lnTo>
                  <a:lnTo>
                    <a:pt x="53975" y="482600"/>
                  </a:lnTo>
                  <a:lnTo>
                    <a:pt x="45974" y="473075"/>
                  </a:lnTo>
                  <a:lnTo>
                    <a:pt x="38100" y="461899"/>
                  </a:lnTo>
                  <a:lnTo>
                    <a:pt x="38100" y="454025"/>
                  </a:lnTo>
                  <a:lnTo>
                    <a:pt x="49149" y="434975"/>
                  </a:lnTo>
                  <a:lnTo>
                    <a:pt x="69850" y="414274"/>
                  </a:lnTo>
                  <a:lnTo>
                    <a:pt x="101600" y="374650"/>
                  </a:lnTo>
                  <a:lnTo>
                    <a:pt x="128524" y="339725"/>
                  </a:lnTo>
                  <a:lnTo>
                    <a:pt x="139700" y="330200"/>
                  </a:lnTo>
                  <a:lnTo>
                    <a:pt x="146050" y="320675"/>
                  </a:lnTo>
                  <a:lnTo>
                    <a:pt x="234950" y="407924"/>
                  </a:lnTo>
                  <a:lnTo>
                    <a:pt x="262000" y="447675"/>
                  </a:lnTo>
                  <a:lnTo>
                    <a:pt x="277875" y="469900"/>
                  </a:lnTo>
                  <a:lnTo>
                    <a:pt x="284225" y="474599"/>
                  </a:lnTo>
                  <a:lnTo>
                    <a:pt x="295275" y="474599"/>
                  </a:lnTo>
                  <a:lnTo>
                    <a:pt x="304800" y="466725"/>
                  </a:lnTo>
                  <a:lnTo>
                    <a:pt x="317500" y="457200"/>
                  </a:lnTo>
                  <a:lnTo>
                    <a:pt x="328675" y="449199"/>
                  </a:lnTo>
                  <a:lnTo>
                    <a:pt x="330200" y="441325"/>
                  </a:lnTo>
                  <a:lnTo>
                    <a:pt x="317500" y="442849"/>
                  </a:lnTo>
                  <a:lnTo>
                    <a:pt x="304800" y="441325"/>
                  </a:lnTo>
                  <a:lnTo>
                    <a:pt x="222250" y="319024"/>
                  </a:lnTo>
                  <a:lnTo>
                    <a:pt x="201675" y="284099"/>
                  </a:lnTo>
                  <a:lnTo>
                    <a:pt x="184150" y="238125"/>
                  </a:lnTo>
                  <a:lnTo>
                    <a:pt x="184150" y="219075"/>
                  </a:lnTo>
                  <a:lnTo>
                    <a:pt x="188975" y="206375"/>
                  </a:lnTo>
                  <a:lnTo>
                    <a:pt x="196850" y="200025"/>
                  </a:lnTo>
                  <a:lnTo>
                    <a:pt x="203200" y="200025"/>
                  </a:lnTo>
                  <a:lnTo>
                    <a:pt x="211200" y="203200"/>
                  </a:lnTo>
                  <a:lnTo>
                    <a:pt x="227075" y="215900"/>
                  </a:lnTo>
                  <a:lnTo>
                    <a:pt x="244475" y="228600"/>
                  </a:lnTo>
                  <a:lnTo>
                    <a:pt x="257175" y="234950"/>
                  </a:lnTo>
                  <a:lnTo>
                    <a:pt x="265175" y="238125"/>
                  </a:lnTo>
                  <a:lnTo>
                    <a:pt x="271525" y="234950"/>
                  </a:lnTo>
                  <a:lnTo>
                    <a:pt x="276225" y="228600"/>
                  </a:lnTo>
                  <a:lnTo>
                    <a:pt x="271525" y="219075"/>
                  </a:lnTo>
                  <a:lnTo>
                    <a:pt x="260350" y="206375"/>
                  </a:lnTo>
                  <a:lnTo>
                    <a:pt x="236600" y="190500"/>
                  </a:lnTo>
                  <a:lnTo>
                    <a:pt x="223900" y="180975"/>
                  </a:lnTo>
                  <a:lnTo>
                    <a:pt x="215900" y="166624"/>
                  </a:lnTo>
                  <a:lnTo>
                    <a:pt x="209550" y="144399"/>
                  </a:lnTo>
                  <a:lnTo>
                    <a:pt x="208025" y="123825"/>
                  </a:lnTo>
                  <a:lnTo>
                    <a:pt x="196850" y="104775"/>
                  </a:lnTo>
                  <a:lnTo>
                    <a:pt x="180975" y="88900"/>
                  </a:lnTo>
                  <a:lnTo>
                    <a:pt x="180975" y="79375"/>
                  </a:lnTo>
                  <a:lnTo>
                    <a:pt x="184150" y="66675"/>
                  </a:lnTo>
                  <a:lnTo>
                    <a:pt x="188975" y="60325"/>
                  </a:lnTo>
                  <a:lnTo>
                    <a:pt x="193675" y="52324"/>
                  </a:lnTo>
                  <a:lnTo>
                    <a:pt x="196850" y="39624"/>
                  </a:lnTo>
                  <a:lnTo>
                    <a:pt x="193675" y="25400"/>
                  </a:lnTo>
                  <a:lnTo>
                    <a:pt x="190500" y="14224"/>
                  </a:lnTo>
                  <a:lnTo>
                    <a:pt x="184150" y="6350"/>
                  </a:lnTo>
                  <a:lnTo>
                    <a:pt x="174625" y="1524"/>
                  </a:lnTo>
                  <a:lnTo>
                    <a:pt x="16040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454525" y="3286125"/>
              <a:ext cx="330200" cy="487680"/>
            </a:xfrm>
            <a:custGeom>
              <a:avLst/>
              <a:gdLst/>
              <a:ahLst/>
              <a:cxnLst/>
              <a:rect l="l" t="t" r="r" b="b"/>
              <a:pathLst>
                <a:path w="330200" h="487679">
                  <a:moveTo>
                    <a:pt x="328675" y="449199"/>
                  </a:moveTo>
                  <a:lnTo>
                    <a:pt x="330200" y="441325"/>
                  </a:lnTo>
                  <a:lnTo>
                    <a:pt x="317500" y="442849"/>
                  </a:lnTo>
                  <a:lnTo>
                    <a:pt x="304800" y="441325"/>
                  </a:lnTo>
                  <a:lnTo>
                    <a:pt x="288925" y="428625"/>
                  </a:lnTo>
                  <a:lnTo>
                    <a:pt x="262000" y="384175"/>
                  </a:lnTo>
                  <a:lnTo>
                    <a:pt x="222250" y="319024"/>
                  </a:lnTo>
                  <a:lnTo>
                    <a:pt x="201675" y="284099"/>
                  </a:lnTo>
                  <a:lnTo>
                    <a:pt x="187325" y="254000"/>
                  </a:lnTo>
                  <a:lnTo>
                    <a:pt x="184150" y="238125"/>
                  </a:lnTo>
                  <a:lnTo>
                    <a:pt x="184150" y="219075"/>
                  </a:lnTo>
                  <a:lnTo>
                    <a:pt x="188975" y="206375"/>
                  </a:lnTo>
                  <a:lnTo>
                    <a:pt x="196850" y="200025"/>
                  </a:lnTo>
                  <a:lnTo>
                    <a:pt x="203200" y="200025"/>
                  </a:lnTo>
                  <a:lnTo>
                    <a:pt x="211200" y="203200"/>
                  </a:lnTo>
                  <a:lnTo>
                    <a:pt x="227075" y="215900"/>
                  </a:lnTo>
                  <a:lnTo>
                    <a:pt x="244475" y="228600"/>
                  </a:lnTo>
                  <a:lnTo>
                    <a:pt x="257175" y="234950"/>
                  </a:lnTo>
                  <a:lnTo>
                    <a:pt x="265175" y="238125"/>
                  </a:lnTo>
                  <a:lnTo>
                    <a:pt x="271525" y="234950"/>
                  </a:lnTo>
                  <a:lnTo>
                    <a:pt x="276225" y="228600"/>
                  </a:lnTo>
                  <a:lnTo>
                    <a:pt x="274700" y="225425"/>
                  </a:lnTo>
                  <a:lnTo>
                    <a:pt x="271525" y="219075"/>
                  </a:lnTo>
                  <a:lnTo>
                    <a:pt x="260350" y="206375"/>
                  </a:lnTo>
                  <a:lnTo>
                    <a:pt x="236600" y="190500"/>
                  </a:lnTo>
                  <a:lnTo>
                    <a:pt x="223900" y="180975"/>
                  </a:lnTo>
                  <a:lnTo>
                    <a:pt x="215900" y="166624"/>
                  </a:lnTo>
                  <a:lnTo>
                    <a:pt x="209550" y="144399"/>
                  </a:lnTo>
                  <a:lnTo>
                    <a:pt x="208025" y="123825"/>
                  </a:lnTo>
                  <a:lnTo>
                    <a:pt x="203200" y="115824"/>
                  </a:lnTo>
                  <a:lnTo>
                    <a:pt x="196850" y="104775"/>
                  </a:lnTo>
                  <a:lnTo>
                    <a:pt x="187325" y="95250"/>
                  </a:lnTo>
                  <a:lnTo>
                    <a:pt x="180975" y="88900"/>
                  </a:lnTo>
                  <a:lnTo>
                    <a:pt x="180975" y="79375"/>
                  </a:lnTo>
                  <a:lnTo>
                    <a:pt x="184150" y="66675"/>
                  </a:lnTo>
                  <a:lnTo>
                    <a:pt x="188975" y="60325"/>
                  </a:lnTo>
                  <a:lnTo>
                    <a:pt x="193675" y="52324"/>
                  </a:lnTo>
                  <a:lnTo>
                    <a:pt x="196850" y="39624"/>
                  </a:lnTo>
                  <a:lnTo>
                    <a:pt x="193675" y="25400"/>
                  </a:lnTo>
                  <a:lnTo>
                    <a:pt x="190500" y="14224"/>
                  </a:lnTo>
                  <a:lnTo>
                    <a:pt x="184150" y="6350"/>
                  </a:lnTo>
                  <a:lnTo>
                    <a:pt x="174625" y="1524"/>
                  </a:lnTo>
                  <a:lnTo>
                    <a:pt x="160400" y="0"/>
                  </a:lnTo>
                  <a:lnTo>
                    <a:pt x="149225" y="4699"/>
                  </a:lnTo>
                  <a:lnTo>
                    <a:pt x="142875" y="11049"/>
                  </a:lnTo>
                  <a:lnTo>
                    <a:pt x="139700" y="20574"/>
                  </a:lnTo>
                  <a:lnTo>
                    <a:pt x="136525" y="30099"/>
                  </a:lnTo>
                  <a:lnTo>
                    <a:pt x="139700" y="38100"/>
                  </a:lnTo>
                  <a:lnTo>
                    <a:pt x="142875" y="50800"/>
                  </a:lnTo>
                  <a:lnTo>
                    <a:pt x="146050" y="58674"/>
                  </a:lnTo>
                  <a:lnTo>
                    <a:pt x="147574" y="66675"/>
                  </a:lnTo>
                  <a:lnTo>
                    <a:pt x="146050" y="77724"/>
                  </a:lnTo>
                  <a:lnTo>
                    <a:pt x="139700" y="85725"/>
                  </a:lnTo>
                  <a:lnTo>
                    <a:pt x="128524" y="95250"/>
                  </a:lnTo>
                  <a:lnTo>
                    <a:pt x="115824" y="101600"/>
                  </a:lnTo>
                  <a:lnTo>
                    <a:pt x="107950" y="106299"/>
                  </a:lnTo>
                  <a:lnTo>
                    <a:pt x="99949" y="115824"/>
                  </a:lnTo>
                  <a:lnTo>
                    <a:pt x="92075" y="125349"/>
                  </a:lnTo>
                  <a:lnTo>
                    <a:pt x="82550" y="144399"/>
                  </a:lnTo>
                  <a:lnTo>
                    <a:pt x="76200" y="166624"/>
                  </a:lnTo>
                  <a:lnTo>
                    <a:pt x="69850" y="182499"/>
                  </a:lnTo>
                  <a:lnTo>
                    <a:pt x="68199" y="203200"/>
                  </a:lnTo>
                  <a:lnTo>
                    <a:pt x="66675" y="228600"/>
                  </a:lnTo>
                  <a:lnTo>
                    <a:pt x="66675" y="244475"/>
                  </a:lnTo>
                  <a:lnTo>
                    <a:pt x="66675" y="255524"/>
                  </a:lnTo>
                  <a:lnTo>
                    <a:pt x="68199" y="265049"/>
                  </a:lnTo>
                  <a:lnTo>
                    <a:pt x="73025" y="268224"/>
                  </a:lnTo>
                  <a:lnTo>
                    <a:pt x="80899" y="271399"/>
                  </a:lnTo>
                  <a:lnTo>
                    <a:pt x="85725" y="268224"/>
                  </a:lnTo>
                  <a:lnTo>
                    <a:pt x="87249" y="265049"/>
                  </a:lnTo>
                  <a:lnTo>
                    <a:pt x="87249" y="247650"/>
                  </a:lnTo>
                  <a:lnTo>
                    <a:pt x="87249" y="222250"/>
                  </a:lnTo>
                  <a:lnTo>
                    <a:pt x="88900" y="206375"/>
                  </a:lnTo>
                  <a:lnTo>
                    <a:pt x="92075" y="195199"/>
                  </a:lnTo>
                  <a:lnTo>
                    <a:pt x="96774" y="184150"/>
                  </a:lnTo>
                  <a:lnTo>
                    <a:pt x="106299" y="182499"/>
                  </a:lnTo>
                  <a:lnTo>
                    <a:pt x="114300" y="184150"/>
                  </a:lnTo>
                  <a:lnTo>
                    <a:pt x="115824" y="190500"/>
                  </a:lnTo>
                  <a:lnTo>
                    <a:pt x="114300" y="209550"/>
                  </a:lnTo>
                  <a:lnTo>
                    <a:pt x="112649" y="234950"/>
                  </a:lnTo>
                  <a:lnTo>
                    <a:pt x="107950" y="258699"/>
                  </a:lnTo>
                  <a:lnTo>
                    <a:pt x="101600" y="279400"/>
                  </a:lnTo>
                  <a:lnTo>
                    <a:pt x="95250" y="306324"/>
                  </a:lnTo>
                  <a:lnTo>
                    <a:pt x="87249" y="330200"/>
                  </a:lnTo>
                  <a:lnTo>
                    <a:pt x="68199" y="358775"/>
                  </a:lnTo>
                  <a:lnTo>
                    <a:pt x="53975" y="377825"/>
                  </a:lnTo>
                  <a:lnTo>
                    <a:pt x="28575" y="407924"/>
                  </a:lnTo>
                  <a:lnTo>
                    <a:pt x="12700" y="428625"/>
                  </a:lnTo>
                  <a:lnTo>
                    <a:pt x="0" y="447675"/>
                  </a:lnTo>
                  <a:lnTo>
                    <a:pt x="0" y="455549"/>
                  </a:lnTo>
                  <a:lnTo>
                    <a:pt x="12700" y="469900"/>
                  </a:lnTo>
                  <a:lnTo>
                    <a:pt x="31750" y="487299"/>
                  </a:lnTo>
                  <a:lnTo>
                    <a:pt x="49149" y="487299"/>
                  </a:lnTo>
                  <a:lnTo>
                    <a:pt x="53975" y="482600"/>
                  </a:lnTo>
                  <a:lnTo>
                    <a:pt x="45974" y="473075"/>
                  </a:lnTo>
                  <a:lnTo>
                    <a:pt x="38100" y="461899"/>
                  </a:lnTo>
                  <a:lnTo>
                    <a:pt x="38100" y="454025"/>
                  </a:lnTo>
                  <a:lnTo>
                    <a:pt x="49149" y="434975"/>
                  </a:lnTo>
                  <a:lnTo>
                    <a:pt x="69850" y="414274"/>
                  </a:lnTo>
                  <a:lnTo>
                    <a:pt x="101600" y="374650"/>
                  </a:lnTo>
                  <a:lnTo>
                    <a:pt x="128524" y="339725"/>
                  </a:lnTo>
                  <a:lnTo>
                    <a:pt x="139700" y="330200"/>
                  </a:lnTo>
                  <a:lnTo>
                    <a:pt x="146050" y="320675"/>
                  </a:lnTo>
                  <a:lnTo>
                    <a:pt x="206375" y="368300"/>
                  </a:lnTo>
                  <a:lnTo>
                    <a:pt x="234950" y="407924"/>
                  </a:lnTo>
                  <a:lnTo>
                    <a:pt x="262000" y="447675"/>
                  </a:lnTo>
                  <a:lnTo>
                    <a:pt x="277875" y="469900"/>
                  </a:lnTo>
                  <a:lnTo>
                    <a:pt x="284225" y="474599"/>
                  </a:lnTo>
                  <a:lnTo>
                    <a:pt x="295275" y="474599"/>
                  </a:lnTo>
                  <a:lnTo>
                    <a:pt x="304800" y="466725"/>
                  </a:lnTo>
                  <a:lnTo>
                    <a:pt x="317500" y="457200"/>
                  </a:lnTo>
                  <a:lnTo>
                    <a:pt x="328675" y="449199"/>
                  </a:lnTo>
                </a:path>
              </a:pathLst>
            </a:custGeom>
            <a:ln w="25400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9" name="object 89"/>
          <p:cNvGrpSpPr/>
          <p:nvPr/>
        </p:nvGrpSpPr>
        <p:grpSpPr>
          <a:xfrm>
            <a:off x="685979" y="3927476"/>
            <a:ext cx="414763" cy="376555"/>
            <a:chOff x="685800" y="3927475"/>
            <a:chExt cx="414655" cy="376555"/>
          </a:xfrm>
        </p:grpSpPr>
        <p:sp>
          <p:nvSpPr>
            <p:cNvPr id="90" name="object 90"/>
            <p:cNvSpPr/>
            <p:nvPr/>
          </p:nvSpPr>
          <p:spPr>
            <a:xfrm>
              <a:off x="698500" y="3940175"/>
              <a:ext cx="389255" cy="351155"/>
            </a:xfrm>
            <a:custGeom>
              <a:avLst/>
              <a:gdLst/>
              <a:ahLst/>
              <a:cxnLst/>
              <a:rect l="l" t="t" r="r" b="b"/>
              <a:pathLst>
                <a:path w="389255" h="351154">
                  <a:moveTo>
                    <a:pt x="361950" y="0"/>
                  </a:moveTo>
                  <a:lnTo>
                    <a:pt x="265112" y="17525"/>
                  </a:lnTo>
                  <a:lnTo>
                    <a:pt x="265112" y="0"/>
                  </a:lnTo>
                  <a:lnTo>
                    <a:pt x="185737" y="0"/>
                  </a:lnTo>
                  <a:lnTo>
                    <a:pt x="185737" y="19050"/>
                  </a:lnTo>
                  <a:lnTo>
                    <a:pt x="109537" y="0"/>
                  </a:lnTo>
                  <a:lnTo>
                    <a:pt x="109537" y="17525"/>
                  </a:lnTo>
                  <a:lnTo>
                    <a:pt x="47625" y="4825"/>
                  </a:lnTo>
                  <a:lnTo>
                    <a:pt x="136525" y="98425"/>
                  </a:lnTo>
                  <a:lnTo>
                    <a:pt x="120650" y="103250"/>
                  </a:lnTo>
                  <a:lnTo>
                    <a:pt x="74612" y="117475"/>
                  </a:lnTo>
                  <a:lnTo>
                    <a:pt x="41275" y="141350"/>
                  </a:lnTo>
                  <a:lnTo>
                    <a:pt x="7937" y="185800"/>
                  </a:lnTo>
                  <a:lnTo>
                    <a:pt x="1587" y="219075"/>
                  </a:lnTo>
                  <a:lnTo>
                    <a:pt x="0" y="228600"/>
                  </a:lnTo>
                  <a:lnTo>
                    <a:pt x="15875" y="276225"/>
                  </a:lnTo>
                  <a:lnTo>
                    <a:pt x="49212" y="312800"/>
                  </a:lnTo>
                  <a:lnTo>
                    <a:pt x="87312" y="333375"/>
                  </a:lnTo>
                  <a:lnTo>
                    <a:pt x="106362" y="342900"/>
                  </a:lnTo>
                  <a:lnTo>
                    <a:pt x="128587" y="347725"/>
                  </a:lnTo>
                  <a:lnTo>
                    <a:pt x="144462" y="349250"/>
                  </a:lnTo>
                  <a:lnTo>
                    <a:pt x="157162" y="350900"/>
                  </a:lnTo>
                  <a:lnTo>
                    <a:pt x="223837" y="350900"/>
                  </a:lnTo>
                  <a:lnTo>
                    <a:pt x="238125" y="349250"/>
                  </a:lnTo>
                  <a:lnTo>
                    <a:pt x="255587" y="347725"/>
                  </a:lnTo>
                  <a:lnTo>
                    <a:pt x="304800" y="333375"/>
                  </a:lnTo>
                  <a:lnTo>
                    <a:pt x="346075" y="307975"/>
                  </a:lnTo>
                  <a:lnTo>
                    <a:pt x="376237" y="271525"/>
                  </a:lnTo>
                  <a:lnTo>
                    <a:pt x="388937" y="223900"/>
                  </a:lnTo>
                  <a:lnTo>
                    <a:pt x="387350" y="208025"/>
                  </a:lnTo>
                  <a:lnTo>
                    <a:pt x="374650" y="171450"/>
                  </a:lnTo>
                  <a:lnTo>
                    <a:pt x="349250" y="141350"/>
                  </a:lnTo>
                  <a:lnTo>
                    <a:pt x="296862" y="111125"/>
                  </a:lnTo>
                  <a:lnTo>
                    <a:pt x="268287" y="103250"/>
                  </a:lnTo>
                  <a:lnTo>
                    <a:pt x="255587" y="100075"/>
                  </a:lnTo>
                  <a:lnTo>
                    <a:pt x="242887" y="98425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98500" y="3940175"/>
              <a:ext cx="389255" cy="351155"/>
            </a:xfrm>
            <a:custGeom>
              <a:avLst/>
              <a:gdLst/>
              <a:ahLst/>
              <a:cxnLst/>
              <a:rect l="l" t="t" r="r" b="b"/>
              <a:pathLst>
                <a:path w="389255" h="351154">
                  <a:moveTo>
                    <a:pt x="47625" y="4825"/>
                  </a:moveTo>
                  <a:lnTo>
                    <a:pt x="109537" y="17525"/>
                  </a:lnTo>
                  <a:lnTo>
                    <a:pt x="109537" y="0"/>
                  </a:lnTo>
                  <a:lnTo>
                    <a:pt x="185737" y="19050"/>
                  </a:lnTo>
                  <a:lnTo>
                    <a:pt x="185737" y="0"/>
                  </a:lnTo>
                  <a:lnTo>
                    <a:pt x="265112" y="0"/>
                  </a:lnTo>
                  <a:lnTo>
                    <a:pt x="265112" y="17525"/>
                  </a:lnTo>
                  <a:lnTo>
                    <a:pt x="361950" y="0"/>
                  </a:lnTo>
                  <a:lnTo>
                    <a:pt x="242887" y="98425"/>
                  </a:lnTo>
                  <a:lnTo>
                    <a:pt x="255587" y="100075"/>
                  </a:lnTo>
                  <a:lnTo>
                    <a:pt x="268287" y="103250"/>
                  </a:lnTo>
                  <a:lnTo>
                    <a:pt x="284162" y="106425"/>
                  </a:lnTo>
                  <a:lnTo>
                    <a:pt x="296862" y="111125"/>
                  </a:lnTo>
                  <a:lnTo>
                    <a:pt x="311150" y="117475"/>
                  </a:lnTo>
                  <a:lnTo>
                    <a:pt x="325437" y="123825"/>
                  </a:lnTo>
                  <a:lnTo>
                    <a:pt x="358775" y="150875"/>
                  </a:lnTo>
                  <a:lnTo>
                    <a:pt x="381000" y="185800"/>
                  </a:lnTo>
                  <a:lnTo>
                    <a:pt x="388937" y="223900"/>
                  </a:lnTo>
                  <a:lnTo>
                    <a:pt x="387350" y="238125"/>
                  </a:lnTo>
                  <a:lnTo>
                    <a:pt x="368300" y="282575"/>
                  </a:lnTo>
                  <a:lnTo>
                    <a:pt x="331787" y="319150"/>
                  </a:lnTo>
                  <a:lnTo>
                    <a:pt x="292100" y="338200"/>
                  </a:lnTo>
                  <a:lnTo>
                    <a:pt x="238125" y="349250"/>
                  </a:lnTo>
                  <a:lnTo>
                    <a:pt x="223837" y="350900"/>
                  </a:lnTo>
                  <a:lnTo>
                    <a:pt x="157162" y="350900"/>
                  </a:lnTo>
                  <a:lnTo>
                    <a:pt x="144462" y="349250"/>
                  </a:lnTo>
                  <a:lnTo>
                    <a:pt x="128587" y="347725"/>
                  </a:lnTo>
                  <a:lnTo>
                    <a:pt x="106362" y="342900"/>
                  </a:lnTo>
                  <a:lnTo>
                    <a:pt x="87312" y="333375"/>
                  </a:lnTo>
                  <a:lnTo>
                    <a:pt x="66675" y="323850"/>
                  </a:lnTo>
                  <a:lnTo>
                    <a:pt x="34925" y="301625"/>
                  </a:lnTo>
                  <a:lnTo>
                    <a:pt x="7937" y="262000"/>
                  </a:lnTo>
                  <a:lnTo>
                    <a:pt x="4762" y="250825"/>
                  </a:lnTo>
                  <a:lnTo>
                    <a:pt x="1587" y="239775"/>
                  </a:lnTo>
                  <a:lnTo>
                    <a:pt x="0" y="228600"/>
                  </a:lnTo>
                  <a:lnTo>
                    <a:pt x="1587" y="219075"/>
                  </a:lnTo>
                  <a:lnTo>
                    <a:pt x="3175" y="201675"/>
                  </a:lnTo>
                  <a:lnTo>
                    <a:pt x="28575" y="154050"/>
                  </a:lnTo>
                  <a:lnTo>
                    <a:pt x="58737" y="127000"/>
                  </a:lnTo>
                  <a:lnTo>
                    <a:pt x="96837" y="107950"/>
                  </a:lnTo>
                  <a:lnTo>
                    <a:pt x="120650" y="103250"/>
                  </a:lnTo>
                  <a:lnTo>
                    <a:pt x="136525" y="98425"/>
                  </a:lnTo>
                  <a:lnTo>
                    <a:pt x="47625" y="48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object 92"/>
          <p:cNvGrpSpPr/>
          <p:nvPr/>
        </p:nvGrpSpPr>
        <p:grpSpPr>
          <a:xfrm>
            <a:off x="5041689" y="3703702"/>
            <a:ext cx="814917" cy="542925"/>
            <a:chOff x="5040376" y="3703701"/>
            <a:chExt cx="814705" cy="542925"/>
          </a:xfrm>
        </p:grpSpPr>
        <p:sp>
          <p:nvSpPr>
            <p:cNvPr id="93" name="object 93"/>
            <p:cNvSpPr/>
            <p:nvPr/>
          </p:nvSpPr>
          <p:spPr>
            <a:xfrm>
              <a:off x="5053076" y="3886250"/>
              <a:ext cx="257810" cy="347980"/>
            </a:xfrm>
            <a:custGeom>
              <a:avLst/>
              <a:gdLst/>
              <a:ahLst/>
              <a:cxnLst/>
              <a:rect l="l" t="t" r="r" b="b"/>
              <a:pathLst>
                <a:path w="257810" h="347979">
                  <a:moveTo>
                    <a:pt x="257187" y="0"/>
                  </a:moveTo>
                  <a:lnTo>
                    <a:pt x="0" y="0"/>
                  </a:lnTo>
                  <a:lnTo>
                    <a:pt x="0" y="347675"/>
                  </a:lnTo>
                  <a:lnTo>
                    <a:pt x="257187" y="347675"/>
                  </a:lnTo>
                  <a:lnTo>
                    <a:pt x="257187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310251" y="3800475"/>
              <a:ext cx="85725" cy="433705"/>
            </a:xfrm>
            <a:custGeom>
              <a:avLst/>
              <a:gdLst/>
              <a:ahLst/>
              <a:cxnLst/>
              <a:rect l="l" t="t" r="r" b="b"/>
              <a:pathLst>
                <a:path w="85725" h="433704">
                  <a:moveTo>
                    <a:pt x="85725" y="0"/>
                  </a:moveTo>
                  <a:lnTo>
                    <a:pt x="0" y="85725"/>
                  </a:lnTo>
                  <a:lnTo>
                    <a:pt x="0" y="433450"/>
                  </a:lnTo>
                  <a:lnTo>
                    <a:pt x="85725" y="347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B00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053076" y="3800475"/>
              <a:ext cx="342900" cy="85725"/>
            </a:xfrm>
            <a:custGeom>
              <a:avLst/>
              <a:gdLst/>
              <a:ahLst/>
              <a:cxnLst/>
              <a:rect l="l" t="t" r="r" b="b"/>
              <a:pathLst>
                <a:path w="342900" h="85725">
                  <a:moveTo>
                    <a:pt x="342900" y="0"/>
                  </a:moveTo>
                  <a:lnTo>
                    <a:pt x="85598" y="0"/>
                  </a:lnTo>
                  <a:lnTo>
                    <a:pt x="0" y="85725"/>
                  </a:lnTo>
                  <a:lnTo>
                    <a:pt x="257175" y="85725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E23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053076" y="3800475"/>
              <a:ext cx="342900" cy="433705"/>
            </a:xfrm>
            <a:custGeom>
              <a:avLst/>
              <a:gdLst/>
              <a:ahLst/>
              <a:cxnLst/>
              <a:rect l="l" t="t" r="r" b="b"/>
              <a:pathLst>
                <a:path w="342900" h="433704">
                  <a:moveTo>
                    <a:pt x="0" y="85725"/>
                  </a:moveTo>
                  <a:lnTo>
                    <a:pt x="85598" y="0"/>
                  </a:lnTo>
                  <a:lnTo>
                    <a:pt x="342900" y="0"/>
                  </a:lnTo>
                  <a:lnTo>
                    <a:pt x="342900" y="347725"/>
                  </a:lnTo>
                  <a:lnTo>
                    <a:pt x="257175" y="433450"/>
                  </a:lnTo>
                  <a:lnTo>
                    <a:pt x="0" y="433450"/>
                  </a:lnTo>
                  <a:lnTo>
                    <a:pt x="0" y="85725"/>
                  </a:lnTo>
                  <a:close/>
                </a:path>
                <a:path w="342900" h="433704">
                  <a:moveTo>
                    <a:pt x="0" y="85725"/>
                  </a:moveTo>
                  <a:lnTo>
                    <a:pt x="257175" y="85725"/>
                  </a:lnTo>
                  <a:lnTo>
                    <a:pt x="342900" y="0"/>
                  </a:lnTo>
                </a:path>
                <a:path w="342900" h="433704">
                  <a:moveTo>
                    <a:pt x="257175" y="85725"/>
                  </a:moveTo>
                  <a:lnTo>
                    <a:pt x="257175" y="433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133975" y="3735447"/>
              <a:ext cx="243204" cy="57150"/>
            </a:xfrm>
            <a:custGeom>
              <a:avLst/>
              <a:gdLst/>
              <a:ahLst/>
              <a:cxnLst/>
              <a:rect l="l" t="t" r="r" b="b"/>
              <a:pathLst>
                <a:path w="243204" h="57150">
                  <a:moveTo>
                    <a:pt x="242887" y="0"/>
                  </a:moveTo>
                  <a:lnTo>
                    <a:pt x="0" y="0"/>
                  </a:lnTo>
                  <a:lnTo>
                    <a:pt x="0" y="57153"/>
                  </a:lnTo>
                  <a:lnTo>
                    <a:pt x="242887" y="57153"/>
                  </a:lnTo>
                  <a:lnTo>
                    <a:pt x="242887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376926" y="3716401"/>
              <a:ext cx="19050" cy="76200"/>
            </a:xfrm>
            <a:custGeom>
              <a:avLst/>
              <a:gdLst/>
              <a:ahLst/>
              <a:cxnLst/>
              <a:rect l="l" t="t" r="r" b="b"/>
              <a:pathLst>
                <a:path w="19050" h="76200">
                  <a:moveTo>
                    <a:pt x="19050" y="0"/>
                  </a:moveTo>
                  <a:lnTo>
                    <a:pt x="0" y="18923"/>
                  </a:lnTo>
                  <a:lnTo>
                    <a:pt x="0" y="76200"/>
                  </a:lnTo>
                  <a:lnTo>
                    <a:pt x="19050" y="571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B00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133975" y="3716401"/>
              <a:ext cx="262255" cy="19050"/>
            </a:xfrm>
            <a:custGeom>
              <a:avLst/>
              <a:gdLst/>
              <a:ahLst/>
              <a:cxnLst/>
              <a:rect l="l" t="t" r="r" b="b"/>
              <a:pathLst>
                <a:path w="262254" h="19050">
                  <a:moveTo>
                    <a:pt x="262000" y="0"/>
                  </a:moveTo>
                  <a:lnTo>
                    <a:pt x="19050" y="0"/>
                  </a:lnTo>
                  <a:lnTo>
                    <a:pt x="0" y="18923"/>
                  </a:lnTo>
                  <a:lnTo>
                    <a:pt x="242950" y="18923"/>
                  </a:lnTo>
                  <a:lnTo>
                    <a:pt x="262000" y="0"/>
                  </a:lnTo>
                  <a:close/>
                </a:path>
              </a:pathLst>
            </a:custGeom>
            <a:solidFill>
              <a:srgbClr val="E23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133975" y="3716401"/>
              <a:ext cx="262255" cy="76200"/>
            </a:xfrm>
            <a:custGeom>
              <a:avLst/>
              <a:gdLst/>
              <a:ahLst/>
              <a:cxnLst/>
              <a:rect l="l" t="t" r="r" b="b"/>
              <a:pathLst>
                <a:path w="262254" h="76200">
                  <a:moveTo>
                    <a:pt x="0" y="18923"/>
                  </a:moveTo>
                  <a:lnTo>
                    <a:pt x="19050" y="0"/>
                  </a:lnTo>
                  <a:lnTo>
                    <a:pt x="262000" y="0"/>
                  </a:lnTo>
                  <a:lnTo>
                    <a:pt x="262000" y="57150"/>
                  </a:lnTo>
                  <a:lnTo>
                    <a:pt x="242950" y="76200"/>
                  </a:lnTo>
                  <a:lnTo>
                    <a:pt x="0" y="76200"/>
                  </a:lnTo>
                  <a:lnTo>
                    <a:pt x="0" y="18923"/>
                  </a:lnTo>
                  <a:close/>
                </a:path>
                <a:path w="262254" h="76200">
                  <a:moveTo>
                    <a:pt x="0" y="18923"/>
                  </a:moveTo>
                  <a:lnTo>
                    <a:pt x="242950" y="18923"/>
                  </a:lnTo>
                  <a:lnTo>
                    <a:pt x="262000" y="0"/>
                  </a:lnTo>
                </a:path>
                <a:path w="262254" h="76200">
                  <a:moveTo>
                    <a:pt x="242950" y="18923"/>
                  </a:moveTo>
                  <a:lnTo>
                    <a:pt x="242950" y="762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119751" y="3833876"/>
              <a:ext cx="180975" cy="27305"/>
            </a:xfrm>
            <a:custGeom>
              <a:avLst/>
              <a:gdLst/>
              <a:ahLst/>
              <a:cxnLst/>
              <a:rect l="l" t="t" r="r" b="b"/>
              <a:pathLst>
                <a:path w="180975" h="27304">
                  <a:moveTo>
                    <a:pt x="180975" y="0"/>
                  </a:moveTo>
                  <a:lnTo>
                    <a:pt x="45212" y="0"/>
                  </a:lnTo>
                  <a:lnTo>
                    <a:pt x="0" y="26924"/>
                  </a:lnTo>
                  <a:lnTo>
                    <a:pt x="135636" y="26924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119751" y="3833876"/>
              <a:ext cx="180975" cy="27305"/>
            </a:xfrm>
            <a:custGeom>
              <a:avLst/>
              <a:gdLst/>
              <a:ahLst/>
              <a:cxnLst/>
              <a:rect l="l" t="t" r="r" b="b"/>
              <a:pathLst>
                <a:path w="180975" h="27304">
                  <a:moveTo>
                    <a:pt x="0" y="26924"/>
                  </a:moveTo>
                  <a:lnTo>
                    <a:pt x="45212" y="0"/>
                  </a:lnTo>
                  <a:lnTo>
                    <a:pt x="180975" y="0"/>
                  </a:lnTo>
                  <a:lnTo>
                    <a:pt x="135636" y="26924"/>
                  </a:lnTo>
                  <a:lnTo>
                    <a:pt x="0" y="269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733669" y="3800475"/>
              <a:ext cx="108585" cy="433705"/>
            </a:xfrm>
            <a:custGeom>
              <a:avLst/>
              <a:gdLst/>
              <a:ahLst/>
              <a:cxnLst/>
              <a:rect l="l" t="t" r="r" b="b"/>
              <a:pathLst>
                <a:path w="108585" h="433704">
                  <a:moveTo>
                    <a:pt x="108330" y="0"/>
                  </a:moveTo>
                  <a:lnTo>
                    <a:pt x="0" y="108331"/>
                  </a:lnTo>
                  <a:lnTo>
                    <a:pt x="0" y="433450"/>
                  </a:lnTo>
                  <a:lnTo>
                    <a:pt x="108330" y="325119"/>
                  </a:lnTo>
                  <a:lnTo>
                    <a:pt x="10833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408676" y="3800475"/>
              <a:ext cx="433705" cy="108585"/>
            </a:xfrm>
            <a:custGeom>
              <a:avLst/>
              <a:gdLst/>
              <a:ahLst/>
              <a:cxnLst/>
              <a:rect l="l" t="t" r="r" b="b"/>
              <a:pathLst>
                <a:path w="433704" h="108585">
                  <a:moveTo>
                    <a:pt x="433324" y="0"/>
                  </a:moveTo>
                  <a:lnTo>
                    <a:pt x="108203" y="0"/>
                  </a:lnTo>
                  <a:lnTo>
                    <a:pt x="0" y="108331"/>
                  </a:lnTo>
                  <a:lnTo>
                    <a:pt x="324993" y="108331"/>
                  </a:lnTo>
                  <a:lnTo>
                    <a:pt x="433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408676" y="3800475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108331"/>
                  </a:moveTo>
                  <a:lnTo>
                    <a:pt x="108203" y="0"/>
                  </a:lnTo>
                  <a:lnTo>
                    <a:pt x="433324" y="0"/>
                  </a:lnTo>
                  <a:lnTo>
                    <a:pt x="433324" y="325119"/>
                  </a:lnTo>
                  <a:lnTo>
                    <a:pt x="324993" y="433450"/>
                  </a:lnTo>
                  <a:lnTo>
                    <a:pt x="0" y="433450"/>
                  </a:lnTo>
                  <a:lnTo>
                    <a:pt x="0" y="108331"/>
                  </a:lnTo>
                  <a:close/>
                </a:path>
                <a:path w="433704" h="433704">
                  <a:moveTo>
                    <a:pt x="0" y="108331"/>
                  </a:moveTo>
                  <a:lnTo>
                    <a:pt x="324993" y="108331"/>
                  </a:lnTo>
                  <a:lnTo>
                    <a:pt x="433324" y="0"/>
                  </a:lnTo>
                </a:path>
                <a:path w="433704" h="433704">
                  <a:moveTo>
                    <a:pt x="324993" y="108331"/>
                  </a:moveTo>
                  <a:lnTo>
                    <a:pt x="324993" y="433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822950" y="3716401"/>
              <a:ext cx="19050" cy="76200"/>
            </a:xfrm>
            <a:custGeom>
              <a:avLst/>
              <a:gdLst/>
              <a:ahLst/>
              <a:cxnLst/>
              <a:rect l="l" t="t" r="r" b="b"/>
              <a:pathLst>
                <a:path w="19050" h="76200">
                  <a:moveTo>
                    <a:pt x="19050" y="0"/>
                  </a:moveTo>
                  <a:lnTo>
                    <a:pt x="0" y="18923"/>
                  </a:lnTo>
                  <a:lnTo>
                    <a:pt x="0" y="76200"/>
                  </a:lnTo>
                  <a:lnTo>
                    <a:pt x="19050" y="571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511800" y="3716401"/>
              <a:ext cx="330200" cy="19050"/>
            </a:xfrm>
            <a:custGeom>
              <a:avLst/>
              <a:gdLst/>
              <a:ahLst/>
              <a:cxnLst/>
              <a:rect l="l" t="t" r="r" b="b"/>
              <a:pathLst>
                <a:path w="330200" h="19050">
                  <a:moveTo>
                    <a:pt x="330200" y="0"/>
                  </a:moveTo>
                  <a:lnTo>
                    <a:pt x="19050" y="0"/>
                  </a:lnTo>
                  <a:lnTo>
                    <a:pt x="0" y="18923"/>
                  </a:lnTo>
                  <a:lnTo>
                    <a:pt x="311150" y="18923"/>
                  </a:lnTo>
                  <a:lnTo>
                    <a:pt x="33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511800" y="3716401"/>
              <a:ext cx="330200" cy="76200"/>
            </a:xfrm>
            <a:custGeom>
              <a:avLst/>
              <a:gdLst/>
              <a:ahLst/>
              <a:cxnLst/>
              <a:rect l="l" t="t" r="r" b="b"/>
              <a:pathLst>
                <a:path w="330200" h="76200">
                  <a:moveTo>
                    <a:pt x="0" y="18923"/>
                  </a:moveTo>
                  <a:lnTo>
                    <a:pt x="19050" y="0"/>
                  </a:lnTo>
                  <a:lnTo>
                    <a:pt x="330200" y="0"/>
                  </a:lnTo>
                  <a:lnTo>
                    <a:pt x="330200" y="57150"/>
                  </a:lnTo>
                  <a:lnTo>
                    <a:pt x="311150" y="76200"/>
                  </a:lnTo>
                  <a:lnTo>
                    <a:pt x="0" y="76200"/>
                  </a:lnTo>
                  <a:lnTo>
                    <a:pt x="0" y="18923"/>
                  </a:lnTo>
                  <a:close/>
                </a:path>
                <a:path w="330200" h="76200">
                  <a:moveTo>
                    <a:pt x="0" y="18923"/>
                  </a:moveTo>
                  <a:lnTo>
                    <a:pt x="311150" y="18923"/>
                  </a:lnTo>
                  <a:lnTo>
                    <a:pt x="330200" y="0"/>
                  </a:lnTo>
                </a:path>
                <a:path w="330200" h="76200">
                  <a:moveTo>
                    <a:pt x="311150" y="18923"/>
                  </a:moveTo>
                  <a:lnTo>
                    <a:pt x="311150" y="762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543550" y="3759200"/>
              <a:ext cx="46355" cy="15875"/>
            </a:xfrm>
            <a:custGeom>
              <a:avLst/>
              <a:gdLst/>
              <a:ahLst/>
              <a:cxnLst/>
              <a:rect l="l" t="t" r="r" b="b"/>
              <a:pathLst>
                <a:path w="46354" h="15875">
                  <a:moveTo>
                    <a:pt x="0" y="8000"/>
                  </a:moveTo>
                  <a:lnTo>
                    <a:pt x="0" y="3556"/>
                  </a:lnTo>
                  <a:lnTo>
                    <a:pt x="10287" y="0"/>
                  </a:lnTo>
                  <a:lnTo>
                    <a:pt x="22987" y="0"/>
                  </a:lnTo>
                  <a:lnTo>
                    <a:pt x="35687" y="0"/>
                  </a:lnTo>
                  <a:lnTo>
                    <a:pt x="46100" y="3556"/>
                  </a:lnTo>
                  <a:lnTo>
                    <a:pt x="46100" y="8000"/>
                  </a:lnTo>
                  <a:lnTo>
                    <a:pt x="46100" y="12318"/>
                  </a:lnTo>
                  <a:lnTo>
                    <a:pt x="35687" y="15875"/>
                  </a:lnTo>
                  <a:lnTo>
                    <a:pt x="10287" y="15875"/>
                  </a:lnTo>
                  <a:lnTo>
                    <a:pt x="0" y="12318"/>
                  </a:lnTo>
                  <a:lnTo>
                    <a:pt x="0" y="80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448300" y="3990975"/>
              <a:ext cx="252475" cy="1206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1" name="object 111"/>
          <p:cNvGrpSpPr/>
          <p:nvPr/>
        </p:nvGrpSpPr>
        <p:grpSpPr>
          <a:xfrm>
            <a:off x="5919742" y="3773551"/>
            <a:ext cx="333462" cy="436880"/>
            <a:chOff x="5918200" y="3773551"/>
            <a:chExt cx="333375" cy="436880"/>
          </a:xfrm>
        </p:grpSpPr>
        <p:sp>
          <p:nvSpPr>
            <p:cNvPr id="112" name="object 112"/>
            <p:cNvSpPr/>
            <p:nvPr/>
          </p:nvSpPr>
          <p:spPr>
            <a:xfrm>
              <a:off x="6124575" y="3981450"/>
              <a:ext cx="127000" cy="2286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921375" y="3786250"/>
              <a:ext cx="132080" cy="303530"/>
            </a:xfrm>
            <a:custGeom>
              <a:avLst/>
              <a:gdLst/>
              <a:ahLst/>
              <a:cxnLst/>
              <a:rect l="l" t="t" r="r" b="b"/>
              <a:pathLst>
                <a:path w="132079" h="303529">
                  <a:moveTo>
                    <a:pt x="120650" y="288861"/>
                  </a:moveTo>
                  <a:lnTo>
                    <a:pt x="0" y="288861"/>
                  </a:lnTo>
                  <a:lnTo>
                    <a:pt x="0" y="303149"/>
                  </a:lnTo>
                  <a:lnTo>
                    <a:pt x="120650" y="303149"/>
                  </a:lnTo>
                  <a:lnTo>
                    <a:pt x="120650" y="288861"/>
                  </a:lnTo>
                  <a:close/>
                </a:path>
                <a:path w="132079" h="303529">
                  <a:moveTo>
                    <a:pt x="131826" y="19812"/>
                  </a:moveTo>
                  <a:lnTo>
                    <a:pt x="130302" y="12065"/>
                  </a:lnTo>
                  <a:lnTo>
                    <a:pt x="126199" y="5765"/>
                  </a:lnTo>
                  <a:lnTo>
                    <a:pt x="120142" y="1549"/>
                  </a:lnTo>
                  <a:lnTo>
                    <a:pt x="112776" y="0"/>
                  </a:lnTo>
                  <a:lnTo>
                    <a:pt x="105346" y="1549"/>
                  </a:lnTo>
                  <a:lnTo>
                    <a:pt x="99288" y="5765"/>
                  </a:lnTo>
                  <a:lnTo>
                    <a:pt x="95211" y="12065"/>
                  </a:lnTo>
                  <a:lnTo>
                    <a:pt x="93726" y="19812"/>
                  </a:lnTo>
                  <a:lnTo>
                    <a:pt x="95211" y="27520"/>
                  </a:lnTo>
                  <a:lnTo>
                    <a:pt x="99288" y="33820"/>
                  </a:lnTo>
                  <a:lnTo>
                    <a:pt x="105346" y="38074"/>
                  </a:lnTo>
                  <a:lnTo>
                    <a:pt x="112776" y="39624"/>
                  </a:lnTo>
                  <a:lnTo>
                    <a:pt x="120142" y="38074"/>
                  </a:lnTo>
                  <a:lnTo>
                    <a:pt x="126199" y="33820"/>
                  </a:lnTo>
                  <a:lnTo>
                    <a:pt x="130302" y="27520"/>
                  </a:lnTo>
                  <a:lnTo>
                    <a:pt x="131826" y="19812"/>
                  </a:lnTo>
                  <a:close/>
                </a:path>
              </a:pathLst>
            </a:custGeom>
            <a:solidFill>
              <a:srgbClr val="F39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015101" y="3786251"/>
              <a:ext cx="38100" cy="40005"/>
            </a:xfrm>
            <a:custGeom>
              <a:avLst/>
              <a:gdLst/>
              <a:ahLst/>
              <a:cxnLst/>
              <a:rect l="l" t="t" r="r" b="b"/>
              <a:pathLst>
                <a:path w="38100" h="40004">
                  <a:moveTo>
                    <a:pt x="0" y="19812"/>
                  </a:moveTo>
                  <a:lnTo>
                    <a:pt x="1494" y="12055"/>
                  </a:lnTo>
                  <a:lnTo>
                    <a:pt x="5572" y="5762"/>
                  </a:lnTo>
                  <a:lnTo>
                    <a:pt x="11626" y="1541"/>
                  </a:lnTo>
                  <a:lnTo>
                    <a:pt x="19050" y="0"/>
                  </a:lnTo>
                  <a:lnTo>
                    <a:pt x="26419" y="1541"/>
                  </a:lnTo>
                  <a:lnTo>
                    <a:pt x="32480" y="5762"/>
                  </a:lnTo>
                  <a:lnTo>
                    <a:pt x="36587" y="12055"/>
                  </a:lnTo>
                  <a:lnTo>
                    <a:pt x="38100" y="19812"/>
                  </a:lnTo>
                  <a:lnTo>
                    <a:pt x="36587" y="27515"/>
                  </a:lnTo>
                  <a:lnTo>
                    <a:pt x="32480" y="33813"/>
                  </a:lnTo>
                  <a:lnTo>
                    <a:pt x="26419" y="38064"/>
                  </a:lnTo>
                  <a:lnTo>
                    <a:pt x="19050" y="39624"/>
                  </a:lnTo>
                  <a:lnTo>
                    <a:pt x="11626" y="38064"/>
                  </a:lnTo>
                  <a:lnTo>
                    <a:pt x="5572" y="33813"/>
                  </a:lnTo>
                  <a:lnTo>
                    <a:pt x="1494" y="27515"/>
                  </a:lnTo>
                  <a:lnTo>
                    <a:pt x="0" y="1981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918200" y="3859276"/>
              <a:ext cx="228600" cy="351155"/>
            </a:xfrm>
            <a:custGeom>
              <a:avLst/>
              <a:gdLst/>
              <a:ahLst/>
              <a:cxnLst/>
              <a:rect l="l" t="t" r="r" b="b"/>
              <a:pathLst>
                <a:path w="228600" h="351154">
                  <a:moveTo>
                    <a:pt x="103124" y="0"/>
                  </a:moveTo>
                  <a:lnTo>
                    <a:pt x="93599" y="0"/>
                  </a:lnTo>
                  <a:lnTo>
                    <a:pt x="88900" y="1524"/>
                  </a:lnTo>
                  <a:lnTo>
                    <a:pt x="85725" y="1524"/>
                  </a:lnTo>
                  <a:lnTo>
                    <a:pt x="80899" y="3175"/>
                  </a:lnTo>
                  <a:lnTo>
                    <a:pt x="79375" y="4699"/>
                  </a:lnTo>
                  <a:lnTo>
                    <a:pt x="74549" y="7874"/>
                  </a:lnTo>
                  <a:lnTo>
                    <a:pt x="73025" y="11049"/>
                  </a:lnTo>
                  <a:lnTo>
                    <a:pt x="69850" y="12700"/>
                  </a:lnTo>
                  <a:lnTo>
                    <a:pt x="66675" y="15875"/>
                  </a:lnTo>
                  <a:lnTo>
                    <a:pt x="63500" y="22225"/>
                  </a:lnTo>
                  <a:lnTo>
                    <a:pt x="61849" y="26924"/>
                  </a:lnTo>
                  <a:lnTo>
                    <a:pt x="1524" y="161798"/>
                  </a:lnTo>
                  <a:lnTo>
                    <a:pt x="1524" y="166624"/>
                  </a:lnTo>
                  <a:lnTo>
                    <a:pt x="0" y="168148"/>
                  </a:lnTo>
                  <a:lnTo>
                    <a:pt x="0" y="177673"/>
                  </a:lnTo>
                  <a:lnTo>
                    <a:pt x="1524" y="180848"/>
                  </a:lnTo>
                  <a:lnTo>
                    <a:pt x="1524" y="184023"/>
                  </a:lnTo>
                  <a:lnTo>
                    <a:pt x="3175" y="185674"/>
                  </a:lnTo>
                  <a:lnTo>
                    <a:pt x="4699" y="188849"/>
                  </a:lnTo>
                  <a:lnTo>
                    <a:pt x="9525" y="193548"/>
                  </a:lnTo>
                  <a:lnTo>
                    <a:pt x="12700" y="195199"/>
                  </a:lnTo>
                  <a:lnTo>
                    <a:pt x="14224" y="196723"/>
                  </a:lnTo>
                  <a:lnTo>
                    <a:pt x="15875" y="196723"/>
                  </a:lnTo>
                  <a:lnTo>
                    <a:pt x="19050" y="198374"/>
                  </a:lnTo>
                  <a:lnTo>
                    <a:pt x="149225" y="198374"/>
                  </a:lnTo>
                  <a:lnTo>
                    <a:pt x="149225" y="350774"/>
                  </a:lnTo>
                  <a:lnTo>
                    <a:pt x="188975" y="350774"/>
                  </a:lnTo>
                  <a:lnTo>
                    <a:pt x="188975" y="166624"/>
                  </a:lnTo>
                  <a:lnTo>
                    <a:pt x="187325" y="164973"/>
                  </a:lnTo>
                  <a:lnTo>
                    <a:pt x="187325" y="161798"/>
                  </a:lnTo>
                  <a:lnTo>
                    <a:pt x="185800" y="161798"/>
                  </a:lnTo>
                  <a:lnTo>
                    <a:pt x="179450" y="155448"/>
                  </a:lnTo>
                  <a:lnTo>
                    <a:pt x="177800" y="155448"/>
                  </a:lnTo>
                  <a:lnTo>
                    <a:pt x="176275" y="153924"/>
                  </a:lnTo>
                  <a:lnTo>
                    <a:pt x="173100" y="153924"/>
                  </a:lnTo>
                  <a:lnTo>
                    <a:pt x="169925" y="152273"/>
                  </a:lnTo>
                  <a:lnTo>
                    <a:pt x="161925" y="152273"/>
                  </a:lnTo>
                  <a:lnTo>
                    <a:pt x="90424" y="149098"/>
                  </a:lnTo>
                  <a:lnTo>
                    <a:pt x="109474" y="88773"/>
                  </a:lnTo>
                  <a:lnTo>
                    <a:pt x="123825" y="110998"/>
                  </a:lnTo>
                  <a:lnTo>
                    <a:pt x="212725" y="110998"/>
                  </a:lnTo>
                  <a:lnTo>
                    <a:pt x="214375" y="109474"/>
                  </a:lnTo>
                  <a:lnTo>
                    <a:pt x="215900" y="109474"/>
                  </a:lnTo>
                  <a:lnTo>
                    <a:pt x="222250" y="106299"/>
                  </a:lnTo>
                  <a:lnTo>
                    <a:pt x="223900" y="104648"/>
                  </a:lnTo>
                  <a:lnTo>
                    <a:pt x="223900" y="103124"/>
                  </a:lnTo>
                  <a:lnTo>
                    <a:pt x="227075" y="103124"/>
                  </a:lnTo>
                  <a:lnTo>
                    <a:pt x="227075" y="98298"/>
                  </a:lnTo>
                  <a:lnTo>
                    <a:pt x="228600" y="96774"/>
                  </a:lnTo>
                  <a:lnTo>
                    <a:pt x="228600" y="90424"/>
                  </a:lnTo>
                  <a:lnTo>
                    <a:pt x="227075" y="87249"/>
                  </a:lnTo>
                  <a:lnTo>
                    <a:pt x="227075" y="85598"/>
                  </a:lnTo>
                  <a:lnTo>
                    <a:pt x="217550" y="76200"/>
                  </a:lnTo>
                  <a:lnTo>
                    <a:pt x="144525" y="76200"/>
                  </a:lnTo>
                  <a:lnTo>
                    <a:pt x="130175" y="52324"/>
                  </a:lnTo>
                  <a:lnTo>
                    <a:pt x="133350" y="49149"/>
                  </a:lnTo>
                  <a:lnTo>
                    <a:pt x="133350" y="42799"/>
                  </a:lnTo>
                  <a:lnTo>
                    <a:pt x="135000" y="39624"/>
                  </a:lnTo>
                  <a:lnTo>
                    <a:pt x="135000" y="28575"/>
                  </a:lnTo>
                  <a:lnTo>
                    <a:pt x="133350" y="25400"/>
                  </a:lnTo>
                  <a:lnTo>
                    <a:pt x="133350" y="22225"/>
                  </a:lnTo>
                  <a:lnTo>
                    <a:pt x="131825" y="20574"/>
                  </a:lnTo>
                  <a:lnTo>
                    <a:pt x="130175" y="17399"/>
                  </a:lnTo>
                  <a:lnTo>
                    <a:pt x="128650" y="15875"/>
                  </a:lnTo>
                  <a:lnTo>
                    <a:pt x="127000" y="12700"/>
                  </a:lnTo>
                  <a:lnTo>
                    <a:pt x="123825" y="11049"/>
                  </a:lnTo>
                  <a:lnTo>
                    <a:pt x="122300" y="7874"/>
                  </a:lnTo>
                  <a:lnTo>
                    <a:pt x="109474" y="1524"/>
                  </a:lnTo>
                  <a:lnTo>
                    <a:pt x="106299" y="1524"/>
                  </a:lnTo>
                  <a:lnTo>
                    <a:pt x="103124" y="0"/>
                  </a:lnTo>
                  <a:close/>
                </a:path>
              </a:pathLst>
            </a:custGeom>
            <a:solidFill>
              <a:srgbClr val="F39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" name="object 116"/>
          <p:cNvGrpSpPr/>
          <p:nvPr/>
        </p:nvGrpSpPr>
        <p:grpSpPr>
          <a:xfrm>
            <a:off x="6332599" y="3717926"/>
            <a:ext cx="358868" cy="511175"/>
            <a:chOff x="6330950" y="3717925"/>
            <a:chExt cx="358775" cy="511175"/>
          </a:xfrm>
        </p:grpSpPr>
        <p:sp>
          <p:nvSpPr>
            <p:cNvPr id="117" name="object 117"/>
            <p:cNvSpPr/>
            <p:nvPr/>
          </p:nvSpPr>
          <p:spPr>
            <a:xfrm>
              <a:off x="6343650" y="3730625"/>
              <a:ext cx="333375" cy="485775"/>
            </a:xfrm>
            <a:custGeom>
              <a:avLst/>
              <a:gdLst/>
              <a:ahLst/>
              <a:cxnLst/>
              <a:rect l="l" t="t" r="r" b="b"/>
              <a:pathLst>
                <a:path w="333375" h="485775">
                  <a:moveTo>
                    <a:pt x="161925" y="0"/>
                  </a:moveTo>
                  <a:lnTo>
                    <a:pt x="150749" y="4825"/>
                  </a:lnTo>
                  <a:lnTo>
                    <a:pt x="144399" y="11175"/>
                  </a:lnTo>
                  <a:lnTo>
                    <a:pt x="139700" y="20700"/>
                  </a:lnTo>
                  <a:lnTo>
                    <a:pt x="138049" y="28575"/>
                  </a:lnTo>
                  <a:lnTo>
                    <a:pt x="139700" y="38100"/>
                  </a:lnTo>
                  <a:lnTo>
                    <a:pt x="144399" y="50800"/>
                  </a:lnTo>
                  <a:lnTo>
                    <a:pt x="146050" y="58800"/>
                  </a:lnTo>
                  <a:lnTo>
                    <a:pt x="149225" y="66675"/>
                  </a:lnTo>
                  <a:lnTo>
                    <a:pt x="146050" y="77850"/>
                  </a:lnTo>
                  <a:lnTo>
                    <a:pt x="139700" y="85725"/>
                  </a:lnTo>
                  <a:lnTo>
                    <a:pt x="130175" y="93725"/>
                  </a:lnTo>
                  <a:lnTo>
                    <a:pt x="117475" y="100075"/>
                  </a:lnTo>
                  <a:lnTo>
                    <a:pt x="109474" y="106425"/>
                  </a:lnTo>
                  <a:lnTo>
                    <a:pt x="99949" y="115950"/>
                  </a:lnTo>
                  <a:lnTo>
                    <a:pt x="92075" y="125475"/>
                  </a:lnTo>
                  <a:lnTo>
                    <a:pt x="84074" y="144525"/>
                  </a:lnTo>
                  <a:lnTo>
                    <a:pt x="77724" y="165100"/>
                  </a:lnTo>
                  <a:lnTo>
                    <a:pt x="71374" y="182625"/>
                  </a:lnTo>
                  <a:lnTo>
                    <a:pt x="69850" y="203200"/>
                  </a:lnTo>
                  <a:lnTo>
                    <a:pt x="66675" y="228600"/>
                  </a:lnTo>
                  <a:lnTo>
                    <a:pt x="66675" y="255650"/>
                  </a:lnTo>
                  <a:lnTo>
                    <a:pt x="69850" y="263525"/>
                  </a:lnTo>
                  <a:lnTo>
                    <a:pt x="73025" y="268350"/>
                  </a:lnTo>
                  <a:lnTo>
                    <a:pt x="82550" y="269875"/>
                  </a:lnTo>
                  <a:lnTo>
                    <a:pt x="85725" y="268350"/>
                  </a:lnTo>
                  <a:lnTo>
                    <a:pt x="87249" y="263525"/>
                  </a:lnTo>
                  <a:lnTo>
                    <a:pt x="87249" y="222250"/>
                  </a:lnTo>
                  <a:lnTo>
                    <a:pt x="92075" y="195325"/>
                  </a:lnTo>
                  <a:lnTo>
                    <a:pt x="98425" y="184150"/>
                  </a:lnTo>
                  <a:lnTo>
                    <a:pt x="106299" y="182625"/>
                  </a:lnTo>
                  <a:lnTo>
                    <a:pt x="115824" y="184150"/>
                  </a:lnTo>
                  <a:lnTo>
                    <a:pt x="117475" y="190500"/>
                  </a:lnTo>
                  <a:lnTo>
                    <a:pt x="115824" y="209550"/>
                  </a:lnTo>
                  <a:lnTo>
                    <a:pt x="112649" y="234950"/>
                  </a:lnTo>
                  <a:lnTo>
                    <a:pt x="109474" y="257175"/>
                  </a:lnTo>
                  <a:lnTo>
                    <a:pt x="103124" y="277875"/>
                  </a:lnTo>
                  <a:lnTo>
                    <a:pt x="96774" y="306450"/>
                  </a:lnTo>
                  <a:lnTo>
                    <a:pt x="87249" y="328675"/>
                  </a:lnTo>
                  <a:lnTo>
                    <a:pt x="69850" y="358775"/>
                  </a:lnTo>
                  <a:lnTo>
                    <a:pt x="53975" y="376300"/>
                  </a:lnTo>
                  <a:lnTo>
                    <a:pt x="28575" y="406400"/>
                  </a:lnTo>
                  <a:lnTo>
                    <a:pt x="12700" y="427100"/>
                  </a:lnTo>
                  <a:lnTo>
                    <a:pt x="0" y="446150"/>
                  </a:lnTo>
                  <a:lnTo>
                    <a:pt x="0" y="454025"/>
                  </a:lnTo>
                  <a:lnTo>
                    <a:pt x="12700" y="468375"/>
                  </a:lnTo>
                  <a:lnTo>
                    <a:pt x="31750" y="485775"/>
                  </a:lnTo>
                  <a:lnTo>
                    <a:pt x="50800" y="485775"/>
                  </a:lnTo>
                  <a:lnTo>
                    <a:pt x="53975" y="481075"/>
                  </a:lnTo>
                  <a:lnTo>
                    <a:pt x="45974" y="471550"/>
                  </a:lnTo>
                  <a:lnTo>
                    <a:pt x="38100" y="460375"/>
                  </a:lnTo>
                  <a:lnTo>
                    <a:pt x="38100" y="452500"/>
                  </a:lnTo>
                  <a:lnTo>
                    <a:pt x="50800" y="433450"/>
                  </a:lnTo>
                  <a:lnTo>
                    <a:pt x="71374" y="412750"/>
                  </a:lnTo>
                  <a:lnTo>
                    <a:pt x="130175" y="339725"/>
                  </a:lnTo>
                  <a:lnTo>
                    <a:pt x="139700" y="328675"/>
                  </a:lnTo>
                  <a:lnTo>
                    <a:pt x="146050" y="320675"/>
                  </a:lnTo>
                  <a:lnTo>
                    <a:pt x="158750" y="317500"/>
                  </a:lnTo>
                  <a:lnTo>
                    <a:pt x="208025" y="366775"/>
                  </a:lnTo>
                  <a:lnTo>
                    <a:pt x="236600" y="406400"/>
                  </a:lnTo>
                  <a:lnTo>
                    <a:pt x="263525" y="446150"/>
                  </a:lnTo>
                  <a:lnTo>
                    <a:pt x="281050" y="468375"/>
                  </a:lnTo>
                  <a:lnTo>
                    <a:pt x="287400" y="473075"/>
                  </a:lnTo>
                  <a:lnTo>
                    <a:pt x="298450" y="473075"/>
                  </a:lnTo>
                  <a:lnTo>
                    <a:pt x="307975" y="465200"/>
                  </a:lnTo>
                  <a:lnTo>
                    <a:pt x="320675" y="457200"/>
                  </a:lnTo>
                  <a:lnTo>
                    <a:pt x="331850" y="447675"/>
                  </a:lnTo>
                  <a:lnTo>
                    <a:pt x="333375" y="439800"/>
                  </a:lnTo>
                  <a:lnTo>
                    <a:pt x="320675" y="441325"/>
                  </a:lnTo>
                  <a:lnTo>
                    <a:pt x="307975" y="439800"/>
                  </a:lnTo>
                  <a:lnTo>
                    <a:pt x="263525" y="382650"/>
                  </a:lnTo>
                  <a:lnTo>
                    <a:pt x="223900" y="317500"/>
                  </a:lnTo>
                  <a:lnTo>
                    <a:pt x="203200" y="282575"/>
                  </a:lnTo>
                  <a:lnTo>
                    <a:pt x="187325" y="236600"/>
                  </a:lnTo>
                  <a:lnTo>
                    <a:pt x="187325" y="217550"/>
                  </a:lnTo>
                  <a:lnTo>
                    <a:pt x="190500" y="204850"/>
                  </a:lnTo>
                  <a:lnTo>
                    <a:pt x="198500" y="198500"/>
                  </a:lnTo>
                  <a:lnTo>
                    <a:pt x="204850" y="198500"/>
                  </a:lnTo>
                  <a:lnTo>
                    <a:pt x="214375" y="203200"/>
                  </a:lnTo>
                  <a:lnTo>
                    <a:pt x="228600" y="215900"/>
                  </a:lnTo>
                  <a:lnTo>
                    <a:pt x="247650" y="228600"/>
                  </a:lnTo>
                  <a:lnTo>
                    <a:pt x="260350" y="234950"/>
                  </a:lnTo>
                  <a:lnTo>
                    <a:pt x="268350" y="236600"/>
                  </a:lnTo>
                  <a:lnTo>
                    <a:pt x="274700" y="234950"/>
                  </a:lnTo>
                  <a:lnTo>
                    <a:pt x="279400" y="228600"/>
                  </a:lnTo>
                  <a:lnTo>
                    <a:pt x="276225" y="223900"/>
                  </a:lnTo>
                  <a:lnTo>
                    <a:pt x="274700" y="217550"/>
                  </a:lnTo>
                  <a:lnTo>
                    <a:pt x="262000" y="204850"/>
                  </a:lnTo>
                  <a:lnTo>
                    <a:pt x="239775" y="190500"/>
                  </a:lnTo>
                  <a:lnTo>
                    <a:pt x="227075" y="179450"/>
                  </a:lnTo>
                  <a:lnTo>
                    <a:pt x="217550" y="165100"/>
                  </a:lnTo>
                  <a:lnTo>
                    <a:pt x="211200" y="144525"/>
                  </a:lnTo>
                  <a:lnTo>
                    <a:pt x="209550" y="123825"/>
                  </a:lnTo>
                  <a:lnTo>
                    <a:pt x="198500" y="104775"/>
                  </a:lnTo>
                  <a:lnTo>
                    <a:pt x="188975" y="93725"/>
                  </a:lnTo>
                  <a:lnTo>
                    <a:pt x="182625" y="87375"/>
                  </a:lnTo>
                  <a:lnTo>
                    <a:pt x="182625" y="79375"/>
                  </a:lnTo>
                  <a:lnTo>
                    <a:pt x="187325" y="66675"/>
                  </a:lnTo>
                  <a:lnTo>
                    <a:pt x="190500" y="60325"/>
                  </a:lnTo>
                  <a:lnTo>
                    <a:pt x="195325" y="52450"/>
                  </a:lnTo>
                  <a:lnTo>
                    <a:pt x="198500" y="39750"/>
                  </a:lnTo>
                  <a:lnTo>
                    <a:pt x="195325" y="25400"/>
                  </a:lnTo>
                  <a:lnTo>
                    <a:pt x="193675" y="14350"/>
                  </a:lnTo>
                  <a:lnTo>
                    <a:pt x="187325" y="6350"/>
                  </a:lnTo>
                  <a:lnTo>
                    <a:pt x="176275" y="1650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343650" y="3730625"/>
              <a:ext cx="333375" cy="485775"/>
            </a:xfrm>
            <a:custGeom>
              <a:avLst/>
              <a:gdLst/>
              <a:ahLst/>
              <a:cxnLst/>
              <a:rect l="l" t="t" r="r" b="b"/>
              <a:pathLst>
                <a:path w="333375" h="485775">
                  <a:moveTo>
                    <a:pt x="331850" y="447675"/>
                  </a:moveTo>
                  <a:lnTo>
                    <a:pt x="333375" y="439800"/>
                  </a:lnTo>
                  <a:lnTo>
                    <a:pt x="320675" y="441325"/>
                  </a:lnTo>
                  <a:lnTo>
                    <a:pt x="307975" y="439800"/>
                  </a:lnTo>
                  <a:lnTo>
                    <a:pt x="263525" y="382650"/>
                  </a:lnTo>
                  <a:lnTo>
                    <a:pt x="223900" y="317500"/>
                  </a:lnTo>
                  <a:lnTo>
                    <a:pt x="203200" y="282575"/>
                  </a:lnTo>
                  <a:lnTo>
                    <a:pt x="187325" y="236600"/>
                  </a:lnTo>
                  <a:lnTo>
                    <a:pt x="187325" y="217550"/>
                  </a:lnTo>
                  <a:lnTo>
                    <a:pt x="190500" y="204850"/>
                  </a:lnTo>
                  <a:lnTo>
                    <a:pt x="198500" y="198500"/>
                  </a:lnTo>
                  <a:lnTo>
                    <a:pt x="204850" y="198500"/>
                  </a:lnTo>
                  <a:lnTo>
                    <a:pt x="214375" y="203200"/>
                  </a:lnTo>
                  <a:lnTo>
                    <a:pt x="228600" y="215900"/>
                  </a:lnTo>
                  <a:lnTo>
                    <a:pt x="247650" y="228600"/>
                  </a:lnTo>
                  <a:lnTo>
                    <a:pt x="260350" y="234950"/>
                  </a:lnTo>
                  <a:lnTo>
                    <a:pt x="268350" y="236600"/>
                  </a:lnTo>
                  <a:lnTo>
                    <a:pt x="274700" y="234950"/>
                  </a:lnTo>
                  <a:lnTo>
                    <a:pt x="279400" y="228600"/>
                  </a:lnTo>
                  <a:lnTo>
                    <a:pt x="276225" y="223900"/>
                  </a:lnTo>
                  <a:lnTo>
                    <a:pt x="274700" y="217550"/>
                  </a:lnTo>
                  <a:lnTo>
                    <a:pt x="262000" y="204850"/>
                  </a:lnTo>
                  <a:lnTo>
                    <a:pt x="239775" y="190500"/>
                  </a:lnTo>
                  <a:lnTo>
                    <a:pt x="227075" y="179450"/>
                  </a:lnTo>
                  <a:lnTo>
                    <a:pt x="217550" y="165100"/>
                  </a:lnTo>
                  <a:lnTo>
                    <a:pt x="211200" y="144525"/>
                  </a:lnTo>
                  <a:lnTo>
                    <a:pt x="209550" y="123825"/>
                  </a:lnTo>
                  <a:lnTo>
                    <a:pt x="204850" y="115950"/>
                  </a:lnTo>
                  <a:lnTo>
                    <a:pt x="198500" y="104775"/>
                  </a:lnTo>
                  <a:lnTo>
                    <a:pt x="188975" y="93725"/>
                  </a:lnTo>
                  <a:lnTo>
                    <a:pt x="182625" y="87375"/>
                  </a:lnTo>
                  <a:lnTo>
                    <a:pt x="182625" y="79375"/>
                  </a:lnTo>
                  <a:lnTo>
                    <a:pt x="187325" y="66675"/>
                  </a:lnTo>
                  <a:lnTo>
                    <a:pt x="190500" y="60325"/>
                  </a:lnTo>
                  <a:lnTo>
                    <a:pt x="195325" y="52450"/>
                  </a:lnTo>
                  <a:lnTo>
                    <a:pt x="198500" y="39750"/>
                  </a:lnTo>
                  <a:lnTo>
                    <a:pt x="195325" y="25400"/>
                  </a:lnTo>
                  <a:lnTo>
                    <a:pt x="193675" y="14350"/>
                  </a:lnTo>
                  <a:lnTo>
                    <a:pt x="187325" y="6350"/>
                  </a:lnTo>
                  <a:lnTo>
                    <a:pt x="176275" y="1650"/>
                  </a:lnTo>
                  <a:lnTo>
                    <a:pt x="161925" y="0"/>
                  </a:lnTo>
                  <a:lnTo>
                    <a:pt x="150749" y="4825"/>
                  </a:lnTo>
                  <a:lnTo>
                    <a:pt x="144399" y="11175"/>
                  </a:lnTo>
                  <a:lnTo>
                    <a:pt x="139700" y="20700"/>
                  </a:lnTo>
                  <a:lnTo>
                    <a:pt x="138049" y="28575"/>
                  </a:lnTo>
                  <a:lnTo>
                    <a:pt x="139700" y="38100"/>
                  </a:lnTo>
                  <a:lnTo>
                    <a:pt x="144399" y="50800"/>
                  </a:lnTo>
                  <a:lnTo>
                    <a:pt x="146050" y="58800"/>
                  </a:lnTo>
                  <a:lnTo>
                    <a:pt x="149225" y="66675"/>
                  </a:lnTo>
                  <a:lnTo>
                    <a:pt x="146050" y="77850"/>
                  </a:lnTo>
                  <a:lnTo>
                    <a:pt x="139700" y="85725"/>
                  </a:lnTo>
                  <a:lnTo>
                    <a:pt x="130175" y="93725"/>
                  </a:lnTo>
                  <a:lnTo>
                    <a:pt x="117475" y="100075"/>
                  </a:lnTo>
                  <a:lnTo>
                    <a:pt x="109474" y="106425"/>
                  </a:lnTo>
                  <a:lnTo>
                    <a:pt x="99949" y="115950"/>
                  </a:lnTo>
                  <a:lnTo>
                    <a:pt x="92075" y="125475"/>
                  </a:lnTo>
                  <a:lnTo>
                    <a:pt x="84074" y="144525"/>
                  </a:lnTo>
                  <a:lnTo>
                    <a:pt x="77724" y="165100"/>
                  </a:lnTo>
                  <a:lnTo>
                    <a:pt x="71374" y="182625"/>
                  </a:lnTo>
                  <a:lnTo>
                    <a:pt x="69850" y="203200"/>
                  </a:lnTo>
                  <a:lnTo>
                    <a:pt x="66675" y="228600"/>
                  </a:lnTo>
                  <a:lnTo>
                    <a:pt x="66675" y="242950"/>
                  </a:lnTo>
                  <a:lnTo>
                    <a:pt x="66675" y="255650"/>
                  </a:lnTo>
                  <a:lnTo>
                    <a:pt x="69850" y="263525"/>
                  </a:lnTo>
                  <a:lnTo>
                    <a:pt x="73025" y="268350"/>
                  </a:lnTo>
                  <a:lnTo>
                    <a:pt x="82550" y="269875"/>
                  </a:lnTo>
                  <a:lnTo>
                    <a:pt x="85725" y="268350"/>
                  </a:lnTo>
                  <a:lnTo>
                    <a:pt x="87249" y="263525"/>
                  </a:lnTo>
                  <a:lnTo>
                    <a:pt x="87249" y="247650"/>
                  </a:lnTo>
                  <a:lnTo>
                    <a:pt x="87249" y="222250"/>
                  </a:lnTo>
                  <a:lnTo>
                    <a:pt x="90424" y="204850"/>
                  </a:lnTo>
                  <a:lnTo>
                    <a:pt x="92075" y="195325"/>
                  </a:lnTo>
                  <a:lnTo>
                    <a:pt x="98425" y="184150"/>
                  </a:lnTo>
                  <a:lnTo>
                    <a:pt x="106299" y="182625"/>
                  </a:lnTo>
                  <a:lnTo>
                    <a:pt x="115824" y="184150"/>
                  </a:lnTo>
                  <a:lnTo>
                    <a:pt x="117475" y="190500"/>
                  </a:lnTo>
                  <a:lnTo>
                    <a:pt x="115824" y="209550"/>
                  </a:lnTo>
                  <a:lnTo>
                    <a:pt x="112649" y="234950"/>
                  </a:lnTo>
                  <a:lnTo>
                    <a:pt x="109474" y="257175"/>
                  </a:lnTo>
                  <a:lnTo>
                    <a:pt x="103124" y="277875"/>
                  </a:lnTo>
                  <a:lnTo>
                    <a:pt x="96774" y="306450"/>
                  </a:lnTo>
                  <a:lnTo>
                    <a:pt x="87249" y="328675"/>
                  </a:lnTo>
                  <a:lnTo>
                    <a:pt x="69850" y="358775"/>
                  </a:lnTo>
                  <a:lnTo>
                    <a:pt x="53975" y="376300"/>
                  </a:lnTo>
                  <a:lnTo>
                    <a:pt x="28575" y="406400"/>
                  </a:lnTo>
                  <a:lnTo>
                    <a:pt x="12700" y="427100"/>
                  </a:lnTo>
                  <a:lnTo>
                    <a:pt x="0" y="446150"/>
                  </a:lnTo>
                  <a:lnTo>
                    <a:pt x="0" y="454025"/>
                  </a:lnTo>
                  <a:lnTo>
                    <a:pt x="12700" y="468375"/>
                  </a:lnTo>
                  <a:lnTo>
                    <a:pt x="31750" y="485775"/>
                  </a:lnTo>
                  <a:lnTo>
                    <a:pt x="50800" y="485775"/>
                  </a:lnTo>
                  <a:lnTo>
                    <a:pt x="53975" y="481075"/>
                  </a:lnTo>
                  <a:lnTo>
                    <a:pt x="45974" y="471550"/>
                  </a:lnTo>
                  <a:lnTo>
                    <a:pt x="38100" y="460375"/>
                  </a:lnTo>
                  <a:lnTo>
                    <a:pt x="38100" y="452500"/>
                  </a:lnTo>
                  <a:lnTo>
                    <a:pt x="50800" y="433450"/>
                  </a:lnTo>
                  <a:lnTo>
                    <a:pt x="71374" y="412750"/>
                  </a:lnTo>
                  <a:lnTo>
                    <a:pt x="103124" y="373125"/>
                  </a:lnTo>
                  <a:lnTo>
                    <a:pt x="130175" y="339725"/>
                  </a:lnTo>
                  <a:lnTo>
                    <a:pt x="139700" y="328675"/>
                  </a:lnTo>
                  <a:lnTo>
                    <a:pt x="146050" y="320675"/>
                  </a:lnTo>
                  <a:lnTo>
                    <a:pt x="182625" y="333375"/>
                  </a:lnTo>
                  <a:lnTo>
                    <a:pt x="208025" y="366775"/>
                  </a:lnTo>
                  <a:lnTo>
                    <a:pt x="236600" y="406400"/>
                  </a:lnTo>
                  <a:lnTo>
                    <a:pt x="263525" y="446150"/>
                  </a:lnTo>
                  <a:lnTo>
                    <a:pt x="281050" y="468375"/>
                  </a:lnTo>
                  <a:lnTo>
                    <a:pt x="287400" y="473075"/>
                  </a:lnTo>
                  <a:lnTo>
                    <a:pt x="298450" y="473075"/>
                  </a:lnTo>
                  <a:lnTo>
                    <a:pt x="307975" y="465200"/>
                  </a:lnTo>
                  <a:lnTo>
                    <a:pt x="320675" y="457200"/>
                  </a:lnTo>
                  <a:lnTo>
                    <a:pt x="331850" y="447675"/>
                  </a:lnTo>
                </a:path>
              </a:pathLst>
            </a:custGeom>
            <a:ln w="25400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9" name="object 119"/>
          <p:cNvGrpSpPr/>
          <p:nvPr/>
        </p:nvGrpSpPr>
        <p:grpSpPr>
          <a:xfrm>
            <a:off x="685979" y="4465574"/>
            <a:ext cx="414763" cy="375285"/>
            <a:chOff x="685800" y="4465573"/>
            <a:chExt cx="414655" cy="375285"/>
          </a:xfrm>
        </p:grpSpPr>
        <p:sp>
          <p:nvSpPr>
            <p:cNvPr id="120" name="object 120"/>
            <p:cNvSpPr/>
            <p:nvPr/>
          </p:nvSpPr>
          <p:spPr>
            <a:xfrm>
              <a:off x="698500" y="4478273"/>
              <a:ext cx="389255" cy="349885"/>
            </a:xfrm>
            <a:custGeom>
              <a:avLst/>
              <a:gdLst/>
              <a:ahLst/>
              <a:cxnLst/>
              <a:rect l="l" t="t" r="r" b="b"/>
              <a:pathLst>
                <a:path w="389255" h="349885">
                  <a:moveTo>
                    <a:pt x="361950" y="0"/>
                  </a:moveTo>
                  <a:lnTo>
                    <a:pt x="265112" y="17525"/>
                  </a:lnTo>
                  <a:lnTo>
                    <a:pt x="265112" y="0"/>
                  </a:lnTo>
                  <a:lnTo>
                    <a:pt x="185737" y="0"/>
                  </a:lnTo>
                  <a:lnTo>
                    <a:pt x="185737" y="19050"/>
                  </a:lnTo>
                  <a:lnTo>
                    <a:pt x="109537" y="0"/>
                  </a:lnTo>
                  <a:lnTo>
                    <a:pt x="109537" y="15875"/>
                  </a:lnTo>
                  <a:lnTo>
                    <a:pt x="47625" y="4825"/>
                  </a:lnTo>
                  <a:lnTo>
                    <a:pt x="136525" y="98425"/>
                  </a:lnTo>
                  <a:lnTo>
                    <a:pt x="120650" y="101600"/>
                  </a:lnTo>
                  <a:lnTo>
                    <a:pt x="74612" y="117475"/>
                  </a:lnTo>
                  <a:lnTo>
                    <a:pt x="41275" y="139700"/>
                  </a:lnTo>
                  <a:lnTo>
                    <a:pt x="15875" y="168275"/>
                  </a:lnTo>
                  <a:lnTo>
                    <a:pt x="1587" y="217550"/>
                  </a:lnTo>
                  <a:lnTo>
                    <a:pt x="0" y="227075"/>
                  </a:lnTo>
                  <a:lnTo>
                    <a:pt x="15875" y="276351"/>
                  </a:lnTo>
                  <a:lnTo>
                    <a:pt x="49212" y="311276"/>
                  </a:lnTo>
                  <a:lnTo>
                    <a:pt x="87312" y="333501"/>
                  </a:lnTo>
                  <a:lnTo>
                    <a:pt x="128587" y="346201"/>
                  </a:lnTo>
                  <a:lnTo>
                    <a:pt x="144462" y="347725"/>
                  </a:lnTo>
                  <a:lnTo>
                    <a:pt x="157162" y="349376"/>
                  </a:lnTo>
                  <a:lnTo>
                    <a:pt x="223837" y="349376"/>
                  </a:lnTo>
                  <a:lnTo>
                    <a:pt x="238125" y="347725"/>
                  </a:lnTo>
                  <a:lnTo>
                    <a:pt x="255587" y="347725"/>
                  </a:lnTo>
                  <a:lnTo>
                    <a:pt x="265112" y="344550"/>
                  </a:lnTo>
                  <a:lnTo>
                    <a:pt x="279400" y="341375"/>
                  </a:lnTo>
                  <a:lnTo>
                    <a:pt x="292100" y="338200"/>
                  </a:lnTo>
                  <a:lnTo>
                    <a:pt x="331787" y="317626"/>
                  </a:lnTo>
                  <a:lnTo>
                    <a:pt x="368300" y="281050"/>
                  </a:lnTo>
                  <a:lnTo>
                    <a:pt x="376237" y="271525"/>
                  </a:lnTo>
                  <a:lnTo>
                    <a:pt x="381000" y="262000"/>
                  </a:lnTo>
                  <a:lnTo>
                    <a:pt x="384175" y="249300"/>
                  </a:lnTo>
                  <a:lnTo>
                    <a:pt x="387350" y="238251"/>
                  </a:lnTo>
                  <a:lnTo>
                    <a:pt x="388937" y="222376"/>
                  </a:lnTo>
                  <a:lnTo>
                    <a:pt x="387350" y="206501"/>
                  </a:lnTo>
                  <a:lnTo>
                    <a:pt x="385762" y="195325"/>
                  </a:lnTo>
                  <a:lnTo>
                    <a:pt x="358775" y="149225"/>
                  </a:lnTo>
                  <a:lnTo>
                    <a:pt x="325437" y="123825"/>
                  </a:lnTo>
                  <a:lnTo>
                    <a:pt x="284162" y="106425"/>
                  </a:lnTo>
                  <a:lnTo>
                    <a:pt x="242887" y="98425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98500" y="4478273"/>
              <a:ext cx="389255" cy="349885"/>
            </a:xfrm>
            <a:custGeom>
              <a:avLst/>
              <a:gdLst/>
              <a:ahLst/>
              <a:cxnLst/>
              <a:rect l="l" t="t" r="r" b="b"/>
              <a:pathLst>
                <a:path w="389255" h="349885">
                  <a:moveTo>
                    <a:pt x="47625" y="4825"/>
                  </a:moveTo>
                  <a:lnTo>
                    <a:pt x="109537" y="15875"/>
                  </a:lnTo>
                  <a:lnTo>
                    <a:pt x="109537" y="0"/>
                  </a:lnTo>
                  <a:lnTo>
                    <a:pt x="185737" y="19050"/>
                  </a:lnTo>
                  <a:lnTo>
                    <a:pt x="185737" y="0"/>
                  </a:lnTo>
                  <a:lnTo>
                    <a:pt x="265112" y="0"/>
                  </a:lnTo>
                  <a:lnTo>
                    <a:pt x="265112" y="17525"/>
                  </a:lnTo>
                  <a:lnTo>
                    <a:pt x="361950" y="0"/>
                  </a:lnTo>
                  <a:lnTo>
                    <a:pt x="242887" y="98425"/>
                  </a:lnTo>
                  <a:lnTo>
                    <a:pt x="255587" y="100075"/>
                  </a:lnTo>
                  <a:lnTo>
                    <a:pt x="268287" y="101600"/>
                  </a:lnTo>
                  <a:lnTo>
                    <a:pt x="284162" y="106425"/>
                  </a:lnTo>
                  <a:lnTo>
                    <a:pt x="296862" y="111125"/>
                  </a:lnTo>
                  <a:lnTo>
                    <a:pt x="311150" y="117475"/>
                  </a:lnTo>
                  <a:lnTo>
                    <a:pt x="325437" y="123825"/>
                  </a:lnTo>
                  <a:lnTo>
                    <a:pt x="338137" y="131825"/>
                  </a:lnTo>
                  <a:lnTo>
                    <a:pt x="349250" y="141350"/>
                  </a:lnTo>
                  <a:lnTo>
                    <a:pt x="358775" y="149225"/>
                  </a:lnTo>
                  <a:lnTo>
                    <a:pt x="366712" y="160400"/>
                  </a:lnTo>
                  <a:lnTo>
                    <a:pt x="374650" y="171450"/>
                  </a:lnTo>
                  <a:lnTo>
                    <a:pt x="381000" y="184276"/>
                  </a:lnTo>
                  <a:lnTo>
                    <a:pt x="385762" y="195325"/>
                  </a:lnTo>
                  <a:lnTo>
                    <a:pt x="387350" y="206501"/>
                  </a:lnTo>
                  <a:lnTo>
                    <a:pt x="388937" y="222376"/>
                  </a:lnTo>
                  <a:lnTo>
                    <a:pt x="387350" y="238251"/>
                  </a:lnTo>
                  <a:lnTo>
                    <a:pt x="384175" y="249300"/>
                  </a:lnTo>
                  <a:lnTo>
                    <a:pt x="381000" y="262000"/>
                  </a:lnTo>
                  <a:lnTo>
                    <a:pt x="376237" y="271525"/>
                  </a:lnTo>
                  <a:lnTo>
                    <a:pt x="368300" y="281050"/>
                  </a:lnTo>
                  <a:lnTo>
                    <a:pt x="358775" y="293750"/>
                  </a:lnTo>
                  <a:lnTo>
                    <a:pt x="346075" y="306450"/>
                  </a:lnTo>
                  <a:lnTo>
                    <a:pt x="331787" y="317626"/>
                  </a:lnTo>
                  <a:lnTo>
                    <a:pt x="317500" y="325500"/>
                  </a:lnTo>
                  <a:lnTo>
                    <a:pt x="304800" y="331850"/>
                  </a:lnTo>
                  <a:lnTo>
                    <a:pt x="292100" y="338200"/>
                  </a:lnTo>
                  <a:lnTo>
                    <a:pt x="279400" y="341375"/>
                  </a:lnTo>
                  <a:lnTo>
                    <a:pt x="265112" y="344550"/>
                  </a:lnTo>
                  <a:lnTo>
                    <a:pt x="255587" y="347725"/>
                  </a:lnTo>
                  <a:lnTo>
                    <a:pt x="238125" y="347725"/>
                  </a:lnTo>
                  <a:lnTo>
                    <a:pt x="223837" y="349376"/>
                  </a:lnTo>
                  <a:lnTo>
                    <a:pt x="157162" y="349376"/>
                  </a:lnTo>
                  <a:lnTo>
                    <a:pt x="144462" y="347725"/>
                  </a:lnTo>
                  <a:lnTo>
                    <a:pt x="128587" y="346201"/>
                  </a:lnTo>
                  <a:lnTo>
                    <a:pt x="106362" y="341375"/>
                  </a:lnTo>
                  <a:lnTo>
                    <a:pt x="66675" y="323976"/>
                  </a:lnTo>
                  <a:lnTo>
                    <a:pt x="34925" y="300100"/>
                  </a:lnTo>
                  <a:lnTo>
                    <a:pt x="7937" y="260476"/>
                  </a:lnTo>
                  <a:lnTo>
                    <a:pt x="4762" y="249300"/>
                  </a:lnTo>
                  <a:lnTo>
                    <a:pt x="1587" y="238251"/>
                  </a:lnTo>
                  <a:lnTo>
                    <a:pt x="0" y="227075"/>
                  </a:lnTo>
                  <a:lnTo>
                    <a:pt x="1587" y="217550"/>
                  </a:lnTo>
                  <a:lnTo>
                    <a:pt x="3175" y="200151"/>
                  </a:lnTo>
                  <a:lnTo>
                    <a:pt x="7937" y="185800"/>
                  </a:lnTo>
                  <a:lnTo>
                    <a:pt x="15875" y="168275"/>
                  </a:lnTo>
                  <a:lnTo>
                    <a:pt x="28575" y="154050"/>
                  </a:lnTo>
                  <a:lnTo>
                    <a:pt x="41275" y="139700"/>
                  </a:lnTo>
                  <a:lnTo>
                    <a:pt x="74612" y="117475"/>
                  </a:lnTo>
                  <a:lnTo>
                    <a:pt x="120650" y="101600"/>
                  </a:lnTo>
                  <a:lnTo>
                    <a:pt x="136525" y="98425"/>
                  </a:lnTo>
                  <a:lnTo>
                    <a:pt x="47625" y="48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" name="object 122"/>
          <p:cNvGrpSpPr/>
          <p:nvPr/>
        </p:nvGrpSpPr>
        <p:grpSpPr>
          <a:xfrm>
            <a:off x="6923302" y="4422776"/>
            <a:ext cx="813012" cy="542925"/>
            <a:chOff x="6921500" y="4422775"/>
            <a:chExt cx="812800" cy="542925"/>
          </a:xfrm>
        </p:grpSpPr>
        <p:sp>
          <p:nvSpPr>
            <p:cNvPr id="123" name="object 123"/>
            <p:cNvSpPr/>
            <p:nvPr/>
          </p:nvSpPr>
          <p:spPr>
            <a:xfrm>
              <a:off x="6934200" y="4605718"/>
              <a:ext cx="258445" cy="347345"/>
            </a:xfrm>
            <a:custGeom>
              <a:avLst/>
              <a:gdLst/>
              <a:ahLst/>
              <a:cxnLst/>
              <a:rect l="l" t="t" r="r" b="b"/>
              <a:pathLst>
                <a:path w="258445" h="347345">
                  <a:moveTo>
                    <a:pt x="258381" y="0"/>
                  </a:moveTo>
                  <a:lnTo>
                    <a:pt x="0" y="0"/>
                  </a:lnTo>
                  <a:lnTo>
                    <a:pt x="0" y="347281"/>
                  </a:lnTo>
                  <a:lnTo>
                    <a:pt x="258381" y="347281"/>
                  </a:lnTo>
                  <a:lnTo>
                    <a:pt x="258381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192645" y="4519548"/>
              <a:ext cx="86360" cy="433705"/>
            </a:xfrm>
            <a:custGeom>
              <a:avLst/>
              <a:gdLst/>
              <a:ahLst/>
              <a:cxnLst/>
              <a:rect l="l" t="t" r="r" b="b"/>
              <a:pathLst>
                <a:path w="86359" h="433704">
                  <a:moveTo>
                    <a:pt x="86105" y="0"/>
                  </a:moveTo>
                  <a:lnTo>
                    <a:pt x="0" y="86106"/>
                  </a:lnTo>
                  <a:lnTo>
                    <a:pt x="0" y="433450"/>
                  </a:lnTo>
                  <a:lnTo>
                    <a:pt x="86105" y="347344"/>
                  </a:lnTo>
                  <a:lnTo>
                    <a:pt x="86105" y="0"/>
                  </a:lnTo>
                  <a:close/>
                </a:path>
              </a:pathLst>
            </a:custGeom>
            <a:solidFill>
              <a:srgbClr val="B00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934200" y="4519548"/>
              <a:ext cx="344805" cy="86360"/>
            </a:xfrm>
            <a:custGeom>
              <a:avLst/>
              <a:gdLst/>
              <a:ahLst/>
              <a:cxnLst/>
              <a:rect l="l" t="t" r="r" b="b"/>
              <a:pathLst>
                <a:path w="344804" h="86360">
                  <a:moveTo>
                    <a:pt x="344550" y="0"/>
                  </a:moveTo>
                  <a:lnTo>
                    <a:pt x="86105" y="0"/>
                  </a:lnTo>
                  <a:lnTo>
                    <a:pt x="0" y="86106"/>
                  </a:lnTo>
                  <a:lnTo>
                    <a:pt x="258445" y="86106"/>
                  </a:lnTo>
                  <a:lnTo>
                    <a:pt x="344550" y="0"/>
                  </a:lnTo>
                  <a:close/>
                </a:path>
              </a:pathLst>
            </a:custGeom>
            <a:solidFill>
              <a:srgbClr val="E23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934200" y="4519548"/>
              <a:ext cx="344805" cy="433705"/>
            </a:xfrm>
            <a:custGeom>
              <a:avLst/>
              <a:gdLst/>
              <a:ahLst/>
              <a:cxnLst/>
              <a:rect l="l" t="t" r="r" b="b"/>
              <a:pathLst>
                <a:path w="344804" h="433704">
                  <a:moveTo>
                    <a:pt x="0" y="86106"/>
                  </a:moveTo>
                  <a:lnTo>
                    <a:pt x="86105" y="0"/>
                  </a:lnTo>
                  <a:lnTo>
                    <a:pt x="344550" y="0"/>
                  </a:lnTo>
                  <a:lnTo>
                    <a:pt x="344550" y="347344"/>
                  </a:lnTo>
                  <a:lnTo>
                    <a:pt x="258445" y="433450"/>
                  </a:lnTo>
                  <a:lnTo>
                    <a:pt x="0" y="433450"/>
                  </a:lnTo>
                  <a:lnTo>
                    <a:pt x="0" y="86106"/>
                  </a:lnTo>
                  <a:close/>
                </a:path>
                <a:path w="344804" h="433704">
                  <a:moveTo>
                    <a:pt x="0" y="86106"/>
                  </a:moveTo>
                  <a:lnTo>
                    <a:pt x="258445" y="86106"/>
                  </a:lnTo>
                  <a:lnTo>
                    <a:pt x="344550" y="0"/>
                  </a:lnTo>
                </a:path>
                <a:path w="344804" h="433704">
                  <a:moveTo>
                    <a:pt x="258445" y="86106"/>
                  </a:moveTo>
                  <a:lnTo>
                    <a:pt x="258445" y="433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018401" y="4454521"/>
              <a:ext cx="241300" cy="57150"/>
            </a:xfrm>
            <a:custGeom>
              <a:avLst/>
              <a:gdLst/>
              <a:ahLst/>
              <a:cxnLst/>
              <a:rect l="l" t="t" r="r" b="b"/>
              <a:pathLst>
                <a:path w="241300" h="57150">
                  <a:moveTo>
                    <a:pt x="241300" y="0"/>
                  </a:moveTo>
                  <a:lnTo>
                    <a:pt x="0" y="0"/>
                  </a:lnTo>
                  <a:lnTo>
                    <a:pt x="0" y="57153"/>
                  </a:lnTo>
                  <a:lnTo>
                    <a:pt x="241300" y="57153"/>
                  </a:lnTo>
                  <a:lnTo>
                    <a:pt x="241300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259700" y="4435475"/>
              <a:ext cx="19050" cy="76200"/>
            </a:xfrm>
            <a:custGeom>
              <a:avLst/>
              <a:gdLst/>
              <a:ahLst/>
              <a:cxnLst/>
              <a:rect l="l" t="t" r="r" b="b"/>
              <a:pathLst>
                <a:path w="19050" h="76200">
                  <a:moveTo>
                    <a:pt x="19050" y="0"/>
                  </a:moveTo>
                  <a:lnTo>
                    <a:pt x="0" y="19050"/>
                  </a:lnTo>
                  <a:lnTo>
                    <a:pt x="0" y="76200"/>
                  </a:lnTo>
                  <a:lnTo>
                    <a:pt x="19050" y="571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B00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018401" y="4435475"/>
              <a:ext cx="260350" cy="19050"/>
            </a:xfrm>
            <a:custGeom>
              <a:avLst/>
              <a:gdLst/>
              <a:ahLst/>
              <a:cxnLst/>
              <a:rect l="l" t="t" r="r" b="b"/>
              <a:pathLst>
                <a:path w="260350" h="19050">
                  <a:moveTo>
                    <a:pt x="260350" y="0"/>
                  </a:moveTo>
                  <a:lnTo>
                    <a:pt x="18923" y="0"/>
                  </a:lnTo>
                  <a:lnTo>
                    <a:pt x="0" y="19050"/>
                  </a:lnTo>
                  <a:lnTo>
                    <a:pt x="241300" y="19050"/>
                  </a:lnTo>
                  <a:lnTo>
                    <a:pt x="260350" y="0"/>
                  </a:lnTo>
                  <a:close/>
                </a:path>
              </a:pathLst>
            </a:custGeom>
            <a:solidFill>
              <a:srgbClr val="E231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018401" y="4435475"/>
              <a:ext cx="260350" cy="76200"/>
            </a:xfrm>
            <a:custGeom>
              <a:avLst/>
              <a:gdLst/>
              <a:ahLst/>
              <a:cxnLst/>
              <a:rect l="l" t="t" r="r" b="b"/>
              <a:pathLst>
                <a:path w="260350" h="76200">
                  <a:moveTo>
                    <a:pt x="0" y="19050"/>
                  </a:moveTo>
                  <a:lnTo>
                    <a:pt x="18923" y="0"/>
                  </a:lnTo>
                  <a:lnTo>
                    <a:pt x="260350" y="0"/>
                  </a:lnTo>
                  <a:lnTo>
                    <a:pt x="260350" y="57150"/>
                  </a:lnTo>
                  <a:lnTo>
                    <a:pt x="241300" y="76200"/>
                  </a:lnTo>
                  <a:lnTo>
                    <a:pt x="0" y="76200"/>
                  </a:lnTo>
                  <a:lnTo>
                    <a:pt x="0" y="19050"/>
                  </a:lnTo>
                  <a:close/>
                </a:path>
                <a:path w="260350" h="76200">
                  <a:moveTo>
                    <a:pt x="0" y="19050"/>
                  </a:moveTo>
                  <a:lnTo>
                    <a:pt x="241300" y="19050"/>
                  </a:lnTo>
                  <a:lnTo>
                    <a:pt x="260350" y="0"/>
                  </a:lnTo>
                </a:path>
                <a:path w="260350" h="76200">
                  <a:moveTo>
                    <a:pt x="241300" y="19050"/>
                  </a:moveTo>
                  <a:lnTo>
                    <a:pt x="241300" y="762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002526" y="4552950"/>
              <a:ext cx="180975" cy="27305"/>
            </a:xfrm>
            <a:custGeom>
              <a:avLst/>
              <a:gdLst/>
              <a:ahLst/>
              <a:cxnLst/>
              <a:rect l="l" t="t" r="r" b="b"/>
              <a:pathLst>
                <a:path w="180975" h="27304">
                  <a:moveTo>
                    <a:pt x="180975" y="0"/>
                  </a:moveTo>
                  <a:lnTo>
                    <a:pt x="45212" y="0"/>
                  </a:lnTo>
                  <a:lnTo>
                    <a:pt x="0" y="26924"/>
                  </a:lnTo>
                  <a:lnTo>
                    <a:pt x="135635" y="26924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DC00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002526" y="4552950"/>
              <a:ext cx="180975" cy="27305"/>
            </a:xfrm>
            <a:custGeom>
              <a:avLst/>
              <a:gdLst/>
              <a:ahLst/>
              <a:cxnLst/>
              <a:rect l="l" t="t" r="r" b="b"/>
              <a:pathLst>
                <a:path w="180975" h="27304">
                  <a:moveTo>
                    <a:pt x="0" y="26924"/>
                  </a:moveTo>
                  <a:lnTo>
                    <a:pt x="45212" y="0"/>
                  </a:lnTo>
                  <a:lnTo>
                    <a:pt x="180975" y="0"/>
                  </a:lnTo>
                  <a:lnTo>
                    <a:pt x="135635" y="26924"/>
                  </a:lnTo>
                  <a:lnTo>
                    <a:pt x="0" y="269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613269" y="4519548"/>
              <a:ext cx="108585" cy="433705"/>
            </a:xfrm>
            <a:custGeom>
              <a:avLst/>
              <a:gdLst/>
              <a:ahLst/>
              <a:cxnLst/>
              <a:rect l="l" t="t" r="r" b="b"/>
              <a:pathLst>
                <a:path w="108584" h="433704">
                  <a:moveTo>
                    <a:pt x="108330" y="0"/>
                  </a:moveTo>
                  <a:lnTo>
                    <a:pt x="0" y="108331"/>
                  </a:lnTo>
                  <a:lnTo>
                    <a:pt x="0" y="433450"/>
                  </a:lnTo>
                  <a:lnTo>
                    <a:pt x="108330" y="325119"/>
                  </a:lnTo>
                  <a:lnTo>
                    <a:pt x="10833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288275" y="4519548"/>
              <a:ext cx="433705" cy="108585"/>
            </a:xfrm>
            <a:custGeom>
              <a:avLst/>
              <a:gdLst/>
              <a:ahLst/>
              <a:cxnLst/>
              <a:rect l="l" t="t" r="r" b="b"/>
              <a:pathLst>
                <a:path w="433704" h="108585">
                  <a:moveTo>
                    <a:pt x="433324" y="0"/>
                  </a:moveTo>
                  <a:lnTo>
                    <a:pt x="108203" y="0"/>
                  </a:lnTo>
                  <a:lnTo>
                    <a:pt x="0" y="108331"/>
                  </a:lnTo>
                  <a:lnTo>
                    <a:pt x="324993" y="108331"/>
                  </a:lnTo>
                  <a:lnTo>
                    <a:pt x="433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288275" y="4519548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108331"/>
                  </a:moveTo>
                  <a:lnTo>
                    <a:pt x="108203" y="0"/>
                  </a:lnTo>
                  <a:lnTo>
                    <a:pt x="433324" y="0"/>
                  </a:lnTo>
                  <a:lnTo>
                    <a:pt x="433324" y="325119"/>
                  </a:lnTo>
                  <a:lnTo>
                    <a:pt x="324993" y="433450"/>
                  </a:lnTo>
                  <a:lnTo>
                    <a:pt x="0" y="433450"/>
                  </a:lnTo>
                  <a:lnTo>
                    <a:pt x="0" y="108331"/>
                  </a:lnTo>
                  <a:close/>
                </a:path>
                <a:path w="433704" h="433704">
                  <a:moveTo>
                    <a:pt x="0" y="108331"/>
                  </a:moveTo>
                  <a:lnTo>
                    <a:pt x="324993" y="108331"/>
                  </a:lnTo>
                  <a:lnTo>
                    <a:pt x="433324" y="0"/>
                  </a:lnTo>
                </a:path>
                <a:path w="433704" h="433704">
                  <a:moveTo>
                    <a:pt x="324993" y="108331"/>
                  </a:moveTo>
                  <a:lnTo>
                    <a:pt x="324993" y="4334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702550" y="4435475"/>
              <a:ext cx="19050" cy="76200"/>
            </a:xfrm>
            <a:custGeom>
              <a:avLst/>
              <a:gdLst/>
              <a:ahLst/>
              <a:cxnLst/>
              <a:rect l="l" t="t" r="r" b="b"/>
              <a:pathLst>
                <a:path w="19050" h="76200">
                  <a:moveTo>
                    <a:pt x="19050" y="0"/>
                  </a:moveTo>
                  <a:lnTo>
                    <a:pt x="0" y="19050"/>
                  </a:lnTo>
                  <a:lnTo>
                    <a:pt x="0" y="76200"/>
                  </a:lnTo>
                  <a:lnTo>
                    <a:pt x="19050" y="571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393051" y="4435475"/>
              <a:ext cx="328930" cy="19050"/>
            </a:xfrm>
            <a:custGeom>
              <a:avLst/>
              <a:gdLst/>
              <a:ahLst/>
              <a:cxnLst/>
              <a:rect l="l" t="t" r="r" b="b"/>
              <a:pathLst>
                <a:path w="328929" h="19050">
                  <a:moveTo>
                    <a:pt x="328549" y="0"/>
                  </a:moveTo>
                  <a:lnTo>
                    <a:pt x="18923" y="0"/>
                  </a:lnTo>
                  <a:lnTo>
                    <a:pt x="0" y="19050"/>
                  </a:lnTo>
                  <a:lnTo>
                    <a:pt x="309499" y="19050"/>
                  </a:lnTo>
                  <a:lnTo>
                    <a:pt x="3285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393051" y="4435475"/>
              <a:ext cx="328930" cy="76200"/>
            </a:xfrm>
            <a:custGeom>
              <a:avLst/>
              <a:gdLst/>
              <a:ahLst/>
              <a:cxnLst/>
              <a:rect l="l" t="t" r="r" b="b"/>
              <a:pathLst>
                <a:path w="328929" h="76200">
                  <a:moveTo>
                    <a:pt x="0" y="19050"/>
                  </a:moveTo>
                  <a:lnTo>
                    <a:pt x="18923" y="0"/>
                  </a:lnTo>
                  <a:lnTo>
                    <a:pt x="328549" y="0"/>
                  </a:lnTo>
                  <a:lnTo>
                    <a:pt x="328549" y="57150"/>
                  </a:lnTo>
                  <a:lnTo>
                    <a:pt x="309499" y="76200"/>
                  </a:lnTo>
                  <a:lnTo>
                    <a:pt x="0" y="76200"/>
                  </a:lnTo>
                  <a:lnTo>
                    <a:pt x="0" y="19050"/>
                  </a:lnTo>
                  <a:close/>
                </a:path>
                <a:path w="328929" h="76200">
                  <a:moveTo>
                    <a:pt x="0" y="19050"/>
                  </a:moveTo>
                  <a:lnTo>
                    <a:pt x="309499" y="19050"/>
                  </a:lnTo>
                  <a:lnTo>
                    <a:pt x="328549" y="0"/>
                  </a:lnTo>
                </a:path>
                <a:path w="328929" h="76200">
                  <a:moveTo>
                    <a:pt x="309499" y="19050"/>
                  </a:moveTo>
                  <a:lnTo>
                    <a:pt x="309499" y="762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424801" y="4478273"/>
              <a:ext cx="46355" cy="16510"/>
            </a:xfrm>
            <a:custGeom>
              <a:avLst/>
              <a:gdLst/>
              <a:ahLst/>
              <a:cxnLst/>
              <a:rect l="l" t="t" r="r" b="b"/>
              <a:pathLst>
                <a:path w="46354" h="16510">
                  <a:moveTo>
                    <a:pt x="0" y="8000"/>
                  </a:moveTo>
                  <a:lnTo>
                    <a:pt x="0" y="3556"/>
                  </a:lnTo>
                  <a:lnTo>
                    <a:pt x="10287" y="0"/>
                  </a:lnTo>
                  <a:lnTo>
                    <a:pt x="22987" y="0"/>
                  </a:lnTo>
                  <a:lnTo>
                    <a:pt x="35687" y="0"/>
                  </a:lnTo>
                  <a:lnTo>
                    <a:pt x="45974" y="3556"/>
                  </a:lnTo>
                  <a:lnTo>
                    <a:pt x="45974" y="8000"/>
                  </a:lnTo>
                  <a:lnTo>
                    <a:pt x="45974" y="12445"/>
                  </a:lnTo>
                  <a:lnTo>
                    <a:pt x="35687" y="16001"/>
                  </a:lnTo>
                  <a:lnTo>
                    <a:pt x="10287" y="16001"/>
                  </a:lnTo>
                  <a:lnTo>
                    <a:pt x="0" y="12445"/>
                  </a:lnTo>
                  <a:lnTo>
                    <a:pt x="0" y="80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339076" y="4722749"/>
              <a:ext cx="231775" cy="92075"/>
            </a:xfrm>
            <a:custGeom>
              <a:avLst/>
              <a:gdLst/>
              <a:ahLst/>
              <a:cxnLst/>
              <a:rect l="l" t="t" r="r" b="b"/>
              <a:pathLst>
                <a:path w="231775" h="92075">
                  <a:moveTo>
                    <a:pt x="0" y="27050"/>
                  </a:moveTo>
                  <a:lnTo>
                    <a:pt x="26924" y="0"/>
                  </a:lnTo>
                  <a:lnTo>
                    <a:pt x="204724" y="0"/>
                  </a:lnTo>
                  <a:lnTo>
                    <a:pt x="231775" y="27050"/>
                  </a:lnTo>
                  <a:lnTo>
                    <a:pt x="231775" y="65150"/>
                  </a:lnTo>
                  <a:lnTo>
                    <a:pt x="204724" y="92075"/>
                  </a:lnTo>
                  <a:lnTo>
                    <a:pt x="26924" y="92075"/>
                  </a:lnTo>
                  <a:lnTo>
                    <a:pt x="0" y="65150"/>
                  </a:lnTo>
                  <a:lnTo>
                    <a:pt x="0" y="2705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1" name="object 141"/>
          <p:cNvGrpSpPr/>
          <p:nvPr/>
        </p:nvGrpSpPr>
        <p:grpSpPr>
          <a:xfrm>
            <a:off x="7799831" y="4492625"/>
            <a:ext cx="335367" cy="436880"/>
            <a:chOff x="7797800" y="4492625"/>
            <a:chExt cx="335280" cy="436880"/>
          </a:xfrm>
        </p:grpSpPr>
        <p:sp>
          <p:nvSpPr>
            <p:cNvPr id="142" name="object 142"/>
            <p:cNvSpPr/>
            <p:nvPr/>
          </p:nvSpPr>
          <p:spPr>
            <a:xfrm>
              <a:off x="8009000" y="4697349"/>
              <a:ext cx="123825" cy="23190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799450" y="4795774"/>
              <a:ext cx="123825" cy="12700"/>
            </a:xfrm>
            <a:custGeom>
              <a:avLst/>
              <a:gdLst/>
              <a:ahLst/>
              <a:cxnLst/>
              <a:rect l="l" t="t" r="r" b="b"/>
              <a:pathLst>
                <a:path w="123825" h="12700">
                  <a:moveTo>
                    <a:pt x="123825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3825" y="12700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F39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885176" y="4492625"/>
              <a:ext cx="65024" cy="683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797800" y="4575175"/>
              <a:ext cx="230504" cy="354330"/>
            </a:xfrm>
            <a:custGeom>
              <a:avLst/>
              <a:gdLst/>
              <a:ahLst/>
              <a:cxnLst/>
              <a:rect l="l" t="t" r="r" b="b"/>
              <a:pathLst>
                <a:path w="230504" h="354329">
                  <a:moveTo>
                    <a:pt x="103124" y="0"/>
                  </a:moveTo>
                  <a:lnTo>
                    <a:pt x="93599" y="0"/>
                  </a:lnTo>
                  <a:lnTo>
                    <a:pt x="88900" y="1524"/>
                  </a:lnTo>
                  <a:lnTo>
                    <a:pt x="85725" y="1524"/>
                  </a:lnTo>
                  <a:lnTo>
                    <a:pt x="79375" y="4699"/>
                  </a:lnTo>
                  <a:lnTo>
                    <a:pt x="74549" y="7874"/>
                  </a:lnTo>
                  <a:lnTo>
                    <a:pt x="73025" y="11049"/>
                  </a:lnTo>
                  <a:lnTo>
                    <a:pt x="65024" y="19050"/>
                  </a:lnTo>
                  <a:lnTo>
                    <a:pt x="63500" y="22225"/>
                  </a:lnTo>
                  <a:lnTo>
                    <a:pt x="61849" y="26924"/>
                  </a:lnTo>
                  <a:lnTo>
                    <a:pt x="1524" y="163449"/>
                  </a:lnTo>
                  <a:lnTo>
                    <a:pt x="1524" y="168275"/>
                  </a:lnTo>
                  <a:lnTo>
                    <a:pt x="0" y="169799"/>
                  </a:lnTo>
                  <a:lnTo>
                    <a:pt x="0" y="179324"/>
                  </a:lnTo>
                  <a:lnTo>
                    <a:pt x="1524" y="182499"/>
                  </a:lnTo>
                  <a:lnTo>
                    <a:pt x="1524" y="185674"/>
                  </a:lnTo>
                  <a:lnTo>
                    <a:pt x="3175" y="187325"/>
                  </a:lnTo>
                  <a:lnTo>
                    <a:pt x="4699" y="190500"/>
                  </a:lnTo>
                  <a:lnTo>
                    <a:pt x="9525" y="195199"/>
                  </a:lnTo>
                  <a:lnTo>
                    <a:pt x="12700" y="196850"/>
                  </a:lnTo>
                  <a:lnTo>
                    <a:pt x="14224" y="198374"/>
                  </a:lnTo>
                  <a:lnTo>
                    <a:pt x="15875" y="198374"/>
                  </a:lnTo>
                  <a:lnTo>
                    <a:pt x="19050" y="200025"/>
                  </a:lnTo>
                  <a:lnTo>
                    <a:pt x="150749" y="200025"/>
                  </a:lnTo>
                  <a:lnTo>
                    <a:pt x="150749" y="353949"/>
                  </a:lnTo>
                  <a:lnTo>
                    <a:pt x="190500" y="353949"/>
                  </a:lnTo>
                  <a:lnTo>
                    <a:pt x="190500" y="168275"/>
                  </a:lnTo>
                  <a:lnTo>
                    <a:pt x="188849" y="166624"/>
                  </a:lnTo>
                  <a:lnTo>
                    <a:pt x="187325" y="163449"/>
                  </a:lnTo>
                  <a:lnTo>
                    <a:pt x="180975" y="157099"/>
                  </a:lnTo>
                  <a:lnTo>
                    <a:pt x="179324" y="157099"/>
                  </a:lnTo>
                  <a:lnTo>
                    <a:pt x="176149" y="155575"/>
                  </a:lnTo>
                  <a:lnTo>
                    <a:pt x="174625" y="155575"/>
                  </a:lnTo>
                  <a:lnTo>
                    <a:pt x="171450" y="153924"/>
                  </a:lnTo>
                  <a:lnTo>
                    <a:pt x="163449" y="153924"/>
                  </a:lnTo>
                  <a:lnTo>
                    <a:pt x="90424" y="150749"/>
                  </a:lnTo>
                  <a:lnTo>
                    <a:pt x="111125" y="90424"/>
                  </a:lnTo>
                  <a:lnTo>
                    <a:pt x="125349" y="111125"/>
                  </a:lnTo>
                  <a:lnTo>
                    <a:pt x="217424" y="111125"/>
                  </a:lnTo>
                  <a:lnTo>
                    <a:pt x="220599" y="109474"/>
                  </a:lnTo>
                  <a:lnTo>
                    <a:pt x="222250" y="107950"/>
                  </a:lnTo>
                  <a:lnTo>
                    <a:pt x="225425" y="106299"/>
                  </a:lnTo>
                  <a:lnTo>
                    <a:pt x="225425" y="104775"/>
                  </a:lnTo>
                  <a:lnTo>
                    <a:pt x="228600" y="103124"/>
                  </a:lnTo>
                  <a:lnTo>
                    <a:pt x="228600" y="98425"/>
                  </a:lnTo>
                  <a:lnTo>
                    <a:pt x="230124" y="96774"/>
                  </a:lnTo>
                  <a:lnTo>
                    <a:pt x="230124" y="90424"/>
                  </a:lnTo>
                  <a:lnTo>
                    <a:pt x="228600" y="88900"/>
                  </a:lnTo>
                  <a:lnTo>
                    <a:pt x="228600" y="87249"/>
                  </a:lnTo>
                  <a:lnTo>
                    <a:pt x="226949" y="84074"/>
                  </a:lnTo>
                  <a:lnTo>
                    <a:pt x="220599" y="77724"/>
                  </a:lnTo>
                  <a:lnTo>
                    <a:pt x="146050" y="77724"/>
                  </a:lnTo>
                  <a:lnTo>
                    <a:pt x="131699" y="52324"/>
                  </a:lnTo>
                  <a:lnTo>
                    <a:pt x="133350" y="50800"/>
                  </a:lnTo>
                  <a:lnTo>
                    <a:pt x="134874" y="47625"/>
                  </a:lnTo>
                  <a:lnTo>
                    <a:pt x="134874" y="25400"/>
                  </a:lnTo>
                  <a:lnTo>
                    <a:pt x="133350" y="22225"/>
                  </a:lnTo>
                  <a:lnTo>
                    <a:pt x="133350" y="20574"/>
                  </a:lnTo>
                  <a:lnTo>
                    <a:pt x="131699" y="17399"/>
                  </a:lnTo>
                  <a:lnTo>
                    <a:pt x="120650" y="6350"/>
                  </a:lnTo>
                  <a:lnTo>
                    <a:pt x="111125" y="1524"/>
                  </a:lnTo>
                  <a:lnTo>
                    <a:pt x="106299" y="1524"/>
                  </a:lnTo>
                  <a:lnTo>
                    <a:pt x="103124" y="0"/>
                  </a:lnTo>
                  <a:close/>
                </a:path>
              </a:pathLst>
            </a:custGeom>
            <a:solidFill>
              <a:srgbClr val="F39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6" name="object 146"/>
          <p:cNvGrpSpPr/>
          <p:nvPr/>
        </p:nvGrpSpPr>
        <p:grpSpPr>
          <a:xfrm>
            <a:off x="8214339" y="4436999"/>
            <a:ext cx="355693" cy="511809"/>
            <a:chOff x="8212201" y="4436998"/>
            <a:chExt cx="355600" cy="511809"/>
          </a:xfrm>
        </p:grpSpPr>
        <p:sp>
          <p:nvSpPr>
            <p:cNvPr id="147" name="object 147"/>
            <p:cNvSpPr/>
            <p:nvPr/>
          </p:nvSpPr>
          <p:spPr>
            <a:xfrm>
              <a:off x="8224901" y="4449698"/>
              <a:ext cx="330200" cy="486409"/>
            </a:xfrm>
            <a:custGeom>
              <a:avLst/>
              <a:gdLst/>
              <a:ahLst/>
              <a:cxnLst/>
              <a:rect l="l" t="t" r="r" b="b"/>
              <a:pathLst>
                <a:path w="330200" h="486410">
                  <a:moveTo>
                    <a:pt x="160274" y="0"/>
                  </a:moveTo>
                  <a:lnTo>
                    <a:pt x="149225" y="4825"/>
                  </a:lnTo>
                  <a:lnTo>
                    <a:pt x="142875" y="11175"/>
                  </a:lnTo>
                  <a:lnTo>
                    <a:pt x="139700" y="20700"/>
                  </a:lnTo>
                  <a:lnTo>
                    <a:pt x="136525" y="28575"/>
                  </a:lnTo>
                  <a:lnTo>
                    <a:pt x="139700" y="38100"/>
                  </a:lnTo>
                  <a:lnTo>
                    <a:pt x="142875" y="50800"/>
                  </a:lnTo>
                  <a:lnTo>
                    <a:pt x="146050" y="58800"/>
                  </a:lnTo>
                  <a:lnTo>
                    <a:pt x="147574" y="66675"/>
                  </a:lnTo>
                  <a:lnTo>
                    <a:pt x="146050" y="77850"/>
                  </a:lnTo>
                  <a:lnTo>
                    <a:pt x="139700" y="85725"/>
                  </a:lnTo>
                  <a:lnTo>
                    <a:pt x="128524" y="93725"/>
                  </a:lnTo>
                  <a:lnTo>
                    <a:pt x="115824" y="100075"/>
                  </a:lnTo>
                  <a:lnTo>
                    <a:pt x="107950" y="106425"/>
                  </a:lnTo>
                  <a:lnTo>
                    <a:pt x="92075" y="125475"/>
                  </a:lnTo>
                  <a:lnTo>
                    <a:pt x="82550" y="144525"/>
                  </a:lnTo>
                  <a:lnTo>
                    <a:pt x="76200" y="165100"/>
                  </a:lnTo>
                  <a:lnTo>
                    <a:pt x="69850" y="182625"/>
                  </a:lnTo>
                  <a:lnTo>
                    <a:pt x="68199" y="203200"/>
                  </a:lnTo>
                  <a:lnTo>
                    <a:pt x="66675" y="228600"/>
                  </a:lnTo>
                  <a:lnTo>
                    <a:pt x="66675" y="255650"/>
                  </a:lnTo>
                  <a:lnTo>
                    <a:pt x="68199" y="263525"/>
                  </a:lnTo>
                  <a:lnTo>
                    <a:pt x="73025" y="268350"/>
                  </a:lnTo>
                  <a:lnTo>
                    <a:pt x="80899" y="270001"/>
                  </a:lnTo>
                  <a:lnTo>
                    <a:pt x="85725" y="268350"/>
                  </a:lnTo>
                  <a:lnTo>
                    <a:pt x="87249" y="263525"/>
                  </a:lnTo>
                  <a:lnTo>
                    <a:pt x="87249" y="222250"/>
                  </a:lnTo>
                  <a:lnTo>
                    <a:pt x="88900" y="204850"/>
                  </a:lnTo>
                  <a:lnTo>
                    <a:pt x="92075" y="195325"/>
                  </a:lnTo>
                  <a:lnTo>
                    <a:pt x="96774" y="184150"/>
                  </a:lnTo>
                  <a:lnTo>
                    <a:pt x="106299" y="182625"/>
                  </a:lnTo>
                  <a:lnTo>
                    <a:pt x="114300" y="184150"/>
                  </a:lnTo>
                  <a:lnTo>
                    <a:pt x="115824" y="190500"/>
                  </a:lnTo>
                  <a:lnTo>
                    <a:pt x="114300" y="209550"/>
                  </a:lnTo>
                  <a:lnTo>
                    <a:pt x="112649" y="234950"/>
                  </a:lnTo>
                  <a:lnTo>
                    <a:pt x="107950" y="257175"/>
                  </a:lnTo>
                  <a:lnTo>
                    <a:pt x="101600" y="277875"/>
                  </a:lnTo>
                  <a:lnTo>
                    <a:pt x="95250" y="306450"/>
                  </a:lnTo>
                  <a:lnTo>
                    <a:pt x="87249" y="328675"/>
                  </a:lnTo>
                  <a:lnTo>
                    <a:pt x="68199" y="358901"/>
                  </a:lnTo>
                  <a:lnTo>
                    <a:pt x="53975" y="376300"/>
                  </a:lnTo>
                  <a:lnTo>
                    <a:pt x="28575" y="406526"/>
                  </a:lnTo>
                  <a:lnTo>
                    <a:pt x="12700" y="427100"/>
                  </a:lnTo>
                  <a:lnTo>
                    <a:pt x="0" y="446150"/>
                  </a:lnTo>
                  <a:lnTo>
                    <a:pt x="0" y="454151"/>
                  </a:lnTo>
                  <a:lnTo>
                    <a:pt x="12700" y="468375"/>
                  </a:lnTo>
                  <a:lnTo>
                    <a:pt x="31750" y="485901"/>
                  </a:lnTo>
                  <a:lnTo>
                    <a:pt x="49149" y="485901"/>
                  </a:lnTo>
                  <a:lnTo>
                    <a:pt x="53975" y="481075"/>
                  </a:lnTo>
                  <a:lnTo>
                    <a:pt x="45974" y="471550"/>
                  </a:lnTo>
                  <a:lnTo>
                    <a:pt x="38100" y="460501"/>
                  </a:lnTo>
                  <a:lnTo>
                    <a:pt x="38100" y="452500"/>
                  </a:lnTo>
                  <a:lnTo>
                    <a:pt x="49149" y="433450"/>
                  </a:lnTo>
                  <a:lnTo>
                    <a:pt x="69850" y="412876"/>
                  </a:lnTo>
                  <a:lnTo>
                    <a:pt x="101600" y="373125"/>
                  </a:lnTo>
                  <a:lnTo>
                    <a:pt x="128524" y="339851"/>
                  </a:lnTo>
                  <a:lnTo>
                    <a:pt x="139700" y="328675"/>
                  </a:lnTo>
                  <a:lnTo>
                    <a:pt x="146050" y="320801"/>
                  </a:lnTo>
                  <a:lnTo>
                    <a:pt x="206375" y="366775"/>
                  </a:lnTo>
                  <a:lnTo>
                    <a:pt x="234950" y="406526"/>
                  </a:lnTo>
                  <a:lnTo>
                    <a:pt x="261874" y="446150"/>
                  </a:lnTo>
                  <a:lnTo>
                    <a:pt x="277749" y="468375"/>
                  </a:lnTo>
                  <a:lnTo>
                    <a:pt x="284099" y="473201"/>
                  </a:lnTo>
                  <a:lnTo>
                    <a:pt x="295275" y="473201"/>
                  </a:lnTo>
                  <a:lnTo>
                    <a:pt x="304800" y="465200"/>
                  </a:lnTo>
                  <a:lnTo>
                    <a:pt x="317500" y="457326"/>
                  </a:lnTo>
                  <a:lnTo>
                    <a:pt x="328549" y="447801"/>
                  </a:lnTo>
                  <a:lnTo>
                    <a:pt x="330200" y="439800"/>
                  </a:lnTo>
                  <a:lnTo>
                    <a:pt x="317500" y="441451"/>
                  </a:lnTo>
                  <a:lnTo>
                    <a:pt x="304800" y="439800"/>
                  </a:lnTo>
                  <a:lnTo>
                    <a:pt x="222250" y="317626"/>
                  </a:lnTo>
                  <a:lnTo>
                    <a:pt x="201549" y="282701"/>
                  </a:lnTo>
                  <a:lnTo>
                    <a:pt x="184150" y="236600"/>
                  </a:lnTo>
                  <a:lnTo>
                    <a:pt x="184150" y="217550"/>
                  </a:lnTo>
                  <a:lnTo>
                    <a:pt x="188849" y="204850"/>
                  </a:lnTo>
                  <a:lnTo>
                    <a:pt x="196850" y="198500"/>
                  </a:lnTo>
                  <a:lnTo>
                    <a:pt x="203200" y="198500"/>
                  </a:lnTo>
                  <a:lnTo>
                    <a:pt x="211074" y="203200"/>
                  </a:lnTo>
                  <a:lnTo>
                    <a:pt x="226949" y="215900"/>
                  </a:lnTo>
                  <a:lnTo>
                    <a:pt x="244475" y="228600"/>
                  </a:lnTo>
                  <a:lnTo>
                    <a:pt x="257175" y="234950"/>
                  </a:lnTo>
                  <a:lnTo>
                    <a:pt x="265049" y="236600"/>
                  </a:lnTo>
                  <a:lnTo>
                    <a:pt x="271399" y="234950"/>
                  </a:lnTo>
                  <a:lnTo>
                    <a:pt x="276225" y="228600"/>
                  </a:lnTo>
                  <a:lnTo>
                    <a:pt x="274574" y="223900"/>
                  </a:lnTo>
                  <a:lnTo>
                    <a:pt x="271399" y="217550"/>
                  </a:lnTo>
                  <a:lnTo>
                    <a:pt x="260350" y="204850"/>
                  </a:lnTo>
                  <a:lnTo>
                    <a:pt x="236474" y="190500"/>
                  </a:lnTo>
                  <a:lnTo>
                    <a:pt x="223774" y="179450"/>
                  </a:lnTo>
                  <a:lnTo>
                    <a:pt x="215900" y="165100"/>
                  </a:lnTo>
                  <a:lnTo>
                    <a:pt x="209550" y="144525"/>
                  </a:lnTo>
                  <a:lnTo>
                    <a:pt x="207899" y="123825"/>
                  </a:lnTo>
                  <a:lnTo>
                    <a:pt x="196850" y="104775"/>
                  </a:lnTo>
                  <a:lnTo>
                    <a:pt x="187325" y="93725"/>
                  </a:lnTo>
                  <a:lnTo>
                    <a:pt x="180975" y="87375"/>
                  </a:lnTo>
                  <a:lnTo>
                    <a:pt x="180975" y="79375"/>
                  </a:lnTo>
                  <a:lnTo>
                    <a:pt x="184150" y="66675"/>
                  </a:lnTo>
                  <a:lnTo>
                    <a:pt x="188849" y="60325"/>
                  </a:lnTo>
                  <a:lnTo>
                    <a:pt x="193675" y="52450"/>
                  </a:lnTo>
                  <a:lnTo>
                    <a:pt x="196850" y="39750"/>
                  </a:lnTo>
                  <a:lnTo>
                    <a:pt x="193675" y="25400"/>
                  </a:lnTo>
                  <a:lnTo>
                    <a:pt x="190500" y="14350"/>
                  </a:lnTo>
                  <a:lnTo>
                    <a:pt x="184150" y="6350"/>
                  </a:lnTo>
                  <a:lnTo>
                    <a:pt x="174625" y="1650"/>
                  </a:lnTo>
                  <a:lnTo>
                    <a:pt x="160274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8224901" y="4449698"/>
              <a:ext cx="330200" cy="486409"/>
            </a:xfrm>
            <a:custGeom>
              <a:avLst/>
              <a:gdLst/>
              <a:ahLst/>
              <a:cxnLst/>
              <a:rect l="l" t="t" r="r" b="b"/>
              <a:pathLst>
                <a:path w="330200" h="486410">
                  <a:moveTo>
                    <a:pt x="328549" y="447801"/>
                  </a:moveTo>
                  <a:lnTo>
                    <a:pt x="330200" y="439800"/>
                  </a:lnTo>
                  <a:lnTo>
                    <a:pt x="317500" y="441451"/>
                  </a:lnTo>
                  <a:lnTo>
                    <a:pt x="304800" y="439800"/>
                  </a:lnTo>
                  <a:lnTo>
                    <a:pt x="288925" y="427100"/>
                  </a:lnTo>
                  <a:lnTo>
                    <a:pt x="261874" y="382650"/>
                  </a:lnTo>
                  <a:lnTo>
                    <a:pt x="222250" y="317626"/>
                  </a:lnTo>
                  <a:lnTo>
                    <a:pt x="201549" y="282701"/>
                  </a:lnTo>
                  <a:lnTo>
                    <a:pt x="187325" y="254000"/>
                  </a:lnTo>
                  <a:lnTo>
                    <a:pt x="184150" y="236600"/>
                  </a:lnTo>
                  <a:lnTo>
                    <a:pt x="184150" y="217550"/>
                  </a:lnTo>
                  <a:lnTo>
                    <a:pt x="188849" y="204850"/>
                  </a:lnTo>
                  <a:lnTo>
                    <a:pt x="196850" y="198500"/>
                  </a:lnTo>
                  <a:lnTo>
                    <a:pt x="203200" y="198500"/>
                  </a:lnTo>
                  <a:lnTo>
                    <a:pt x="211074" y="203200"/>
                  </a:lnTo>
                  <a:lnTo>
                    <a:pt x="226949" y="215900"/>
                  </a:lnTo>
                  <a:lnTo>
                    <a:pt x="244475" y="228600"/>
                  </a:lnTo>
                  <a:lnTo>
                    <a:pt x="257175" y="234950"/>
                  </a:lnTo>
                  <a:lnTo>
                    <a:pt x="265049" y="236600"/>
                  </a:lnTo>
                  <a:lnTo>
                    <a:pt x="271399" y="234950"/>
                  </a:lnTo>
                  <a:lnTo>
                    <a:pt x="276225" y="228600"/>
                  </a:lnTo>
                  <a:lnTo>
                    <a:pt x="274574" y="223900"/>
                  </a:lnTo>
                  <a:lnTo>
                    <a:pt x="271399" y="217550"/>
                  </a:lnTo>
                  <a:lnTo>
                    <a:pt x="260350" y="204850"/>
                  </a:lnTo>
                  <a:lnTo>
                    <a:pt x="236474" y="190500"/>
                  </a:lnTo>
                  <a:lnTo>
                    <a:pt x="223774" y="179450"/>
                  </a:lnTo>
                  <a:lnTo>
                    <a:pt x="215900" y="165100"/>
                  </a:lnTo>
                  <a:lnTo>
                    <a:pt x="209550" y="144525"/>
                  </a:lnTo>
                  <a:lnTo>
                    <a:pt x="207899" y="123825"/>
                  </a:lnTo>
                  <a:lnTo>
                    <a:pt x="203200" y="115950"/>
                  </a:lnTo>
                  <a:lnTo>
                    <a:pt x="196850" y="104775"/>
                  </a:lnTo>
                  <a:lnTo>
                    <a:pt x="187325" y="93725"/>
                  </a:lnTo>
                  <a:lnTo>
                    <a:pt x="180975" y="87375"/>
                  </a:lnTo>
                  <a:lnTo>
                    <a:pt x="180975" y="79375"/>
                  </a:lnTo>
                  <a:lnTo>
                    <a:pt x="184150" y="66675"/>
                  </a:lnTo>
                  <a:lnTo>
                    <a:pt x="188849" y="60325"/>
                  </a:lnTo>
                  <a:lnTo>
                    <a:pt x="193675" y="52450"/>
                  </a:lnTo>
                  <a:lnTo>
                    <a:pt x="196850" y="39750"/>
                  </a:lnTo>
                  <a:lnTo>
                    <a:pt x="193675" y="25400"/>
                  </a:lnTo>
                  <a:lnTo>
                    <a:pt x="190500" y="14350"/>
                  </a:lnTo>
                  <a:lnTo>
                    <a:pt x="184150" y="6350"/>
                  </a:lnTo>
                  <a:lnTo>
                    <a:pt x="174625" y="1650"/>
                  </a:lnTo>
                  <a:lnTo>
                    <a:pt x="160274" y="0"/>
                  </a:lnTo>
                  <a:lnTo>
                    <a:pt x="149225" y="4825"/>
                  </a:lnTo>
                  <a:lnTo>
                    <a:pt x="142875" y="11175"/>
                  </a:lnTo>
                  <a:lnTo>
                    <a:pt x="139700" y="20700"/>
                  </a:lnTo>
                  <a:lnTo>
                    <a:pt x="136525" y="28575"/>
                  </a:lnTo>
                  <a:lnTo>
                    <a:pt x="139700" y="38100"/>
                  </a:lnTo>
                  <a:lnTo>
                    <a:pt x="142875" y="50800"/>
                  </a:lnTo>
                  <a:lnTo>
                    <a:pt x="146050" y="58800"/>
                  </a:lnTo>
                  <a:lnTo>
                    <a:pt x="147574" y="66675"/>
                  </a:lnTo>
                  <a:lnTo>
                    <a:pt x="146050" y="77850"/>
                  </a:lnTo>
                  <a:lnTo>
                    <a:pt x="139700" y="85725"/>
                  </a:lnTo>
                  <a:lnTo>
                    <a:pt x="128524" y="93725"/>
                  </a:lnTo>
                  <a:lnTo>
                    <a:pt x="115824" y="100075"/>
                  </a:lnTo>
                  <a:lnTo>
                    <a:pt x="107950" y="106425"/>
                  </a:lnTo>
                  <a:lnTo>
                    <a:pt x="99949" y="115950"/>
                  </a:lnTo>
                  <a:lnTo>
                    <a:pt x="92075" y="125475"/>
                  </a:lnTo>
                  <a:lnTo>
                    <a:pt x="82550" y="144525"/>
                  </a:lnTo>
                  <a:lnTo>
                    <a:pt x="76200" y="165100"/>
                  </a:lnTo>
                  <a:lnTo>
                    <a:pt x="69850" y="182625"/>
                  </a:lnTo>
                  <a:lnTo>
                    <a:pt x="68199" y="203200"/>
                  </a:lnTo>
                  <a:lnTo>
                    <a:pt x="66675" y="228600"/>
                  </a:lnTo>
                  <a:lnTo>
                    <a:pt x="66675" y="242950"/>
                  </a:lnTo>
                  <a:lnTo>
                    <a:pt x="66675" y="255650"/>
                  </a:lnTo>
                  <a:lnTo>
                    <a:pt x="68199" y="263525"/>
                  </a:lnTo>
                  <a:lnTo>
                    <a:pt x="73025" y="268350"/>
                  </a:lnTo>
                  <a:lnTo>
                    <a:pt x="80899" y="270001"/>
                  </a:lnTo>
                  <a:lnTo>
                    <a:pt x="85725" y="268350"/>
                  </a:lnTo>
                  <a:lnTo>
                    <a:pt x="87249" y="263525"/>
                  </a:lnTo>
                  <a:lnTo>
                    <a:pt x="87249" y="247650"/>
                  </a:lnTo>
                  <a:lnTo>
                    <a:pt x="87249" y="222250"/>
                  </a:lnTo>
                  <a:lnTo>
                    <a:pt x="88900" y="204850"/>
                  </a:lnTo>
                  <a:lnTo>
                    <a:pt x="92075" y="195325"/>
                  </a:lnTo>
                  <a:lnTo>
                    <a:pt x="96774" y="184150"/>
                  </a:lnTo>
                  <a:lnTo>
                    <a:pt x="106299" y="182625"/>
                  </a:lnTo>
                  <a:lnTo>
                    <a:pt x="114300" y="184150"/>
                  </a:lnTo>
                  <a:lnTo>
                    <a:pt x="115824" y="190500"/>
                  </a:lnTo>
                  <a:lnTo>
                    <a:pt x="114300" y="209550"/>
                  </a:lnTo>
                  <a:lnTo>
                    <a:pt x="112649" y="234950"/>
                  </a:lnTo>
                  <a:lnTo>
                    <a:pt x="107950" y="257175"/>
                  </a:lnTo>
                  <a:lnTo>
                    <a:pt x="101600" y="277875"/>
                  </a:lnTo>
                  <a:lnTo>
                    <a:pt x="95250" y="306450"/>
                  </a:lnTo>
                  <a:lnTo>
                    <a:pt x="87249" y="328675"/>
                  </a:lnTo>
                  <a:lnTo>
                    <a:pt x="68199" y="358901"/>
                  </a:lnTo>
                  <a:lnTo>
                    <a:pt x="53975" y="376300"/>
                  </a:lnTo>
                  <a:lnTo>
                    <a:pt x="28575" y="406526"/>
                  </a:lnTo>
                  <a:lnTo>
                    <a:pt x="12700" y="427100"/>
                  </a:lnTo>
                  <a:lnTo>
                    <a:pt x="0" y="446150"/>
                  </a:lnTo>
                  <a:lnTo>
                    <a:pt x="0" y="454151"/>
                  </a:lnTo>
                  <a:lnTo>
                    <a:pt x="12700" y="468375"/>
                  </a:lnTo>
                  <a:lnTo>
                    <a:pt x="31750" y="485901"/>
                  </a:lnTo>
                  <a:lnTo>
                    <a:pt x="49149" y="485901"/>
                  </a:lnTo>
                  <a:lnTo>
                    <a:pt x="53975" y="481075"/>
                  </a:lnTo>
                  <a:lnTo>
                    <a:pt x="45974" y="471550"/>
                  </a:lnTo>
                  <a:lnTo>
                    <a:pt x="38100" y="460501"/>
                  </a:lnTo>
                  <a:lnTo>
                    <a:pt x="38100" y="452500"/>
                  </a:lnTo>
                  <a:lnTo>
                    <a:pt x="49149" y="433450"/>
                  </a:lnTo>
                  <a:lnTo>
                    <a:pt x="69850" y="412876"/>
                  </a:lnTo>
                  <a:lnTo>
                    <a:pt x="101600" y="373125"/>
                  </a:lnTo>
                  <a:lnTo>
                    <a:pt x="128524" y="339851"/>
                  </a:lnTo>
                  <a:lnTo>
                    <a:pt x="139700" y="328675"/>
                  </a:lnTo>
                  <a:lnTo>
                    <a:pt x="146050" y="320801"/>
                  </a:lnTo>
                  <a:lnTo>
                    <a:pt x="206375" y="366775"/>
                  </a:lnTo>
                  <a:lnTo>
                    <a:pt x="234950" y="406526"/>
                  </a:lnTo>
                  <a:lnTo>
                    <a:pt x="261874" y="446150"/>
                  </a:lnTo>
                  <a:lnTo>
                    <a:pt x="277749" y="468375"/>
                  </a:lnTo>
                  <a:lnTo>
                    <a:pt x="284099" y="473201"/>
                  </a:lnTo>
                  <a:lnTo>
                    <a:pt x="295275" y="473201"/>
                  </a:lnTo>
                  <a:lnTo>
                    <a:pt x="304800" y="465200"/>
                  </a:lnTo>
                  <a:lnTo>
                    <a:pt x="317500" y="457326"/>
                  </a:lnTo>
                  <a:lnTo>
                    <a:pt x="328549" y="447801"/>
                  </a:lnTo>
                </a:path>
              </a:pathLst>
            </a:custGeom>
            <a:ln w="25399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" name="object 149"/>
          <p:cNvSpPr txBox="1"/>
          <p:nvPr/>
        </p:nvSpPr>
        <p:spPr>
          <a:xfrm>
            <a:off x="3932182" y="1299209"/>
            <a:ext cx="19499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9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4796133" y="1283334"/>
            <a:ext cx="132304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6475" algn="l"/>
              </a:tabLst>
            </a:pPr>
            <a:r>
              <a:rPr sz="2400" spc="-5" dirty="0">
                <a:latin typeface="Arial"/>
                <a:cs typeface="Arial"/>
              </a:rPr>
              <a:t>10	</a:t>
            </a:r>
            <a:r>
              <a:rPr sz="2400" spc="-190" dirty="0">
                <a:latin typeface="Arial"/>
                <a:cs typeface="Arial"/>
              </a:rPr>
              <a:t>11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926020" y="1262330"/>
            <a:ext cx="6981738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8715" algn="l"/>
                <a:tab pos="2063750" algn="l"/>
                <a:tab pos="5716905" algn="l"/>
                <a:tab pos="6796405" algn="l"/>
              </a:tabLst>
            </a:pPr>
            <a:r>
              <a:rPr sz="2400" spc="-5" dirty="0">
                <a:latin typeface="Arial"/>
                <a:cs typeface="Arial"/>
              </a:rPr>
              <a:t>6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PM	</a:t>
            </a:r>
            <a:r>
              <a:rPr sz="3600" spc="-7" baseline="-3472" dirty="0">
                <a:latin typeface="Arial"/>
                <a:cs typeface="Arial"/>
              </a:rPr>
              <a:t>7</a:t>
            </a:r>
            <a:r>
              <a:rPr sz="3600" baseline="-3472" dirty="0">
                <a:latin typeface="Arial"/>
                <a:cs typeface="Arial"/>
              </a:rPr>
              <a:t>	</a:t>
            </a:r>
            <a:r>
              <a:rPr sz="3600" spc="-7" baseline="-2314" dirty="0">
                <a:latin typeface="Arial"/>
                <a:cs typeface="Arial"/>
              </a:rPr>
              <a:t>8</a:t>
            </a:r>
            <a:r>
              <a:rPr sz="3600" baseline="-2314" dirty="0">
                <a:latin typeface="Arial"/>
                <a:cs typeface="Arial"/>
              </a:rPr>
              <a:t>	</a:t>
            </a:r>
            <a:r>
              <a:rPr sz="3600" spc="-15" baseline="1157" dirty="0">
                <a:latin typeface="Arial"/>
                <a:cs typeface="Arial"/>
              </a:rPr>
              <a:t>1</a:t>
            </a:r>
            <a:r>
              <a:rPr sz="3600" spc="-7" baseline="1157" dirty="0">
                <a:latin typeface="Arial"/>
                <a:cs typeface="Arial"/>
              </a:rPr>
              <a:t>2</a:t>
            </a:r>
            <a:r>
              <a:rPr sz="3600" baseline="1157" dirty="0">
                <a:latin typeface="Arial"/>
                <a:cs typeface="Arial"/>
              </a:rPr>
              <a:t>	</a:t>
            </a:r>
            <a:r>
              <a:rPr sz="3600" baseline="-1157" dirty="0">
                <a:latin typeface="Arial"/>
                <a:cs typeface="Arial"/>
              </a:rPr>
              <a:t>1</a:t>
            </a:r>
            <a:endParaRPr sz="3600" baseline="-1157">
              <a:latin typeface="Arial"/>
              <a:cs typeface="Arial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1197287" y="1706499"/>
            <a:ext cx="7507655" cy="490855"/>
            <a:chOff x="1196975" y="1706498"/>
            <a:chExt cx="7505700" cy="490855"/>
          </a:xfrm>
        </p:grpSpPr>
        <p:sp>
          <p:nvSpPr>
            <p:cNvPr id="153" name="object 153"/>
            <p:cNvSpPr/>
            <p:nvPr/>
          </p:nvSpPr>
          <p:spPr>
            <a:xfrm>
              <a:off x="1196975" y="1706498"/>
              <a:ext cx="7505700" cy="76200"/>
            </a:xfrm>
            <a:custGeom>
              <a:avLst/>
              <a:gdLst/>
              <a:ahLst/>
              <a:cxnLst/>
              <a:rect l="l" t="t" r="r" b="b"/>
              <a:pathLst>
                <a:path w="7505700" h="76200">
                  <a:moveTo>
                    <a:pt x="7429500" y="0"/>
                  </a:moveTo>
                  <a:lnTo>
                    <a:pt x="7429500" y="76200"/>
                  </a:lnTo>
                  <a:lnTo>
                    <a:pt x="7480300" y="50800"/>
                  </a:lnTo>
                  <a:lnTo>
                    <a:pt x="7442200" y="50800"/>
                  </a:lnTo>
                  <a:lnTo>
                    <a:pt x="7442200" y="25400"/>
                  </a:lnTo>
                  <a:lnTo>
                    <a:pt x="7480300" y="25400"/>
                  </a:lnTo>
                  <a:lnTo>
                    <a:pt x="7429500" y="0"/>
                  </a:lnTo>
                  <a:close/>
                </a:path>
                <a:path w="7505700" h="76200">
                  <a:moveTo>
                    <a:pt x="74295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7429500" y="50800"/>
                  </a:lnTo>
                  <a:lnTo>
                    <a:pt x="7429500" y="25400"/>
                  </a:lnTo>
                  <a:close/>
                </a:path>
                <a:path w="7505700" h="76200">
                  <a:moveTo>
                    <a:pt x="7480300" y="25400"/>
                  </a:moveTo>
                  <a:lnTo>
                    <a:pt x="7442200" y="25400"/>
                  </a:lnTo>
                  <a:lnTo>
                    <a:pt x="7442200" y="50800"/>
                  </a:lnTo>
                  <a:lnTo>
                    <a:pt x="7480300" y="50800"/>
                  </a:lnTo>
                  <a:lnTo>
                    <a:pt x="7505700" y="38100"/>
                  </a:lnTo>
                  <a:lnTo>
                    <a:pt x="7480300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2592450" y="1895474"/>
              <a:ext cx="5669280" cy="301625"/>
            </a:xfrm>
            <a:custGeom>
              <a:avLst/>
              <a:gdLst/>
              <a:ahLst/>
              <a:cxnLst/>
              <a:rect l="l" t="t" r="r" b="b"/>
              <a:pathLst>
                <a:path w="5669280" h="301625">
                  <a:moveTo>
                    <a:pt x="0" y="0"/>
                  </a:moveTo>
                  <a:lnTo>
                    <a:pt x="0" y="301625"/>
                  </a:lnTo>
                </a:path>
                <a:path w="5669280" h="301625">
                  <a:moveTo>
                    <a:pt x="3779774" y="0"/>
                  </a:moveTo>
                  <a:lnTo>
                    <a:pt x="3779774" y="301625"/>
                  </a:lnTo>
                </a:path>
                <a:path w="5669280" h="301625">
                  <a:moveTo>
                    <a:pt x="1890649" y="0"/>
                  </a:moveTo>
                  <a:lnTo>
                    <a:pt x="1890649" y="301625"/>
                  </a:lnTo>
                </a:path>
                <a:path w="5669280" h="301625">
                  <a:moveTo>
                    <a:pt x="5668899" y="0"/>
                  </a:moveTo>
                  <a:lnTo>
                    <a:pt x="5668899" y="3016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8305931" y="1243710"/>
            <a:ext cx="719007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2</a:t>
            </a:r>
            <a:r>
              <a:rPr sz="2400" spc="-2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535165" y="1958661"/>
            <a:ext cx="8163780" cy="391555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730250" algn="ctr">
              <a:lnSpc>
                <a:spcPct val="100000"/>
              </a:lnSpc>
              <a:spcBef>
                <a:spcPts val="660"/>
              </a:spcBef>
              <a:tabLst>
                <a:tab pos="1645920" algn="l"/>
                <a:tab pos="2127250" algn="l"/>
                <a:tab pos="2622550" algn="l"/>
                <a:tab pos="3536950" algn="l"/>
                <a:tab pos="4018279" algn="l"/>
                <a:tab pos="4508500" algn="l"/>
                <a:tab pos="5426075" algn="l"/>
                <a:tab pos="5907405" algn="l"/>
                <a:tab pos="6401435" algn="l"/>
                <a:tab pos="7315834" algn="l"/>
                <a:tab pos="7796530" algn="l"/>
              </a:tabLst>
            </a:pP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	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	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	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	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	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	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	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	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	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 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	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0	</a:t>
            </a:r>
            <a:r>
              <a:rPr sz="2400" spc="-5" dirty="0">
                <a:latin typeface="Arial"/>
                <a:cs typeface="Arial"/>
              </a:rPr>
              <a:t>30</a:t>
            </a:r>
            <a:endParaRPr sz="2400" dirty="0">
              <a:latin typeface="Arial"/>
              <a:cs typeface="Arial"/>
            </a:endParaRPr>
          </a:p>
          <a:p>
            <a:pPr marR="1287780" algn="ctr">
              <a:lnSpc>
                <a:spcPts val="2490"/>
              </a:lnSpc>
              <a:spcBef>
                <a:spcPts val="555"/>
              </a:spcBef>
            </a:pPr>
            <a:r>
              <a:rPr sz="2400" i="1" spc="-15" dirty="0">
                <a:latin typeface="Arial"/>
                <a:cs typeface="Arial"/>
              </a:rPr>
              <a:t>Time</a:t>
            </a:r>
            <a:endParaRPr sz="2400" dirty="0">
              <a:latin typeface="Arial"/>
              <a:cs typeface="Arial"/>
            </a:endParaRPr>
          </a:p>
          <a:p>
            <a:pPr marL="263525">
              <a:lnSpc>
                <a:spcPts val="2490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 dirty="0">
              <a:latin typeface="Arial"/>
              <a:cs typeface="Arial"/>
            </a:endParaRPr>
          </a:p>
          <a:p>
            <a:pPr marL="263525" marR="7670165" algn="just">
              <a:lnSpc>
                <a:spcPct val="148700"/>
              </a:lnSpc>
              <a:spcBef>
                <a:spcPts val="62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B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  D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81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150" dirty="0">
                <a:solidFill>
                  <a:srgbClr val="0000FF"/>
                </a:solidFill>
                <a:latin typeface="Trebuchet MS"/>
                <a:cs typeface="Trebuchet MS"/>
              </a:rPr>
              <a:t>Time</a:t>
            </a:r>
            <a:r>
              <a:rPr sz="2400" b="1" spc="-14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spc="75" dirty="0">
                <a:solidFill>
                  <a:srgbClr val="0000FF"/>
                </a:solidFill>
                <a:latin typeface="Trebuchet MS"/>
                <a:cs typeface="Trebuchet MS"/>
              </a:rPr>
              <a:t>Required:</a:t>
            </a:r>
            <a:r>
              <a:rPr sz="2400" b="1" spc="-3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spc="-85" dirty="0">
                <a:solidFill>
                  <a:srgbClr val="0000FF"/>
                </a:solidFill>
                <a:latin typeface="Trebuchet MS"/>
                <a:cs typeface="Trebuchet MS"/>
              </a:rPr>
              <a:t>8</a:t>
            </a:r>
            <a:r>
              <a:rPr sz="2400" b="1" spc="-1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spc="80" dirty="0">
                <a:solidFill>
                  <a:srgbClr val="0000FF"/>
                </a:solidFill>
                <a:latin typeface="Trebuchet MS"/>
                <a:cs typeface="Trebuchet MS"/>
              </a:rPr>
              <a:t>hours</a:t>
            </a:r>
            <a:r>
              <a:rPr sz="2400" b="1" spc="-1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spc="5" dirty="0">
                <a:solidFill>
                  <a:srgbClr val="0000FF"/>
                </a:solidFill>
                <a:latin typeface="Trebuchet MS"/>
                <a:cs typeface="Trebuchet MS"/>
              </a:rPr>
              <a:t>for</a:t>
            </a:r>
            <a:r>
              <a:rPr sz="2400" b="1" spc="-1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spc="-85" dirty="0">
                <a:solidFill>
                  <a:srgbClr val="0000FF"/>
                </a:solidFill>
                <a:latin typeface="Trebuchet MS"/>
                <a:cs typeface="Trebuchet MS"/>
              </a:rPr>
              <a:t>4</a:t>
            </a:r>
            <a:r>
              <a:rPr sz="2400" b="1" spc="-1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spc="114" dirty="0">
                <a:solidFill>
                  <a:srgbClr val="0000FF"/>
                </a:solidFill>
                <a:latin typeface="Trebuchet MS"/>
                <a:cs typeface="Trebuchet MS"/>
              </a:rPr>
              <a:t>loads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57" name="object 157"/>
          <p:cNvSpPr/>
          <p:nvPr/>
        </p:nvSpPr>
        <p:spPr>
          <a:xfrm>
            <a:off x="400154" y="2601848"/>
            <a:ext cx="114330" cy="2362200"/>
          </a:xfrm>
          <a:custGeom>
            <a:avLst/>
            <a:gdLst/>
            <a:ahLst/>
            <a:cxnLst/>
            <a:rect l="l" t="t" r="r" b="b"/>
            <a:pathLst>
              <a:path w="114300" h="2362200">
                <a:moveTo>
                  <a:pt x="38100" y="2247900"/>
                </a:moveTo>
                <a:lnTo>
                  <a:pt x="0" y="2247900"/>
                </a:lnTo>
                <a:lnTo>
                  <a:pt x="57150" y="2362200"/>
                </a:lnTo>
                <a:lnTo>
                  <a:pt x="104711" y="2267077"/>
                </a:lnTo>
                <a:lnTo>
                  <a:pt x="38100" y="2267077"/>
                </a:lnTo>
                <a:lnTo>
                  <a:pt x="38100" y="2247900"/>
                </a:lnTo>
                <a:close/>
              </a:path>
              <a:path w="114300" h="2362200">
                <a:moveTo>
                  <a:pt x="76200" y="0"/>
                </a:moveTo>
                <a:lnTo>
                  <a:pt x="38100" y="0"/>
                </a:lnTo>
                <a:lnTo>
                  <a:pt x="38100" y="2267077"/>
                </a:lnTo>
                <a:lnTo>
                  <a:pt x="76200" y="2267077"/>
                </a:lnTo>
                <a:lnTo>
                  <a:pt x="76200" y="0"/>
                </a:lnTo>
                <a:close/>
              </a:path>
              <a:path w="114300" h="2362200">
                <a:moveTo>
                  <a:pt x="114300" y="2247900"/>
                </a:moveTo>
                <a:lnTo>
                  <a:pt x="76200" y="2247900"/>
                </a:lnTo>
                <a:lnTo>
                  <a:pt x="76200" y="2267077"/>
                </a:lnTo>
                <a:lnTo>
                  <a:pt x="104711" y="2267077"/>
                </a:lnTo>
                <a:lnTo>
                  <a:pt x="114300" y="2247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11457113" y="6405384"/>
            <a:ext cx="317583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15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05C9597-F32C-47A9-9EDD-E0516487981C}"/>
              </a:ext>
            </a:extLst>
          </p:cNvPr>
          <p:cNvSpPr txBox="1"/>
          <p:nvPr/>
        </p:nvSpPr>
        <p:spPr>
          <a:xfrm>
            <a:off x="9261636" y="1782699"/>
            <a:ext cx="34255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Ann’s clothes </a:t>
            </a:r>
          </a:p>
          <a:p>
            <a:r>
              <a:rPr lang="en-US" sz="2400" b="1" dirty="0"/>
              <a:t>30 mins x 4 = 120 mins) </a:t>
            </a:r>
          </a:p>
          <a:p>
            <a:r>
              <a:rPr lang="en-US" sz="2400" b="1" dirty="0"/>
              <a:t>Brian</a:t>
            </a:r>
          </a:p>
          <a:p>
            <a:r>
              <a:rPr lang="en-US" sz="2400" b="1" dirty="0"/>
              <a:t>30mins x 4 = 120mins</a:t>
            </a:r>
          </a:p>
          <a:p>
            <a:r>
              <a:rPr lang="en-US" sz="2400" b="1" dirty="0"/>
              <a:t>Cathy</a:t>
            </a:r>
          </a:p>
          <a:p>
            <a:r>
              <a:rPr lang="en-US" sz="2400" b="1" dirty="0"/>
              <a:t>30mins x 4 = 120mins</a:t>
            </a:r>
          </a:p>
          <a:p>
            <a:r>
              <a:rPr lang="en-US" sz="2400" b="1" dirty="0"/>
              <a:t>Dave clothes</a:t>
            </a:r>
          </a:p>
          <a:p>
            <a:r>
              <a:rPr lang="en-US" sz="2400" b="1" dirty="0"/>
              <a:t>30mins x 4 = 120mins</a:t>
            </a:r>
          </a:p>
          <a:p>
            <a:endParaRPr lang="en-US" sz="2400" b="1" dirty="0"/>
          </a:p>
          <a:p>
            <a:r>
              <a:rPr lang="en-US" sz="2400" b="1" dirty="0"/>
              <a:t>480mins = 8 hours</a:t>
            </a:r>
          </a:p>
        </p:txBody>
      </p:sp>
    </p:spTree>
    <p:extLst>
      <p:ext uri="{BB962C8B-B14F-4D97-AF65-F5344CB8AC3E}">
        <p14:creationId xmlns:p14="http://schemas.microsoft.com/office/powerpoint/2010/main" val="1741386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92239" y="1327214"/>
            <a:ext cx="3312387" cy="28575"/>
            <a:chOff x="8689975" y="1327213"/>
            <a:chExt cx="3311525" cy="28575"/>
          </a:xfrm>
        </p:grpSpPr>
        <p:sp>
          <p:nvSpPr>
            <p:cNvPr id="3" name="object 3"/>
            <p:cNvSpPr/>
            <p:nvPr/>
          </p:nvSpPr>
          <p:spPr>
            <a:xfrm>
              <a:off x="8689975" y="1341500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>
                  <a:moveTo>
                    <a:pt x="0" y="0"/>
                  </a:moveTo>
                  <a:lnTo>
                    <a:pt x="1800225" y="0"/>
                  </a:lnTo>
                </a:path>
              </a:pathLst>
            </a:custGeom>
            <a:ln w="28575">
              <a:solidFill>
                <a:srgbClr val="662C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2677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8242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34885" y="1481709"/>
            <a:ext cx="363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12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27880" y="1472310"/>
            <a:ext cx="719007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2</a:t>
            </a:r>
            <a:r>
              <a:rPr sz="2400" spc="-2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1709" y="1812926"/>
            <a:ext cx="0" cy="252729"/>
          </a:xfrm>
          <a:custGeom>
            <a:avLst/>
            <a:gdLst/>
            <a:ahLst/>
            <a:cxnLst/>
            <a:rect l="l" t="t" r="r" b="b"/>
            <a:pathLst>
              <a:path h="252730">
                <a:moveTo>
                  <a:pt x="0" y="0"/>
                </a:moveTo>
                <a:lnTo>
                  <a:pt x="0" y="2524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95836" y="1487882"/>
            <a:ext cx="2153211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98550" algn="l"/>
                <a:tab pos="1969770" algn="l"/>
              </a:tabLst>
            </a:pPr>
            <a:r>
              <a:rPr sz="2400" spc="-5" dirty="0">
                <a:latin typeface="Arial"/>
                <a:cs typeface="Arial"/>
              </a:rPr>
              <a:t>6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PM	</a:t>
            </a:r>
            <a:r>
              <a:rPr sz="3600" spc="-7" baseline="-3472" dirty="0">
                <a:latin typeface="Arial"/>
                <a:cs typeface="Arial"/>
              </a:rPr>
              <a:t>7</a:t>
            </a:r>
            <a:r>
              <a:rPr sz="3600" baseline="-3472" dirty="0">
                <a:latin typeface="Arial"/>
                <a:cs typeface="Arial"/>
              </a:rPr>
              <a:t>	</a:t>
            </a:r>
            <a:r>
              <a:rPr sz="3600" baseline="-2314" dirty="0">
                <a:latin typeface="Arial"/>
                <a:cs typeface="Arial"/>
              </a:rPr>
              <a:t>8</a:t>
            </a:r>
            <a:endParaRPr sz="3600" baseline="-2314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66911" y="1526285"/>
            <a:ext cx="19499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9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91230" y="1511934"/>
            <a:ext cx="363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10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93418" y="1508886"/>
            <a:ext cx="32901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90" dirty="0">
                <a:latin typeface="Arial"/>
                <a:cs typeface="Arial"/>
              </a:rPr>
              <a:t>11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34001" y="1497584"/>
            <a:ext cx="19499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41710" y="1922398"/>
            <a:ext cx="7180544" cy="439420"/>
            <a:chOff x="1141412" y="1922398"/>
            <a:chExt cx="7178675" cy="439420"/>
          </a:xfrm>
        </p:grpSpPr>
        <p:sp>
          <p:nvSpPr>
            <p:cNvPr id="15" name="object 15"/>
            <p:cNvSpPr/>
            <p:nvPr/>
          </p:nvSpPr>
          <p:spPr>
            <a:xfrm>
              <a:off x="1154112" y="1922398"/>
              <a:ext cx="7165975" cy="76200"/>
            </a:xfrm>
            <a:custGeom>
              <a:avLst/>
              <a:gdLst/>
              <a:ahLst/>
              <a:cxnLst/>
              <a:rect l="l" t="t" r="r" b="b"/>
              <a:pathLst>
                <a:path w="7165975" h="76200">
                  <a:moveTo>
                    <a:pt x="7089711" y="0"/>
                  </a:moveTo>
                  <a:lnTo>
                    <a:pt x="7089711" y="76200"/>
                  </a:lnTo>
                  <a:lnTo>
                    <a:pt x="7140511" y="50800"/>
                  </a:lnTo>
                  <a:lnTo>
                    <a:pt x="7102538" y="50800"/>
                  </a:lnTo>
                  <a:lnTo>
                    <a:pt x="7102538" y="25400"/>
                  </a:lnTo>
                  <a:lnTo>
                    <a:pt x="7140511" y="25400"/>
                  </a:lnTo>
                  <a:lnTo>
                    <a:pt x="7089711" y="0"/>
                  </a:lnTo>
                  <a:close/>
                </a:path>
                <a:path w="7165975" h="76200">
                  <a:moveTo>
                    <a:pt x="7089711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7089711" y="50800"/>
                  </a:lnTo>
                  <a:lnTo>
                    <a:pt x="7089711" y="25400"/>
                  </a:lnTo>
                  <a:close/>
                </a:path>
                <a:path w="7165975" h="76200">
                  <a:moveTo>
                    <a:pt x="7140511" y="25400"/>
                  </a:moveTo>
                  <a:lnTo>
                    <a:pt x="7102538" y="25400"/>
                  </a:lnTo>
                  <a:lnTo>
                    <a:pt x="7102538" y="50800"/>
                  </a:lnTo>
                  <a:lnTo>
                    <a:pt x="7140511" y="50800"/>
                  </a:lnTo>
                  <a:lnTo>
                    <a:pt x="7165911" y="38100"/>
                  </a:lnTo>
                  <a:lnTo>
                    <a:pt x="7140511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35175" y="2076449"/>
              <a:ext cx="5080" cy="269875"/>
            </a:xfrm>
            <a:custGeom>
              <a:avLst/>
              <a:gdLst/>
              <a:ahLst/>
              <a:cxnLst/>
              <a:rect l="l" t="t" r="r" b="b"/>
              <a:pathLst>
                <a:path w="5080" h="269875">
                  <a:moveTo>
                    <a:pt x="2412" y="-12700"/>
                  </a:moveTo>
                  <a:lnTo>
                    <a:pt x="2412" y="282575"/>
                  </a:lnTo>
                </a:path>
              </a:pathLst>
            </a:custGeom>
            <a:ln w="30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74976" y="2063749"/>
              <a:ext cx="481330" cy="295275"/>
            </a:xfrm>
            <a:custGeom>
              <a:avLst/>
              <a:gdLst/>
              <a:ahLst/>
              <a:cxnLst/>
              <a:rect l="l" t="t" r="r" b="b"/>
              <a:pathLst>
                <a:path w="481330" h="295275">
                  <a:moveTo>
                    <a:pt x="30099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0099" y="295275"/>
                  </a:lnTo>
                  <a:lnTo>
                    <a:pt x="30099" y="0"/>
                  </a:lnTo>
                  <a:close/>
                </a:path>
                <a:path w="481330" h="295275">
                  <a:moveTo>
                    <a:pt x="480949" y="0"/>
                  </a:moveTo>
                  <a:lnTo>
                    <a:pt x="450850" y="0"/>
                  </a:lnTo>
                  <a:lnTo>
                    <a:pt x="450850" y="295275"/>
                  </a:lnTo>
                  <a:lnTo>
                    <a:pt x="480949" y="295275"/>
                  </a:lnTo>
                  <a:lnTo>
                    <a:pt x="4809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51050" y="2190749"/>
              <a:ext cx="415925" cy="0"/>
            </a:xfrm>
            <a:custGeom>
              <a:avLst/>
              <a:gdLst/>
              <a:ahLst/>
              <a:cxnLst/>
              <a:rect l="l" t="t" r="r" b="b"/>
              <a:pathLst>
                <a:path w="415925">
                  <a:moveTo>
                    <a:pt x="0" y="0"/>
                  </a:moveTo>
                  <a:lnTo>
                    <a:pt x="415925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74976" y="2063749"/>
              <a:ext cx="930275" cy="295275"/>
            </a:xfrm>
            <a:custGeom>
              <a:avLst/>
              <a:gdLst/>
              <a:ahLst/>
              <a:cxnLst/>
              <a:rect l="l" t="t" r="r" b="b"/>
              <a:pathLst>
                <a:path w="930275" h="295275">
                  <a:moveTo>
                    <a:pt x="30099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0099" y="295275"/>
                  </a:lnTo>
                  <a:lnTo>
                    <a:pt x="30099" y="0"/>
                  </a:lnTo>
                  <a:close/>
                </a:path>
                <a:path w="930275" h="295275">
                  <a:moveTo>
                    <a:pt x="480949" y="0"/>
                  </a:moveTo>
                  <a:lnTo>
                    <a:pt x="450850" y="0"/>
                  </a:lnTo>
                  <a:lnTo>
                    <a:pt x="450850" y="295275"/>
                  </a:lnTo>
                  <a:lnTo>
                    <a:pt x="480949" y="295275"/>
                  </a:lnTo>
                  <a:lnTo>
                    <a:pt x="480949" y="0"/>
                  </a:lnTo>
                  <a:close/>
                </a:path>
                <a:path w="930275" h="295275">
                  <a:moveTo>
                    <a:pt x="930275" y="0"/>
                  </a:moveTo>
                  <a:lnTo>
                    <a:pt x="900049" y="0"/>
                  </a:lnTo>
                  <a:lnTo>
                    <a:pt x="900049" y="295275"/>
                  </a:lnTo>
                  <a:lnTo>
                    <a:pt x="930275" y="295275"/>
                  </a:lnTo>
                  <a:lnTo>
                    <a:pt x="930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00375" y="2190749"/>
              <a:ext cx="419100" cy="0"/>
            </a:xfrm>
            <a:custGeom>
              <a:avLst/>
              <a:gdLst/>
              <a:ahLst/>
              <a:cxnLst/>
              <a:rect l="l" t="t" r="r" b="b"/>
              <a:pathLst>
                <a:path w="419100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25826" y="2063749"/>
              <a:ext cx="479425" cy="295275"/>
            </a:xfrm>
            <a:custGeom>
              <a:avLst/>
              <a:gdLst/>
              <a:ahLst/>
              <a:cxnLst/>
              <a:rect l="l" t="t" r="r" b="b"/>
              <a:pathLst>
                <a:path w="479425" h="295275">
                  <a:moveTo>
                    <a:pt x="30099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30099" y="295275"/>
                  </a:lnTo>
                  <a:lnTo>
                    <a:pt x="30099" y="0"/>
                  </a:lnTo>
                  <a:close/>
                </a:path>
                <a:path w="479425" h="295275">
                  <a:moveTo>
                    <a:pt x="479425" y="0"/>
                  </a:moveTo>
                  <a:lnTo>
                    <a:pt x="449199" y="0"/>
                  </a:lnTo>
                  <a:lnTo>
                    <a:pt x="449199" y="295275"/>
                  </a:lnTo>
                  <a:lnTo>
                    <a:pt x="479425" y="295275"/>
                  </a:lnTo>
                  <a:lnTo>
                    <a:pt x="4794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51226" y="2190749"/>
              <a:ext cx="415925" cy="0"/>
            </a:xfrm>
            <a:custGeom>
              <a:avLst/>
              <a:gdLst/>
              <a:ahLst/>
              <a:cxnLst/>
              <a:rect l="l" t="t" r="r" b="b"/>
              <a:pathLst>
                <a:path w="415925">
                  <a:moveTo>
                    <a:pt x="0" y="0"/>
                  </a:moveTo>
                  <a:lnTo>
                    <a:pt x="415925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54112" y="2119375"/>
              <a:ext cx="1756410" cy="0"/>
            </a:xfrm>
            <a:custGeom>
              <a:avLst/>
              <a:gdLst/>
              <a:ahLst/>
              <a:cxnLst/>
              <a:rect l="l" t="t" r="r" b="b"/>
              <a:pathLst>
                <a:path w="1756410">
                  <a:moveTo>
                    <a:pt x="903287" y="0"/>
                  </a:moveTo>
                  <a:lnTo>
                    <a:pt x="1303337" y="0"/>
                  </a:lnTo>
                </a:path>
                <a:path w="1756410">
                  <a:moveTo>
                    <a:pt x="1355788" y="0"/>
                  </a:moveTo>
                  <a:lnTo>
                    <a:pt x="1755838" y="0"/>
                  </a:lnTo>
                </a:path>
                <a:path w="1756410">
                  <a:moveTo>
                    <a:pt x="0" y="0"/>
                  </a:moveTo>
                  <a:lnTo>
                    <a:pt x="403288" y="0"/>
                  </a:lnTo>
                </a:path>
              </a:pathLst>
            </a:custGeom>
            <a:ln w="25400">
              <a:solidFill>
                <a:srgbClr val="DC0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98676" y="2190749"/>
              <a:ext cx="417830" cy="0"/>
            </a:xfrm>
            <a:custGeom>
              <a:avLst/>
              <a:gdLst/>
              <a:ahLst/>
              <a:cxnLst/>
              <a:rect l="l" t="t" r="r" b="b"/>
              <a:pathLst>
                <a:path w="417830">
                  <a:moveTo>
                    <a:pt x="0" y="0"/>
                  </a:moveTo>
                  <a:lnTo>
                    <a:pt x="41744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62225" y="2270124"/>
              <a:ext cx="393700" cy="0"/>
            </a:xfrm>
            <a:custGeom>
              <a:avLst/>
              <a:gdLst/>
              <a:ahLst/>
              <a:cxnLst/>
              <a:rect l="l" t="t" r="r" b="b"/>
              <a:pathLst>
                <a:path w="393700">
                  <a:moveTo>
                    <a:pt x="0" y="0"/>
                  </a:moveTo>
                  <a:lnTo>
                    <a:pt x="393700" y="0"/>
                  </a:lnTo>
                </a:path>
              </a:pathLst>
            </a:custGeom>
            <a:ln w="25400">
              <a:solidFill>
                <a:srgbClr val="F39F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09900" y="2339974"/>
              <a:ext cx="396875" cy="1905"/>
            </a:xfrm>
            <a:custGeom>
              <a:avLst/>
              <a:gdLst/>
              <a:ahLst/>
              <a:cxnLst/>
              <a:rect l="l" t="t" r="r" b="b"/>
              <a:pathLst>
                <a:path w="396875" h="1905">
                  <a:moveTo>
                    <a:pt x="0" y="0"/>
                  </a:moveTo>
                  <a:lnTo>
                    <a:pt x="396875" y="1650"/>
                  </a:lnTo>
                </a:path>
              </a:pathLst>
            </a:custGeom>
            <a:ln w="25400">
              <a:solidFill>
                <a:srgbClr val="9191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09900" y="2270124"/>
              <a:ext cx="849630" cy="1905"/>
            </a:xfrm>
            <a:custGeom>
              <a:avLst/>
              <a:gdLst/>
              <a:ahLst/>
              <a:cxnLst/>
              <a:rect l="l" t="t" r="r" b="b"/>
              <a:pathLst>
                <a:path w="849629" h="1905">
                  <a:moveTo>
                    <a:pt x="0" y="1650"/>
                  </a:moveTo>
                  <a:lnTo>
                    <a:pt x="396875" y="1650"/>
                  </a:lnTo>
                </a:path>
                <a:path w="849629" h="1905">
                  <a:moveTo>
                    <a:pt x="452374" y="0"/>
                  </a:moveTo>
                  <a:lnTo>
                    <a:pt x="849249" y="0"/>
                  </a:lnTo>
                </a:path>
              </a:pathLst>
            </a:custGeom>
            <a:ln w="25400">
              <a:solidFill>
                <a:srgbClr val="F39F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60751" y="2339974"/>
              <a:ext cx="398780" cy="1905"/>
            </a:xfrm>
            <a:custGeom>
              <a:avLst/>
              <a:gdLst/>
              <a:ahLst/>
              <a:cxnLst/>
              <a:rect l="l" t="t" r="r" b="b"/>
              <a:pathLst>
                <a:path w="398779" h="1905">
                  <a:moveTo>
                    <a:pt x="0" y="0"/>
                  </a:moveTo>
                  <a:lnTo>
                    <a:pt x="398399" y="1650"/>
                  </a:lnTo>
                </a:path>
              </a:pathLst>
            </a:custGeom>
            <a:ln w="25400">
              <a:solidFill>
                <a:srgbClr val="9191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414776" y="2270124"/>
              <a:ext cx="395605" cy="0"/>
            </a:xfrm>
            <a:custGeom>
              <a:avLst/>
              <a:gdLst/>
              <a:ahLst/>
              <a:cxnLst/>
              <a:rect l="l" t="t" r="r" b="b"/>
              <a:pathLst>
                <a:path w="395604">
                  <a:moveTo>
                    <a:pt x="0" y="0"/>
                  </a:moveTo>
                  <a:lnTo>
                    <a:pt x="395224" y="0"/>
                  </a:lnTo>
                </a:path>
              </a:pathLst>
            </a:custGeom>
            <a:ln w="25400">
              <a:solidFill>
                <a:srgbClr val="F39F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11601" y="2339974"/>
              <a:ext cx="849630" cy="1905"/>
            </a:xfrm>
            <a:custGeom>
              <a:avLst/>
              <a:gdLst/>
              <a:ahLst/>
              <a:cxnLst/>
              <a:rect l="l" t="t" r="r" b="b"/>
              <a:pathLst>
                <a:path w="849629" h="1905">
                  <a:moveTo>
                    <a:pt x="0" y="0"/>
                  </a:moveTo>
                  <a:lnTo>
                    <a:pt x="398399" y="1650"/>
                  </a:lnTo>
                </a:path>
                <a:path w="849629" h="1905">
                  <a:moveTo>
                    <a:pt x="452374" y="0"/>
                  </a:moveTo>
                  <a:lnTo>
                    <a:pt x="849249" y="1650"/>
                  </a:lnTo>
                </a:path>
              </a:pathLst>
            </a:custGeom>
            <a:ln w="25400">
              <a:solidFill>
                <a:srgbClr val="9191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06550" y="2119375"/>
              <a:ext cx="401955" cy="0"/>
            </a:xfrm>
            <a:custGeom>
              <a:avLst/>
              <a:gdLst/>
              <a:ahLst/>
              <a:cxnLst/>
              <a:rect l="l" t="t" r="r" b="b"/>
              <a:pathLst>
                <a:path w="401955">
                  <a:moveTo>
                    <a:pt x="0" y="0"/>
                  </a:moveTo>
                  <a:lnTo>
                    <a:pt x="401700" y="0"/>
                  </a:lnTo>
                </a:path>
              </a:pathLst>
            </a:custGeom>
            <a:ln w="25400">
              <a:solidFill>
                <a:srgbClr val="DC00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390013" y="2140711"/>
            <a:ext cx="69677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30" dirty="0">
                <a:latin typeface="Arial"/>
                <a:cs typeface="Arial"/>
              </a:rPr>
              <a:t>T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i="1" spc="-30" dirty="0">
                <a:latin typeface="Arial"/>
                <a:cs typeface="Arial"/>
              </a:rPr>
              <a:t>m</a:t>
            </a:r>
            <a:r>
              <a:rPr sz="2400" i="1" spc="-5" dirty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13216" y="2286712"/>
            <a:ext cx="30354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7730" algn="l"/>
              </a:tabLst>
            </a:pPr>
            <a:r>
              <a:rPr sz="3600" spc="-7" baseline="2314" dirty="0">
                <a:latin typeface="Arial"/>
                <a:cs typeface="Arial"/>
              </a:rPr>
              <a:t>30</a:t>
            </a:r>
            <a:r>
              <a:rPr sz="3600" spc="-202" baseline="2314" dirty="0">
                <a:latin typeface="Arial"/>
                <a:cs typeface="Arial"/>
              </a:rPr>
              <a:t> </a:t>
            </a:r>
            <a:r>
              <a:rPr sz="3600" spc="-7" baseline="2314" dirty="0">
                <a:latin typeface="Arial"/>
                <a:cs typeface="Arial"/>
              </a:rPr>
              <a:t>30	30 30 30 </a:t>
            </a:r>
            <a:r>
              <a:rPr sz="2400" spc="-5" dirty="0">
                <a:latin typeface="Arial"/>
                <a:cs typeface="Arial"/>
              </a:rPr>
              <a:t>30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30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217930" y="2690748"/>
            <a:ext cx="2561622" cy="2105660"/>
            <a:chOff x="1217612" y="2690748"/>
            <a:chExt cx="2560955" cy="2105660"/>
          </a:xfrm>
        </p:grpSpPr>
        <p:sp>
          <p:nvSpPr>
            <p:cNvPr id="35" name="object 35"/>
            <p:cNvSpPr/>
            <p:nvPr/>
          </p:nvSpPr>
          <p:spPr>
            <a:xfrm>
              <a:off x="3656076" y="4543425"/>
              <a:ext cx="122237" cy="2175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60750" y="4354448"/>
              <a:ext cx="127000" cy="292735"/>
            </a:xfrm>
            <a:custGeom>
              <a:avLst/>
              <a:gdLst/>
              <a:ahLst/>
              <a:cxnLst/>
              <a:rect l="l" t="t" r="r" b="b"/>
              <a:pathLst>
                <a:path w="127000" h="292735">
                  <a:moveTo>
                    <a:pt x="115887" y="277939"/>
                  </a:moveTo>
                  <a:lnTo>
                    <a:pt x="0" y="277939"/>
                  </a:lnTo>
                  <a:lnTo>
                    <a:pt x="0" y="292227"/>
                  </a:lnTo>
                  <a:lnTo>
                    <a:pt x="115887" y="292227"/>
                  </a:lnTo>
                  <a:lnTo>
                    <a:pt x="115887" y="277939"/>
                  </a:lnTo>
                  <a:close/>
                </a:path>
                <a:path w="127000" h="292735">
                  <a:moveTo>
                    <a:pt x="127000" y="19939"/>
                  </a:moveTo>
                  <a:lnTo>
                    <a:pt x="125615" y="12166"/>
                  </a:lnTo>
                  <a:lnTo>
                    <a:pt x="121869" y="5829"/>
                  </a:lnTo>
                  <a:lnTo>
                    <a:pt x="116332" y="1562"/>
                  </a:lnTo>
                  <a:lnTo>
                    <a:pt x="109601" y="0"/>
                  </a:lnTo>
                  <a:lnTo>
                    <a:pt x="102781" y="1562"/>
                  </a:lnTo>
                  <a:lnTo>
                    <a:pt x="97218" y="5829"/>
                  </a:lnTo>
                  <a:lnTo>
                    <a:pt x="93446" y="12166"/>
                  </a:lnTo>
                  <a:lnTo>
                    <a:pt x="92075" y="19939"/>
                  </a:lnTo>
                  <a:lnTo>
                    <a:pt x="93446" y="27647"/>
                  </a:lnTo>
                  <a:lnTo>
                    <a:pt x="97218" y="33947"/>
                  </a:lnTo>
                  <a:lnTo>
                    <a:pt x="102781" y="38201"/>
                  </a:lnTo>
                  <a:lnTo>
                    <a:pt x="109601" y="39751"/>
                  </a:lnTo>
                  <a:lnTo>
                    <a:pt x="116332" y="38201"/>
                  </a:lnTo>
                  <a:lnTo>
                    <a:pt x="121869" y="33947"/>
                  </a:lnTo>
                  <a:lnTo>
                    <a:pt x="125615" y="27647"/>
                  </a:lnTo>
                  <a:lnTo>
                    <a:pt x="127000" y="19939"/>
                  </a:lnTo>
                  <a:close/>
                </a:path>
              </a:pathLst>
            </a:custGeom>
            <a:solidFill>
              <a:srgbClr val="F39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52825" y="4354448"/>
              <a:ext cx="34925" cy="40005"/>
            </a:xfrm>
            <a:custGeom>
              <a:avLst/>
              <a:gdLst/>
              <a:ahLst/>
              <a:cxnLst/>
              <a:rect l="l" t="t" r="r" b="b"/>
              <a:pathLst>
                <a:path w="34925" h="40004">
                  <a:moveTo>
                    <a:pt x="0" y="19938"/>
                  </a:moveTo>
                  <a:lnTo>
                    <a:pt x="1381" y="12162"/>
                  </a:lnTo>
                  <a:lnTo>
                    <a:pt x="5143" y="5826"/>
                  </a:lnTo>
                  <a:lnTo>
                    <a:pt x="10715" y="1561"/>
                  </a:lnTo>
                  <a:lnTo>
                    <a:pt x="17525" y="0"/>
                  </a:lnTo>
                  <a:lnTo>
                    <a:pt x="24262" y="1561"/>
                  </a:lnTo>
                  <a:lnTo>
                    <a:pt x="29797" y="5826"/>
                  </a:lnTo>
                  <a:lnTo>
                    <a:pt x="33545" y="12162"/>
                  </a:lnTo>
                  <a:lnTo>
                    <a:pt x="34925" y="19938"/>
                  </a:lnTo>
                  <a:lnTo>
                    <a:pt x="33545" y="27642"/>
                  </a:lnTo>
                  <a:lnTo>
                    <a:pt x="29797" y="33940"/>
                  </a:lnTo>
                  <a:lnTo>
                    <a:pt x="24262" y="38191"/>
                  </a:lnTo>
                  <a:lnTo>
                    <a:pt x="17525" y="39750"/>
                  </a:lnTo>
                  <a:lnTo>
                    <a:pt x="10715" y="38191"/>
                  </a:lnTo>
                  <a:lnTo>
                    <a:pt x="5143" y="33940"/>
                  </a:lnTo>
                  <a:lnTo>
                    <a:pt x="1381" y="27642"/>
                  </a:lnTo>
                  <a:lnTo>
                    <a:pt x="0" y="1993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57575" y="4424298"/>
              <a:ext cx="220979" cy="337185"/>
            </a:xfrm>
            <a:custGeom>
              <a:avLst/>
              <a:gdLst/>
              <a:ahLst/>
              <a:cxnLst/>
              <a:rect l="l" t="t" r="r" b="b"/>
              <a:pathLst>
                <a:path w="220979" h="337185">
                  <a:moveTo>
                    <a:pt x="99949" y="0"/>
                  </a:moveTo>
                  <a:lnTo>
                    <a:pt x="88900" y="0"/>
                  </a:lnTo>
                  <a:lnTo>
                    <a:pt x="85725" y="1650"/>
                  </a:lnTo>
                  <a:lnTo>
                    <a:pt x="82550" y="1650"/>
                  </a:lnTo>
                  <a:lnTo>
                    <a:pt x="76200" y="4825"/>
                  </a:lnTo>
                  <a:lnTo>
                    <a:pt x="71374" y="6350"/>
                  </a:lnTo>
                  <a:lnTo>
                    <a:pt x="69850" y="9525"/>
                  </a:lnTo>
                  <a:lnTo>
                    <a:pt x="65024" y="14350"/>
                  </a:lnTo>
                  <a:lnTo>
                    <a:pt x="63500" y="19050"/>
                  </a:lnTo>
                  <a:lnTo>
                    <a:pt x="60325" y="22225"/>
                  </a:lnTo>
                  <a:lnTo>
                    <a:pt x="60325" y="25400"/>
                  </a:lnTo>
                  <a:lnTo>
                    <a:pt x="1524" y="155575"/>
                  </a:lnTo>
                  <a:lnTo>
                    <a:pt x="1524" y="160400"/>
                  </a:lnTo>
                  <a:lnTo>
                    <a:pt x="0" y="161925"/>
                  </a:lnTo>
                  <a:lnTo>
                    <a:pt x="0" y="171450"/>
                  </a:lnTo>
                  <a:lnTo>
                    <a:pt x="1524" y="173100"/>
                  </a:lnTo>
                  <a:lnTo>
                    <a:pt x="1524" y="176275"/>
                  </a:lnTo>
                  <a:lnTo>
                    <a:pt x="3175" y="179450"/>
                  </a:lnTo>
                  <a:lnTo>
                    <a:pt x="4699" y="181101"/>
                  </a:lnTo>
                  <a:lnTo>
                    <a:pt x="6350" y="184276"/>
                  </a:lnTo>
                  <a:lnTo>
                    <a:pt x="9525" y="185800"/>
                  </a:lnTo>
                  <a:lnTo>
                    <a:pt x="11049" y="187451"/>
                  </a:lnTo>
                  <a:lnTo>
                    <a:pt x="14224" y="188975"/>
                  </a:lnTo>
                  <a:lnTo>
                    <a:pt x="144399" y="188975"/>
                  </a:lnTo>
                  <a:lnTo>
                    <a:pt x="144399" y="336676"/>
                  </a:lnTo>
                  <a:lnTo>
                    <a:pt x="182499" y="336676"/>
                  </a:lnTo>
                  <a:lnTo>
                    <a:pt x="182499" y="160400"/>
                  </a:lnTo>
                  <a:lnTo>
                    <a:pt x="180975" y="157225"/>
                  </a:lnTo>
                  <a:lnTo>
                    <a:pt x="180975" y="155575"/>
                  </a:lnTo>
                  <a:lnTo>
                    <a:pt x="179324" y="155575"/>
                  </a:lnTo>
                  <a:lnTo>
                    <a:pt x="172974" y="149225"/>
                  </a:lnTo>
                  <a:lnTo>
                    <a:pt x="171450" y="149225"/>
                  </a:lnTo>
                  <a:lnTo>
                    <a:pt x="169799" y="147700"/>
                  </a:lnTo>
                  <a:lnTo>
                    <a:pt x="157099" y="147700"/>
                  </a:lnTo>
                  <a:lnTo>
                    <a:pt x="87249" y="142875"/>
                  </a:lnTo>
                  <a:lnTo>
                    <a:pt x="106299" y="85725"/>
                  </a:lnTo>
                  <a:lnTo>
                    <a:pt x="120650" y="106425"/>
                  </a:lnTo>
                  <a:lnTo>
                    <a:pt x="204724" y="106425"/>
                  </a:lnTo>
                  <a:lnTo>
                    <a:pt x="206375" y="104775"/>
                  </a:lnTo>
                  <a:lnTo>
                    <a:pt x="211074" y="104775"/>
                  </a:lnTo>
                  <a:lnTo>
                    <a:pt x="214249" y="101600"/>
                  </a:lnTo>
                  <a:lnTo>
                    <a:pt x="215900" y="101600"/>
                  </a:lnTo>
                  <a:lnTo>
                    <a:pt x="219075" y="98425"/>
                  </a:lnTo>
                  <a:lnTo>
                    <a:pt x="219075" y="93725"/>
                  </a:lnTo>
                  <a:lnTo>
                    <a:pt x="220599" y="92075"/>
                  </a:lnTo>
                  <a:lnTo>
                    <a:pt x="220599" y="85725"/>
                  </a:lnTo>
                  <a:lnTo>
                    <a:pt x="219075" y="84200"/>
                  </a:lnTo>
                  <a:lnTo>
                    <a:pt x="219075" y="82550"/>
                  </a:lnTo>
                  <a:lnTo>
                    <a:pt x="217424" y="81025"/>
                  </a:lnTo>
                  <a:lnTo>
                    <a:pt x="215900" y="77850"/>
                  </a:lnTo>
                  <a:lnTo>
                    <a:pt x="214249" y="77850"/>
                  </a:lnTo>
                  <a:lnTo>
                    <a:pt x="209550" y="73025"/>
                  </a:lnTo>
                  <a:lnTo>
                    <a:pt x="139700" y="73025"/>
                  </a:lnTo>
                  <a:lnTo>
                    <a:pt x="125349" y="49275"/>
                  </a:lnTo>
                  <a:lnTo>
                    <a:pt x="128524" y="47625"/>
                  </a:lnTo>
                  <a:lnTo>
                    <a:pt x="128524" y="41275"/>
                  </a:lnTo>
                  <a:lnTo>
                    <a:pt x="130175" y="38100"/>
                  </a:lnTo>
                  <a:lnTo>
                    <a:pt x="130175" y="28575"/>
                  </a:lnTo>
                  <a:lnTo>
                    <a:pt x="128524" y="25400"/>
                  </a:lnTo>
                  <a:lnTo>
                    <a:pt x="128524" y="22225"/>
                  </a:lnTo>
                  <a:lnTo>
                    <a:pt x="127000" y="20700"/>
                  </a:lnTo>
                  <a:lnTo>
                    <a:pt x="123825" y="14350"/>
                  </a:lnTo>
                  <a:lnTo>
                    <a:pt x="122174" y="12700"/>
                  </a:lnTo>
                  <a:lnTo>
                    <a:pt x="120650" y="9525"/>
                  </a:lnTo>
                  <a:lnTo>
                    <a:pt x="117475" y="8000"/>
                  </a:lnTo>
                  <a:lnTo>
                    <a:pt x="115824" y="6350"/>
                  </a:lnTo>
                  <a:lnTo>
                    <a:pt x="106299" y="1650"/>
                  </a:lnTo>
                  <a:lnTo>
                    <a:pt x="103124" y="1650"/>
                  </a:lnTo>
                  <a:lnTo>
                    <a:pt x="99949" y="0"/>
                  </a:lnTo>
                  <a:close/>
                </a:path>
              </a:pathLst>
            </a:custGeom>
            <a:solidFill>
              <a:srgbClr val="F39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17612" y="2690748"/>
              <a:ext cx="2474912" cy="21051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3826872" y="4275073"/>
            <a:ext cx="344895" cy="488950"/>
            <a:chOff x="3825875" y="4275073"/>
            <a:chExt cx="344805" cy="488950"/>
          </a:xfrm>
        </p:grpSpPr>
        <p:sp>
          <p:nvSpPr>
            <p:cNvPr id="41" name="object 41"/>
            <p:cNvSpPr/>
            <p:nvPr/>
          </p:nvSpPr>
          <p:spPr>
            <a:xfrm>
              <a:off x="3838575" y="4287773"/>
              <a:ext cx="319405" cy="463550"/>
            </a:xfrm>
            <a:custGeom>
              <a:avLst/>
              <a:gdLst/>
              <a:ahLst/>
              <a:cxnLst/>
              <a:rect l="l" t="t" r="r" b="b"/>
              <a:pathLst>
                <a:path w="319404" h="463550">
                  <a:moveTo>
                    <a:pt x="153924" y="0"/>
                  </a:moveTo>
                  <a:lnTo>
                    <a:pt x="144399" y="4825"/>
                  </a:lnTo>
                  <a:lnTo>
                    <a:pt x="138049" y="9525"/>
                  </a:lnTo>
                  <a:lnTo>
                    <a:pt x="134874" y="20700"/>
                  </a:lnTo>
                  <a:lnTo>
                    <a:pt x="131699" y="28575"/>
                  </a:lnTo>
                  <a:lnTo>
                    <a:pt x="134874" y="36575"/>
                  </a:lnTo>
                  <a:lnTo>
                    <a:pt x="138049" y="47625"/>
                  </a:lnTo>
                  <a:lnTo>
                    <a:pt x="139700" y="55625"/>
                  </a:lnTo>
                  <a:lnTo>
                    <a:pt x="142875" y="63500"/>
                  </a:lnTo>
                  <a:lnTo>
                    <a:pt x="139700" y="74675"/>
                  </a:lnTo>
                  <a:lnTo>
                    <a:pt x="134874" y="82550"/>
                  </a:lnTo>
                  <a:lnTo>
                    <a:pt x="123825" y="90550"/>
                  </a:lnTo>
                  <a:lnTo>
                    <a:pt x="112649" y="95250"/>
                  </a:lnTo>
                  <a:lnTo>
                    <a:pt x="104775" y="101600"/>
                  </a:lnTo>
                  <a:lnTo>
                    <a:pt x="96774" y="109600"/>
                  </a:lnTo>
                  <a:lnTo>
                    <a:pt x="88900" y="120650"/>
                  </a:lnTo>
                  <a:lnTo>
                    <a:pt x="80899" y="138175"/>
                  </a:lnTo>
                  <a:lnTo>
                    <a:pt x="74549" y="157225"/>
                  </a:lnTo>
                  <a:lnTo>
                    <a:pt x="68199" y="174625"/>
                  </a:lnTo>
                  <a:lnTo>
                    <a:pt x="66675" y="193675"/>
                  </a:lnTo>
                  <a:lnTo>
                    <a:pt x="63500" y="217550"/>
                  </a:lnTo>
                  <a:lnTo>
                    <a:pt x="63500" y="244475"/>
                  </a:lnTo>
                  <a:lnTo>
                    <a:pt x="66675" y="252475"/>
                  </a:lnTo>
                  <a:lnTo>
                    <a:pt x="69850" y="255650"/>
                  </a:lnTo>
                  <a:lnTo>
                    <a:pt x="77724" y="257175"/>
                  </a:lnTo>
                  <a:lnTo>
                    <a:pt x="82550" y="255650"/>
                  </a:lnTo>
                  <a:lnTo>
                    <a:pt x="84074" y="252475"/>
                  </a:lnTo>
                  <a:lnTo>
                    <a:pt x="84074" y="211200"/>
                  </a:lnTo>
                  <a:lnTo>
                    <a:pt x="85725" y="195325"/>
                  </a:lnTo>
                  <a:lnTo>
                    <a:pt x="88900" y="185800"/>
                  </a:lnTo>
                  <a:lnTo>
                    <a:pt x="93599" y="176275"/>
                  </a:lnTo>
                  <a:lnTo>
                    <a:pt x="101600" y="174625"/>
                  </a:lnTo>
                  <a:lnTo>
                    <a:pt x="111125" y="176275"/>
                  </a:lnTo>
                  <a:lnTo>
                    <a:pt x="112649" y="182625"/>
                  </a:lnTo>
                  <a:lnTo>
                    <a:pt x="111125" y="200025"/>
                  </a:lnTo>
                  <a:lnTo>
                    <a:pt x="104775" y="246125"/>
                  </a:lnTo>
                  <a:lnTo>
                    <a:pt x="98425" y="265175"/>
                  </a:lnTo>
                  <a:lnTo>
                    <a:pt x="92075" y="292100"/>
                  </a:lnTo>
                  <a:lnTo>
                    <a:pt x="84074" y="314325"/>
                  </a:lnTo>
                  <a:lnTo>
                    <a:pt x="66675" y="341375"/>
                  </a:lnTo>
                  <a:lnTo>
                    <a:pt x="52324" y="360425"/>
                  </a:lnTo>
                  <a:lnTo>
                    <a:pt x="28575" y="387350"/>
                  </a:lnTo>
                  <a:lnTo>
                    <a:pt x="12700" y="408050"/>
                  </a:lnTo>
                  <a:lnTo>
                    <a:pt x="0" y="425450"/>
                  </a:lnTo>
                  <a:lnTo>
                    <a:pt x="0" y="433450"/>
                  </a:lnTo>
                  <a:lnTo>
                    <a:pt x="12700" y="447675"/>
                  </a:lnTo>
                  <a:lnTo>
                    <a:pt x="30099" y="463550"/>
                  </a:lnTo>
                  <a:lnTo>
                    <a:pt x="47625" y="463550"/>
                  </a:lnTo>
                  <a:lnTo>
                    <a:pt x="52324" y="458850"/>
                  </a:lnTo>
                  <a:lnTo>
                    <a:pt x="36449" y="439800"/>
                  </a:lnTo>
                  <a:lnTo>
                    <a:pt x="36449" y="431800"/>
                  </a:lnTo>
                  <a:lnTo>
                    <a:pt x="47625" y="414400"/>
                  </a:lnTo>
                  <a:lnTo>
                    <a:pt x="68199" y="393700"/>
                  </a:lnTo>
                  <a:lnTo>
                    <a:pt x="123825" y="323850"/>
                  </a:lnTo>
                  <a:lnTo>
                    <a:pt x="134874" y="314325"/>
                  </a:lnTo>
                  <a:lnTo>
                    <a:pt x="139700" y="306450"/>
                  </a:lnTo>
                  <a:lnTo>
                    <a:pt x="152400" y="303275"/>
                  </a:lnTo>
                  <a:lnTo>
                    <a:pt x="161925" y="309625"/>
                  </a:lnTo>
                  <a:lnTo>
                    <a:pt x="174625" y="317500"/>
                  </a:lnTo>
                  <a:lnTo>
                    <a:pt x="226949" y="387350"/>
                  </a:lnTo>
                  <a:lnTo>
                    <a:pt x="252349" y="425450"/>
                  </a:lnTo>
                  <a:lnTo>
                    <a:pt x="268224" y="447675"/>
                  </a:lnTo>
                  <a:lnTo>
                    <a:pt x="274574" y="450850"/>
                  </a:lnTo>
                  <a:lnTo>
                    <a:pt x="285750" y="450850"/>
                  </a:lnTo>
                  <a:lnTo>
                    <a:pt x="295275" y="442975"/>
                  </a:lnTo>
                  <a:lnTo>
                    <a:pt x="317500" y="427100"/>
                  </a:lnTo>
                  <a:lnTo>
                    <a:pt x="319024" y="419100"/>
                  </a:lnTo>
                  <a:lnTo>
                    <a:pt x="306324" y="422275"/>
                  </a:lnTo>
                  <a:lnTo>
                    <a:pt x="295275" y="419100"/>
                  </a:lnTo>
                  <a:lnTo>
                    <a:pt x="252349" y="365125"/>
                  </a:lnTo>
                  <a:lnTo>
                    <a:pt x="214249" y="303275"/>
                  </a:lnTo>
                  <a:lnTo>
                    <a:pt x="195199" y="269875"/>
                  </a:lnTo>
                  <a:lnTo>
                    <a:pt x="179324" y="225425"/>
                  </a:lnTo>
                  <a:lnTo>
                    <a:pt x="179324" y="208025"/>
                  </a:lnTo>
                  <a:lnTo>
                    <a:pt x="182499" y="195325"/>
                  </a:lnTo>
                  <a:lnTo>
                    <a:pt x="190500" y="190500"/>
                  </a:lnTo>
                  <a:lnTo>
                    <a:pt x="196850" y="190500"/>
                  </a:lnTo>
                  <a:lnTo>
                    <a:pt x="204724" y="193675"/>
                  </a:lnTo>
                  <a:lnTo>
                    <a:pt x="219075" y="206375"/>
                  </a:lnTo>
                  <a:lnTo>
                    <a:pt x="236474" y="217550"/>
                  </a:lnTo>
                  <a:lnTo>
                    <a:pt x="249174" y="223900"/>
                  </a:lnTo>
                  <a:lnTo>
                    <a:pt x="257175" y="225425"/>
                  </a:lnTo>
                  <a:lnTo>
                    <a:pt x="263525" y="223900"/>
                  </a:lnTo>
                  <a:lnTo>
                    <a:pt x="266700" y="217550"/>
                  </a:lnTo>
                  <a:lnTo>
                    <a:pt x="265049" y="214375"/>
                  </a:lnTo>
                  <a:lnTo>
                    <a:pt x="263525" y="208025"/>
                  </a:lnTo>
                  <a:lnTo>
                    <a:pt x="250825" y="195325"/>
                  </a:lnTo>
                  <a:lnTo>
                    <a:pt x="228600" y="182625"/>
                  </a:lnTo>
                  <a:lnTo>
                    <a:pt x="217424" y="171450"/>
                  </a:lnTo>
                  <a:lnTo>
                    <a:pt x="207899" y="157225"/>
                  </a:lnTo>
                  <a:lnTo>
                    <a:pt x="203200" y="138175"/>
                  </a:lnTo>
                  <a:lnTo>
                    <a:pt x="200025" y="117475"/>
                  </a:lnTo>
                  <a:lnTo>
                    <a:pt x="196850" y="109600"/>
                  </a:lnTo>
                  <a:lnTo>
                    <a:pt x="190500" y="100075"/>
                  </a:lnTo>
                  <a:lnTo>
                    <a:pt x="174625" y="84200"/>
                  </a:lnTo>
                  <a:lnTo>
                    <a:pt x="174625" y="76200"/>
                  </a:lnTo>
                  <a:lnTo>
                    <a:pt x="179324" y="63500"/>
                  </a:lnTo>
                  <a:lnTo>
                    <a:pt x="182499" y="58800"/>
                  </a:lnTo>
                  <a:lnTo>
                    <a:pt x="187325" y="49275"/>
                  </a:lnTo>
                  <a:lnTo>
                    <a:pt x="190500" y="38100"/>
                  </a:lnTo>
                  <a:lnTo>
                    <a:pt x="187325" y="23875"/>
                  </a:lnTo>
                  <a:lnTo>
                    <a:pt x="184150" y="14350"/>
                  </a:lnTo>
                  <a:lnTo>
                    <a:pt x="179324" y="6350"/>
                  </a:lnTo>
                  <a:lnTo>
                    <a:pt x="168275" y="1650"/>
                  </a:lnTo>
                  <a:lnTo>
                    <a:pt x="153924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38575" y="4287773"/>
              <a:ext cx="319405" cy="463550"/>
            </a:xfrm>
            <a:custGeom>
              <a:avLst/>
              <a:gdLst/>
              <a:ahLst/>
              <a:cxnLst/>
              <a:rect l="l" t="t" r="r" b="b"/>
              <a:pathLst>
                <a:path w="319404" h="463550">
                  <a:moveTo>
                    <a:pt x="317500" y="427100"/>
                  </a:moveTo>
                  <a:lnTo>
                    <a:pt x="319024" y="419100"/>
                  </a:lnTo>
                  <a:lnTo>
                    <a:pt x="306324" y="422275"/>
                  </a:lnTo>
                  <a:lnTo>
                    <a:pt x="295275" y="419100"/>
                  </a:lnTo>
                  <a:lnTo>
                    <a:pt x="252349" y="365125"/>
                  </a:lnTo>
                  <a:lnTo>
                    <a:pt x="214249" y="303275"/>
                  </a:lnTo>
                  <a:lnTo>
                    <a:pt x="195199" y="269875"/>
                  </a:lnTo>
                  <a:lnTo>
                    <a:pt x="179324" y="225425"/>
                  </a:lnTo>
                  <a:lnTo>
                    <a:pt x="179324" y="208025"/>
                  </a:lnTo>
                  <a:lnTo>
                    <a:pt x="182499" y="195325"/>
                  </a:lnTo>
                  <a:lnTo>
                    <a:pt x="190500" y="190500"/>
                  </a:lnTo>
                  <a:lnTo>
                    <a:pt x="196850" y="190500"/>
                  </a:lnTo>
                  <a:lnTo>
                    <a:pt x="204724" y="193675"/>
                  </a:lnTo>
                  <a:lnTo>
                    <a:pt x="219075" y="206375"/>
                  </a:lnTo>
                  <a:lnTo>
                    <a:pt x="236474" y="217550"/>
                  </a:lnTo>
                  <a:lnTo>
                    <a:pt x="249174" y="223900"/>
                  </a:lnTo>
                  <a:lnTo>
                    <a:pt x="257175" y="225425"/>
                  </a:lnTo>
                  <a:lnTo>
                    <a:pt x="263525" y="223900"/>
                  </a:lnTo>
                  <a:lnTo>
                    <a:pt x="266700" y="217550"/>
                  </a:lnTo>
                  <a:lnTo>
                    <a:pt x="265049" y="214375"/>
                  </a:lnTo>
                  <a:lnTo>
                    <a:pt x="263525" y="208025"/>
                  </a:lnTo>
                  <a:lnTo>
                    <a:pt x="250825" y="195325"/>
                  </a:lnTo>
                  <a:lnTo>
                    <a:pt x="228600" y="182625"/>
                  </a:lnTo>
                  <a:lnTo>
                    <a:pt x="217424" y="171450"/>
                  </a:lnTo>
                  <a:lnTo>
                    <a:pt x="207899" y="157225"/>
                  </a:lnTo>
                  <a:lnTo>
                    <a:pt x="203200" y="138175"/>
                  </a:lnTo>
                  <a:lnTo>
                    <a:pt x="200025" y="117475"/>
                  </a:lnTo>
                  <a:lnTo>
                    <a:pt x="196850" y="109600"/>
                  </a:lnTo>
                  <a:lnTo>
                    <a:pt x="190500" y="100075"/>
                  </a:lnTo>
                  <a:lnTo>
                    <a:pt x="180975" y="90550"/>
                  </a:lnTo>
                  <a:lnTo>
                    <a:pt x="174625" y="84200"/>
                  </a:lnTo>
                  <a:lnTo>
                    <a:pt x="174625" y="76200"/>
                  </a:lnTo>
                  <a:lnTo>
                    <a:pt x="179324" y="63500"/>
                  </a:lnTo>
                  <a:lnTo>
                    <a:pt x="182499" y="58800"/>
                  </a:lnTo>
                  <a:lnTo>
                    <a:pt x="187325" y="49275"/>
                  </a:lnTo>
                  <a:lnTo>
                    <a:pt x="190500" y="38100"/>
                  </a:lnTo>
                  <a:lnTo>
                    <a:pt x="187325" y="23875"/>
                  </a:lnTo>
                  <a:lnTo>
                    <a:pt x="184150" y="14350"/>
                  </a:lnTo>
                  <a:lnTo>
                    <a:pt x="179324" y="6350"/>
                  </a:lnTo>
                  <a:lnTo>
                    <a:pt x="168275" y="1650"/>
                  </a:lnTo>
                  <a:lnTo>
                    <a:pt x="153924" y="0"/>
                  </a:lnTo>
                  <a:lnTo>
                    <a:pt x="144399" y="4825"/>
                  </a:lnTo>
                  <a:lnTo>
                    <a:pt x="138049" y="9525"/>
                  </a:lnTo>
                  <a:lnTo>
                    <a:pt x="134874" y="20700"/>
                  </a:lnTo>
                  <a:lnTo>
                    <a:pt x="131699" y="28575"/>
                  </a:lnTo>
                  <a:lnTo>
                    <a:pt x="134874" y="36575"/>
                  </a:lnTo>
                  <a:lnTo>
                    <a:pt x="138049" y="47625"/>
                  </a:lnTo>
                  <a:lnTo>
                    <a:pt x="139700" y="55625"/>
                  </a:lnTo>
                  <a:lnTo>
                    <a:pt x="142875" y="63500"/>
                  </a:lnTo>
                  <a:lnTo>
                    <a:pt x="139700" y="74675"/>
                  </a:lnTo>
                  <a:lnTo>
                    <a:pt x="134874" y="82550"/>
                  </a:lnTo>
                  <a:lnTo>
                    <a:pt x="123825" y="90550"/>
                  </a:lnTo>
                  <a:lnTo>
                    <a:pt x="112649" y="95250"/>
                  </a:lnTo>
                  <a:lnTo>
                    <a:pt x="104775" y="101600"/>
                  </a:lnTo>
                  <a:lnTo>
                    <a:pt x="96774" y="109600"/>
                  </a:lnTo>
                  <a:lnTo>
                    <a:pt x="88900" y="120650"/>
                  </a:lnTo>
                  <a:lnTo>
                    <a:pt x="80899" y="138175"/>
                  </a:lnTo>
                  <a:lnTo>
                    <a:pt x="74549" y="157225"/>
                  </a:lnTo>
                  <a:lnTo>
                    <a:pt x="68199" y="174625"/>
                  </a:lnTo>
                  <a:lnTo>
                    <a:pt x="66675" y="193675"/>
                  </a:lnTo>
                  <a:lnTo>
                    <a:pt x="63500" y="217550"/>
                  </a:lnTo>
                  <a:lnTo>
                    <a:pt x="63500" y="231775"/>
                  </a:lnTo>
                  <a:lnTo>
                    <a:pt x="63500" y="244475"/>
                  </a:lnTo>
                  <a:lnTo>
                    <a:pt x="66675" y="252475"/>
                  </a:lnTo>
                  <a:lnTo>
                    <a:pt x="69850" y="255650"/>
                  </a:lnTo>
                  <a:lnTo>
                    <a:pt x="77724" y="257175"/>
                  </a:lnTo>
                  <a:lnTo>
                    <a:pt x="82550" y="255650"/>
                  </a:lnTo>
                  <a:lnTo>
                    <a:pt x="84074" y="252475"/>
                  </a:lnTo>
                  <a:lnTo>
                    <a:pt x="84074" y="236600"/>
                  </a:lnTo>
                  <a:lnTo>
                    <a:pt x="84074" y="211200"/>
                  </a:lnTo>
                  <a:lnTo>
                    <a:pt x="85725" y="195325"/>
                  </a:lnTo>
                  <a:lnTo>
                    <a:pt x="88900" y="185800"/>
                  </a:lnTo>
                  <a:lnTo>
                    <a:pt x="93599" y="176275"/>
                  </a:lnTo>
                  <a:lnTo>
                    <a:pt x="101600" y="174625"/>
                  </a:lnTo>
                  <a:lnTo>
                    <a:pt x="111125" y="176275"/>
                  </a:lnTo>
                  <a:lnTo>
                    <a:pt x="112649" y="182625"/>
                  </a:lnTo>
                  <a:lnTo>
                    <a:pt x="111125" y="200025"/>
                  </a:lnTo>
                  <a:lnTo>
                    <a:pt x="107950" y="223900"/>
                  </a:lnTo>
                  <a:lnTo>
                    <a:pt x="104775" y="246125"/>
                  </a:lnTo>
                  <a:lnTo>
                    <a:pt x="98425" y="265175"/>
                  </a:lnTo>
                  <a:lnTo>
                    <a:pt x="92075" y="292100"/>
                  </a:lnTo>
                  <a:lnTo>
                    <a:pt x="84074" y="314325"/>
                  </a:lnTo>
                  <a:lnTo>
                    <a:pt x="66675" y="341375"/>
                  </a:lnTo>
                  <a:lnTo>
                    <a:pt x="52324" y="360425"/>
                  </a:lnTo>
                  <a:lnTo>
                    <a:pt x="28575" y="387350"/>
                  </a:lnTo>
                  <a:lnTo>
                    <a:pt x="12700" y="408050"/>
                  </a:lnTo>
                  <a:lnTo>
                    <a:pt x="0" y="425450"/>
                  </a:lnTo>
                  <a:lnTo>
                    <a:pt x="0" y="433450"/>
                  </a:lnTo>
                  <a:lnTo>
                    <a:pt x="12700" y="447675"/>
                  </a:lnTo>
                  <a:lnTo>
                    <a:pt x="30099" y="463550"/>
                  </a:lnTo>
                  <a:lnTo>
                    <a:pt x="47625" y="463550"/>
                  </a:lnTo>
                  <a:lnTo>
                    <a:pt x="52324" y="458850"/>
                  </a:lnTo>
                  <a:lnTo>
                    <a:pt x="44450" y="449325"/>
                  </a:lnTo>
                  <a:lnTo>
                    <a:pt x="36449" y="439800"/>
                  </a:lnTo>
                  <a:lnTo>
                    <a:pt x="36449" y="431800"/>
                  </a:lnTo>
                  <a:lnTo>
                    <a:pt x="47625" y="414400"/>
                  </a:lnTo>
                  <a:lnTo>
                    <a:pt x="68199" y="393700"/>
                  </a:lnTo>
                  <a:lnTo>
                    <a:pt x="98425" y="355600"/>
                  </a:lnTo>
                  <a:lnTo>
                    <a:pt x="123825" y="323850"/>
                  </a:lnTo>
                  <a:lnTo>
                    <a:pt x="134874" y="314325"/>
                  </a:lnTo>
                  <a:lnTo>
                    <a:pt x="139700" y="306450"/>
                  </a:lnTo>
                  <a:lnTo>
                    <a:pt x="152400" y="303275"/>
                  </a:lnTo>
                  <a:lnTo>
                    <a:pt x="161925" y="309625"/>
                  </a:lnTo>
                  <a:lnTo>
                    <a:pt x="174625" y="317500"/>
                  </a:lnTo>
                  <a:lnTo>
                    <a:pt x="198374" y="349250"/>
                  </a:lnTo>
                  <a:lnTo>
                    <a:pt x="226949" y="387350"/>
                  </a:lnTo>
                  <a:lnTo>
                    <a:pt x="252349" y="425450"/>
                  </a:lnTo>
                  <a:lnTo>
                    <a:pt x="268224" y="447675"/>
                  </a:lnTo>
                  <a:lnTo>
                    <a:pt x="274574" y="450850"/>
                  </a:lnTo>
                  <a:lnTo>
                    <a:pt x="285750" y="450850"/>
                  </a:lnTo>
                  <a:lnTo>
                    <a:pt x="295275" y="442975"/>
                  </a:lnTo>
                  <a:lnTo>
                    <a:pt x="306324" y="434975"/>
                  </a:lnTo>
                  <a:lnTo>
                    <a:pt x="317500" y="427100"/>
                  </a:lnTo>
                </a:path>
              </a:pathLst>
            </a:custGeom>
            <a:ln w="25400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673275" y="2755901"/>
            <a:ext cx="400154" cy="358775"/>
            <a:chOff x="673100" y="2755900"/>
            <a:chExt cx="400050" cy="358775"/>
          </a:xfrm>
        </p:grpSpPr>
        <p:sp>
          <p:nvSpPr>
            <p:cNvPr id="44" name="object 44"/>
            <p:cNvSpPr/>
            <p:nvPr/>
          </p:nvSpPr>
          <p:spPr>
            <a:xfrm>
              <a:off x="685800" y="2768600"/>
              <a:ext cx="374650" cy="333375"/>
            </a:xfrm>
            <a:custGeom>
              <a:avLst/>
              <a:gdLst/>
              <a:ahLst/>
              <a:cxnLst/>
              <a:rect l="l" t="t" r="r" b="b"/>
              <a:pathLst>
                <a:path w="374650" h="333375">
                  <a:moveTo>
                    <a:pt x="347662" y="0"/>
                  </a:moveTo>
                  <a:lnTo>
                    <a:pt x="254000" y="17525"/>
                  </a:lnTo>
                  <a:lnTo>
                    <a:pt x="255587" y="0"/>
                  </a:lnTo>
                  <a:lnTo>
                    <a:pt x="177800" y="0"/>
                  </a:lnTo>
                  <a:lnTo>
                    <a:pt x="177800" y="17525"/>
                  </a:lnTo>
                  <a:lnTo>
                    <a:pt x="104775" y="0"/>
                  </a:lnTo>
                  <a:lnTo>
                    <a:pt x="106362" y="15875"/>
                  </a:lnTo>
                  <a:lnTo>
                    <a:pt x="46037" y="4825"/>
                  </a:lnTo>
                  <a:lnTo>
                    <a:pt x="131762" y="93725"/>
                  </a:lnTo>
                  <a:lnTo>
                    <a:pt x="115887" y="96900"/>
                  </a:lnTo>
                  <a:lnTo>
                    <a:pt x="71437" y="112775"/>
                  </a:lnTo>
                  <a:lnTo>
                    <a:pt x="26987" y="146050"/>
                  </a:lnTo>
                  <a:lnTo>
                    <a:pt x="3175" y="192150"/>
                  </a:lnTo>
                  <a:lnTo>
                    <a:pt x="1587" y="208025"/>
                  </a:lnTo>
                  <a:lnTo>
                    <a:pt x="0" y="215900"/>
                  </a:lnTo>
                  <a:lnTo>
                    <a:pt x="14287" y="263525"/>
                  </a:lnTo>
                  <a:lnTo>
                    <a:pt x="47625" y="296925"/>
                  </a:lnTo>
                  <a:lnTo>
                    <a:pt x="84137" y="317500"/>
                  </a:lnTo>
                  <a:lnTo>
                    <a:pt x="123825" y="330200"/>
                  </a:lnTo>
                  <a:lnTo>
                    <a:pt x="152400" y="333375"/>
                  </a:lnTo>
                  <a:lnTo>
                    <a:pt x="215900" y="333375"/>
                  </a:lnTo>
                  <a:lnTo>
                    <a:pt x="230187" y="331850"/>
                  </a:lnTo>
                  <a:lnTo>
                    <a:pt x="246062" y="331850"/>
                  </a:lnTo>
                  <a:lnTo>
                    <a:pt x="255587" y="328675"/>
                  </a:lnTo>
                  <a:lnTo>
                    <a:pt x="269875" y="325500"/>
                  </a:lnTo>
                  <a:lnTo>
                    <a:pt x="280987" y="322325"/>
                  </a:lnTo>
                  <a:lnTo>
                    <a:pt x="293687" y="315975"/>
                  </a:lnTo>
                  <a:lnTo>
                    <a:pt x="306387" y="311150"/>
                  </a:lnTo>
                  <a:lnTo>
                    <a:pt x="319087" y="303275"/>
                  </a:lnTo>
                  <a:lnTo>
                    <a:pt x="355600" y="268350"/>
                  </a:lnTo>
                  <a:lnTo>
                    <a:pt x="373062" y="227075"/>
                  </a:lnTo>
                  <a:lnTo>
                    <a:pt x="374650" y="212725"/>
                  </a:lnTo>
                  <a:lnTo>
                    <a:pt x="373062" y="196850"/>
                  </a:lnTo>
                  <a:lnTo>
                    <a:pt x="352425" y="152400"/>
                  </a:lnTo>
                  <a:lnTo>
                    <a:pt x="325437" y="125475"/>
                  </a:lnTo>
                  <a:lnTo>
                    <a:pt x="300037" y="112775"/>
                  </a:lnTo>
                  <a:lnTo>
                    <a:pt x="285750" y="104775"/>
                  </a:lnTo>
                  <a:lnTo>
                    <a:pt x="273050" y="101600"/>
                  </a:lnTo>
                  <a:lnTo>
                    <a:pt x="258762" y="96900"/>
                  </a:lnTo>
                  <a:lnTo>
                    <a:pt x="234950" y="93725"/>
                  </a:lnTo>
                  <a:lnTo>
                    <a:pt x="347662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45" name="object 45"/>
            <p:cNvSpPr/>
            <p:nvPr/>
          </p:nvSpPr>
          <p:spPr>
            <a:xfrm>
              <a:off x="685800" y="2768600"/>
              <a:ext cx="374650" cy="333375"/>
            </a:xfrm>
            <a:custGeom>
              <a:avLst/>
              <a:gdLst/>
              <a:ahLst/>
              <a:cxnLst/>
              <a:rect l="l" t="t" r="r" b="b"/>
              <a:pathLst>
                <a:path w="374650" h="333375">
                  <a:moveTo>
                    <a:pt x="46037" y="4825"/>
                  </a:moveTo>
                  <a:lnTo>
                    <a:pt x="106362" y="15875"/>
                  </a:lnTo>
                  <a:lnTo>
                    <a:pt x="104775" y="0"/>
                  </a:lnTo>
                  <a:lnTo>
                    <a:pt x="177800" y="17525"/>
                  </a:lnTo>
                  <a:lnTo>
                    <a:pt x="177800" y="0"/>
                  </a:lnTo>
                  <a:lnTo>
                    <a:pt x="255587" y="0"/>
                  </a:lnTo>
                  <a:lnTo>
                    <a:pt x="254000" y="17525"/>
                  </a:lnTo>
                  <a:lnTo>
                    <a:pt x="347662" y="0"/>
                  </a:lnTo>
                  <a:lnTo>
                    <a:pt x="234950" y="93725"/>
                  </a:lnTo>
                  <a:lnTo>
                    <a:pt x="246062" y="95250"/>
                  </a:lnTo>
                  <a:lnTo>
                    <a:pt x="258762" y="96900"/>
                  </a:lnTo>
                  <a:lnTo>
                    <a:pt x="273050" y="101600"/>
                  </a:lnTo>
                  <a:lnTo>
                    <a:pt x="285750" y="104775"/>
                  </a:lnTo>
                  <a:lnTo>
                    <a:pt x="300037" y="112775"/>
                  </a:lnTo>
                  <a:lnTo>
                    <a:pt x="312737" y="117475"/>
                  </a:lnTo>
                  <a:lnTo>
                    <a:pt x="344487" y="142875"/>
                  </a:lnTo>
                  <a:lnTo>
                    <a:pt x="366712" y="176275"/>
                  </a:lnTo>
                  <a:lnTo>
                    <a:pt x="374650" y="212725"/>
                  </a:lnTo>
                  <a:lnTo>
                    <a:pt x="373062" y="227075"/>
                  </a:lnTo>
                  <a:lnTo>
                    <a:pt x="369887" y="238125"/>
                  </a:lnTo>
                  <a:lnTo>
                    <a:pt x="366712" y="249300"/>
                  </a:lnTo>
                  <a:lnTo>
                    <a:pt x="333375" y="292100"/>
                  </a:lnTo>
                  <a:lnTo>
                    <a:pt x="293687" y="315975"/>
                  </a:lnTo>
                  <a:lnTo>
                    <a:pt x="280987" y="322325"/>
                  </a:lnTo>
                  <a:lnTo>
                    <a:pt x="269875" y="325500"/>
                  </a:lnTo>
                  <a:lnTo>
                    <a:pt x="255587" y="328675"/>
                  </a:lnTo>
                  <a:lnTo>
                    <a:pt x="246062" y="331850"/>
                  </a:lnTo>
                  <a:lnTo>
                    <a:pt x="230187" y="331850"/>
                  </a:lnTo>
                  <a:lnTo>
                    <a:pt x="215900" y="333375"/>
                  </a:lnTo>
                  <a:lnTo>
                    <a:pt x="152400" y="333375"/>
                  </a:lnTo>
                  <a:lnTo>
                    <a:pt x="139700" y="331850"/>
                  </a:lnTo>
                  <a:lnTo>
                    <a:pt x="123825" y="330200"/>
                  </a:lnTo>
                  <a:lnTo>
                    <a:pt x="103187" y="325500"/>
                  </a:lnTo>
                  <a:lnTo>
                    <a:pt x="63500" y="307975"/>
                  </a:lnTo>
                  <a:lnTo>
                    <a:pt x="23812" y="276225"/>
                  </a:lnTo>
                  <a:lnTo>
                    <a:pt x="4762" y="238125"/>
                  </a:lnTo>
                  <a:lnTo>
                    <a:pt x="1587" y="228600"/>
                  </a:lnTo>
                  <a:lnTo>
                    <a:pt x="0" y="215900"/>
                  </a:lnTo>
                  <a:lnTo>
                    <a:pt x="1587" y="208025"/>
                  </a:lnTo>
                  <a:lnTo>
                    <a:pt x="3175" y="192150"/>
                  </a:lnTo>
                  <a:lnTo>
                    <a:pt x="26987" y="146050"/>
                  </a:lnTo>
                  <a:lnTo>
                    <a:pt x="55562" y="120650"/>
                  </a:lnTo>
                  <a:lnTo>
                    <a:pt x="93662" y="103250"/>
                  </a:lnTo>
                  <a:lnTo>
                    <a:pt x="131762" y="93725"/>
                  </a:lnTo>
                  <a:lnTo>
                    <a:pt x="46037" y="482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682803" y="3848101"/>
            <a:ext cx="400154" cy="358775"/>
            <a:chOff x="682625" y="3848100"/>
            <a:chExt cx="400050" cy="358775"/>
          </a:xfrm>
        </p:grpSpPr>
        <p:sp>
          <p:nvSpPr>
            <p:cNvPr id="47" name="object 47"/>
            <p:cNvSpPr/>
            <p:nvPr/>
          </p:nvSpPr>
          <p:spPr>
            <a:xfrm>
              <a:off x="695325" y="3860800"/>
              <a:ext cx="374650" cy="333375"/>
            </a:xfrm>
            <a:custGeom>
              <a:avLst/>
              <a:gdLst/>
              <a:ahLst/>
              <a:cxnLst/>
              <a:rect l="l" t="t" r="r" b="b"/>
              <a:pathLst>
                <a:path w="374650" h="333375">
                  <a:moveTo>
                    <a:pt x="347662" y="0"/>
                  </a:moveTo>
                  <a:lnTo>
                    <a:pt x="254000" y="17399"/>
                  </a:lnTo>
                  <a:lnTo>
                    <a:pt x="255587" y="0"/>
                  </a:lnTo>
                  <a:lnTo>
                    <a:pt x="177800" y="0"/>
                  </a:lnTo>
                  <a:lnTo>
                    <a:pt x="177800" y="17399"/>
                  </a:lnTo>
                  <a:lnTo>
                    <a:pt x="104775" y="0"/>
                  </a:lnTo>
                  <a:lnTo>
                    <a:pt x="106362" y="15875"/>
                  </a:lnTo>
                  <a:lnTo>
                    <a:pt x="46037" y="4699"/>
                  </a:lnTo>
                  <a:lnTo>
                    <a:pt x="131762" y="93599"/>
                  </a:lnTo>
                  <a:lnTo>
                    <a:pt x="115887" y="96774"/>
                  </a:lnTo>
                  <a:lnTo>
                    <a:pt x="71437" y="112649"/>
                  </a:lnTo>
                  <a:lnTo>
                    <a:pt x="26987" y="146050"/>
                  </a:lnTo>
                  <a:lnTo>
                    <a:pt x="3175" y="192024"/>
                  </a:lnTo>
                  <a:lnTo>
                    <a:pt x="1587" y="207899"/>
                  </a:lnTo>
                  <a:lnTo>
                    <a:pt x="0" y="215900"/>
                  </a:lnTo>
                  <a:lnTo>
                    <a:pt x="14287" y="263525"/>
                  </a:lnTo>
                  <a:lnTo>
                    <a:pt x="47625" y="296799"/>
                  </a:lnTo>
                  <a:lnTo>
                    <a:pt x="84137" y="317500"/>
                  </a:lnTo>
                  <a:lnTo>
                    <a:pt x="123825" y="330200"/>
                  </a:lnTo>
                  <a:lnTo>
                    <a:pt x="139700" y="331724"/>
                  </a:lnTo>
                  <a:lnTo>
                    <a:pt x="152400" y="333375"/>
                  </a:lnTo>
                  <a:lnTo>
                    <a:pt x="215900" y="333375"/>
                  </a:lnTo>
                  <a:lnTo>
                    <a:pt x="230187" y="331724"/>
                  </a:lnTo>
                  <a:lnTo>
                    <a:pt x="246062" y="331724"/>
                  </a:lnTo>
                  <a:lnTo>
                    <a:pt x="255587" y="328549"/>
                  </a:lnTo>
                  <a:lnTo>
                    <a:pt x="269875" y="325374"/>
                  </a:lnTo>
                  <a:lnTo>
                    <a:pt x="280987" y="322199"/>
                  </a:lnTo>
                  <a:lnTo>
                    <a:pt x="293687" y="315849"/>
                  </a:lnTo>
                  <a:lnTo>
                    <a:pt x="306387" y="311150"/>
                  </a:lnTo>
                  <a:lnTo>
                    <a:pt x="319087" y="303149"/>
                  </a:lnTo>
                  <a:lnTo>
                    <a:pt x="355600" y="268224"/>
                  </a:lnTo>
                  <a:lnTo>
                    <a:pt x="373062" y="226949"/>
                  </a:lnTo>
                  <a:lnTo>
                    <a:pt x="374650" y="212725"/>
                  </a:lnTo>
                  <a:lnTo>
                    <a:pt x="373062" y="196850"/>
                  </a:lnTo>
                  <a:lnTo>
                    <a:pt x="352425" y="152400"/>
                  </a:lnTo>
                  <a:lnTo>
                    <a:pt x="325437" y="125349"/>
                  </a:lnTo>
                  <a:lnTo>
                    <a:pt x="300037" y="112649"/>
                  </a:lnTo>
                  <a:lnTo>
                    <a:pt x="285750" y="104775"/>
                  </a:lnTo>
                  <a:lnTo>
                    <a:pt x="273050" y="101600"/>
                  </a:lnTo>
                  <a:lnTo>
                    <a:pt x="258762" y="96774"/>
                  </a:lnTo>
                  <a:lnTo>
                    <a:pt x="246062" y="95250"/>
                  </a:lnTo>
                  <a:lnTo>
                    <a:pt x="234950" y="93599"/>
                  </a:lnTo>
                  <a:lnTo>
                    <a:pt x="347662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48" name="object 48"/>
            <p:cNvSpPr/>
            <p:nvPr/>
          </p:nvSpPr>
          <p:spPr>
            <a:xfrm>
              <a:off x="695325" y="3860800"/>
              <a:ext cx="374650" cy="333375"/>
            </a:xfrm>
            <a:custGeom>
              <a:avLst/>
              <a:gdLst/>
              <a:ahLst/>
              <a:cxnLst/>
              <a:rect l="l" t="t" r="r" b="b"/>
              <a:pathLst>
                <a:path w="374650" h="333375">
                  <a:moveTo>
                    <a:pt x="46037" y="4699"/>
                  </a:moveTo>
                  <a:lnTo>
                    <a:pt x="106362" y="15875"/>
                  </a:lnTo>
                  <a:lnTo>
                    <a:pt x="104775" y="0"/>
                  </a:lnTo>
                  <a:lnTo>
                    <a:pt x="177800" y="17399"/>
                  </a:lnTo>
                  <a:lnTo>
                    <a:pt x="177800" y="0"/>
                  </a:lnTo>
                  <a:lnTo>
                    <a:pt x="255587" y="0"/>
                  </a:lnTo>
                  <a:lnTo>
                    <a:pt x="254000" y="17399"/>
                  </a:lnTo>
                  <a:lnTo>
                    <a:pt x="347662" y="0"/>
                  </a:lnTo>
                  <a:lnTo>
                    <a:pt x="234950" y="93599"/>
                  </a:lnTo>
                  <a:lnTo>
                    <a:pt x="246062" y="95250"/>
                  </a:lnTo>
                  <a:lnTo>
                    <a:pt x="258762" y="96774"/>
                  </a:lnTo>
                  <a:lnTo>
                    <a:pt x="273050" y="101600"/>
                  </a:lnTo>
                  <a:lnTo>
                    <a:pt x="285750" y="104775"/>
                  </a:lnTo>
                  <a:lnTo>
                    <a:pt x="300037" y="112649"/>
                  </a:lnTo>
                  <a:lnTo>
                    <a:pt x="312737" y="117475"/>
                  </a:lnTo>
                  <a:lnTo>
                    <a:pt x="344487" y="142875"/>
                  </a:lnTo>
                  <a:lnTo>
                    <a:pt x="366712" y="176149"/>
                  </a:lnTo>
                  <a:lnTo>
                    <a:pt x="374650" y="212725"/>
                  </a:lnTo>
                  <a:lnTo>
                    <a:pt x="373062" y="226949"/>
                  </a:lnTo>
                  <a:lnTo>
                    <a:pt x="355600" y="268224"/>
                  </a:lnTo>
                  <a:lnTo>
                    <a:pt x="319087" y="303149"/>
                  </a:lnTo>
                  <a:lnTo>
                    <a:pt x="293687" y="315849"/>
                  </a:lnTo>
                  <a:lnTo>
                    <a:pt x="280987" y="322199"/>
                  </a:lnTo>
                  <a:lnTo>
                    <a:pt x="269875" y="325374"/>
                  </a:lnTo>
                  <a:lnTo>
                    <a:pt x="255587" y="328549"/>
                  </a:lnTo>
                  <a:lnTo>
                    <a:pt x="246062" y="331724"/>
                  </a:lnTo>
                  <a:lnTo>
                    <a:pt x="230187" y="331724"/>
                  </a:lnTo>
                  <a:lnTo>
                    <a:pt x="215900" y="333375"/>
                  </a:lnTo>
                  <a:lnTo>
                    <a:pt x="152400" y="333375"/>
                  </a:lnTo>
                  <a:lnTo>
                    <a:pt x="139700" y="331724"/>
                  </a:lnTo>
                  <a:lnTo>
                    <a:pt x="123825" y="330200"/>
                  </a:lnTo>
                  <a:lnTo>
                    <a:pt x="103187" y="325374"/>
                  </a:lnTo>
                  <a:lnTo>
                    <a:pt x="63500" y="307975"/>
                  </a:lnTo>
                  <a:lnTo>
                    <a:pt x="23812" y="276225"/>
                  </a:lnTo>
                  <a:lnTo>
                    <a:pt x="4762" y="238125"/>
                  </a:lnTo>
                  <a:lnTo>
                    <a:pt x="1587" y="228600"/>
                  </a:lnTo>
                  <a:lnTo>
                    <a:pt x="0" y="215900"/>
                  </a:lnTo>
                  <a:lnTo>
                    <a:pt x="1587" y="207899"/>
                  </a:lnTo>
                  <a:lnTo>
                    <a:pt x="3175" y="192024"/>
                  </a:lnTo>
                  <a:lnTo>
                    <a:pt x="26987" y="146050"/>
                  </a:lnTo>
                  <a:lnTo>
                    <a:pt x="55562" y="120650"/>
                  </a:lnTo>
                  <a:lnTo>
                    <a:pt x="93662" y="103124"/>
                  </a:lnTo>
                  <a:lnTo>
                    <a:pt x="131762" y="93599"/>
                  </a:lnTo>
                  <a:lnTo>
                    <a:pt x="46037" y="469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682803" y="4389373"/>
            <a:ext cx="400154" cy="360680"/>
            <a:chOff x="682625" y="4389373"/>
            <a:chExt cx="400050" cy="360680"/>
          </a:xfrm>
        </p:grpSpPr>
        <p:sp>
          <p:nvSpPr>
            <p:cNvPr id="50" name="object 50"/>
            <p:cNvSpPr/>
            <p:nvPr/>
          </p:nvSpPr>
          <p:spPr>
            <a:xfrm>
              <a:off x="695325" y="4402073"/>
              <a:ext cx="374650" cy="335280"/>
            </a:xfrm>
            <a:custGeom>
              <a:avLst/>
              <a:gdLst/>
              <a:ahLst/>
              <a:cxnLst/>
              <a:rect l="l" t="t" r="r" b="b"/>
              <a:pathLst>
                <a:path w="374650" h="335279">
                  <a:moveTo>
                    <a:pt x="347662" y="0"/>
                  </a:moveTo>
                  <a:lnTo>
                    <a:pt x="254000" y="17525"/>
                  </a:lnTo>
                  <a:lnTo>
                    <a:pt x="255587" y="0"/>
                  </a:lnTo>
                  <a:lnTo>
                    <a:pt x="177800" y="0"/>
                  </a:lnTo>
                  <a:lnTo>
                    <a:pt x="177800" y="17525"/>
                  </a:lnTo>
                  <a:lnTo>
                    <a:pt x="104775" y="0"/>
                  </a:lnTo>
                  <a:lnTo>
                    <a:pt x="106362" y="15875"/>
                  </a:lnTo>
                  <a:lnTo>
                    <a:pt x="46037" y="4825"/>
                  </a:lnTo>
                  <a:lnTo>
                    <a:pt x="131762" y="95250"/>
                  </a:lnTo>
                  <a:lnTo>
                    <a:pt x="115887" y="98425"/>
                  </a:lnTo>
                  <a:lnTo>
                    <a:pt x="71437" y="112775"/>
                  </a:lnTo>
                  <a:lnTo>
                    <a:pt x="39687" y="135000"/>
                  </a:lnTo>
                  <a:lnTo>
                    <a:pt x="7937" y="177800"/>
                  </a:lnTo>
                  <a:lnTo>
                    <a:pt x="1587" y="208025"/>
                  </a:lnTo>
                  <a:lnTo>
                    <a:pt x="0" y="217550"/>
                  </a:lnTo>
                  <a:lnTo>
                    <a:pt x="14287" y="265175"/>
                  </a:lnTo>
                  <a:lnTo>
                    <a:pt x="47625" y="298450"/>
                  </a:lnTo>
                  <a:lnTo>
                    <a:pt x="84137" y="319150"/>
                  </a:lnTo>
                  <a:lnTo>
                    <a:pt x="123825" y="331850"/>
                  </a:lnTo>
                  <a:lnTo>
                    <a:pt x="139700" y="333375"/>
                  </a:lnTo>
                  <a:lnTo>
                    <a:pt x="152400" y="335025"/>
                  </a:lnTo>
                  <a:lnTo>
                    <a:pt x="215900" y="335025"/>
                  </a:lnTo>
                  <a:lnTo>
                    <a:pt x="230187" y="333375"/>
                  </a:lnTo>
                  <a:lnTo>
                    <a:pt x="246062" y="333375"/>
                  </a:lnTo>
                  <a:lnTo>
                    <a:pt x="255587" y="330200"/>
                  </a:lnTo>
                  <a:lnTo>
                    <a:pt x="269875" y="327025"/>
                  </a:lnTo>
                  <a:lnTo>
                    <a:pt x="280987" y="323850"/>
                  </a:lnTo>
                  <a:lnTo>
                    <a:pt x="293687" y="317500"/>
                  </a:lnTo>
                  <a:lnTo>
                    <a:pt x="306387" y="312800"/>
                  </a:lnTo>
                  <a:lnTo>
                    <a:pt x="319087" y="304800"/>
                  </a:lnTo>
                  <a:lnTo>
                    <a:pt x="355600" y="269875"/>
                  </a:lnTo>
                  <a:lnTo>
                    <a:pt x="373062" y="228600"/>
                  </a:lnTo>
                  <a:lnTo>
                    <a:pt x="374650" y="212725"/>
                  </a:lnTo>
                  <a:lnTo>
                    <a:pt x="373062" y="198500"/>
                  </a:lnTo>
                  <a:lnTo>
                    <a:pt x="371475" y="187325"/>
                  </a:lnTo>
                  <a:lnTo>
                    <a:pt x="366712" y="176275"/>
                  </a:lnTo>
                  <a:lnTo>
                    <a:pt x="360362" y="163575"/>
                  </a:lnTo>
                  <a:lnTo>
                    <a:pt x="352425" y="154050"/>
                  </a:lnTo>
                  <a:lnTo>
                    <a:pt x="344487" y="142875"/>
                  </a:lnTo>
                  <a:lnTo>
                    <a:pt x="312737" y="119125"/>
                  </a:lnTo>
                  <a:lnTo>
                    <a:pt x="273050" y="101600"/>
                  </a:lnTo>
                  <a:lnTo>
                    <a:pt x="258762" y="98425"/>
                  </a:lnTo>
                  <a:lnTo>
                    <a:pt x="246062" y="95250"/>
                  </a:lnTo>
                  <a:lnTo>
                    <a:pt x="234950" y="95250"/>
                  </a:lnTo>
                  <a:lnTo>
                    <a:pt x="347662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51" name="object 51"/>
            <p:cNvSpPr/>
            <p:nvPr/>
          </p:nvSpPr>
          <p:spPr>
            <a:xfrm>
              <a:off x="695325" y="4402073"/>
              <a:ext cx="374650" cy="335280"/>
            </a:xfrm>
            <a:custGeom>
              <a:avLst/>
              <a:gdLst/>
              <a:ahLst/>
              <a:cxnLst/>
              <a:rect l="l" t="t" r="r" b="b"/>
              <a:pathLst>
                <a:path w="374650" h="335279">
                  <a:moveTo>
                    <a:pt x="46037" y="4825"/>
                  </a:moveTo>
                  <a:lnTo>
                    <a:pt x="106362" y="15875"/>
                  </a:lnTo>
                  <a:lnTo>
                    <a:pt x="104775" y="0"/>
                  </a:lnTo>
                  <a:lnTo>
                    <a:pt x="177800" y="17525"/>
                  </a:lnTo>
                  <a:lnTo>
                    <a:pt x="177800" y="0"/>
                  </a:lnTo>
                  <a:lnTo>
                    <a:pt x="255587" y="0"/>
                  </a:lnTo>
                  <a:lnTo>
                    <a:pt x="254000" y="17525"/>
                  </a:lnTo>
                  <a:lnTo>
                    <a:pt x="347662" y="0"/>
                  </a:lnTo>
                  <a:lnTo>
                    <a:pt x="234950" y="95250"/>
                  </a:lnTo>
                  <a:lnTo>
                    <a:pt x="246062" y="95250"/>
                  </a:lnTo>
                  <a:lnTo>
                    <a:pt x="258762" y="98425"/>
                  </a:lnTo>
                  <a:lnTo>
                    <a:pt x="300037" y="112775"/>
                  </a:lnTo>
                  <a:lnTo>
                    <a:pt x="336550" y="135000"/>
                  </a:lnTo>
                  <a:lnTo>
                    <a:pt x="352425" y="154050"/>
                  </a:lnTo>
                  <a:lnTo>
                    <a:pt x="360362" y="163575"/>
                  </a:lnTo>
                  <a:lnTo>
                    <a:pt x="366712" y="176275"/>
                  </a:lnTo>
                  <a:lnTo>
                    <a:pt x="371475" y="187325"/>
                  </a:lnTo>
                  <a:lnTo>
                    <a:pt x="373062" y="198500"/>
                  </a:lnTo>
                  <a:lnTo>
                    <a:pt x="374650" y="212725"/>
                  </a:lnTo>
                  <a:lnTo>
                    <a:pt x="373062" y="228600"/>
                  </a:lnTo>
                  <a:lnTo>
                    <a:pt x="355600" y="269875"/>
                  </a:lnTo>
                  <a:lnTo>
                    <a:pt x="319087" y="304800"/>
                  </a:lnTo>
                  <a:lnTo>
                    <a:pt x="293687" y="317500"/>
                  </a:lnTo>
                  <a:lnTo>
                    <a:pt x="280987" y="323850"/>
                  </a:lnTo>
                  <a:lnTo>
                    <a:pt x="269875" y="327025"/>
                  </a:lnTo>
                  <a:lnTo>
                    <a:pt x="255587" y="330200"/>
                  </a:lnTo>
                  <a:lnTo>
                    <a:pt x="246062" y="333375"/>
                  </a:lnTo>
                  <a:lnTo>
                    <a:pt x="230187" y="333375"/>
                  </a:lnTo>
                  <a:lnTo>
                    <a:pt x="215900" y="335025"/>
                  </a:lnTo>
                  <a:lnTo>
                    <a:pt x="152400" y="335025"/>
                  </a:lnTo>
                  <a:lnTo>
                    <a:pt x="139700" y="333375"/>
                  </a:lnTo>
                  <a:lnTo>
                    <a:pt x="123825" y="331850"/>
                  </a:lnTo>
                  <a:lnTo>
                    <a:pt x="103187" y="327025"/>
                  </a:lnTo>
                  <a:lnTo>
                    <a:pt x="63500" y="309625"/>
                  </a:lnTo>
                  <a:lnTo>
                    <a:pt x="23812" y="277875"/>
                  </a:lnTo>
                  <a:lnTo>
                    <a:pt x="4762" y="239775"/>
                  </a:lnTo>
                  <a:lnTo>
                    <a:pt x="0" y="217550"/>
                  </a:lnTo>
                  <a:lnTo>
                    <a:pt x="1587" y="208025"/>
                  </a:lnTo>
                  <a:lnTo>
                    <a:pt x="3175" y="192150"/>
                  </a:lnTo>
                  <a:lnTo>
                    <a:pt x="26987" y="147700"/>
                  </a:lnTo>
                  <a:lnTo>
                    <a:pt x="55562" y="122300"/>
                  </a:lnTo>
                  <a:lnTo>
                    <a:pt x="93662" y="103250"/>
                  </a:lnTo>
                  <a:lnTo>
                    <a:pt x="131762" y="95250"/>
                  </a:lnTo>
                  <a:lnTo>
                    <a:pt x="46037" y="4825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673275" y="3327400"/>
            <a:ext cx="400154" cy="360680"/>
            <a:chOff x="673100" y="3327400"/>
            <a:chExt cx="400050" cy="360680"/>
          </a:xfrm>
        </p:grpSpPr>
        <p:sp>
          <p:nvSpPr>
            <p:cNvPr id="53" name="object 53"/>
            <p:cNvSpPr/>
            <p:nvPr/>
          </p:nvSpPr>
          <p:spPr>
            <a:xfrm>
              <a:off x="685800" y="3340100"/>
              <a:ext cx="374650" cy="335280"/>
            </a:xfrm>
            <a:custGeom>
              <a:avLst/>
              <a:gdLst/>
              <a:ahLst/>
              <a:cxnLst/>
              <a:rect l="l" t="t" r="r" b="b"/>
              <a:pathLst>
                <a:path w="374650" h="335279">
                  <a:moveTo>
                    <a:pt x="347662" y="0"/>
                  </a:moveTo>
                  <a:lnTo>
                    <a:pt x="254000" y="17525"/>
                  </a:lnTo>
                  <a:lnTo>
                    <a:pt x="255587" y="0"/>
                  </a:lnTo>
                  <a:lnTo>
                    <a:pt x="177800" y="0"/>
                  </a:lnTo>
                  <a:lnTo>
                    <a:pt x="177800" y="17525"/>
                  </a:lnTo>
                  <a:lnTo>
                    <a:pt x="104775" y="0"/>
                  </a:lnTo>
                  <a:lnTo>
                    <a:pt x="106362" y="15875"/>
                  </a:lnTo>
                  <a:lnTo>
                    <a:pt x="46037" y="4825"/>
                  </a:lnTo>
                  <a:lnTo>
                    <a:pt x="131762" y="95250"/>
                  </a:lnTo>
                  <a:lnTo>
                    <a:pt x="115887" y="98425"/>
                  </a:lnTo>
                  <a:lnTo>
                    <a:pt x="71437" y="112775"/>
                  </a:lnTo>
                  <a:lnTo>
                    <a:pt x="39687" y="135000"/>
                  </a:lnTo>
                  <a:lnTo>
                    <a:pt x="7937" y="177800"/>
                  </a:lnTo>
                  <a:lnTo>
                    <a:pt x="1587" y="208025"/>
                  </a:lnTo>
                  <a:lnTo>
                    <a:pt x="0" y="217550"/>
                  </a:lnTo>
                  <a:lnTo>
                    <a:pt x="14287" y="265175"/>
                  </a:lnTo>
                  <a:lnTo>
                    <a:pt x="47625" y="298450"/>
                  </a:lnTo>
                  <a:lnTo>
                    <a:pt x="84137" y="319150"/>
                  </a:lnTo>
                  <a:lnTo>
                    <a:pt x="123825" y="331850"/>
                  </a:lnTo>
                  <a:lnTo>
                    <a:pt x="139700" y="333375"/>
                  </a:lnTo>
                  <a:lnTo>
                    <a:pt x="152400" y="335025"/>
                  </a:lnTo>
                  <a:lnTo>
                    <a:pt x="215900" y="335025"/>
                  </a:lnTo>
                  <a:lnTo>
                    <a:pt x="230187" y="333375"/>
                  </a:lnTo>
                  <a:lnTo>
                    <a:pt x="246062" y="333375"/>
                  </a:lnTo>
                  <a:lnTo>
                    <a:pt x="255587" y="330200"/>
                  </a:lnTo>
                  <a:lnTo>
                    <a:pt x="269875" y="327025"/>
                  </a:lnTo>
                  <a:lnTo>
                    <a:pt x="280987" y="323850"/>
                  </a:lnTo>
                  <a:lnTo>
                    <a:pt x="293687" y="317500"/>
                  </a:lnTo>
                  <a:lnTo>
                    <a:pt x="306387" y="312800"/>
                  </a:lnTo>
                  <a:lnTo>
                    <a:pt x="319087" y="304800"/>
                  </a:lnTo>
                  <a:lnTo>
                    <a:pt x="355600" y="269875"/>
                  </a:lnTo>
                  <a:lnTo>
                    <a:pt x="373062" y="228600"/>
                  </a:lnTo>
                  <a:lnTo>
                    <a:pt x="374650" y="212725"/>
                  </a:lnTo>
                  <a:lnTo>
                    <a:pt x="373062" y="198500"/>
                  </a:lnTo>
                  <a:lnTo>
                    <a:pt x="371475" y="187325"/>
                  </a:lnTo>
                  <a:lnTo>
                    <a:pt x="366712" y="176275"/>
                  </a:lnTo>
                  <a:lnTo>
                    <a:pt x="360362" y="163575"/>
                  </a:lnTo>
                  <a:lnTo>
                    <a:pt x="352425" y="154050"/>
                  </a:lnTo>
                  <a:lnTo>
                    <a:pt x="344487" y="142875"/>
                  </a:lnTo>
                  <a:lnTo>
                    <a:pt x="312737" y="119125"/>
                  </a:lnTo>
                  <a:lnTo>
                    <a:pt x="273050" y="101600"/>
                  </a:lnTo>
                  <a:lnTo>
                    <a:pt x="258762" y="98425"/>
                  </a:lnTo>
                  <a:lnTo>
                    <a:pt x="246062" y="95250"/>
                  </a:lnTo>
                  <a:lnTo>
                    <a:pt x="234950" y="95250"/>
                  </a:lnTo>
                  <a:lnTo>
                    <a:pt x="347662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54" name="object 54"/>
            <p:cNvSpPr/>
            <p:nvPr/>
          </p:nvSpPr>
          <p:spPr>
            <a:xfrm>
              <a:off x="685800" y="3340100"/>
              <a:ext cx="374650" cy="335280"/>
            </a:xfrm>
            <a:custGeom>
              <a:avLst/>
              <a:gdLst/>
              <a:ahLst/>
              <a:cxnLst/>
              <a:rect l="l" t="t" r="r" b="b"/>
              <a:pathLst>
                <a:path w="374650" h="335279">
                  <a:moveTo>
                    <a:pt x="46037" y="4825"/>
                  </a:moveTo>
                  <a:lnTo>
                    <a:pt x="106362" y="15875"/>
                  </a:lnTo>
                  <a:lnTo>
                    <a:pt x="104775" y="0"/>
                  </a:lnTo>
                  <a:lnTo>
                    <a:pt x="177800" y="17525"/>
                  </a:lnTo>
                  <a:lnTo>
                    <a:pt x="177800" y="0"/>
                  </a:lnTo>
                  <a:lnTo>
                    <a:pt x="255587" y="0"/>
                  </a:lnTo>
                  <a:lnTo>
                    <a:pt x="254000" y="17525"/>
                  </a:lnTo>
                  <a:lnTo>
                    <a:pt x="347662" y="0"/>
                  </a:lnTo>
                  <a:lnTo>
                    <a:pt x="234950" y="95250"/>
                  </a:lnTo>
                  <a:lnTo>
                    <a:pt x="246062" y="95250"/>
                  </a:lnTo>
                  <a:lnTo>
                    <a:pt x="258762" y="98425"/>
                  </a:lnTo>
                  <a:lnTo>
                    <a:pt x="300037" y="112775"/>
                  </a:lnTo>
                  <a:lnTo>
                    <a:pt x="336550" y="135000"/>
                  </a:lnTo>
                  <a:lnTo>
                    <a:pt x="352425" y="154050"/>
                  </a:lnTo>
                  <a:lnTo>
                    <a:pt x="360362" y="163575"/>
                  </a:lnTo>
                  <a:lnTo>
                    <a:pt x="366712" y="176275"/>
                  </a:lnTo>
                  <a:lnTo>
                    <a:pt x="371475" y="187325"/>
                  </a:lnTo>
                  <a:lnTo>
                    <a:pt x="373062" y="198500"/>
                  </a:lnTo>
                  <a:lnTo>
                    <a:pt x="374650" y="212725"/>
                  </a:lnTo>
                  <a:lnTo>
                    <a:pt x="373062" y="228600"/>
                  </a:lnTo>
                  <a:lnTo>
                    <a:pt x="355600" y="269875"/>
                  </a:lnTo>
                  <a:lnTo>
                    <a:pt x="319087" y="304800"/>
                  </a:lnTo>
                  <a:lnTo>
                    <a:pt x="293687" y="317500"/>
                  </a:lnTo>
                  <a:lnTo>
                    <a:pt x="280987" y="323850"/>
                  </a:lnTo>
                  <a:lnTo>
                    <a:pt x="269875" y="327025"/>
                  </a:lnTo>
                  <a:lnTo>
                    <a:pt x="255587" y="330200"/>
                  </a:lnTo>
                  <a:lnTo>
                    <a:pt x="246062" y="333375"/>
                  </a:lnTo>
                  <a:lnTo>
                    <a:pt x="230187" y="333375"/>
                  </a:lnTo>
                  <a:lnTo>
                    <a:pt x="215900" y="335025"/>
                  </a:lnTo>
                  <a:lnTo>
                    <a:pt x="152400" y="335025"/>
                  </a:lnTo>
                  <a:lnTo>
                    <a:pt x="139700" y="333375"/>
                  </a:lnTo>
                  <a:lnTo>
                    <a:pt x="123825" y="331850"/>
                  </a:lnTo>
                  <a:lnTo>
                    <a:pt x="103187" y="327025"/>
                  </a:lnTo>
                  <a:lnTo>
                    <a:pt x="63500" y="309625"/>
                  </a:lnTo>
                  <a:lnTo>
                    <a:pt x="23812" y="277875"/>
                  </a:lnTo>
                  <a:lnTo>
                    <a:pt x="4762" y="239775"/>
                  </a:lnTo>
                  <a:lnTo>
                    <a:pt x="0" y="217550"/>
                  </a:lnTo>
                  <a:lnTo>
                    <a:pt x="1587" y="208025"/>
                  </a:lnTo>
                  <a:lnTo>
                    <a:pt x="3175" y="192150"/>
                  </a:lnTo>
                  <a:lnTo>
                    <a:pt x="26987" y="147700"/>
                  </a:lnTo>
                  <a:lnTo>
                    <a:pt x="55562" y="122300"/>
                  </a:lnTo>
                  <a:lnTo>
                    <a:pt x="93662" y="103250"/>
                  </a:lnTo>
                  <a:lnTo>
                    <a:pt x="131762" y="95250"/>
                  </a:lnTo>
                  <a:lnTo>
                    <a:pt x="46037" y="4825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67178" y="2522732"/>
            <a:ext cx="255336" cy="223266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algn="just">
              <a:lnSpc>
                <a:spcPct val="148900"/>
              </a:lnSpc>
              <a:spcBef>
                <a:spcPts val="32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  B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C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573685" y="2063750"/>
            <a:ext cx="2736292" cy="298450"/>
            <a:chOff x="1573275" y="2063750"/>
            <a:chExt cx="2735580" cy="298450"/>
          </a:xfrm>
        </p:grpSpPr>
        <p:sp>
          <p:nvSpPr>
            <p:cNvPr id="57" name="object 57"/>
            <p:cNvSpPr/>
            <p:nvPr/>
          </p:nvSpPr>
          <p:spPr>
            <a:xfrm>
              <a:off x="3375024" y="2063750"/>
              <a:ext cx="30480" cy="295275"/>
            </a:xfrm>
            <a:custGeom>
              <a:avLst/>
              <a:gdLst/>
              <a:ahLst/>
              <a:cxnLst/>
              <a:rect l="l" t="t" r="r" b="b"/>
              <a:pathLst>
                <a:path w="30479" h="295275">
                  <a:moveTo>
                    <a:pt x="0" y="295275"/>
                  </a:moveTo>
                  <a:lnTo>
                    <a:pt x="30225" y="295275"/>
                  </a:lnTo>
                  <a:lnTo>
                    <a:pt x="302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585975" y="2076450"/>
              <a:ext cx="1354455" cy="285750"/>
            </a:xfrm>
            <a:custGeom>
              <a:avLst/>
              <a:gdLst/>
              <a:ahLst/>
              <a:cxnLst/>
              <a:rect l="l" t="t" r="r" b="b"/>
              <a:pathLst>
                <a:path w="1354455" h="285750">
                  <a:moveTo>
                    <a:pt x="0" y="0"/>
                  </a:moveTo>
                  <a:lnTo>
                    <a:pt x="0" y="285750"/>
                  </a:lnTo>
                </a:path>
                <a:path w="1354455" h="285750">
                  <a:moveTo>
                    <a:pt x="452374" y="0"/>
                  </a:moveTo>
                  <a:lnTo>
                    <a:pt x="452374" y="285750"/>
                  </a:lnTo>
                </a:path>
                <a:path w="1354455" h="285750">
                  <a:moveTo>
                    <a:pt x="903224" y="0"/>
                  </a:moveTo>
                  <a:lnTo>
                    <a:pt x="903224" y="285750"/>
                  </a:lnTo>
                </a:path>
                <a:path w="1354455" h="285750">
                  <a:moveTo>
                    <a:pt x="1354074" y="0"/>
                  </a:moveTo>
                  <a:lnTo>
                    <a:pt x="1354074" y="2857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838574" y="2076450"/>
              <a:ext cx="5080" cy="269875"/>
            </a:xfrm>
            <a:custGeom>
              <a:avLst/>
              <a:gdLst/>
              <a:ahLst/>
              <a:cxnLst/>
              <a:rect l="l" t="t" r="r" b="b"/>
              <a:pathLst>
                <a:path w="5079" h="269875">
                  <a:moveTo>
                    <a:pt x="2412" y="-12700"/>
                  </a:moveTo>
                  <a:lnTo>
                    <a:pt x="2412" y="282575"/>
                  </a:lnTo>
                </a:path>
              </a:pathLst>
            </a:custGeom>
            <a:ln w="30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291075" y="2076450"/>
              <a:ext cx="5080" cy="269875"/>
            </a:xfrm>
            <a:custGeom>
              <a:avLst/>
              <a:gdLst/>
              <a:ahLst/>
              <a:cxnLst/>
              <a:rect l="l" t="t" r="r" b="b"/>
              <a:pathLst>
                <a:path w="5079" h="269875">
                  <a:moveTo>
                    <a:pt x="2349" y="-12700"/>
                  </a:moveTo>
                  <a:lnTo>
                    <a:pt x="2349" y="282575"/>
                  </a:lnTo>
                </a:path>
              </a:pathLst>
            </a:custGeom>
            <a:ln w="30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/>
          <p:nvPr/>
        </p:nvSpPr>
        <p:spPr>
          <a:xfrm>
            <a:off x="476374" y="2522473"/>
            <a:ext cx="114330" cy="2362200"/>
          </a:xfrm>
          <a:custGeom>
            <a:avLst/>
            <a:gdLst/>
            <a:ahLst/>
            <a:cxnLst/>
            <a:rect l="l" t="t" r="r" b="b"/>
            <a:pathLst>
              <a:path w="114300" h="2362200">
                <a:moveTo>
                  <a:pt x="38100" y="2247900"/>
                </a:moveTo>
                <a:lnTo>
                  <a:pt x="0" y="2247900"/>
                </a:lnTo>
                <a:lnTo>
                  <a:pt x="57150" y="2362200"/>
                </a:lnTo>
                <a:lnTo>
                  <a:pt x="104711" y="2267077"/>
                </a:lnTo>
                <a:lnTo>
                  <a:pt x="38100" y="2267077"/>
                </a:lnTo>
                <a:lnTo>
                  <a:pt x="38100" y="2247900"/>
                </a:lnTo>
                <a:close/>
              </a:path>
              <a:path w="114300" h="2362200">
                <a:moveTo>
                  <a:pt x="76200" y="0"/>
                </a:moveTo>
                <a:lnTo>
                  <a:pt x="38100" y="0"/>
                </a:lnTo>
                <a:lnTo>
                  <a:pt x="38100" y="2267077"/>
                </a:lnTo>
                <a:lnTo>
                  <a:pt x="76200" y="2267077"/>
                </a:lnTo>
                <a:lnTo>
                  <a:pt x="76200" y="0"/>
                </a:lnTo>
                <a:close/>
              </a:path>
              <a:path w="114300" h="2362200">
                <a:moveTo>
                  <a:pt x="114300" y="2247900"/>
                </a:moveTo>
                <a:lnTo>
                  <a:pt x="76200" y="2247900"/>
                </a:lnTo>
                <a:lnTo>
                  <a:pt x="76200" y="2267077"/>
                </a:lnTo>
                <a:lnTo>
                  <a:pt x="104711" y="2267077"/>
                </a:lnTo>
                <a:lnTo>
                  <a:pt x="114300" y="2247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344518" y="194027"/>
            <a:ext cx="1143017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6330315" algn="l"/>
              </a:tabLst>
            </a:pPr>
            <a:r>
              <a:rPr sz="4000" spc="-229" dirty="0"/>
              <a:t>Pipeline </a:t>
            </a:r>
            <a:r>
              <a:rPr sz="4000" spc="-204" dirty="0"/>
              <a:t>Analogy  </a:t>
            </a:r>
            <a:r>
              <a:rPr sz="4000" spc="475" dirty="0"/>
              <a:t>–</a:t>
            </a:r>
            <a:r>
              <a:rPr sz="4000" spc="-440" dirty="0"/>
              <a:t> </a:t>
            </a:r>
            <a:r>
              <a:rPr sz="4000" spc="-360" dirty="0"/>
              <a:t>The</a:t>
            </a:r>
            <a:r>
              <a:rPr sz="4000" spc="125" dirty="0"/>
              <a:t> </a:t>
            </a:r>
            <a:r>
              <a:rPr sz="4000" spc="-225" dirty="0"/>
              <a:t>Laundry	</a:t>
            </a:r>
            <a:r>
              <a:rPr sz="4000" spc="-125" dirty="0"/>
              <a:t>- </a:t>
            </a:r>
            <a:r>
              <a:rPr sz="4000" spc="-270" dirty="0">
                <a:solidFill>
                  <a:srgbClr val="0000FF"/>
                </a:solidFill>
              </a:rPr>
              <a:t>Overlapping</a:t>
            </a:r>
            <a:r>
              <a:rPr sz="4000" spc="25" dirty="0">
                <a:solidFill>
                  <a:srgbClr val="0000FF"/>
                </a:solidFill>
              </a:rPr>
              <a:t> </a:t>
            </a:r>
            <a:r>
              <a:rPr sz="4000" spc="-280" dirty="0">
                <a:solidFill>
                  <a:srgbClr val="0000FF"/>
                </a:solidFill>
              </a:rPr>
              <a:t>Tasks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11457113" y="6405384"/>
            <a:ext cx="317583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16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51609" y="5083100"/>
            <a:ext cx="6226695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150" dirty="0">
                <a:solidFill>
                  <a:srgbClr val="0000FF"/>
                </a:solidFill>
                <a:latin typeface="Trebuchet MS"/>
                <a:cs typeface="Trebuchet MS"/>
              </a:rPr>
              <a:t>Time</a:t>
            </a:r>
            <a:r>
              <a:rPr sz="2400" b="1" spc="-14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spc="75" dirty="0">
                <a:solidFill>
                  <a:srgbClr val="0000FF"/>
                </a:solidFill>
                <a:latin typeface="Trebuchet MS"/>
                <a:cs typeface="Trebuchet MS"/>
              </a:rPr>
              <a:t>Required:</a:t>
            </a:r>
            <a:r>
              <a:rPr sz="2400" b="1" spc="-3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spc="-70" dirty="0">
                <a:solidFill>
                  <a:srgbClr val="0000FF"/>
                </a:solidFill>
                <a:latin typeface="Trebuchet MS"/>
                <a:cs typeface="Trebuchet MS"/>
              </a:rPr>
              <a:t>3.5</a:t>
            </a:r>
            <a:r>
              <a:rPr sz="2400" b="1" spc="-1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spc="105" dirty="0">
                <a:solidFill>
                  <a:srgbClr val="0000FF"/>
                </a:solidFill>
                <a:latin typeface="Trebuchet MS"/>
                <a:cs typeface="Trebuchet MS"/>
              </a:rPr>
              <a:t>Hours</a:t>
            </a:r>
            <a:r>
              <a:rPr sz="2400" b="1" spc="-1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spc="10" dirty="0">
                <a:solidFill>
                  <a:srgbClr val="0000FF"/>
                </a:solidFill>
                <a:latin typeface="Trebuchet MS"/>
                <a:cs typeface="Trebuchet MS"/>
              </a:rPr>
              <a:t>for</a:t>
            </a:r>
            <a:r>
              <a:rPr sz="2400" b="1" spc="-13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spc="-85" dirty="0">
                <a:solidFill>
                  <a:srgbClr val="0000FF"/>
                </a:solidFill>
                <a:latin typeface="Trebuchet MS"/>
                <a:cs typeface="Trebuchet MS"/>
              </a:rPr>
              <a:t>4</a:t>
            </a:r>
            <a:r>
              <a:rPr sz="2400" b="1" spc="-1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b="1" spc="125" dirty="0">
                <a:solidFill>
                  <a:srgbClr val="0000FF"/>
                </a:solidFill>
                <a:latin typeface="Trebuchet MS"/>
                <a:cs typeface="Trebuchet MS"/>
              </a:rPr>
              <a:t>Loads</a:t>
            </a:r>
            <a:endParaRPr lang="en-US" sz="2400" b="1" spc="125" dirty="0">
              <a:solidFill>
                <a:srgbClr val="0000FF"/>
              </a:solidFill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b="1" spc="125" dirty="0">
                <a:solidFill>
                  <a:srgbClr val="0000FF"/>
                </a:solidFill>
                <a:latin typeface="Trebuchet MS"/>
                <a:cs typeface="Trebuchet MS"/>
              </a:rPr>
              <a:t>Normal operation = 8hours 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b="1" spc="125" dirty="0">
                <a:solidFill>
                  <a:srgbClr val="0000FF"/>
                </a:solidFill>
                <a:latin typeface="Trebuchet MS"/>
                <a:cs typeface="Trebuchet MS"/>
              </a:rPr>
              <a:t>Speedup = 8/3.5 = 2.1</a:t>
            </a:r>
            <a:endParaRPr sz="2400" b="1" dirty="0">
              <a:solidFill>
                <a:srgbClr val="0000FF"/>
              </a:solidFill>
              <a:latin typeface="Trebuchet MS"/>
              <a:cs typeface="Trebuchet M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303F6A-81A9-4C2B-A22A-F6A4F44C449B}"/>
              </a:ext>
            </a:extLst>
          </p:cNvPr>
          <p:cNvSpPr txBox="1"/>
          <p:nvPr/>
        </p:nvSpPr>
        <p:spPr>
          <a:xfrm>
            <a:off x="8291990" y="2042523"/>
            <a:ext cx="40648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Ann - 30mins = wash</a:t>
            </a:r>
          </a:p>
          <a:p>
            <a:r>
              <a:rPr lang="en-US" sz="2400" b="1" dirty="0"/>
              <a:t>Ann – 30min = dry</a:t>
            </a:r>
          </a:p>
          <a:p>
            <a:r>
              <a:rPr lang="en-US" sz="2400" b="1" dirty="0"/>
              <a:t>Brian -            = wash</a:t>
            </a:r>
          </a:p>
          <a:p>
            <a:r>
              <a:rPr lang="en-US" sz="2400" b="1" dirty="0"/>
              <a:t>Ann – 30mins = stash</a:t>
            </a:r>
          </a:p>
          <a:p>
            <a:r>
              <a:rPr lang="en-US" sz="2400" b="1" dirty="0"/>
              <a:t>Brian  ------      =   dry</a:t>
            </a:r>
          </a:p>
          <a:p>
            <a:r>
              <a:rPr lang="en-US" sz="2400" b="1" dirty="0"/>
              <a:t>Cathy    -------  = wash</a:t>
            </a:r>
          </a:p>
          <a:p>
            <a:r>
              <a:rPr lang="en-US" sz="2400" b="1" dirty="0"/>
              <a:t>Ann      30mins= fold</a:t>
            </a:r>
          </a:p>
          <a:p>
            <a:r>
              <a:rPr lang="en-US" sz="2400" b="1" dirty="0"/>
              <a:t>Brian  ---------- = stash</a:t>
            </a:r>
          </a:p>
          <a:p>
            <a:r>
              <a:rPr lang="en-US" sz="2400" b="1" dirty="0"/>
              <a:t>Cathy ----------  = Dry</a:t>
            </a:r>
          </a:p>
          <a:p>
            <a:r>
              <a:rPr lang="en-US" sz="2400" b="1" dirty="0"/>
              <a:t>Dave  -----------  = wash</a:t>
            </a:r>
          </a:p>
        </p:txBody>
      </p:sp>
    </p:spTree>
    <p:extLst>
      <p:ext uri="{BB962C8B-B14F-4D97-AF65-F5344CB8AC3E}">
        <p14:creationId xmlns:p14="http://schemas.microsoft.com/office/powerpoint/2010/main" val="1826768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92239" y="1327214"/>
            <a:ext cx="3312387" cy="28575"/>
            <a:chOff x="8689975" y="1327213"/>
            <a:chExt cx="3311525" cy="28575"/>
          </a:xfrm>
        </p:grpSpPr>
        <p:sp>
          <p:nvSpPr>
            <p:cNvPr id="3" name="object 3"/>
            <p:cNvSpPr/>
            <p:nvPr/>
          </p:nvSpPr>
          <p:spPr>
            <a:xfrm>
              <a:off x="8689975" y="1341500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>
                  <a:moveTo>
                    <a:pt x="0" y="0"/>
                  </a:moveTo>
                  <a:lnTo>
                    <a:pt x="1800225" y="0"/>
                  </a:lnTo>
                </a:path>
              </a:pathLst>
            </a:custGeom>
            <a:ln w="28575">
              <a:solidFill>
                <a:srgbClr val="662C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2677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8242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69131" y="1265587"/>
            <a:ext cx="11635875" cy="494237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60960" rIns="0" bIns="0" rtlCol="0">
            <a:spAutoFit/>
          </a:bodyPr>
          <a:lstStyle/>
          <a:p>
            <a:pPr marL="299085" marR="5080" indent="-287020">
              <a:lnSpc>
                <a:spcPts val="3020"/>
              </a:lnSpc>
              <a:spcBef>
                <a:spcPts val="480"/>
              </a:spcBef>
              <a:spcAft>
                <a:spcPts val="1200"/>
              </a:spcAft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Rockwell" panose="02060603020205020403" pitchFamily="18" charset="0"/>
                <a:cs typeface="Arial"/>
              </a:rPr>
              <a:t>Pipelining doesn’t help </a:t>
            </a:r>
            <a:r>
              <a:rPr sz="2800" b="1" spc="-5" dirty="0">
                <a:solidFill>
                  <a:srgbClr val="0000FF"/>
                </a:solidFill>
                <a:latin typeface="Rockwell" panose="02060603020205020403" pitchFamily="18" charset="0"/>
                <a:cs typeface="Arial"/>
              </a:rPr>
              <a:t>latency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of </a:t>
            </a:r>
            <a:r>
              <a:rPr sz="2800" dirty="0">
                <a:latin typeface="Rockwell" panose="02060603020205020403" pitchFamily="18" charset="0"/>
                <a:cs typeface="Arial"/>
              </a:rPr>
              <a:t>single task,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it helps </a:t>
            </a:r>
            <a:r>
              <a:rPr sz="2800" b="1" spc="-5" dirty="0">
                <a:solidFill>
                  <a:srgbClr val="0000FF"/>
                </a:solidFill>
                <a:latin typeface="Rockwell" panose="02060603020205020403" pitchFamily="18" charset="0"/>
                <a:cs typeface="Arial"/>
              </a:rPr>
              <a:t>throughput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of  entire</a:t>
            </a:r>
            <a:r>
              <a:rPr sz="2800" spc="-10" dirty="0">
                <a:latin typeface="Rockwell" panose="02060603020205020403" pitchFamily="18" charset="0"/>
                <a:cs typeface="Arial"/>
              </a:rPr>
              <a:t>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workload</a:t>
            </a:r>
            <a:endParaRPr sz="2800" dirty="0">
              <a:latin typeface="Rockwell" panose="02060603020205020403" pitchFamily="18" charset="0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1135"/>
              </a:spcBef>
              <a:spcAft>
                <a:spcPts val="1200"/>
              </a:spcAft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Rockwell" panose="02060603020205020403" pitchFamily="18" charset="0"/>
                <a:cs typeface="Arial"/>
              </a:rPr>
              <a:t>Pipeline </a:t>
            </a:r>
            <a:r>
              <a:rPr sz="2800" dirty="0">
                <a:latin typeface="Rockwell" panose="02060603020205020403" pitchFamily="18" charset="0"/>
                <a:cs typeface="Arial"/>
              </a:rPr>
              <a:t>rate </a:t>
            </a:r>
            <a:r>
              <a:rPr lang="en-US" sz="2800" dirty="0">
                <a:latin typeface="Rockwell" panose="02060603020205020403" pitchFamily="18" charset="0"/>
                <a:cs typeface="Arial"/>
              </a:rPr>
              <a:t>is </a:t>
            </a:r>
            <a:r>
              <a:rPr sz="2800" dirty="0">
                <a:latin typeface="Rockwell" panose="02060603020205020403" pitchFamily="18" charset="0"/>
                <a:cs typeface="Arial"/>
              </a:rPr>
              <a:t>limited by </a:t>
            </a:r>
            <a:r>
              <a:rPr sz="2800" b="1" spc="-5" dirty="0">
                <a:solidFill>
                  <a:srgbClr val="0000FF"/>
                </a:solidFill>
                <a:latin typeface="Rockwell" panose="02060603020205020403" pitchFamily="18" charset="0"/>
                <a:cs typeface="Arial"/>
              </a:rPr>
              <a:t>slowest </a:t>
            </a:r>
            <a:r>
              <a:rPr sz="2800" dirty="0">
                <a:latin typeface="Rockwell" panose="02060603020205020403" pitchFamily="18" charset="0"/>
                <a:cs typeface="Arial"/>
              </a:rPr>
              <a:t>pipeline</a:t>
            </a:r>
            <a:r>
              <a:rPr sz="2800" spc="55" dirty="0">
                <a:latin typeface="Rockwell" panose="02060603020205020403" pitchFamily="18" charset="0"/>
                <a:cs typeface="Arial"/>
              </a:rPr>
              <a:t> </a:t>
            </a:r>
            <a:r>
              <a:rPr sz="2800" dirty="0">
                <a:latin typeface="Rockwell" panose="02060603020205020403" pitchFamily="18" charset="0"/>
                <a:cs typeface="Arial"/>
              </a:rPr>
              <a:t>stage</a:t>
            </a:r>
          </a:p>
          <a:p>
            <a:pPr marL="299085" indent="-287020">
              <a:lnSpc>
                <a:spcPct val="100000"/>
              </a:lnSpc>
              <a:spcBef>
                <a:spcPts val="1165"/>
              </a:spcBef>
              <a:spcAft>
                <a:spcPts val="1200"/>
              </a:spcAft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800" b="1" spc="-5" dirty="0">
                <a:solidFill>
                  <a:srgbClr val="0000FF"/>
                </a:solidFill>
                <a:latin typeface="Rockwell" panose="02060603020205020403" pitchFamily="18" charset="0"/>
                <a:cs typeface="Arial"/>
              </a:rPr>
              <a:t>Multiple </a:t>
            </a:r>
            <a:r>
              <a:rPr sz="2800" dirty="0">
                <a:latin typeface="Rockwell" panose="02060603020205020403" pitchFamily="18" charset="0"/>
                <a:cs typeface="Arial"/>
              </a:rPr>
              <a:t>tasks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operating</a:t>
            </a:r>
            <a:r>
              <a:rPr sz="2800" spc="15" dirty="0">
                <a:latin typeface="Rockwell" panose="02060603020205020403" pitchFamily="18" charset="0"/>
                <a:cs typeface="Arial"/>
              </a:rPr>
              <a:t>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simultaneously</a:t>
            </a:r>
            <a:endParaRPr sz="2800" dirty="0">
              <a:latin typeface="Rockwell" panose="02060603020205020403" pitchFamily="18" charset="0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1180"/>
              </a:spcBef>
              <a:spcAft>
                <a:spcPts val="1200"/>
              </a:spcAft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Rockwell" panose="02060603020205020403" pitchFamily="18" charset="0"/>
                <a:cs typeface="Arial"/>
              </a:rPr>
              <a:t>Potential </a:t>
            </a:r>
            <a:r>
              <a:rPr sz="2800" dirty="0">
                <a:latin typeface="Rockwell" panose="02060603020205020403" pitchFamily="18" charset="0"/>
                <a:cs typeface="Arial"/>
              </a:rPr>
              <a:t>speedup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= </a:t>
            </a:r>
            <a:r>
              <a:rPr sz="2800" b="1" spc="-10" dirty="0">
                <a:solidFill>
                  <a:srgbClr val="0000FF"/>
                </a:solidFill>
                <a:latin typeface="Rockwell" panose="02060603020205020403" pitchFamily="18" charset="0"/>
                <a:cs typeface="Arial"/>
              </a:rPr>
              <a:t>Number </a:t>
            </a:r>
            <a:r>
              <a:rPr lang="en-US" sz="2800" b="1" spc="-10" dirty="0">
                <a:solidFill>
                  <a:srgbClr val="0000FF"/>
                </a:solidFill>
                <a:latin typeface="Rockwell" panose="02060603020205020403" pitchFamily="18" charset="0"/>
                <a:cs typeface="Arial"/>
              </a:rPr>
              <a:t>of </a:t>
            </a:r>
            <a:r>
              <a:rPr sz="2800" b="1" spc="-5" dirty="0">
                <a:solidFill>
                  <a:srgbClr val="0000FF"/>
                </a:solidFill>
                <a:latin typeface="Rockwell" panose="02060603020205020403" pitchFamily="18" charset="0"/>
                <a:cs typeface="Arial"/>
              </a:rPr>
              <a:t>pipe</a:t>
            </a:r>
            <a:r>
              <a:rPr sz="2800" b="1" spc="65" dirty="0">
                <a:solidFill>
                  <a:srgbClr val="0000FF"/>
                </a:solidFill>
                <a:latin typeface="Rockwell" panose="02060603020205020403" pitchFamily="18" charset="0"/>
                <a:cs typeface="Arial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Rockwell" panose="02060603020205020403" pitchFamily="18" charset="0"/>
                <a:cs typeface="Arial"/>
              </a:rPr>
              <a:t>stages</a:t>
            </a:r>
            <a:r>
              <a:rPr lang="en-US" sz="2800" b="1" spc="-5" dirty="0">
                <a:solidFill>
                  <a:srgbClr val="0000FF"/>
                </a:solidFill>
                <a:latin typeface="Rockwell" panose="02060603020205020403" pitchFamily="18" charset="0"/>
                <a:cs typeface="Arial"/>
              </a:rPr>
              <a:t> as number of tasks increases</a:t>
            </a:r>
            <a:endParaRPr sz="2800" dirty="0">
              <a:latin typeface="Rockwell" panose="02060603020205020403" pitchFamily="18" charset="0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1175"/>
              </a:spcBef>
              <a:spcAft>
                <a:spcPts val="1200"/>
              </a:spcAft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Rockwell" panose="02060603020205020403" pitchFamily="18" charset="0"/>
                <a:cs typeface="Arial"/>
              </a:rPr>
              <a:t>Unbalanced lengths of pipe </a:t>
            </a:r>
            <a:r>
              <a:rPr sz="2800" dirty="0">
                <a:latin typeface="Rockwell" panose="02060603020205020403" pitchFamily="18" charset="0"/>
                <a:cs typeface="Arial"/>
              </a:rPr>
              <a:t>stages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reduces</a:t>
            </a:r>
            <a:r>
              <a:rPr sz="2800" spc="55" dirty="0">
                <a:latin typeface="Rockwell" panose="02060603020205020403" pitchFamily="18" charset="0"/>
                <a:cs typeface="Arial"/>
              </a:rPr>
              <a:t>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speedup</a:t>
            </a:r>
            <a:endParaRPr sz="2800" dirty="0">
              <a:latin typeface="Rockwell" panose="02060603020205020403" pitchFamily="18" charset="0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1165"/>
              </a:spcBef>
              <a:spcAft>
                <a:spcPts val="1200"/>
              </a:spcAft>
              <a:buChar char="•"/>
              <a:tabLst>
                <a:tab pos="299085" algn="l"/>
                <a:tab pos="299720" algn="l"/>
              </a:tabLst>
            </a:pPr>
            <a:r>
              <a:rPr sz="2800" spc="-35" dirty="0">
                <a:latin typeface="Rockwell" panose="02060603020205020403" pitchFamily="18" charset="0"/>
                <a:cs typeface="Arial"/>
              </a:rPr>
              <a:t>Time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to </a:t>
            </a:r>
            <a:r>
              <a:rPr sz="2800" dirty="0">
                <a:latin typeface="Rockwell" panose="02060603020205020403" pitchFamily="18" charset="0"/>
                <a:cs typeface="Arial"/>
              </a:rPr>
              <a:t>“</a:t>
            </a:r>
            <a:r>
              <a:rPr sz="2800" b="1" dirty="0">
                <a:solidFill>
                  <a:srgbClr val="0000FF"/>
                </a:solidFill>
                <a:latin typeface="Rockwell" panose="02060603020205020403" pitchFamily="18" charset="0"/>
                <a:cs typeface="Arial"/>
              </a:rPr>
              <a:t>fill</a:t>
            </a:r>
            <a:r>
              <a:rPr sz="2800" dirty="0">
                <a:latin typeface="Rockwell" panose="02060603020205020403" pitchFamily="18" charset="0"/>
                <a:cs typeface="Arial"/>
              </a:rPr>
              <a:t>”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pipeline and time to </a:t>
            </a:r>
            <a:r>
              <a:rPr sz="2800" dirty="0">
                <a:latin typeface="Rockwell" panose="02060603020205020403" pitchFamily="18" charset="0"/>
                <a:cs typeface="Arial"/>
              </a:rPr>
              <a:t>“</a:t>
            </a:r>
            <a:r>
              <a:rPr sz="2800" b="1" dirty="0">
                <a:solidFill>
                  <a:srgbClr val="0000FF"/>
                </a:solidFill>
                <a:latin typeface="Rockwell" panose="02060603020205020403" pitchFamily="18" charset="0"/>
                <a:cs typeface="Arial"/>
              </a:rPr>
              <a:t>drain</a:t>
            </a:r>
            <a:r>
              <a:rPr sz="2800" dirty="0">
                <a:latin typeface="Rockwell" panose="02060603020205020403" pitchFamily="18" charset="0"/>
                <a:cs typeface="Arial"/>
              </a:rPr>
              <a:t>” it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reduces</a:t>
            </a:r>
            <a:r>
              <a:rPr sz="2800" spc="95" dirty="0">
                <a:latin typeface="Rockwell" panose="02060603020205020403" pitchFamily="18" charset="0"/>
                <a:cs typeface="Arial"/>
              </a:rPr>
              <a:t> </a:t>
            </a:r>
            <a:r>
              <a:rPr sz="2800" spc="-5" dirty="0">
                <a:latin typeface="Rockwell" panose="02060603020205020403" pitchFamily="18" charset="0"/>
                <a:cs typeface="Arial"/>
              </a:rPr>
              <a:t>speedup</a:t>
            </a:r>
            <a:endParaRPr lang="en-US" sz="2800" spc="-5" dirty="0">
              <a:latin typeface="Rockwell" panose="02060603020205020403" pitchFamily="18" charset="0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8944" y="265888"/>
            <a:ext cx="11503643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Pipeline </a:t>
            </a:r>
            <a:r>
              <a:rPr spc="-204" dirty="0"/>
              <a:t>Analogy </a:t>
            </a:r>
            <a:r>
              <a:rPr spc="475" dirty="0"/>
              <a:t>– </a:t>
            </a:r>
            <a:r>
              <a:rPr spc="-360" dirty="0"/>
              <a:t>The </a:t>
            </a:r>
            <a:r>
              <a:rPr spc="-225" dirty="0"/>
              <a:t>Laundry</a:t>
            </a:r>
            <a:r>
              <a:rPr spc="-240" dirty="0"/>
              <a:t> </a:t>
            </a:r>
            <a:r>
              <a:rPr spc="-325" dirty="0"/>
              <a:t>(cont’d)</a:t>
            </a:r>
          </a:p>
        </p:txBody>
      </p:sp>
    </p:spTree>
    <p:extLst>
      <p:ext uri="{BB962C8B-B14F-4D97-AF65-F5344CB8AC3E}">
        <p14:creationId xmlns:p14="http://schemas.microsoft.com/office/powerpoint/2010/main" val="4209899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39379" y="1341500"/>
            <a:ext cx="265499" cy="0"/>
          </a:xfrm>
          <a:custGeom>
            <a:avLst/>
            <a:gdLst/>
            <a:ahLst/>
            <a:cxnLst/>
            <a:rect l="l" t="t" r="r" b="b"/>
            <a:pathLst>
              <a:path w="265429">
                <a:moveTo>
                  <a:pt x="0" y="0"/>
                </a:moveTo>
                <a:lnTo>
                  <a:pt x="265175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1226929" y="6405384"/>
            <a:ext cx="54814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18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640" y="1241805"/>
            <a:ext cx="8050721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75" dirty="0">
                <a:latin typeface="Trebuchet MS"/>
                <a:cs typeface="Trebuchet MS"/>
              </a:rPr>
              <a:t>Key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15" dirty="0">
                <a:latin typeface="Trebuchet MS"/>
                <a:cs typeface="Trebuchet MS"/>
              </a:rPr>
              <a:t>idea:</a:t>
            </a:r>
            <a:r>
              <a:rPr sz="2800" spc="-390" dirty="0">
                <a:latin typeface="Trebuchet MS"/>
                <a:cs typeface="Trebuchet MS"/>
              </a:rPr>
              <a:t> </a:t>
            </a:r>
            <a:r>
              <a:rPr sz="2800" spc="90" dirty="0">
                <a:latin typeface="Trebuchet MS"/>
                <a:cs typeface="Trebuchet MS"/>
              </a:rPr>
              <a:t>break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200" dirty="0">
                <a:latin typeface="Trebuchet MS"/>
                <a:cs typeface="Trebuchet MS"/>
              </a:rPr>
              <a:t>big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15" dirty="0">
                <a:latin typeface="Trebuchet MS"/>
                <a:cs typeface="Trebuchet MS"/>
              </a:rPr>
              <a:t>computation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114" dirty="0">
                <a:latin typeface="Trebuchet MS"/>
                <a:cs typeface="Trebuchet MS"/>
              </a:rPr>
              <a:t>up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into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95" dirty="0">
                <a:latin typeface="Trebuchet MS"/>
                <a:cs typeface="Trebuchet MS"/>
              </a:rPr>
              <a:t>pieces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1371957" y="1962150"/>
            <a:ext cx="6021368" cy="1204849"/>
            <a:chOff x="1371957" y="1962150"/>
            <a:chExt cx="6021368" cy="1204849"/>
          </a:xfrm>
        </p:grpSpPr>
        <p:grpSp>
          <p:nvGrpSpPr>
            <p:cNvPr id="4" name="object 4"/>
            <p:cNvGrpSpPr/>
            <p:nvPr/>
          </p:nvGrpSpPr>
          <p:grpSpPr>
            <a:xfrm>
              <a:off x="1371957" y="1962150"/>
              <a:ext cx="6021368" cy="952500"/>
              <a:chOff x="1371600" y="1962150"/>
              <a:chExt cx="6019800" cy="952500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1676400" y="1981200"/>
                <a:ext cx="54102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5410200" h="914400">
                    <a:moveTo>
                      <a:pt x="5410200" y="0"/>
                    </a:moveTo>
                    <a:lnTo>
                      <a:pt x="0" y="0"/>
                    </a:lnTo>
                    <a:lnTo>
                      <a:pt x="0" y="914400"/>
                    </a:lnTo>
                    <a:lnTo>
                      <a:pt x="5410200" y="914400"/>
                    </a:lnTo>
                    <a:lnTo>
                      <a:pt x="54102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1676400" y="1981200"/>
                <a:ext cx="54102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5410200" h="914400">
                    <a:moveTo>
                      <a:pt x="0" y="914400"/>
                    </a:moveTo>
                    <a:lnTo>
                      <a:pt x="5410200" y="914400"/>
                    </a:lnTo>
                    <a:lnTo>
                      <a:pt x="5410200" y="0"/>
                    </a:lnTo>
                    <a:lnTo>
                      <a:pt x="0" y="0"/>
                    </a:lnTo>
                    <a:lnTo>
                      <a:pt x="0" y="91440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1371600" y="2352674"/>
                <a:ext cx="6019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6019800" h="171450">
                    <a:moveTo>
                      <a:pt x="304800" y="85725"/>
                    </a:moveTo>
                    <a:lnTo>
                      <a:pt x="247650" y="57150"/>
                    </a:lnTo>
                    <a:lnTo>
                      <a:pt x="133350" y="0"/>
                    </a:lnTo>
                    <a:lnTo>
                      <a:pt x="133350" y="57150"/>
                    </a:lnTo>
                    <a:lnTo>
                      <a:pt x="0" y="57150"/>
                    </a:lnTo>
                    <a:lnTo>
                      <a:pt x="0" y="114300"/>
                    </a:lnTo>
                    <a:lnTo>
                      <a:pt x="133350" y="114300"/>
                    </a:lnTo>
                    <a:lnTo>
                      <a:pt x="133350" y="171450"/>
                    </a:lnTo>
                    <a:lnTo>
                      <a:pt x="247650" y="114300"/>
                    </a:lnTo>
                    <a:lnTo>
                      <a:pt x="304800" y="85725"/>
                    </a:lnTo>
                    <a:close/>
                  </a:path>
                  <a:path w="6019800" h="171450">
                    <a:moveTo>
                      <a:pt x="6019800" y="85725"/>
                    </a:moveTo>
                    <a:lnTo>
                      <a:pt x="5962650" y="57150"/>
                    </a:lnTo>
                    <a:lnTo>
                      <a:pt x="5848350" y="0"/>
                    </a:lnTo>
                    <a:lnTo>
                      <a:pt x="5848350" y="57150"/>
                    </a:lnTo>
                    <a:lnTo>
                      <a:pt x="5715000" y="57150"/>
                    </a:lnTo>
                    <a:lnTo>
                      <a:pt x="5715000" y="114300"/>
                    </a:lnTo>
                    <a:lnTo>
                      <a:pt x="5848350" y="114300"/>
                    </a:lnTo>
                    <a:lnTo>
                      <a:pt x="5848350" y="171450"/>
                    </a:lnTo>
                    <a:lnTo>
                      <a:pt x="5962650" y="114300"/>
                    </a:lnTo>
                    <a:lnTo>
                      <a:pt x="6019800" y="85725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" name="object 8"/>
            <p:cNvSpPr/>
            <p:nvPr/>
          </p:nvSpPr>
          <p:spPr>
            <a:xfrm>
              <a:off x="1676837" y="3081274"/>
              <a:ext cx="5411609" cy="85725"/>
            </a:xfrm>
            <a:custGeom>
              <a:avLst/>
              <a:gdLst/>
              <a:ahLst/>
              <a:cxnLst/>
              <a:rect l="l" t="t" r="r" b="b"/>
              <a:pathLst>
                <a:path w="5410200" h="85725">
                  <a:moveTo>
                    <a:pt x="85725" y="0"/>
                  </a:moveTo>
                  <a:lnTo>
                    <a:pt x="0" y="42925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71374" y="57150"/>
                  </a:lnTo>
                  <a:lnTo>
                    <a:pt x="71374" y="28575"/>
                  </a:lnTo>
                  <a:lnTo>
                    <a:pt x="85725" y="28575"/>
                  </a:lnTo>
                  <a:lnTo>
                    <a:pt x="85725" y="0"/>
                  </a:lnTo>
                  <a:close/>
                </a:path>
                <a:path w="5410200" h="85725">
                  <a:moveTo>
                    <a:pt x="5324475" y="0"/>
                  </a:moveTo>
                  <a:lnTo>
                    <a:pt x="5324475" y="85725"/>
                  </a:lnTo>
                  <a:lnTo>
                    <a:pt x="5381709" y="57150"/>
                  </a:lnTo>
                  <a:lnTo>
                    <a:pt x="5338826" y="57150"/>
                  </a:lnTo>
                  <a:lnTo>
                    <a:pt x="5338826" y="28575"/>
                  </a:lnTo>
                  <a:lnTo>
                    <a:pt x="5381540" y="28575"/>
                  </a:lnTo>
                  <a:lnTo>
                    <a:pt x="5324475" y="0"/>
                  </a:lnTo>
                  <a:close/>
                </a:path>
                <a:path w="5410200" h="85725">
                  <a:moveTo>
                    <a:pt x="85725" y="28575"/>
                  </a:moveTo>
                  <a:lnTo>
                    <a:pt x="71374" y="28575"/>
                  </a:lnTo>
                  <a:lnTo>
                    <a:pt x="71374" y="57150"/>
                  </a:lnTo>
                  <a:lnTo>
                    <a:pt x="85725" y="57150"/>
                  </a:lnTo>
                  <a:lnTo>
                    <a:pt x="85725" y="28575"/>
                  </a:lnTo>
                  <a:close/>
                </a:path>
                <a:path w="5410200" h="85725">
                  <a:moveTo>
                    <a:pt x="5324475" y="28575"/>
                  </a:moveTo>
                  <a:lnTo>
                    <a:pt x="85725" y="28575"/>
                  </a:lnTo>
                  <a:lnTo>
                    <a:pt x="85725" y="57150"/>
                  </a:lnTo>
                  <a:lnTo>
                    <a:pt x="5324475" y="57150"/>
                  </a:lnTo>
                  <a:lnTo>
                    <a:pt x="5324475" y="28575"/>
                  </a:lnTo>
                  <a:close/>
                </a:path>
                <a:path w="5410200" h="85725">
                  <a:moveTo>
                    <a:pt x="5381540" y="28575"/>
                  </a:moveTo>
                  <a:lnTo>
                    <a:pt x="5338826" y="28575"/>
                  </a:lnTo>
                  <a:lnTo>
                    <a:pt x="5338826" y="57150"/>
                  </a:lnTo>
                  <a:lnTo>
                    <a:pt x="5381709" y="57150"/>
                  </a:lnTo>
                  <a:lnTo>
                    <a:pt x="5410200" y="42925"/>
                  </a:lnTo>
                  <a:lnTo>
                    <a:pt x="538154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83640" y="3048000"/>
            <a:ext cx="7567360" cy="87121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413384" algn="ctr">
              <a:lnSpc>
                <a:spcPct val="100000"/>
              </a:lnSpc>
              <a:spcBef>
                <a:spcPts val="640"/>
              </a:spcBef>
            </a:pPr>
            <a:r>
              <a:rPr sz="1400" spc="-5" dirty="0">
                <a:latin typeface="Arial"/>
                <a:cs typeface="Arial"/>
              </a:rPr>
              <a:t>1ns</a:t>
            </a:r>
            <a:endParaRPr sz="1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30" dirty="0">
                <a:latin typeface="Trebuchet MS"/>
                <a:cs typeface="Trebuchet MS"/>
              </a:rPr>
              <a:t>Separate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spc="55" dirty="0">
                <a:latin typeface="Trebuchet MS"/>
                <a:cs typeface="Trebuchet MS"/>
              </a:rPr>
              <a:t>each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85" dirty="0">
                <a:latin typeface="Trebuchet MS"/>
                <a:cs typeface="Trebuchet MS"/>
              </a:rPr>
              <a:t>piece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with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10" dirty="0">
                <a:latin typeface="Trebuchet MS"/>
                <a:cs typeface="Trebuchet MS"/>
              </a:rPr>
              <a:t>a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u="heavy" spc="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pipeline</a:t>
            </a:r>
            <a:r>
              <a:rPr sz="2800" u="heavy" spc="-1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register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1295737" y="4324350"/>
            <a:ext cx="6250027" cy="1963877"/>
            <a:chOff x="1295737" y="4324350"/>
            <a:chExt cx="6250027" cy="1963877"/>
          </a:xfrm>
        </p:grpSpPr>
        <p:grpSp>
          <p:nvGrpSpPr>
            <p:cNvPr id="10" name="object 10"/>
            <p:cNvGrpSpPr/>
            <p:nvPr/>
          </p:nvGrpSpPr>
          <p:grpSpPr>
            <a:xfrm>
              <a:off x="1295737" y="4324350"/>
              <a:ext cx="6250027" cy="1205230"/>
              <a:chOff x="1295400" y="4324350"/>
              <a:chExt cx="6248400" cy="1205230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1600200" y="4495800"/>
                <a:ext cx="4572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762000">
                    <a:moveTo>
                      <a:pt x="457200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457200" y="762000"/>
                    </a:lnTo>
                    <a:lnTo>
                      <a:pt x="4572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1600200" y="4495800"/>
                <a:ext cx="4572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762000">
                    <a:moveTo>
                      <a:pt x="0" y="762000"/>
                    </a:moveTo>
                    <a:lnTo>
                      <a:pt x="457200" y="762000"/>
                    </a:lnTo>
                    <a:lnTo>
                      <a:pt x="457200" y="0"/>
                    </a:lnTo>
                    <a:lnTo>
                      <a:pt x="0" y="0"/>
                    </a:lnTo>
                    <a:lnTo>
                      <a:pt x="0" y="76200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2362200" y="4343400"/>
                <a:ext cx="228600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668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1066800"/>
                    </a:lnTo>
                    <a:lnTo>
                      <a:pt x="228600" y="10668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2362200" y="4343400"/>
                <a:ext cx="228600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66800">
                    <a:moveTo>
                      <a:pt x="0" y="1066800"/>
                    </a:moveTo>
                    <a:lnTo>
                      <a:pt x="228600" y="10668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106680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2057400" y="4791074"/>
                <a:ext cx="8382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171450">
                    <a:moveTo>
                      <a:pt x="304800" y="85725"/>
                    </a:moveTo>
                    <a:lnTo>
                      <a:pt x="247650" y="57150"/>
                    </a:lnTo>
                    <a:lnTo>
                      <a:pt x="133350" y="0"/>
                    </a:lnTo>
                    <a:lnTo>
                      <a:pt x="133350" y="57150"/>
                    </a:lnTo>
                    <a:lnTo>
                      <a:pt x="0" y="57150"/>
                    </a:lnTo>
                    <a:lnTo>
                      <a:pt x="0" y="114300"/>
                    </a:lnTo>
                    <a:lnTo>
                      <a:pt x="133350" y="114300"/>
                    </a:lnTo>
                    <a:lnTo>
                      <a:pt x="133350" y="171450"/>
                    </a:lnTo>
                    <a:lnTo>
                      <a:pt x="247650" y="114300"/>
                    </a:lnTo>
                    <a:lnTo>
                      <a:pt x="304800" y="85725"/>
                    </a:lnTo>
                    <a:close/>
                  </a:path>
                  <a:path w="838200" h="171450">
                    <a:moveTo>
                      <a:pt x="838200" y="85725"/>
                    </a:moveTo>
                    <a:lnTo>
                      <a:pt x="781050" y="57150"/>
                    </a:lnTo>
                    <a:lnTo>
                      <a:pt x="666750" y="0"/>
                    </a:lnTo>
                    <a:lnTo>
                      <a:pt x="666750" y="57150"/>
                    </a:lnTo>
                    <a:lnTo>
                      <a:pt x="533400" y="57150"/>
                    </a:lnTo>
                    <a:lnTo>
                      <a:pt x="533400" y="114300"/>
                    </a:lnTo>
                    <a:lnTo>
                      <a:pt x="666750" y="114300"/>
                    </a:lnTo>
                    <a:lnTo>
                      <a:pt x="666750" y="171450"/>
                    </a:lnTo>
                    <a:lnTo>
                      <a:pt x="781050" y="114300"/>
                    </a:lnTo>
                    <a:lnTo>
                      <a:pt x="838200" y="85725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2895600" y="4495800"/>
                <a:ext cx="4572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762000">
                    <a:moveTo>
                      <a:pt x="457200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457200" y="762000"/>
                    </a:lnTo>
                    <a:lnTo>
                      <a:pt x="4572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2895600" y="4495800"/>
                <a:ext cx="4572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762000">
                    <a:moveTo>
                      <a:pt x="0" y="762000"/>
                    </a:moveTo>
                    <a:lnTo>
                      <a:pt x="457200" y="762000"/>
                    </a:lnTo>
                    <a:lnTo>
                      <a:pt x="457200" y="0"/>
                    </a:lnTo>
                    <a:lnTo>
                      <a:pt x="0" y="0"/>
                    </a:lnTo>
                    <a:lnTo>
                      <a:pt x="0" y="76200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3657600" y="4343400"/>
                <a:ext cx="228600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668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1066800"/>
                    </a:lnTo>
                    <a:lnTo>
                      <a:pt x="228600" y="10668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3657600" y="4343400"/>
                <a:ext cx="228600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66800">
                    <a:moveTo>
                      <a:pt x="0" y="1066800"/>
                    </a:moveTo>
                    <a:lnTo>
                      <a:pt x="228600" y="10668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106680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3352800" y="4791074"/>
                <a:ext cx="8382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171450">
                    <a:moveTo>
                      <a:pt x="304800" y="85725"/>
                    </a:moveTo>
                    <a:lnTo>
                      <a:pt x="247650" y="57150"/>
                    </a:lnTo>
                    <a:lnTo>
                      <a:pt x="133350" y="0"/>
                    </a:lnTo>
                    <a:lnTo>
                      <a:pt x="133350" y="57150"/>
                    </a:lnTo>
                    <a:lnTo>
                      <a:pt x="0" y="57150"/>
                    </a:lnTo>
                    <a:lnTo>
                      <a:pt x="0" y="114300"/>
                    </a:lnTo>
                    <a:lnTo>
                      <a:pt x="133350" y="114300"/>
                    </a:lnTo>
                    <a:lnTo>
                      <a:pt x="133350" y="171450"/>
                    </a:lnTo>
                    <a:lnTo>
                      <a:pt x="247650" y="114300"/>
                    </a:lnTo>
                    <a:lnTo>
                      <a:pt x="304800" y="85725"/>
                    </a:lnTo>
                    <a:close/>
                  </a:path>
                  <a:path w="838200" h="171450">
                    <a:moveTo>
                      <a:pt x="838200" y="85725"/>
                    </a:moveTo>
                    <a:lnTo>
                      <a:pt x="781050" y="57150"/>
                    </a:lnTo>
                    <a:lnTo>
                      <a:pt x="666750" y="0"/>
                    </a:lnTo>
                    <a:lnTo>
                      <a:pt x="666750" y="57150"/>
                    </a:lnTo>
                    <a:lnTo>
                      <a:pt x="533400" y="57150"/>
                    </a:lnTo>
                    <a:lnTo>
                      <a:pt x="533400" y="114300"/>
                    </a:lnTo>
                    <a:lnTo>
                      <a:pt x="666750" y="114300"/>
                    </a:lnTo>
                    <a:lnTo>
                      <a:pt x="666750" y="171450"/>
                    </a:lnTo>
                    <a:lnTo>
                      <a:pt x="781050" y="114300"/>
                    </a:lnTo>
                    <a:lnTo>
                      <a:pt x="838200" y="85725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4191000" y="4495800"/>
                <a:ext cx="4572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762000">
                    <a:moveTo>
                      <a:pt x="457200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457200" y="762000"/>
                    </a:lnTo>
                    <a:lnTo>
                      <a:pt x="4572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4191000" y="4495800"/>
                <a:ext cx="4572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762000">
                    <a:moveTo>
                      <a:pt x="0" y="762000"/>
                    </a:moveTo>
                    <a:lnTo>
                      <a:pt x="457200" y="762000"/>
                    </a:lnTo>
                    <a:lnTo>
                      <a:pt x="457200" y="0"/>
                    </a:lnTo>
                    <a:lnTo>
                      <a:pt x="0" y="0"/>
                    </a:lnTo>
                    <a:lnTo>
                      <a:pt x="0" y="76200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4953000" y="4343400"/>
                <a:ext cx="228600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668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1066800"/>
                    </a:lnTo>
                    <a:lnTo>
                      <a:pt x="228600" y="10668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4953000" y="4343400"/>
                <a:ext cx="228600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66800">
                    <a:moveTo>
                      <a:pt x="0" y="1066800"/>
                    </a:moveTo>
                    <a:lnTo>
                      <a:pt x="228600" y="10668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106680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4648200" y="4791074"/>
                <a:ext cx="8382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171450">
                    <a:moveTo>
                      <a:pt x="304800" y="85725"/>
                    </a:moveTo>
                    <a:lnTo>
                      <a:pt x="247650" y="57150"/>
                    </a:lnTo>
                    <a:lnTo>
                      <a:pt x="133350" y="0"/>
                    </a:lnTo>
                    <a:lnTo>
                      <a:pt x="133350" y="57150"/>
                    </a:lnTo>
                    <a:lnTo>
                      <a:pt x="0" y="57150"/>
                    </a:lnTo>
                    <a:lnTo>
                      <a:pt x="0" y="114300"/>
                    </a:lnTo>
                    <a:lnTo>
                      <a:pt x="133350" y="114300"/>
                    </a:lnTo>
                    <a:lnTo>
                      <a:pt x="133350" y="171450"/>
                    </a:lnTo>
                    <a:lnTo>
                      <a:pt x="247650" y="114300"/>
                    </a:lnTo>
                    <a:lnTo>
                      <a:pt x="304800" y="85725"/>
                    </a:lnTo>
                    <a:close/>
                  </a:path>
                  <a:path w="838200" h="171450">
                    <a:moveTo>
                      <a:pt x="838200" y="85725"/>
                    </a:moveTo>
                    <a:lnTo>
                      <a:pt x="781050" y="57150"/>
                    </a:lnTo>
                    <a:lnTo>
                      <a:pt x="666750" y="0"/>
                    </a:lnTo>
                    <a:lnTo>
                      <a:pt x="666750" y="57150"/>
                    </a:lnTo>
                    <a:lnTo>
                      <a:pt x="533400" y="57150"/>
                    </a:lnTo>
                    <a:lnTo>
                      <a:pt x="533400" y="114300"/>
                    </a:lnTo>
                    <a:lnTo>
                      <a:pt x="666750" y="114300"/>
                    </a:lnTo>
                    <a:lnTo>
                      <a:pt x="666750" y="171450"/>
                    </a:lnTo>
                    <a:lnTo>
                      <a:pt x="781050" y="114300"/>
                    </a:lnTo>
                    <a:lnTo>
                      <a:pt x="838200" y="85725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5486400" y="4495800"/>
                <a:ext cx="4572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762000">
                    <a:moveTo>
                      <a:pt x="457200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457200" y="762000"/>
                    </a:lnTo>
                    <a:lnTo>
                      <a:pt x="4572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5486400" y="4495800"/>
                <a:ext cx="4572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762000">
                    <a:moveTo>
                      <a:pt x="0" y="762000"/>
                    </a:moveTo>
                    <a:lnTo>
                      <a:pt x="457200" y="762000"/>
                    </a:lnTo>
                    <a:lnTo>
                      <a:pt x="457200" y="0"/>
                    </a:lnTo>
                    <a:lnTo>
                      <a:pt x="0" y="0"/>
                    </a:lnTo>
                    <a:lnTo>
                      <a:pt x="0" y="76200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6248400" y="4343400"/>
                <a:ext cx="228600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668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1066800"/>
                    </a:lnTo>
                    <a:lnTo>
                      <a:pt x="228600" y="10668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29"/>
              <p:cNvSpPr/>
              <p:nvPr/>
            </p:nvSpPr>
            <p:spPr>
              <a:xfrm>
                <a:off x="6248400" y="4343400"/>
                <a:ext cx="228600" cy="1066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66800">
                    <a:moveTo>
                      <a:pt x="0" y="1066800"/>
                    </a:moveTo>
                    <a:lnTo>
                      <a:pt x="228600" y="10668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106680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5943600" y="4791074"/>
                <a:ext cx="8382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171450">
                    <a:moveTo>
                      <a:pt x="304800" y="85725"/>
                    </a:moveTo>
                    <a:lnTo>
                      <a:pt x="247650" y="57150"/>
                    </a:lnTo>
                    <a:lnTo>
                      <a:pt x="133350" y="0"/>
                    </a:lnTo>
                    <a:lnTo>
                      <a:pt x="133350" y="57150"/>
                    </a:lnTo>
                    <a:lnTo>
                      <a:pt x="0" y="57150"/>
                    </a:lnTo>
                    <a:lnTo>
                      <a:pt x="0" y="114300"/>
                    </a:lnTo>
                    <a:lnTo>
                      <a:pt x="133350" y="114300"/>
                    </a:lnTo>
                    <a:lnTo>
                      <a:pt x="133350" y="171450"/>
                    </a:lnTo>
                    <a:lnTo>
                      <a:pt x="247650" y="114300"/>
                    </a:lnTo>
                    <a:lnTo>
                      <a:pt x="304800" y="85725"/>
                    </a:lnTo>
                    <a:close/>
                  </a:path>
                  <a:path w="838200" h="171450">
                    <a:moveTo>
                      <a:pt x="838200" y="85725"/>
                    </a:moveTo>
                    <a:lnTo>
                      <a:pt x="781050" y="57150"/>
                    </a:lnTo>
                    <a:lnTo>
                      <a:pt x="666750" y="0"/>
                    </a:lnTo>
                    <a:lnTo>
                      <a:pt x="666750" y="57150"/>
                    </a:lnTo>
                    <a:lnTo>
                      <a:pt x="533400" y="57150"/>
                    </a:lnTo>
                    <a:lnTo>
                      <a:pt x="533400" y="114300"/>
                    </a:lnTo>
                    <a:lnTo>
                      <a:pt x="666750" y="114300"/>
                    </a:lnTo>
                    <a:lnTo>
                      <a:pt x="666750" y="171450"/>
                    </a:lnTo>
                    <a:lnTo>
                      <a:pt x="781050" y="114300"/>
                    </a:lnTo>
                    <a:lnTo>
                      <a:pt x="838200" y="85725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6781800" y="4495800"/>
                <a:ext cx="4572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762000">
                    <a:moveTo>
                      <a:pt x="457200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457200" y="762000"/>
                    </a:lnTo>
                    <a:lnTo>
                      <a:pt x="4572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6781800" y="4495800"/>
                <a:ext cx="4572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762000">
                    <a:moveTo>
                      <a:pt x="0" y="762000"/>
                    </a:moveTo>
                    <a:lnTo>
                      <a:pt x="457200" y="762000"/>
                    </a:lnTo>
                    <a:lnTo>
                      <a:pt x="457200" y="0"/>
                    </a:lnTo>
                    <a:lnTo>
                      <a:pt x="0" y="0"/>
                    </a:lnTo>
                    <a:lnTo>
                      <a:pt x="0" y="76200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1295400" y="4791074"/>
                <a:ext cx="6248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171450">
                    <a:moveTo>
                      <a:pt x="304800" y="85725"/>
                    </a:moveTo>
                    <a:lnTo>
                      <a:pt x="247650" y="57150"/>
                    </a:lnTo>
                    <a:lnTo>
                      <a:pt x="133350" y="0"/>
                    </a:lnTo>
                    <a:lnTo>
                      <a:pt x="133350" y="57150"/>
                    </a:lnTo>
                    <a:lnTo>
                      <a:pt x="0" y="57150"/>
                    </a:lnTo>
                    <a:lnTo>
                      <a:pt x="0" y="114300"/>
                    </a:lnTo>
                    <a:lnTo>
                      <a:pt x="133350" y="114300"/>
                    </a:lnTo>
                    <a:lnTo>
                      <a:pt x="133350" y="171450"/>
                    </a:lnTo>
                    <a:lnTo>
                      <a:pt x="247650" y="114300"/>
                    </a:lnTo>
                    <a:lnTo>
                      <a:pt x="304800" y="85725"/>
                    </a:lnTo>
                    <a:close/>
                  </a:path>
                  <a:path w="6248400" h="171450">
                    <a:moveTo>
                      <a:pt x="6248400" y="85725"/>
                    </a:moveTo>
                    <a:lnTo>
                      <a:pt x="6191250" y="57150"/>
                    </a:lnTo>
                    <a:lnTo>
                      <a:pt x="6076950" y="0"/>
                    </a:lnTo>
                    <a:lnTo>
                      <a:pt x="6076950" y="57150"/>
                    </a:lnTo>
                    <a:lnTo>
                      <a:pt x="5943600" y="57150"/>
                    </a:lnTo>
                    <a:lnTo>
                      <a:pt x="5943600" y="114300"/>
                    </a:lnTo>
                    <a:lnTo>
                      <a:pt x="6076950" y="114300"/>
                    </a:lnTo>
                    <a:lnTo>
                      <a:pt x="6076950" y="171450"/>
                    </a:lnTo>
                    <a:lnTo>
                      <a:pt x="6191250" y="114300"/>
                    </a:lnTo>
                    <a:lnTo>
                      <a:pt x="6248400" y="85725"/>
                    </a:lnTo>
                    <a:close/>
                  </a:path>
                </a:pathLst>
              </a:custGeom>
              <a:solidFill>
                <a:srgbClr val="99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1295400" y="5443473"/>
                <a:ext cx="6248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85725">
                    <a:moveTo>
                      <a:pt x="990600" y="42926"/>
                    </a:moveTo>
                    <a:lnTo>
                      <a:pt x="961936" y="28575"/>
                    </a:lnTo>
                    <a:lnTo>
                      <a:pt x="904875" y="0"/>
                    </a:lnTo>
                    <a:lnTo>
                      <a:pt x="904875" y="28575"/>
                    </a:lnTo>
                    <a:lnTo>
                      <a:pt x="85725" y="28575"/>
                    </a:lnTo>
                    <a:lnTo>
                      <a:pt x="85725" y="0"/>
                    </a:lnTo>
                    <a:lnTo>
                      <a:pt x="0" y="42926"/>
                    </a:lnTo>
                    <a:lnTo>
                      <a:pt x="85725" y="85725"/>
                    </a:lnTo>
                    <a:lnTo>
                      <a:pt x="85725" y="57150"/>
                    </a:lnTo>
                    <a:lnTo>
                      <a:pt x="904875" y="57150"/>
                    </a:lnTo>
                    <a:lnTo>
                      <a:pt x="904875" y="85725"/>
                    </a:lnTo>
                    <a:lnTo>
                      <a:pt x="962101" y="57150"/>
                    </a:lnTo>
                    <a:lnTo>
                      <a:pt x="990600" y="42926"/>
                    </a:lnTo>
                    <a:close/>
                  </a:path>
                  <a:path w="6248400" h="85725">
                    <a:moveTo>
                      <a:pt x="2362200" y="42926"/>
                    </a:moveTo>
                    <a:lnTo>
                      <a:pt x="2333536" y="28575"/>
                    </a:lnTo>
                    <a:lnTo>
                      <a:pt x="2276475" y="0"/>
                    </a:lnTo>
                    <a:lnTo>
                      <a:pt x="2276475" y="28575"/>
                    </a:lnTo>
                    <a:lnTo>
                      <a:pt x="1381125" y="28575"/>
                    </a:lnTo>
                    <a:lnTo>
                      <a:pt x="1381125" y="0"/>
                    </a:lnTo>
                    <a:lnTo>
                      <a:pt x="1295400" y="42926"/>
                    </a:lnTo>
                    <a:lnTo>
                      <a:pt x="1381125" y="85725"/>
                    </a:lnTo>
                    <a:lnTo>
                      <a:pt x="1381125" y="57150"/>
                    </a:lnTo>
                    <a:lnTo>
                      <a:pt x="2276475" y="57150"/>
                    </a:lnTo>
                    <a:lnTo>
                      <a:pt x="2276475" y="85725"/>
                    </a:lnTo>
                    <a:lnTo>
                      <a:pt x="2333701" y="57150"/>
                    </a:lnTo>
                    <a:lnTo>
                      <a:pt x="2362200" y="42926"/>
                    </a:lnTo>
                    <a:close/>
                  </a:path>
                  <a:path w="6248400" h="85725">
                    <a:moveTo>
                      <a:pt x="3657600" y="42926"/>
                    </a:moveTo>
                    <a:lnTo>
                      <a:pt x="3628936" y="28575"/>
                    </a:lnTo>
                    <a:lnTo>
                      <a:pt x="3571875" y="0"/>
                    </a:lnTo>
                    <a:lnTo>
                      <a:pt x="3571875" y="28575"/>
                    </a:lnTo>
                    <a:lnTo>
                      <a:pt x="2676525" y="28575"/>
                    </a:lnTo>
                    <a:lnTo>
                      <a:pt x="2676525" y="0"/>
                    </a:lnTo>
                    <a:lnTo>
                      <a:pt x="2590800" y="42926"/>
                    </a:lnTo>
                    <a:lnTo>
                      <a:pt x="2676525" y="85725"/>
                    </a:lnTo>
                    <a:lnTo>
                      <a:pt x="2676525" y="57150"/>
                    </a:lnTo>
                    <a:lnTo>
                      <a:pt x="3571875" y="57150"/>
                    </a:lnTo>
                    <a:lnTo>
                      <a:pt x="3571875" y="85725"/>
                    </a:lnTo>
                    <a:lnTo>
                      <a:pt x="3629101" y="57150"/>
                    </a:lnTo>
                    <a:lnTo>
                      <a:pt x="3657600" y="42926"/>
                    </a:lnTo>
                    <a:close/>
                  </a:path>
                  <a:path w="6248400" h="85725">
                    <a:moveTo>
                      <a:pt x="4953000" y="42926"/>
                    </a:moveTo>
                    <a:lnTo>
                      <a:pt x="4924336" y="28575"/>
                    </a:lnTo>
                    <a:lnTo>
                      <a:pt x="4867275" y="0"/>
                    </a:lnTo>
                    <a:lnTo>
                      <a:pt x="4867275" y="28575"/>
                    </a:lnTo>
                    <a:lnTo>
                      <a:pt x="3971925" y="28575"/>
                    </a:lnTo>
                    <a:lnTo>
                      <a:pt x="3971925" y="0"/>
                    </a:lnTo>
                    <a:lnTo>
                      <a:pt x="3886200" y="42926"/>
                    </a:lnTo>
                    <a:lnTo>
                      <a:pt x="3971925" y="85725"/>
                    </a:lnTo>
                    <a:lnTo>
                      <a:pt x="3971925" y="57150"/>
                    </a:lnTo>
                    <a:lnTo>
                      <a:pt x="4867275" y="57150"/>
                    </a:lnTo>
                    <a:lnTo>
                      <a:pt x="4867275" y="85725"/>
                    </a:lnTo>
                    <a:lnTo>
                      <a:pt x="4924501" y="57150"/>
                    </a:lnTo>
                    <a:lnTo>
                      <a:pt x="4953000" y="42926"/>
                    </a:lnTo>
                    <a:close/>
                  </a:path>
                  <a:path w="6248400" h="85725">
                    <a:moveTo>
                      <a:pt x="6248400" y="42926"/>
                    </a:moveTo>
                    <a:lnTo>
                      <a:pt x="6219736" y="28575"/>
                    </a:lnTo>
                    <a:lnTo>
                      <a:pt x="6162675" y="0"/>
                    </a:lnTo>
                    <a:lnTo>
                      <a:pt x="6162675" y="28575"/>
                    </a:lnTo>
                    <a:lnTo>
                      <a:pt x="5267325" y="28575"/>
                    </a:lnTo>
                    <a:lnTo>
                      <a:pt x="5267325" y="0"/>
                    </a:lnTo>
                    <a:lnTo>
                      <a:pt x="5181600" y="42926"/>
                    </a:lnTo>
                    <a:lnTo>
                      <a:pt x="5267325" y="85725"/>
                    </a:lnTo>
                    <a:lnTo>
                      <a:pt x="5267325" y="57150"/>
                    </a:lnTo>
                    <a:lnTo>
                      <a:pt x="6162675" y="57150"/>
                    </a:lnTo>
                    <a:lnTo>
                      <a:pt x="6162675" y="85725"/>
                    </a:lnTo>
                    <a:lnTo>
                      <a:pt x="6219901" y="57150"/>
                    </a:lnTo>
                    <a:lnTo>
                      <a:pt x="6248400" y="4292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0" name="object 40"/>
            <p:cNvGrpSpPr/>
            <p:nvPr/>
          </p:nvGrpSpPr>
          <p:grpSpPr>
            <a:xfrm>
              <a:off x="2445387" y="5486400"/>
              <a:ext cx="3952633" cy="381000"/>
              <a:chOff x="2444750" y="5486400"/>
              <a:chExt cx="3951604" cy="381000"/>
            </a:xfrm>
          </p:grpSpPr>
          <p:sp>
            <p:nvSpPr>
              <p:cNvPr id="41" name="object 41"/>
              <p:cNvSpPr/>
              <p:nvPr/>
            </p:nvSpPr>
            <p:spPr>
              <a:xfrm>
                <a:off x="2444750" y="5486399"/>
                <a:ext cx="3951604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951604" h="381000">
                    <a:moveTo>
                      <a:pt x="76200" y="76200"/>
                    </a:moveTo>
                    <a:lnTo>
                      <a:pt x="69850" y="63500"/>
                    </a:lnTo>
                    <a:lnTo>
                      <a:pt x="38100" y="0"/>
                    </a:lnTo>
                    <a:lnTo>
                      <a:pt x="0" y="76200"/>
                    </a:lnTo>
                    <a:lnTo>
                      <a:pt x="31750" y="76200"/>
                    </a:lnTo>
                    <a:lnTo>
                      <a:pt x="31750" y="381000"/>
                    </a:lnTo>
                    <a:lnTo>
                      <a:pt x="44450" y="381000"/>
                    </a:lnTo>
                    <a:lnTo>
                      <a:pt x="44450" y="76200"/>
                    </a:lnTo>
                    <a:lnTo>
                      <a:pt x="76200" y="76200"/>
                    </a:lnTo>
                    <a:close/>
                  </a:path>
                  <a:path w="3951604" h="381000">
                    <a:moveTo>
                      <a:pt x="1360424" y="76200"/>
                    </a:moveTo>
                    <a:lnTo>
                      <a:pt x="1354074" y="63500"/>
                    </a:lnTo>
                    <a:lnTo>
                      <a:pt x="1322324" y="0"/>
                    </a:lnTo>
                    <a:lnTo>
                      <a:pt x="1284224" y="76200"/>
                    </a:lnTo>
                    <a:lnTo>
                      <a:pt x="1315974" y="76200"/>
                    </a:lnTo>
                    <a:lnTo>
                      <a:pt x="1315974" y="304800"/>
                    </a:lnTo>
                    <a:lnTo>
                      <a:pt x="1328674" y="304800"/>
                    </a:lnTo>
                    <a:lnTo>
                      <a:pt x="1328674" y="76200"/>
                    </a:lnTo>
                    <a:lnTo>
                      <a:pt x="1360424" y="76200"/>
                    </a:lnTo>
                    <a:close/>
                  </a:path>
                  <a:path w="3951604" h="381000">
                    <a:moveTo>
                      <a:pt x="2655824" y="76200"/>
                    </a:moveTo>
                    <a:lnTo>
                      <a:pt x="2649474" y="63500"/>
                    </a:lnTo>
                    <a:lnTo>
                      <a:pt x="2617724" y="0"/>
                    </a:lnTo>
                    <a:lnTo>
                      <a:pt x="2579624" y="76200"/>
                    </a:lnTo>
                    <a:lnTo>
                      <a:pt x="2611374" y="76200"/>
                    </a:lnTo>
                    <a:lnTo>
                      <a:pt x="2611374" y="304800"/>
                    </a:lnTo>
                    <a:lnTo>
                      <a:pt x="2624074" y="304800"/>
                    </a:lnTo>
                    <a:lnTo>
                      <a:pt x="2624074" y="76200"/>
                    </a:lnTo>
                    <a:lnTo>
                      <a:pt x="2655824" y="76200"/>
                    </a:lnTo>
                    <a:close/>
                  </a:path>
                  <a:path w="3951604" h="381000">
                    <a:moveTo>
                      <a:pt x="3951224" y="76200"/>
                    </a:moveTo>
                    <a:lnTo>
                      <a:pt x="3944874" y="63500"/>
                    </a:lnTo>
                    <a:lnTo>
                      <a:pt x="3913124" y="0"/>
                    </a:lnTo>
                    <a:lnTo>
                      <a:pt x="3875024" y="76200"/>
                    </a:lnTo>
                    <a:lnTo>
                      <a:pt x="3906774" y="76200"/>
                    </a:lnTo>
                    <a:lnTo>
                      <a:pt x="3906774" y="304800"/>
                    </a:lnTo>
                    <a:lnTo>
                      <a:pt x="3919474" y="304800"/>
                    </a:lnTo>
                    <a:lnTo>
                      <a:pt x="3919474" y="76200"/>
                    </a:lnTo>
                    <a:lnTo>
                      <a:pt x="3951224" y="762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2471801" y="5791200"/>
                <a:ext cx="38862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886200">
                    <a:moveTo>
                      <a:pt x="0" y="0"/>
                    </a:moveTo>
                    <a:lnTo>
                      <a:pt x="388620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1527192" y="5514544"/>
              <a:ext cx="5721697" cy="773683"/>
              <a:chOff x="1527192" y="5514544"/>
              <a:chExt cx="5721697" cy="773683"/>
            </a:xfrm>
          </p:grpSpPr>
          <p:sp>
            <p:nvSpPr>
              <p:cNvPr id="35" name="object 35"/>
              <p:cNvSpPr txBox="1"/>
              <p:nvPr/>
            </p:nvSpPr>
            <p:spPr>
              <a:xfrm>
                <a:off x="1527192" y="5514544"/>
                <a:ext cx="511308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spc="-5" dirty="0">
                    <a:latin typeface="Arial"/>
                    <a:cs typeface="Arial"/>
                  </a:rPr>
                  <a:t>200ps</a:t>
                </a:r>
                <a:endParaRPr sz="1400">
                  <a:latin typeface="Arial"/>
                  <a:cs typeface="Arial"/>
                </a:endParaRPr>
              </a:p>
            </p:txBody>
          </p:sp>
          <p:sp>
            <p:nvSpPr>
              <p:cNvPr id="36" name="object 36"/>
              <p:cNvSpPr txBox="1"/>
              <p:nvPr/>
            </p:nvSpPr>
            <p:spPr>
              <a:xfrm>
                <a:off x="2872345" y="5514544"/>
                <a:ext cx="511308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spc="-5" dirty="0">
                    <a:latin typeface="Arial"/>
                    <a:cs typeface="Arial"/>
                  </a:rPr>
                  <a:t>200ps</a:t>
                </a:r>
                <a:endParaRPr sz="1400">
                  <a:latin typeface="Arial"/>
                  <a:cs typeface="Arial"/>
                </a:endParaRPr>
              </a:p>
            </p:txBody>
          </p:sp>
          <p:sp>
            <p:nvSpPr>
              <p:cNvPr id="37" name="object 37"/>
              <p:cNvSpPr txBox="1"/>
              <p:nvPr/>
            </p:nvSpPr>
            <p:spPr>
              <a:xfrm>
                <a:off x="4145851" y="5514544"/>
                <a:ext cx="511308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spc="-5" dirty="0">
                    <a:latin typeface="Arial"/>
                    <a:cs typeface="Arial"/>
                  </a:rPr>
                  <a:t>200ps</a:t>
                </a:r>
                <a:endParaRPr sz="1400">
                  <a:latin typeface="Arial"/>
                  <a:cs typeface="Arial"/>
                </a:endParaRPr>
              </a:p>
            </p:txBody>
          </p:sp>
          <p:sp>
            <p:nvSpPr>
              <p:cNvPr id="38" name="object 38"/>
              <p:cNvSpPr txBox="1"/>
              <p:nvPr/>
            </p:nvSpPr>
            <p:spPr>
              <a:xfrm>
                <a:off x="5441843" y="5514544"/>
                <a:ext cx="511308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spc="-5" dirty="0">
                    <a:latin typeface="Arial"/>
                    <a:cs typeface="Arial"/>
                  </a:rPr>
                  <a:t>200ps</a:t>
                </a:r>
                <a:endParaRPr sz="1400" dirty="0">
                  <a:latin typeface="Arial"/>
                  <a:cs typeface="Arial"/>
                </a:endParaRPr>
              </a:p>
            </p:txBody>
          </p:sp>
          <p:sp>
            <p:nvSpPr>
              <p:cNvPr id="39" name="object 39"/>
              <p:cNvSpPr txBox="1"/>
              <p:nvPr/>
            </p:nvSpPr>
            <p:spPr>
              <a:xfrm>
                <a:off x="6737581" y="5514544"/>
                <a:ext cx="511308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spc="-5" dirty="0">
                    <a:latin typeface="Arial"/>
                    <a:cs typeface="Arial"/>
                  </a:rPr>
                  <a:t>200ps</a:t>
                </a:r>
                <a:endParaRPr sz="1400" dirty="0">
                  <a:latin typeface="Arial"/>
                  <a:cs typeface="Arial"/>
                </a:endParaRPr>
              </a:p>
            </p:txBody>
          </p:sp>
          <p:sp>
            <p:nvSpPr>
              <p:cNvPr id="43" name="object 43"/>
              <p:cNvSpPr txBox="1"/>
              <p:nvPr/>
            </p:nvSpPr>
            <p:spPr>
              <a:xfrm>
                <a:off x="2183064" y="5897067"/>
                <a:ext cx="593244" cy="3911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200" spc="-5" dirty="0">
                    <a:latin typeface="Arial"/>
                    <a:cs typeface="Arial"/>
                  </a:rPr>
                  <a:t>Pipeline  Re</a:t>
                </a:r>
                <a:r>
                  <a:rPr sz="1200" spc="-10" dirty="0">
                    <a:latin typeface="Arial"/>
                    <a:cs typeface="Arial"/>
                  </a:rPr>
                  <a:t>g</a:t>
                </a:r>
                <a:r>
                  <a:rPr sz="1200" dirty="0">
                    <a:latin typeface="Arial"/>
                    <a:cs typeface="Arial"/>
                  </a:rPr>
                  <a:t>ister</a:t>
                </a:r>
                <a:endParaRPr sz="1200">
                  <a:latin typeface="Arial"/>
                  <a:cs typeface="Arial"/>
                </a:endParaRPr>
              </a:p>
            </p:txBody>
          </p:sp>
        </p:grpSp>
      </p:grpSp>
      <p:sp>
        <p:nvSpPr>
          <p:cNvPr id="44" name="object 44"/>
          <p:cNvSpPr txBox="1"/>
          <p:nvPr/>
        </p:nvSpPr>
        <p:spPr>
          <a:xfrm>
            <a:off x="7951000" y="2228215"/>
            <a:ext cx="3788379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95095" algn="l"/>
              </a:tabLst>
            </a:pPr>
            <a:r>
              <a:rPr sz="1800" b="1" dirty="0">
                <a:solidFill>
                  <a:srgbClr val="0000FF"/>
                </a:solidFill>
                <a:latin typeface="Carlito"/>
                <a:cs typeface="Carlito"/>
              </a:rPr>
              <a:t>1 </a:t>
            </a:r>
            <a:r>
              <a:rPr sz="1800" b="1" spc="-5" dirty="0">
                <a:solidFill>
                  <a:srgbClr val="0000FF"/>
                </a:solidFill>
                <a:latin typeface="Carlito"/>
                <a:cs typeface="Carlito"/>
              </a:rPr>
              <a:t>nanosecond </a:t>
            </a:r>
            <a:r>
              <a:rPr lang="en-US" sz="1800" b="1" spc="-5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arlito"/>
                <a:cs typeface="Carlito"/>
              </a:rPr>
              <a:t>= 10^-9 second  </a:t>
            </a:r>
            <a:endParaRPr lang="en-US" sz="1800" b="1" dirty="0">
              <a:solidFill>
                <a:srgbClr val="0000FF"/>
              </a:solidFill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95095" algn="l"/>
              </a:tabLst>
            </a:pPr>
            <a:r>
              <a:rPr sz="1800" b="1" dirty="0">
                <a:solidFill>
                  <a:srgbClr val="0000FF"/>
                </a:solidFill>
                <a:latin typeface="Carlito"/>
                <a:cs typeface="Carlito"/>
              </a:rPr>
              <a:t>1</a:t>
            </a:r>
            <a:r>
              <a:rPr sz="1800" b="1" spc="-10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arlito"/>
                <a:cs typeface="Carlito"/>
              </a:rPr>
              <a:t>picosecond</a:t>
            </a:r>
            <a:r>
              <a:rPr lang="en-US" sz="1800" b="1" spc="-5" dirty="0">
                <a:solidFill>
                  <a:srgbClr val="0000FF"/>
                </a:solidFill>
                <a:latin typeface="Carlito"/>
                <a:cs typeface="Carlito"/>
              </a:rPr>
              <a:t>   </a:t>
            </a:r>
            <a:r>
              <a:rPr sz="1800" b="1" dirty="0">
                <a:solidFill>
                  <a:srgbClr val="0000FF"/>
                </a:solidFill>
                <a:latin typeface="Carlito"/>
                <a:cs typeface="Carlito"/>
              </a:rPr>
              <a:t>= 10^-12</a:t>
            </a:r>
            <a:r>
              <a:rPr sz="1800" b="1" spc="-80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arlito"/>
                <a:cs typeface="Carlito"/>
              </a:rPr>
              <a:t>second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308944" y="239037"/>
            <a:ext cx="1169593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229" dirty="0"/>
              <a:t>Pipeline </a:t>
            </a:r>
            <a:r>
              <a:rPr sz="4000" spc="-204" dirty="0"/>
              <a:t>Analogy </a:t>
            </a:r>
            <a:r>
              <a:rPr sz="4000" spc="475" dirty="0"/>
              <a:t>– </a:t>
            </a:r>
            <a:r>
              <a:rPr sz="4000" spc="-360" dirty="0"/>
              <a:t>The </a:t>
            </a:r>
            <a:r>
              <a:rPr sz="4000" spc="-225" dirty="0"/>
              <a:t>Laundry</a:t>
            </a:r>
            <a:r>
              <a:rPr sz="4000" spc="-240" dirty="0"/>
              <a:t> </a:t>
            </a:r>
            <a:r>
              <a:rPr sz="4000" spc="-325" dirty="0"/>
              <a:t>(cont’d)</a:t>
            </a:r>
          </a:p>
        </p:txBody>
      </p:sp>
    </p:spTree>
    <p:extLst>
      <p:ext uri="{BB962C8B-B14F-4D97-AF65-F5344CB8AC3E}">
        <p14:creationId xmlns:p14="http://schemas.microsoft.com/office/powerpoint/2010/main" val="1803535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4" y="239037"/>
            <a:ext cx="1164963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55" dirty="0"/>
              <a:t>Pipelining </a:t>
            </a:r>
            <a:r>
              <a:rPr sz="4000" spc="-204" dirty="0"/>
              <a:t>Analogy </a:t>
            </a:r>
            <a:r>
              <a:rPr sz="4000" spc="475" dirty="0"/>
              <a:t>– </a:t>
            </a:r>
            <a:r>
              <a:rPr sz="4000" spc="-225" dirty="0">
                <a:solidFill>
                  <a:srgbClr val="0000FF"/>
                </a:solidFill>
              </a:rPr>
              <a:t>Grading </a:t>
            </a:r>
            <a:r>
              <a:rPr sz="4000" spc="-280" dirty="0">
                <a:solidFill>
                  <a:srgbClr val="0000FF"/>
                </a:solidFill>
              </a:rPr>
              <a:t>of</a:t>
            </a:r>
            <a:r>
              <a:rPr sz="4000" spc="-254" dirty="0">
                <a:solidFill>
                  <a:srgbClr val="0000FF"/>
                </a:solidFill>
              </a:rPr>
              <a:t> </a:t>
            </a:r>
            <a:r>
              <a:rPr sz="4000" spc="-295" dirty="0">
                <a:solidFill>
                  <a:srgbClr val="0000FF"/>
                </a:solidFill>
              </a:rPr>
              <a:t>Exam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26929" y="6405384"/>
            <a:ext cx="54814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19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039" y="1219200"/>
            <a:ext cx="11466133" cy="4849404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spcAft>
                <a:spcPts val="1200"/>
              </a:spcAft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190" dirty="0">
                <a:latin typeface="Rockwell" panose="02060603020205020403" pitchFamily="18" charset="0"/>
                <a:cs typeface="Trebuchet MS"/>
              </a:rPr>
              <a:t>Grading</a:t>
            </a:r>
            <a:r>
              <a:rPr sz="2800" b="1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3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b="1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40" dirty="0">
                <a:latin typeface="Rockwell" panose="02060603020205020403" pitchFamily="18" charset="0"/>
                <a:cs typeface="Trebuchet MS"/>
              </a:rPr>
              <a:t>Final</a:t>
            </a:r>
            <a:r>
              <a:rPr sz="2800" b="1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25" dirty="0">
                <a:latin typeface="Rockwell" panose="02060603020205020403" pitchFamily="18" charset="0"/>
                <a:cs typeface="Trebuchet MS"/>
              </a:rPr>
              <a:t>exam</a:t>
            </a:r>
            <a:r>
              <a:rPr sz="2800" b="1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0" dirty="0">
                <a:latin typeface="Rockwell" panose="02060603020205020403" pitchFamily="18" charset="0"/>
                <a:cs typeface="Trebuchet MS"/>
              </a:rPr>
              <a:t>for</a:t>
            </a:r>
            <a:r>
              <a:rPr sz="2800" b="1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35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b="1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65" dirty="0">
                <a:latin typeface="Rockwell" panose="02060603020205020403" pitchFamily="18" charset="0"/>
                <a:cs typeface="Trebuchet MS"/>
              </a:rPr>
              <a:t>class</a:t>
            </a:r>
            <a:r>
              <a:rPr sz="2800" b="1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15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800" b="1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95" dirty="0">
                <a:latin typeface="Rockwell" panose="02060603020205020403" pitchFamily="18" charset="0"/>
                <a:cs typeface="Trebuchet MS"/>
              </a:rPr>
              <a:t>100</a:t>
            </a:r>
            <a:r>
              <a:rPr sz="2800" b="1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45" dirty="0">
                <a:latin typeface="Rockwell" panose="02060603020205020403" pitchFamily="18" charset="0"/>
                <a:cs typeface="Trebuchet MS"/>
              </a:rPr>
              <a:t>students: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spcAft>
                <a:spcPts val="1200"/>
              </a:spcAft>
              <a:buFont typeface="Wingdings"/>
              <a:buChar char=""/>
              <a:tabLst>
                <a:tab pos="756920" algn="l"/>
              </a:tabLst>
            </a:pPr>
            <a:r>
              <a:rPr sz="2800" spc="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5 </a:t>
            </a:r>
            <a:r>
              <a:rPr sz="2800" spc="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problems, </a:t>
            </a:r>
            <a:r>
              <a:rPr sz="2800" spc="-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five </a:t>
            </a:r>
            <a:r>
              <a:rPr sz="2800" spc="1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people </a:t>
            </a:r>
            <a:r>
              <a:rPr sz="2800" spc="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grading</a:t>
            </a:r>
            <a:r>
              <a:rPr sz="2800" spc="-60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7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exam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Wingdings"/>
              <a:buChar char=""/>
              <a:tabLst>
                <a:tab pos="756920" algn="l"/>
              </a:tabLst>
            </a:pPr>
            <a:r>
              <a:rPr sz="2800" spc="1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Each</a:t>
            </a:r>
            <a:r>
              <a:rPr sz="2800" spc="-1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1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person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ONLY</a:t>
            </a:r>
            <a:r>
              <a:rPr sz="2800" spc="-1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grades</a:t>
            </a:r>
            <a:r>
              <a:rPr sz="2800" spc="-1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one</a:t>
            </a:r>
            <a:r>
              <a:rPr sz="2800" spc="-1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problem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1010"/>
              </a:spcBef>
              <a:spcAft>
                <a:spcPts val="1200"/>
              </a:spcAft>
              <a:buFont typeface="Wingdings"/>
              <a:buChar char=""/>
              <a:tabLst>
                <a:tab pos="756920" algn="l"/>
              </a:tabLst>
            </a:pPr>
            <a:r>
              <a:rPr sz="2800" spc="7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Pass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exam</a:t>
            </a:r>
            <a:r>
              <a:rPr sz="2800" spc="-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9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15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next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1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person</a:t>
            </a:r>
            <a:r>
              <a:rPr sz="2800" spc="-1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as</a:t>
            </a:r>
            <a:r>
              <a:rPr sz="2800" spc="-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soon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as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one</a:t>
            </a:r>
            <a:r>
              <a:rPr sz="2800" spc="-17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finishes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his</a:t>
            </a:r>
            <a:r>
              <a:rPr sz="2800" spc="-15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part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spcAft>
                <a:spcPts val="1200"/>
              </a:spcAft>
              <a:buFont typeface="Wingdings"/>
              <a:buChar char=""/>
              <a:tabLst>
                <a:tab pos="756920" algn="l"/>
              </a:tabLst>
            </a:pPr>
            <a:r>
              <a:rPr sz="2800" spc="1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Assume</a:t>
            </a:r>
            <a:r>
              <a:rPr sz="2800" spc="-1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each</a:t>
            </a:r>
            <a:r>
              <a:rPr sz="2800" spc="-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problem</a:t>
            </a:r>
            <a:r>
              <a:rPr sz="2800" spc="-17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takes</a:t>
            </a:r>
            <a:r>
              <a:rPr sz="2800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12</a:t>
            </a:r>
            <a:r>
              <a:rPr sz="2800" spc="-1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min</a:t>
            </a:r>
            <a:r>
              <a:rPr sz="2800" spc="-1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8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grade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994"/>
              </a:spcBef>
              <a:spcAft>
                <a:spcPts val="1200"/>
              </a:spcAft>
              <a:buFont typeface="Noto Sans Mono CJK JP Bold"/>
              <a:buChar char="‒"/>
              <a:tabLst>
                <a:tab pos="1156335" algn="l"/>
              </a:tabLst>
            </a:pPr>
            <a:r>
              <a:rPr sz="2800" spc="10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Each</a:t>
            </a:r>
            <a:r>
              <a:rPr sz="2800" spc="-16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individual</a:t>
            </a:r>
            <a:r>
              <a:rPr sz="2800" spc="-15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exam</a:t>
            </a:r>
            <a:r>
              <a:rPr sz="2800" spc="-13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still</a:t>
            </a:r>
            <a:r>
              <a:rPr sz="2800" spc="-15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takes</a:t>
            </a:r>
            <a:r>
              <a:rPr sz="2800" spc="-14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1</a:t>
            </a:r>
            <a:r>
              <a:rPr sz="2800" spc="-14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hour</a:t>
            </a:r>
            <a:r>
              <a:rPr sz="2800" spc="-16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9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14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2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grade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1010"/>
              </a:spcBef>
              <a:spcAft>
                <a:spcPts val="1200"/>
              </a:spcAft>
              <a:buFont typeface="Noto Sans Mono CJK JP Bold"/>
              <a:buChar char="‒"/>
              <a:tabLst>
                <a:tab pos="1156335" algn="l"/>
              </a:tabLst>
            </a:pPr>
            <a:r>
              <a:rPr sz="2800" spc="-6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But</a:t>
            </a:r>
            <a:r>
              <a:rPr sz="2800" spc="-14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with</a:t>
            </a:r>
            <a:r>
              <a:rPr sz="2800" spc="-14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5</a:t>
            </a:r>
            <a:r>
              <a:rPr sz="2800" spc="-13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people,</a:t>
            </a:r>
            <a:r>
              <a:rPr sz="2800" spc="-40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all</a:t>
            </a:r>
            <a:r>
              <a:rPr sz="2800" spc="-15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exams</a:t>
            </a:r>
            <a:r>
              <a:rPr sz="2800" spc="-14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can</a:t>
            </a:r>
            <a:r>
              <a:rPr sz="2800" spc="-13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6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be</a:t>
            </a:r>
            <a:r>
              <a:rPr sz="2800" spc="-14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3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graded</a:t>
            </a:r>
            <a:r>
              <a:rPr sz="2800" spc="-15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five</a:t>
            </a:r>
            <a:r>
              <a:rPr sz="2800" spc="-13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times</a:t>
            </a:r>
            <a:r>
              <a:rPr sz="2800" spc="-14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quicker</a:t>
            </a:r>
            <a:endParaRPr sz="2800" dirty="0">
              <a:latin typeface="Rockwell" panose="02060603020205020403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47097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8700" y="1447800"/>
            <a:ext cx="11456377" cy="413638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spcAft>
                <a:spcPts val="1200"/>
              </a:spcAft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5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7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0" dirty="0">
                <a:latin typeface="Rockwell" panose="02060603020205020403" pitchFamily="18" charset="0"/>
                <a:cs typeface="Trebuchet MS"/>
              </a:rPr>
              <a:t>load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instruction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has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5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5" dirty="0">
                <a:latin typeface="Rockwell" panose="02060603020205020403" pitchFamily="18" charset="0"/>
                <a:cs typeface="Trebuchet MS"/>
              </a:rPr>
              <a:t>stages: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spcAft>
                <a:spcPts val="1200"/>
              </a:spcAft>
              <a:buFont typeface="Wingdings"/>
              <a:buChar char=""/>
              <a:tabLst>
                <a:tab pos="756920" algn="l"/>
              </a:tabLst>
            </a:pPr>
            <a:r>
              <a:rPr sz="2800" spc="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Five</a:t>
            </a:r>
            <a:r>
              <a:rPr sz="2800" spc="-1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independent</a:t>
            </a:r>
            <a:r>
              <a:rPr sz="2800" spc="-17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functional</a:t>
            </a:r>
            <a:r>
              <a:rPr sz="2800" spc="-1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units</a:t>
            </a:r>
            <a:r>
              <a:rPr sz="2800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9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work</a:t>
            </a:r>
            <a:r>
              <a:rPr sz="2800" spc="-1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on</a:t>
            </a:r>
            <a:r>
              <a:rPr sz="2800" spc="-1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each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stage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</a:pPr>
            <a:r>
              <a:rPr sz="2800" b="1" spc="-110" dirty="0">
                <a:solidFill>
                  <a:srgbClr val="403052"/>
                </a:solidFill>
                <a:latin typeface="Rockwell" panose="02060603020205020403" pitchFamily="18" charset="0"/>
                <a:cs typeface="Noto Sans Mono CJK JP Bold"/>
              </a:rPr>
              <a:t>‒</a:t>
            </a:r>
            <a:r>
              <a:rPr sz="2800" b="1" spc="-1025" dirty="0">
                <a:solidFill>
                  <a:srgbClr val="403052"/>
                </a:solidFill>
                <a:latin typeface="Rockwell" panose="02060603020205020403" pitchFamily="18" charset="0"/>
                <a:cs typeface="Noto Sans Mono CJK JP Bold"/>
              </a:rPr>
              <a:t> </a:t>
            </a:r>
            <a:r>
              <a:rPr sz="2800" b="1" spc="10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Each</a:t>
            </a:r>
            <a:r>
              <a:rPr sz="2800" b="1" spc="-15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1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functional</a:t>
            </a:r>
            <a:r>
              <a:rPr sz="2800" b="1" spc="-14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3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unit</a:t>
            </a:r>
            <a:r>
              <a:rPr sz="2800" b="1" spc="-15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8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is</a:t>
            </a:r>
            <a:r>
              <a:rPr sz="2800" b="1" spc="-13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1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used</a:t>
            </a:r>
            <a:r>
              <a:rPr sz="2800" b="1" spc="-14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7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only</a:t>
            </a:r>
            <a:r>
              <a:rPr sz="2800" b="1" spc="-160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75" dirty="0">
                <a:solidFill>
                  <a:srgbClr val="403052"/>
                </a:solidFill>
                <a:latin typeface="Rockwell" panose="02060603020205020403" pitchFamily="18" charset="0"/>
                <a:cs typeface="Trebuchet MS"/>
              </a:rPr>
              <a:t>once</a:t>
            </a:r>
            <a:endParaRPr sz="2800" b="1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1010"/>
              </a:spcBef>
              <a:spcAft>
                <a:spcPts val="1200"/>
              </a:spcAft>
              <a:buFont typeface="Wingdings"/>
              <a:buChar char=""/>
              <a:tabLst>
                <a:tab pos="756920" algn="l"/>
              </a:tabLst>
            </a:pPr>
            <a:r>
              <a:rPr sz="2800" spc="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7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2nd</a:t>
            </a:r>
            <a:r>
              <a:rPr sz="2800" spc="-1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load</a:t>
            </a:r>
            <a:r>
              <a:rPr sz="2800" spc="-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can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start</a:t>
            </a:r>
            <a:r>
              <a:rPr sz="2800" spc="-1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as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soon</a:t>
            </a:r>
            <a:r>
              <a:rPr sz="2800" spc="-15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as</a:t>
            </a:r>
            <a:r>
              <a:rPr sz="2800" spc="-1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1st</a:t>
            </a:r>
            <a:r>
              <a:rPr sz="2800" spc="-1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finishes</a:t>
            </a:r>
            <a:r>
              <a:rPr sz="2800" spc="-1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its</a:t>
            </a:r>
            <a:r>
              <a:rPr sz="2800" spc="-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fetch</a:t>
            </a:r>
            <a:r>
              <a:rPr sz="2800" spc="-1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stage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spcAft>
                <a:spcPts val="1200"/>
              </a:spcAft>
              <a:buFont typeface="Wingdings"/>
              <a:buChar char=""/>
              <a:tabLst>
                <a:tab pos="756920" algn="l"/>
              </a:tabLst>
            </a:pPr>
            <a:r>
              <a:rPr sz="2800" spc="1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Each</a:t>
            </a:r>
            <a:r>
              <a:rPr sz="2800" spc="-16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load</a:t>
            </a:r>
            <a:r>
              <a:rPr sz="2800" spc="-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still</a:t>
            </a:r>
            <a:r>
              <a:rPr sz="2800" spc="-1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takes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five</a:t>
            </a:r>
            <a:r>
              <a:rPr sz="2800" spc="-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cycles</a:t>
            </a:r>
            <a:r>
              <a:rPr sz="2800" spc="-1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8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complete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spcAft>
                <a:spcPts val="1200"/>
              </a:spcAft>
              <a:buFont typeface="Wingdings"/>
              <a:buChar char=""/>
              <a:tabLst>
                <a:tab pos="756920" algn="l"/>
              </a:tabLst>
            </a:pPr>
            <a:r>
              <a:rPr sz="2800" spc="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7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throughput,</a:t>
            </a:r>
            <a:r>
              <a:rPr sz="2800" spc="-37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however,</a:t>
            </a:r>
            <a:r>
              <a:rPr sz="2800" spc="-409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is</a:t>
            </a:r>
            <a:r>
              <a:rPr sz="2800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much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higher</a:t>
            </a:r>
            <a:endParaRPr sz="2800" dirty="0">
              <a:latin typeface="Rockwell" panose="02060603020205020403" pitchFamily="18" charset="0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26929" y="6405384"/>
            <a:ext cx="54814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20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8944" y="239037"/>
            <a:ext cx="1164963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155" dirty="0"/>
              <a:t>Pipelining </a:t>
            </a:r>
            <a:r>
              <a:rPr sz="4000" spc="-204" dirty="0"/>
              <a:t>Analogy </a:t>
            </a:r>
            <a:r>
              <a:rPr sz="4000" spc="475" dirty="0"/>
              <a:t>– </a:t>
            </a:r>
            <a:r>
              <a:rPr sz="4000" spc="-225" dirty="0">
                <a:solidFill>
                  <a:srgbClr val="0000FF"/>
                </a:solidFill>
              </a:rPr>
              <a:t>Grading </a:t>
            </a:r>
            <a:r>
              <a:rPr sz="4000" spc="-280" dirty="0">
                <a:solidFill>
                  <a:srgbClr val="0000FF"/>
                </a:solidFill>
              </a:rPr>
              <a:t>of</a:t>
            </a:r>
            <a:r>
              <a:rPr sz="4000" spc="-254" dirty="0">
                <a:solidFill>
                  <a:srgbClr val="0000FF"/>
                </a:solidFill>
              </a:rPr>
              <a:t> </a:t>
            </a:r>
            <a:r>
              <a:rPr sz="4000" spc="-295" dirty="0">
                <a:solidFill>
                  <a:srgbClr val="0000FF"/>
                </a:solidFill>
              </a:rPr>
              <a:t>Exam</a:t>
            </a:r>
          </a:p>
        </p:txBody>
      </p:sp>
    </p:spTree>
    <p:extLst>
      <p:ext uri="{BB962C8B-B14F-4D97-AF65-F5344CB8AC3E}">
        <p14:creationId xmlns:p14="http://schemas.microsoft.com/office/powerpoint/2010/main" val="1506365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92239" y="1327214"/>
            <a:ext cx="3312387" cy="28575"/>
            <a:chOff x="8689975" y="1327213"/>
            <a:chExt cx="3311525" cy="28575"/>
          </a:xfrm>
        </p:grpSpPr>
        <p:sp>
          <p:nvSpPr>
            <p:cNvPr id="3" name="object 3"/>
            <p:cNvSpPr/>
            <p:nvPr/>
          </p:nvSpPr>
          <p:spPr>
            <a:xfrm>
              <a:off x="8689975" y="1341500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>
                  <a:moveTo>
                    <a:pt x="0" y="0"/>
                  </a:moveTo>
                  <a:lnTo>
                    <a:pt x="1800225" y="0"/>
                  </a:lnTo>
                </a:path>
              </a:pathLst>
            </a:custGeom>
            <a:ln w="28575">
              <a:solidFill>
                <a:srgbClr val="662C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2677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8242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57320" y="1981200"/>
            <a:ext cx="11358662" cy="4343400"/>
          </a:xfrm>
          <a:custGeom>
            <a:avLst/>
            <a:gdLst/>
            <a:ahLst/>
            <a:cxnLst/>
            <a:rect l="l" t="t" r="r" b="b"/>
            <a:pathLst>
              <a:path w="11355705" h="4343400">
                <a:moveTo>
                  <a:pt x="11355324" y="0"/>
                </a:moveTo>
                <a:lnTo>
                  <a:pt x="0" y="0"/>
                </a:lnTo>
                <a:lnTo>
                  <a:pt x="0" y="4343400"/>
                </a:lnTo>
                <a:lnTo>
                  <a:pt x="11355324" y="4343400"/>
                </a:lnTo>
                <a:lnTo>
                  <a:pt x="113553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8943" y="1981200"/>
            <a:ext cx="11507039" cy="427228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45" dirty="0">
                <a:latin typeface="Rockwell" panose="02060603020205020403" pitchFamily="18" charset="0"/>
                <a:cs typeface="Trebuchet MS"/>
              </a:rPr>
              <a:t>Let</a:t>
            </a:r>
            <a:r>
              <a:rPr sz="24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65" dirty="0">
                <a:latin typeface="Rockwell" panose="02060603020205020403" pitchFamily="18" charset="0"/>
                <a:cs typeface="Trebuchet MS"/>
              </a:rPr>
              <a:t>n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40" dirty="0">
                <a:latin typeface="Rockwell" panose="02060603020205020403" pitchFamily="18" charset="0"/>
                <a:cs typeface="Trebuchet MS"/>
              </a:rPr>
              <a:t>be</a:t>
            </a:r>
            <a:r>
              <a:rPr sz="24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85" dirty="0">
                <a:latin typeface="Rockwell" panose="02060603020205020403" pitchFamily="18" charset="0"/>
                <a:cs typeface="Trebuchet MS"/>
              </a:rPr>
              <a:t>number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55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4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40" dirty="0">
                <a:latin typeface="Rockwell" panose="02060603020205020403" pitchFamily="18" charset="0"/>
                <a:cs typeface="Trebuchet MS"/>
              </a:rPr>
              <a:t>tasks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75" dirty="0">
                <a:latin typeface="Rockwell" panose="02060603020205020403" pitchFamily="18" charset="0"/>
                <a:cs typeface="Trebuchet MS"/>
              </a:rPr>
              <a:t>or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75" dirty="0">
                <a:latin typeface="Rockwell" panose="02060603020205020403" pitchFamily="18" charset="0"/>
                <a:cs typeface="Trebuchet MS"/>
              </a:rPr>
              <a:t>exams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55" dirty="0">
                <a:latin typeface="Rockwell" panose="02060603020205020403" pitchFamily="18" charset="0"/>
                <a:cs typeface="Trebuchet MS"/>
              </a:rPr>
              <a:t>(or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5" dirty="0">
                <a:latin typeface="Rockwell" panose="02060603020205020403" pitchFamily="18" charset="0"/>
                <a:cs typeface="Trebuchet MS"/>
              </a:rPr>
              <a:t>instructions)</a:t>
            </a:r>
            <a:endParaRPr sz="24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45" dirty="0">
                <a:latin typeface="Rockwell" panose="02060603020205020403" pitchFamily="18" charset="0"/>
                <a:cs typeface="Trebuchet MS"/>
              </a:rPr>
              <a:t>Let</a:t>
            </a:r>
            <a:r>
              <a:rPr sz="24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65" dirty="0">
                <a:latin typeface="Rockwell" panose="02060603020205020403" pitchFamily="18" charset="0"/>
                <a:cs typeface="Trebuchet MS"/>
              </a:rPr>
              <a:t>k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40" dirty="0">
                <a:latin typeface="Rockwell" panose="02060603020205020403" pitchFamily="18" charset="0"/>
                <a:cs typeface="Trebuchet MS"/>
              </a:rPr>
              <a:t>be</a:t>
            </a:r>
            <a:r>
              <a:rPr sz="24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85" dirty="0">
                <a:latin typeface="Rockwell" panose="02060603020205020403" pitchFamily="18" charset="0"/>
                <a:cs typeface="Trebuchet MS"/>
              </a:rPr>
              <a:t>number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55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55" dirty="0">
                <a:latin typeface="Rockwell" panose="02060603020205020403" pitchFamily="18" charset="0"/>
                <a:cs typeface="Trebuchet MS"/>
              </a:rPr>
              <a:t>stages</a:t>
            </a:r>
            <a:r>
              <a:rPr sz="24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dirty="0">
                <a:latin typeface="Rockwell" panose="02060603020205020403" pitchFamily="18" charset="0"/>
                <a:cs typeface="Trebuchet MS"/>
              </a:rPr>
              <a:t>for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45" dirty="0">
                <a:latin typeface="Rockwell" panose="02060603020205020403" pitchFamily="18" charset="0"/>
                <a:cs typeface="Trebuchet MS"/>
              </a:rPr>
              <a:t>each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5" dirty="0">
                <a:latin typeface="Rockwell" panose="02060603020205020403" pitchFamily="18" charset="0"/>
                <a:cs typeface="Trebuchet MS"/>
              </a:rPr>
              <a:t>task</a:t>
            </a:r>
            <a:endParaRPr sz="24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45" dirty="0">
                <a:latin typeface="Rockwell" panose="02060603020205020403" pitchFamily="18" charset="0"/>
                <a:cs typeface="Trebuchet MS"/>
              </a:rPr>
              <a:t>Let</a:t>
            </a:r>
            <a:r>
              <a:rPr sz="2400" spc="-2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20" dirty="0">
                <a:latin typeface="Rockwell" panose="02060603020205020403" pitchFamily="18" charset="0"/>
                <a:cs typeface="Trebuchet MS"/>
              </a:rPr>
              <a:t>T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40" dirty="0">
                <a:latin typeface="Rockwell" panose="02060603020205020403" pitchFamily="18" charset="0"/>
                <a:cs typeface="Trebuchet MS"/>
              </a:rPr>
              <a:t>be</a:t>
            </a:r>
            <a:r>
              <a:rPr sz="24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3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15" dirty="0">
                <a:latin typeface="Rockwell" panose="02060603020205020403" pitchFamily="18" charset="0"/>
                <a:cs typeface="Trebuchet MS"/>
              </a:rPr>
              <a:t>time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95" dirty="0">
                <a:latin typeface="Rockwell" panose="02060603020205020403" pitchFamily="18" charset="0"/>
                <a:cs typeface="Trebuchet MS"/>
              </a:rPr>
              <a:t>per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40" dirty="0">
                <a:latin typeface="Rockwell" panose="02060603020205020403" pitchFamily="18" charset="0"/>
                <a:cs typeface="Trebuchet MS"/>
              </a:rPr>
              <a:t>stage</a:t>
            </a:r>
            <a:endParaRPr sz="24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35" dirty="0">
                <a:latin typeface="Rockwell" panose="02060603020205020403" pitchFamily="18" charset="0"/>
                <a:cs typeface="Trebuchet MS"/>
              </a:rPr>
              <a:t>Time</a:t>
            </a:r>
            <a:r>
              <a:rPr sz="24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00" dirty="0">
                <a:latin typeface="Rockwell" panose="02060603020205020403" pitchFamily="18" charset="0"/>
                <a:cs typeface="Trebuchet MS"/>
              </a:rPr>
              <a:t>per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5" dirty="0">
                <a:latin typeface="Rockwell" panose="02060603020205020403" pitchFamily="18" charset="0"/>
                <a:cs typeface="Trebuchet MS"/>
              </a:rPr>
              <a:t>task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340" dirty="0">
                <a:latin typeface="Rockwell" panose="02060603020205020403" pitchFamily="18" charset="0"/>
                <a:cs typeface="Trebuchet MS"/>
              </a:rPr>
              <a:t>=</a:t>
            </a:r>
            <a:r>
              <a:rPr sz="2400" spc="-21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20" dirty="0">
                <a:latin typeface="Rockwell" panose="02060603020205020403" pitchFamily="18" charset="0"/>
                <a:cs typeface="Trebuchet MS"/>
              </a:rPr>
              <a:t>T</a:t>
            </a:r>
            <a:r>
              <a:rPr sz="24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180" dirty="0">
                <a:latin typeface="Rockwell" panose="02060603020205020403" pitchFamily="18" charset="0"/>
                <a:cs typeface="Trebuchet MS"/>
              </a:rPr>
              <a:t>.</a:t>
            </a:r>
            <a:r>
              <a:rPr sz="2400" spc="-3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65" dirty="0">
                <a:latin typeface="Rockwell" panose="02060603020205020403" pitchFamily="18" charset="0"/>
                <a:cs typeface="Trebuchet MS"/>
              </a:rPr>
              <a:t>k</a:t>
            </a:r>
            <a:endParaRPr sz="24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65" dirty="0">
                <a:latin typeface="Rockwell" panose="02060603020205020403" pitchFamily="18" charset="0"/>
                <a:cs typeface="Trebuchet MS"/>
              </a:rPr>
              <a:t>Total</a:t>
            </a:r>
            <a:r>
              <a:rPr sz="2400" spc="-2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30" dirty="0">
                <a:latin typeface="Rockwell" panose="02060603020205020403" pitchFamily="18" charset="0"/>
                <a:cs typeface="Trebuchet MS"/>
              </a:rPr>
              <a:t>Time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00" dirty="0">
                <a:latin typeface="Rockwell" panose="02060603020205020403" pitchFamily="18" charset="0"/>
                <a:cs typeface="Trebuchet MS"/>
              </a:rPr>
              <a:t>per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60" dirty="0">
                <a:latin typeface="Rockwell" panose="02060603020205020403" pitchFamily="18" charset="0"/>
                <a:cs typeface="Trebuchet MS"/>
              </a:rPr>
              <a:t>n</a:t>
            </a:r>
            <a:r>
              <a:rPr sz="24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40" dirty="0">
                <a:latin typeface="Rockwell" panose="02060603020205020403" pitchFamily="18" charset="0"/>
                <a:cs typeface="Trebuchet MS"/>
              </a:rPr>
              <a:t>tasks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dirty="0">
                <a:latin typeface="Rockwell" panose="02060603020205020403" pitchFamily="18" charset="0"/>
                <a:cs typeface="Trebuchet MS"/>
              </a:rPr>
              <a:t>for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70" dirty="0">
                <a:latin typeface="Rockwell" panose="02060603020205020403" pitchFamily="18" charset="0"/>
                <a:cs typeface="Trebuchet MS"/>
              </a:rPr>
              <a:t>non-pipelined</a:t>
            </a:r>
            <a:r>
              <a:rPr sz="24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20" dirty="0">
                <a:latin typeface="Rockwell" panose="02060603020205020403" pitchFamily="18" charset="0"/>
                <a:cs typeface="Trebuchet MS"/>
              </a:rPr>
              <a:t>solution</a:t>
            </a:r>
            <a:r>
              <a:rPr sz="24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340" dirty="0">
                <a:latin typeface="Rockwell" panose="02060603020205020403" pitchFamily="18" charset="0"/>
                <a:cs typeface="Trebuchet MS"/>
              </a:rPr>
              <a:t>=</a:t>
            </a:r>
            <a:r>
              <a:rPr sz="2400" spc="-21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20" dirty="0">
                <a:latin typeface="Rockwell" panose="02060603020205020403" pitchFamily="18" charset="0"/>
                <a:cs typeface="Trebuchet MS"/>
              </a:rPr>
              <a:t>T</a:t>
            </a:r>
            <a:r>
              <a:rPr sz="24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185" dirty="0">
                <a:latin typeface="Rockwell" panose="02060603020205020403" pitchFamily="18" charset="0"/>
                <a:cs typeface="Trebuchet MS"/>
              </a:rPr>
              <a:t>.</a:t>
            </a:r>
            <a:r>
              <a:rPr sz="2400" spc="-31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65" dirty="0">
                <a:latin typeface="Rockwell" panose="02060603020205020403" pitchFamily="18" charset="0"/>
                <a:cs typeface="Trebuchet MS"/>
              </a:rPr>
              <a:t>k</a:t>
            </a:r>
            <a:r>
              <a:rPr sz="24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185" dirty="0">
                <a:latin typeface="Rockwell" panose="02060603020205020403" pitchFamily="18" charset="0"/>
                <a:cs typeface="Trebuchet MS"/>
              </a:rPr>
              <a:t>.</a:t>
            </a:r>
            <a:r>
              <a:rPr sz="2400" spc="-3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60" dirty="0">
                <a:latin typeface="Rockwell" panose="02060603020205020403" pitchFamily="18" charset="0"/>
                <a:cs typeface="Trebuchet MS"/>
              </a:rPr>
              <a:t>n</a:t>
            </a:r>
            <a:endParaRPr sz="24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354965" algn="l"/>
                <a:tab pos="355600" algn="l"/>
                <a:tab pos="7248525" algn="l"/>
              </a:tabLst>
            </a:pPr>
            <a:r>
              <a:rPr sz="2400" spc="-65" dirty="0">
                <a:latin typeface="Rockwell" panose="02060603020205020403" pitchFamily="18" charset="0"/>
                <a:cs typeface="Trebuchet MS"/>
              </a:rPr>
              <a:t>Total</a:t>
            </a:r>
            <a:r>
              <a:rPr sz="2400" spc="-2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30" dirty="0">
                <a:latin typeface="Rockwell" panose="02060603020205020403" pitchFamily="18" charset="0"/>
                <a:cs typeface="Trebuchet MS"/>
              </a:rPr>
              <a:t>Time</a:t>
            </a:r>
            <a:r>
              <a:rPr sz="24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00" dirty="0">
                <a:latin typeface="Rockwell" panose="02060603020205020403" pitchFamily="18" charset="0"/>
                <a:cs typeface="Trebuchet MS"/>
              </a:rPr>
              <a:t>per</a:t>
            </a:r>
            <a:r>
              <a:rPr sz="2400" spc="-1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60" dirty="0">
                <a:latin typeface="Rockwell" panose="02060603020205020403" pitchFamily="18" charset="0"/>
                <a:cs typeface="Trebuchet MS"/>
              </a:rPr>
              <a:t>n</a:t>
            </a:r>
            <a:r>
              <a:rPr sz="24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40" dirty="0">
                <a:latin typeface="Rockwell" panose="02060603020205020403" pitchFamily="18" charset="0"/>
                <a:cs typeface="Trebuchet MS"/>
              </a:rPr>
              <a:t>tasks</a:t>
            </a:r>
            <a:r>
              <a:rPr sz="24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dirty="0">
                <a:latin typeface="Rockwell" panose="02060603020205020403" pitchFamily="18" charset="0"/>
                <a:cs typeface="Trebuchet MS"/>
              </a:rPr>
              <a:t>for</a:t>
            </a:r>
            <a:r>
              <a:rPr sz="24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75" dirty="0">
                <a:latin typeface="Rockwell" panose="02060603020205020403" pitchFamily="18" charset="0"/>
                <a:cs typeface="Trebuchet MS"/>
              </a:rPr>
              <a:t>pipelined</a:t>
            </a:r>
            <a:r>
              <a:rPr sz="24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20" dirty="0">
                <a:latin typeface="Rockwell" panose="02060603020205020403" pitchFamily="18" charset="0"/>
                <a:cs typeface="Trebuchet MS"/>
              </a:rPr>
              <a:t>solution	</a:t>
            </a:r>
            <a:r>
              <a:rPr sz="2400" spc="340" dirty="0">
                <a:latin typeface="Rockwell" panose="02060603020205020403" pitchFamily="18" charset="0"/>
                <a:cs typeface="Trebuchet MS"/>
              </a:rPr>
              <a:t>=</a:t>
            </a:r>
            <a:r>
              <a:rPr sz="2400" spc="-2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20" dirty="0">
                <a:latin typeface="Rockwell" panose="02060603020205020403" pitchFamily="18" charset="0"/>
                <a:cs typeface="Trebuchet MS"/>
              </a:rPr>
              <a:t>T</a:t>
            </a:r>
            <a:r>
              <a:rPr sz="24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185" dirty="0">
                <a:latin typeface="Rockwell" panose="02060603020205020403" pitchFamily="18" charset="0"/>
                <a:cs typeface="Trebuchet MS"/>
              </a:rPr>
              <a:t>.</a:t>
            </a:r>
            <a:r>
              <a:rPr sz="2400" spc="-3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65" dirty="0">
                <a:latin typeface="Rockwell" panose="02060603020205020403" pitchFamily="18" charset="0"/>
                <a:cs typeface="Trebuchet MS"/>
              </a:rPr>
              <a:t>k</a:t>
            </a:r>
            <a:r>
              <a:rPr sz="24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340" dirty="0">
                <a:latin typeface="Rockwell" panose="02060603020205020403" pitchFamily="18" charset="0"/>
                <a:cs typeface="Trebuchet MS"/>
              </a:rPr>
              <a:t>+</a:t>
            </a:r>
            <a:r>
              <a:rPr sz="2400" spc="-2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20" dirty="0">
                <a:latin typeface="Rockwell" panose="02060603020205020403" pitchFamily="18" charset="0"/>
                <a:cs typeface="Trebuchet MS"/>
              </a:rPr>
              <a:t>T</a:t>
            </a:r>
            <a:r>
              <a:rPr sz="24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185" dirty="0">
                <a:latin typeface="Rockwell" panose="02060603020205020403" pitchFamily="18" charset="0"/>
                <a:cs typeface="Trebuchet MS"/>
              </a:rPr>
              <a:t>.</a:t>
            </a:r>
            <a:r>
              <a:rPr sz="2400" spc="-3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25" dirty="0">
                <a:latin typeface="Rockwell" panose="02060603020205020403" pitchFamily="18" charset="0"/>
                <a:cs typeface="Trebuchet MS"/>
              </a:rPr>
              <a:t>(n-1)</a:t>
            </a:r>
            <a:endParaRPr sz="24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1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Speedup</a:t>
            </a:r>
            <a:r>
              <a:rPr sz="2400" spc="-14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spc="340" dirty="0">
                <a:latin typeface="Rockwell" panose="02060603020205020403" pitchFamily="18" charset="0"/>
                <a:cs typeface="Trebuchet MS"/>
              </a:rPr>
              <a:t>=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75" dirty="0">
                <a:latin typeface="Rockwell" panose="02060603020205020403" pitchFamily="18" charset="0"/>
                <a:cs typeface="Trebuchet MS"/>
              </a:rPr>
              <a:t>pipelined</a:t>
            </a:r>
            <a:r>
              <a:rPr sz="24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20" dirty="0">
                <a:latin typeface="Rockwell" panose="02060603020205020403" pitchFamily="18" charset="0"/>
                <a:cs typeface="Trebuchet MS"/>
              </a:rPr>
              <a:t>perform/</a:t>
            </a:r>
            <a:r>
              <a:rPr sz="2400" spc="65" dirty="0">
                <a:latin typeface="Rockwell" panose="02060603020205020403" pitchFamily="18" charset="0"/>
                <a:cs typeface="Trebuchet MS"/>
              </a:rPr>
              <a:t>non-pipelined</a:t>
            </a:r>
            <a:r>
              <a:rPr sz="24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50" dirty="0">
                <a:latin typeface="Rockwell" panose="02060603020205020403" pitchFamily="18" charset="0"/>
                <a:cs typeface="Trebuchet MS"/>
              </a:rPr>
              <a:t>performance</a:t>
            </a:r>
            <a:endParaRPr sz="2400" dirty="0">
              <a:latin typeface="Rockwell" panose="02060603020205020403" pitchFamily="18" charset="0"/>
              <a:cs typeface="Trebuchet MS"/>
            </a:endParaRPr>
          </a:p>
          <a:p>
            <a:pPr marL="1610995">
              <a:lnSpc>
                <a:spcPct val="100000"/>
              </a:lnSpc>
              <a:spcBef>
                <a:spcPts val="420"/>
              </a:spcBef>
              <a:tabLst>
                <a:tab pos="5662295" algn="l"/>
                <a:tab pos="7253605" algn="l"/>
              </a:tabLst>
            </a:pPr>
            <a:r>
              <a:rPr sz="2400" spc="340" dirty="0">
                <a:latin typeface="Rockwell" panose="02060603020205020403" pitchFamily="18" charset="0"/>
                <a:cs typeface="Trebuchet MS"/>
              </a:rPr>
              <a:t>=</a:t>
            </a:r>
            <a:r>
              <a:rPr sz="2400" spc="-3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65" dirty="0">
                <a:latin typeface="Rockwell" panose="02060603020205020403" pitchFamily="18" charset="0"/>
                <a:cs typeface="Trebuchet MS"/>
              </a:rPr>
              <a:t>Total </a:t>
            </a:r>
            <a:r>
              <a:rPr sz="2400" spc="30" dirty="0">
                <a:latin typeface="Rockwell" panose="02060603020205020403" pitchFamily="18" charset="0"/>
                <a:cs typeface="Trebuchet MS"/>
              </a:rPr>
              <a:t>Time</a:t>
            </a:r>
            <a:r>
              <a:rPr sz="2400" spc="-10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45" dirty="0">
                <a:latin typeface="Rockwell" panose="02060603020205020403" pitchFamily="18" charset="0"/>
                <a:cs typeface="Trebuchet MS"/>
              </a:rPr>
              <a:t>non-pipelined/	</a:t>
            </a:r>
            <a:r>
              <a:rPr sz="2400" spc="-65" dirty="0">
                <a:latin typeface="Rockwell" panose="02060603020205020403" pitchFamily="18" charset="0"/>
                <a:cs typeface="Trebuchet MS"/>
              </a:rPr>
              <a:t>Total</a:t>
            </a:r>
            <a:r>
              <a:rPr sz="2400" spc="-2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30" dirty="0">
                <a:latin typeface="Rockwell" panose="02060603020205020403" pitchFamily="18" charset="0"/>
                <a:cs typeface="Trebuchet MS"/>
              </a:rPr>
              <a:t>Time	</a:t>
            </a:r>
            <a:r>
              <a:rPr sz="2400" spc="-5" dirty="0">
                <a:latin typeface="Rockwell" panose="02060603020205020403" pitchFamily="18" charset="0"/>
                <a:cs typeface="Trebuchet MS"/>
              </a:rPr>
              <a:t>for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75" dirty="0">
                <a:latin typeface="Rockwell" panose="02060603020205020403" pitchFamily="18" charset="0"/>
                <a:cs typeface="Trebuchet MS"/>
              </a:rPr>
              <a:t>pipelined</a:t>
            </a:r>
            <a:endParaRPr sz="2400" dirty="0">
              <a:latin typeface="Rockwell" panose="02060603020205020403" pitchFamily="18" charset="0"/>
              <a:cs typeface="Trebuchet MS"/>
            </a:endParaRPr>
          </a:p>
          <a:p>
            <a:pPr marL="1610995">
              <a:lnSpc>
                <a:spcPct val="100000"/>
              </a:lnSpc>
              <a:spcBef>
                <a:spcPts val="420"/>
              </a:spcBef>
              <a:tabLst>
                <a:tab pos="3874135" algn="l"/>
                <a:tab pos="4228465" algn="l"/>
                <a:tab pos="4555490" algn="l"/>
              </a:tabLst>
            </a:pPr>
            <a:r>
              <a:rPr sz="2400" spc="340" dirty="0">
                <a:latin typeface="Rockwell" panose="02060603020205020403" pitchFamily="18" charset="0"/>
                <a:cs typeface="Trebuchet MS"/>
              </a:rPr>
              <a:t>=</a:t>
            </a:r>
            <a:r>
              <a:rPr sz="24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65" dirty="0">
                <a:latin typeface="Rockwell" panose="02060603020205020403" pitchFamily="18" charset="0"/>
                <a:cs typeface="Trebuchet MS"/>
              </a:rPr>
              <a:t>k</a:t>
            </a:r>
            <a:r>
              <a:rPr sz="24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185" dirty="0">
                <a:latin typeface="Rockwell" panose="02060603020205020403" pitchFamily="18" charset="0"/>
                <a:cs typeface="Trebuchet MS"/>
              </a:rPr>
              <a:t>.</a:t>
            </a:r>
            <a:r>
              <a:rPr sz="2400" spc="-3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60" dirty="0">
                <a:latin typeface="Rockwell" panose="02060603020205020403" pitchFamily="18" charset="0"/>
                <a:cs typeface="Trebuchet MS"/>
              </a:rPr>
              <a:t>n</a:t>
            </a:r>
            <a:r>
              <a:rPr sz="24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-210" dirty="0">
                <a:latin typeface="Rockwell" panose="02060603020205020403" pitchFamily="18" charset="0"/>
                <a:cs typeface="Trebuchet MS"/>
              </a:rPr>
              <a:t>/</a:t>
            </a:r>
            <a:r>
              <a:rPr sz="24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65" dirty="0">
                <a:latin typeface="Rockwell" panose="02060603020205020403" pitchFamily="18" charset="0"/>
                <a:cs typeface="Trebuchet MS"/>
              </a:rPr>
              <a:t>k</a:t>
            </a:r>
            <a:r>
              <a:rPr sz="24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340" dirty="0">
                <a:latin typeface="Rockwell" panose="02060603020205020403" pitchFamily="18" charset="0"/>
                <a:cs typeface="Trebuchet MS"/>
              </a:rPr>
              <a:t>+</a:t>
            </a:r>
            <a:r>
              <a:rPr sz="24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25" dirty="0">
                <a:latin typeface="Rockwell" panose="02060603020205020403" pitchFamily="18" charset="0"/>
                <a:cs typeface="Trebuchet MS"/>
              </a:rPr>
              <a:t>n-1	</a:t>
            </a:r>
            <a:r>
              <a:rPr sz="2400" spc="340" dirty="0">
                <a:latin typeface="Rockwell" panose="02060603020205020403" pitchFamily="18" charset="0"/>
                <a:cs typeface="Trebuchet MS"/>
              </a:rPr>
              <a:t>=	</a:t>
            </a:r>
            <a:r>
              <a:rPr sz="2400" spc="165" dirty="0">
                <a:latin typeface="Rockwell" panose="02060603020205020403" pitchFamily="18" charset="0"/>
                <a:cs typeface="Trebuchet MS"/>
              </a:rPr>
              <a:t>k	</a:t>
            </a:r>
            <a:r>
              <a:rPr sz="2400" spc="30" dirty="0">
                <a:latin typeface="Rockwell" panose="02060603020205020403" pitchFamily="18" charset="0"/>
                <a:cs typeface="Trebuchet MS"/>
              </a:rPr>
              <a:t>approx.</a:t>
            </a:r>
            <a:r>
              <a:rPr sz="2400" spc="-3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50" dirty="0">
                <a:latin typeface="Rockwell" panose="02060603020205020403" pitchFamily="18" charset="0"/>
                <a:cs typeface="Trebuchet MS"/>
              </a:rPr>
              <a:t>when</a:t>
            </a:r>
            <a:r>
              <a:rPr sz="24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60" dirty="0">
                <a:latin typeface="Rockwell" panose="02060603020205020403" pitchFamily="18" charset="0"/>
                <a:cs typeface="Trebuchet MS"/>
              </a:rPr>
              <a:t>n</a:t>
            </a:r>
            <a:r>
              <a:rPr sz="24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340" dirty="0">
                <a:latin typeface="Rockwell" panose="02060603020205020403" pitchFamily="18" charset="0"/>
                <a:cs typeface="Trebuchet MS"/>
              </a:rPr>
              <a:t>&gt;&gt;</a:t>
            </a:r>
            <a:r>
              <a:rPr sz="24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400" spc="165" dirty="0">
                <a:latin typeface="Rockwell" panose="02060603020205020403" pitchFamily="18" charset="0"/>
                <a:cs typeface="Trebuchet MS"/>
              </a:rPr>
              <a:t>k</a:t>
            </a:r>
            <a:endParaRPr sz="2400" dirty="0">
              <a:latin typeface="Rockwell" panose="02060603020205020403" pitchFamily="18" charset="0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16443" y="1049400"/>
            <a:ext cx="3010684" cy="850900"/>
            <a:chOff x="1316100" y="1049400"/>
            <a:chExt cx="3009900" cy="850900"/>
          </a:xfrm>
        </p:grpSpPr>
        <p:sp>
          <p:nvSpPr>
            <p:cNvPr id="9" name="object 9"/>
            <p:cNvSpPr/>
            <p:nvPr/>
          </p:nvSpPr>
          <p:spPr>
            <a:xfrm>
              <a:off x="2040000" y="1055750"/>
              <a:ext cx="152400" cy="838200"/>
            </a:xfrm>
            <a:custGeom>
              <a:avLst/>
              <a:gdLst/>
              <a:ahLst/>
              <a:cxnLst/>
              <a:rect l="l" t="t" r="r" b="b"/>
              <a:pathLst>
                <a:path w="152400" h="838200">
                  <a:moveTo>
                    <a:pt x="0" y="838200"/>
                  </a:moveTo>
                  <a:lnTo>
                    <a:pt x="152400" y="8382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16100" y="1398523"/>
              <a:ext cx="800100" cy="76200"/>
            </a:xfrm>
            <a:custGeom>
              <a:avLst/>
              <a:gdLst/>
              <a:ahLst/>
              <a:cxnLst/>
              <a:rect l="l" t="t" r="r" b="b"/>
              <a:pathLst>
                <a:path w="800100" h="76200">
                  <a:moveTo>
                    <a:pt x="38100" y="0"/>
                  </a:moveTo>
                  <a:lnTo>
                    <a:pt x="23252" y="3006"/>
                  </a:lnTo>
                  <a:lnTo>
                    <a:pt x="11144" y="11191"/>
                  </a:lnTo>
                  <a:lnTo>
                    <a:pt x="2988" y="23306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893" y="73211"/>
                  </a:lnTo>
                  <a:lnTo>
                    <a:pt x="65008" y="65055"/>
                  </a:lnTo>
                  <a:lnTo>
                    <a:pt x="73193" y="52947"/>
                  </a:lnTo>
                  <a:lnTo>
                    <a:pt x="74914" y="44450"/>
                  </a:lnTo>
                  <a:lnTo>
                    <a:pt x="38100" y="44450"/>
                  </a:lnTo>
                  <a:lnTo>
                    <a:pt x="38100" y="31750"/>
                  </a:lnTo>
                  <a:lnTo>
                    <a:pt x="74909" y="31750"/>
                  </a:lnTo>
                  <a:lnTo>
                    <a:pt x="73193" y="23306"/>
                  </a:lnTo>
                  <a:lnTo>
                    <a:pt x="65008" y="11191"/>
                  </a:lnTo>
                  <a:lnTo>
                    <a:pt x="52893" y="3006"/>
                  </a:lnTo>
                  <a:lnTo>
                    <a:pt x="38100" y="0"/>
                  </a:lnTo>
                  <a:close/>
                </a:path>
                <a:path w="800100" h="76200">
                  <a:moveTo>
                    <a:pt x="723773" y="0"/>
                  </a:moveTo>
                  <a:lnTo>
                    <a:pt x="723773" y="76200"/>
                  </a:lnTo>
                  <a:lnTo>
                    <a:pt x="787273" y="44450"/>
                  </a:lnTo>
                  <a:lnTo>
                    <a:pt x="736600" y="44450"/>
                  </a:lnTo>
                  <a:lnTo>
                    <a:pt x="736600" y="31750"/>
                  </a:lnTo>
                  <a:lnTo>
                    <a:pt x="787273" y="31750"/>
                  </a:lnTo>
                  <a:lnTo>
                    <a:pt x="723773" y="0"/>
                  </a:lnTo>
                  <a:close/>
                </a:path>
                <a:path w="800100" h="76200">
                  <a:moveTo>
                    <a:pt x="74909" y="31750"/>
                  </a:moveTo>
                  <a:lnTo>
                    <a:pt x="38100" y="31750"/>
                  </a:lnTo>
                  <a:lnTo>
                    <a:pt x="38100" y="44450"/>
                  </a:lnTo>
                  <a:lnTo>
                    <a:pt x="74914" y="44450"/>
                  </a:lnTo>
                  <a:lnTo>
                    <a:pt x="76200" y="38100"/>
                  </a:lnTo>
                  <a:lnTo>
                    <a:pt x="74909" y="31750"/>
                  </a:lnTo>
                  <a:close/>
                </a:path>
                <a:path w="800100" h="76200">
                  <a:moveTo>
                    <a:pt x="723773" y="31750"/>
                  </a:moveTo>
                  <a:lnTo>
                    <a:pt x="74909" y="31750"/>
                  </a:lnTo>
                  <a:lnTo>
                    <a:pt x="76200" y="38100"/>
                  </a:lnTo>
                  <a:lnTo>
                    <a:pt x="74914" y="44450"/>
                  </a:lnTo>
                  <a:lnTo>
                    <a:pt x="723773" y="44450"/>
                  </a:lnTo>
                  <a:lnTo>
                    <a:pt x="723773" y="31750"/>
                  </a:lnTo>
                  <a:close/>
                </a:path>
                <a:path w="800100" h="76200">
                  <a:moveTo>
                    <a:pt x="787273" y="31750"/>
                  </a:moveTo>
                  <a:lnTo>
                    <a:pt x="736600" y="31750"/>
                  </a:lnTo>
                  <a:lnTo>
                    <a:pt x="736600" y="44450"/>
                  </a:lnTo>
                  <a:lnTo>
                    <a:pt x="787273" y="44450"/>
                  </a:lnTo>
                  <a:lnTo>
                    <a:pt x="799973" y="38100"/>
                  </a:lnTo>
                  <a:lnTo>
                    <a:pt x="787273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97200" y="1055750"/>
              <a:ext cx="990600" cy="838200"/>
            </a:xfrm>
            <a:custGeom>
              <a:avLst/>
              <a:gdLst/>
              <a:ahLst/>
              <a:cxnLst/>
              <a:rect l="l" t="t" r="r" b="b"/>
              <a:pathLst>
                <a:path w="990600" h="838200">
                  <a:moveTo>
                    <a:pt x="0" y="838200"/>
                  </a:moveTo>
                  <a:lnTo>
                    <a:pt x="990600" y="838200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54173" y="1398523"/>
              <a:ext cx="342900" cy="76200"/>
            </a:xfrm>
            <a:custGeom>
              <a:avLst/>
              <a:gdLst/>
              <a:ahLst/>
              <a:cxnLst/>
              <a:rect l="l" t="t" r="r" b="b"/>
              <a:pathLst>
                <a:path w="342900" h="76200">
                  <a:moveTo>
                    <a:pt x="38100" y="0"/>
                  </a:moveTo>
                  <a:lnTo>
                    <a:pt x="23306" y="3006"/>
                  </a:lnTo>
                  <a:lnTo>
                    <a:pt x="11191" y="11191"/>
                  </a:lnTo>
                  <a:lnTo>
                    <a:pt x="3006" y="23306"/>
                  </a:lnTo>
                  <a:lnTo>
                    <a:pt x="0" y="38100"/>
                  </a:lnTo>
                  <a:lnTo>
                    <a:pt x="3006" y="52947"/>
                  </a:lnTo>
                  <a:lnTo>
                    <a:pt x="11191" y="65055"/>
                  </a:lnTo>
                  <a:lnTo>
                    <a:pt x="23306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921" y="44450"/>
                  </a:lnTo>
                  <a:lnTo>
                    <a:pt x="38100" y="44450"/>
                  </a:lnTo>
                  <a:lnTo>
                    <a:pt x="38100" y="31750"/>
                  </a:lnTo>
                  <a:lnTo>
                    <a:pt x="74917" y="31750"/>
                  </a:lnTo>
                  <a:lnTo>
                    <a:pt x="73211" y="23306"/>
                  </a:lnTo>
                  <a:lnTo>
                    <a:pt x="65055" y="11191"/>
                  </a:lnTo>
                  <a:lnTo>
                    <a:pt x="52947" y="3006"/>
                  </a:lnTo>
                  <a:lnTo>
                    <a:pt x="38100" y="0"/>
                  </a:lnTo>
                  <a:close/>
                </a:path>
                <a:path w="342900" h="76200">
                  <a:moveTo>
                    <a:pt x="266700" y="0"/>
                  </a:moveTo>
                  <a:lnTo>
                    <a:pt x="266700" y="76200"/>
                  </a:lnTo>
                  <a:lnTo>
                    <a:pt x="330200" y="44450"/>
                  </a:lnTo>
                  <a:lnTo>
                    <a:pt x="279400" y="44450"/>
                  </a:lnTo>
                  <a:lnTo>
                    <a:pt x="279400" y="31750"/>
                  </a:lnTo>
                  <a:lnTo>
                    <a:pt x="330200" y="31750"/>
                  </a:lnTo>
                  <a:lnTo>
                    <a:pt x="266700" y="0"/>
                  </a:lnTo>
                  <a:close/>
                </a:path>
                <a:path w="342900" h="76200">
                  <a:moveTo>
                    <a:pt x="74917" y="31750"/>
                  </a:moveTo>
                  <a:lnTo>
                    <a:pt x="38100" y="31750"/>
                  </a:lnTo>
                  <a:lnTo>
                    <a:pt x="38100" y="44450"/>
                  </a:lnTo>
                  <a:lnTo>
                    <a:pt x="74921" y="44450"/>
                  </a:lnTo>
                  <a:lnTo>
                    <a:pt x="76200" y="38100"/>
                  </a:lnTo>
                  <a:lnTo>
                    <a:pt x="74917" y="31750"/>
                  </a:lnTo>
                  <a:close/>
                </a:path>
                <a:path w="342900" h="76200">
                  <a:moveTo>
                    <a:pt x="266700" y="31750"/>
                  </a:moveTo>
                  <a:lnTo>
                    <a:pt x="74917" y="31750"/>
                  </a:lnTo>
                  <a:lnTo>
                    <a:pt x="76200" y="38100"/>
                  </a:lnTo>
                  <a:lnTo>
                    <a:pt x="74921" y="44450"/>
                  </a:lnTo>
                  <a:lnTo>
                    <a:pt x="266700" y="44450"/>
                  </a:lnTo>
                  <a:lnTo>
                    <a:pt x="266700" y="31750"/>
                  </a:lnTo>
                  <a:close/>
                </a:path>
                <a:path w="342900" h="76200">
                  <a:moveTo>
                    <a:pt x="330200" y="31750"/>
                  </a:moveTo>
                  <a:lnTo>
                    <a:pt x="279400" y="31750"/>
                  </a:lnTo>
                  <a:lnTo>
                    <a:pt x="279400" y="44450"/>
                  </a:lnTo>
                  <a:lnTo>
                    <a:pt x="330200" y="44450"/>
                  </a:lnTo>
                  <a:lnTo>
                    <a:pt x="342900" y="38100"/>
                  </a:lnTo>
                  <a:lnTo>
                    <a:pt x="3302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92600" y="1055750"/>
              <a:ext cx="152400" cy="838200"/>
            </a:xfrm>
            <a:custGeom>
              <a:avLst/>
              <a:gdLst/>
              <a:ahLst/>
              <a:cxnLst/>
              <a:rect l="l" t="t" r="r" b="b"/>
              <a:pathLst>
                <a:path w="152400" h="838200">
                  <a:moveTo>
                    <a:pt x="0" y="838200"/>
                  </a:moveTo>
                  <a:lnTo>
                    <a:pt x="152400" y="8382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49574" y="1398523"/>
              <a:ext cx="876300" cy="76200"/>
            </a:xfrm>
            <a:custGeom>
              <a:avLst/>
              <a:gdLst/>
              <a:ahLst/>
              <a:cxnLst/>
              <a:rect l="l" t="t" r="r" b="b"/>
              <a:pathLst>
                <a:path w="876300" h="76200">
                  <a:moveTo>
                    <a:pt x="342900" y="38100"/>
                  </a:moveTo>
                  <a:lnTo>
                    <a:pt x="330200" y="31750"/>
                  </a:lnTo>
                  <a:lnTo>
                    <a:pt x="266700" y="0"/>
                  </a:lnTo>
                  <a:lnTo>
                    <a:pt x="266700" y="31750"/>
                  </a:lnTo>
                  <a:lnTo>
                    <a:pt x="74904" y="31750"/>
                  </a:lnTo>
                  <a:lnTo>
                    <a:pt x="73202" y="23317"/>
                  </a:lnTo>
                  <a:lnTo>
                    <a:pt x="65049" y="11201"/>
                  </a:lnTo>
                  <a:lnTo>
                    <a:pt x="52946" y="3009"/>
                  </a:lnTo>
                  <a:lnTo>
                    <a:pt x="38100" y="0"/>
                  </a:lnTo>
                  <a:lnTo>
                    <a:pt x="23304" y="3009"/>
                  </a:lnTo>
                  <a:lnTo>
                    <a:pt x="11188" y="11201"/>
                  </a:lnTo>
                  <a:lnTo>
                    <a:pt x="2997" y="23317"/>
                  </a:lnTo>
                  <a:lnTo>
                    <a:pt x="0" y="38100"/>
                  </a:lnTo>
                  <a:lnTo>
                    <a:pt x="2997" y="52959"/>
                  </a:lnTo>
                  <a:lnTo>
                    <a:pt x="11188" y="65062"/>
                  </a:lnTo>
                  <a:lnTo>
                    <a:pt x="23304" y="73215"/>
                  </a:lnTo>
                  <a:lnTo>
                    <a:pt x="38100" y="76200"/>
                  </a:lnTo>
                  <a:lnTo>
                    <a:pt x="52946" y="73215"/>
                  </a:lnTo>
                  <a:lnTo>
                    <a:pt x="65049" y="65062"/>
                  </a:lnTo>
                  <a:lnTo>
                    <a:pt x="73202" y="52959"/>
                  </a:lnTo>
                  <a:lnTo>
                    <a:pt x="74917" y="44450"/>
                  </a:lnTo>
                  <a:lnTo>
                    <a:pt x="266700" y="44450"/>
                  </a:lnTo>
                  <a:lnTo>
                    <a:pt x="266700" y="76200"/>
                  </a:lnTo>
                  <a:lnTo>
                    <a:pt x="330200" y="44450"/>
                  </a:lnTo>
                  <a:lnTo>
                    <a:pt x="342900" y="38100"/>
                  </a:lnTo>
                  <a:close/>
                </a:path>
                <a:path w="876300" h="76200">
                  <a:moveTo>
                    <a:pt x="876300" y="38100"/>
                  </a:moveTo>
                  <a:lnTo>
                    <a:pt x="863600" y="31750"/>
                  </a:lnTo>
                  <a:lnTo>
                    <a:pt x="800100" y="0"/>
                  </a:lnTo>
                  <a:lnTo>
                    <a:pt x="800100" y="31750"/>
                  </a:lnTo>
                  <a:lnTo>
                    <a:pt x="527050" y="31750"/>
                  </a:lnTo>
                  <a:lnTo>
                    <a:pt x="495300" y="0"/>
                  </a:lnTo>
                  <a:lnTo>
                    <a:pt x="457200" y="38100"/>
                  </a:lnTo>
                  <a:lnTo>
                    <a:pt x="495300" y="76200"/>
                  </a:lnTo>
                  <a:lnTo>
                    <a:pt x="527050" y="44450"/>
                  </a:lnTo>
                  <a:lnTo>
                    <a:pt x="800100" y="44450"/>
                  </a:lnTo>
                  <a:lnTo>
                    <a:pt x="800100" y="76200"/>
                  </a:lnTo>
                  <a:lnTo>
                    <a:pt x="863600" y="44450"/>
                  </a:lnTo>
                  <a:lnTo>
                    <a:pt x="8763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469545" y="1049400"/>
            <a:ext cx="1378309" cy="850900"/>
            <a:chOff x="7367651" y="1049400"/>
            <a:chExt cx="1377950" cy="850900"/>
          </a:xfrm>
        </p:grpSpPr>
        <p:sp>
          <p:nvSpPr>
            <p:cNvPr id="16" name="object 16"/>
            <p:cNvSpPr/>
            <p:nvPr/>
          </p:nvSpPr>
          <p:spPr>
            <a:xfrm>
              <a:off x="7374001" y="1055750"/>
              <a:ext cx="990600" cy="838200"/>
            </a:xfrm>
            <a:custGeom>
              <a:avLst/>
              <a:gdLst/>
              <a:ahLst/>
              <a:cxnLst/>
              <a:rect l="l" t="t" r="r" b="b"/>
              <a:pathLst>
                <a:path w="990600" h="838200">
                  <a:moveTo>
                    <a:pt x="0" y="838200"/>
                  </a:moveTo>
                  <a:lnTo>
                    <a:pt x="990600" y="838200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26374" y="1398523"/>
              <a:ext cx="419100" cy="76200"/>
            </a:xfrm>
            <a:custGeom>
              <a:avLst/>
              <a:gdLst/>
              <a:ahLst/>
              <a:cxnLst/>
              <a:rect l="l" t="t" r="r" b="b"/>
              <a:pathLst>
                <a:path w="419100" h="76200">
                  <a:moveTo>
                    <a:pt x="38100" y="0"/>
                  </a:moveTo>
                  <a:lnTo>
                    <a:pt x="23306" y="3006"/>
                  </a:lnTo>
                  <a:lnTo>
                    <a:pt x="11191" y="11191"/>
                  </a:lnTo>
                  <a:lnTo>
                    <a:pt x="3006" y="23306"/>
                  </a:lnTo>
                  <a:lnTo>
                    <a:pt x="0" y="38100"/>
                  </a:lnTo>
                  <a:lnTo>
                    <a:pt x="3006" y="52947"/>
                  </a:lnTo>
                  <a:lnTo>
                    <a:pt x="11191" y="65055"/>
                  </a:lnTo>
                  <a:lnTo>
                    <a:pt x="23306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921" y="44450"/>
                  </a:lnTo>
                  <a:lnTo>
                    <a:pt x="38100" y="44450"/>
                  </a:lnTo>
                  <a:lnTo>
                    <a:pt x="38100" y="31750"/>
                  </a:lnTo>
                  <a:lnTo>
                    <a:pt x="74917" y="31750"/>
                  </a:lnTo>
                  <a:lnTo>
                    <a:pt x="73211" y="23306"/>
                  </a:lnTo>
                  <a:lnTo>
                    <a:pt x="65055" y="11191"/>
                  </a:lnTo>
                  <a:lnTo>
                    <a:pt x="52947" y="3006"/>
                  </a:lnTo>
                  <a:lnTo>
                    <a:pt x="38100" y="0"/>
                  </a:lnTo>
                  <a:close/>
                </a:path>
                <a:path w="419100" h="76200">
                  <a:moveTo>
                    <a:pt x="342900" y="0"/>
                  </a:moveTo>
                  <a:lnTo>
                    <a:pt x="342900" y="76200"/>
                  </a:lnTo>
                  <a:lnTo>
                    <a:pt x="406400" y="44450"/>
                  </a:lnTo>
                  <a:lnTo>
                    <a:pt x="355600" y="44450"/>
                  </a:lnTo>
                  <a:lnTo>
                    <a:pt x="355600" y="31750"/>
                  </a:lnTo>
                  <a:lnTo>
                    <a:pt x="406400" y="31750"/>
                  </a:lnTo>
                  <a:lnTo>
                    <a:pt x="342900" y="0"/>
                  </a:lnTo>
                  <a:close/>
                </a:path>
                <a:path w="419100" h="76200">
                  <a:moveTo>
                    <a:pt x="74917" y="31750"/>
                  </a:moveTo>
                  <a:lnTo>
                    <a:pt x="38100" y="31750"/>
                  </a:lnTo>
                  <a:lnTo>
                    <a:pt x="38100" y="44450"/>
                  </a:lnTo>
                  <a:lnTo>
                    <a:pt x="74921" y="44450"/>
                  </a:lnTo>
                  <a:lnTo>
                    <a:pt x="76200" y="38100"/>
                  </a:lnTo>
                  <a:lnTo>
                    <a:pt x="74917" y="31750"/>
                  </a:lnTo>
                  <a:close/>
                </a:path>
                <a:path w="419100" h="76200">
                  <a:moveTo>
                    <a:pt x="342900" y="31750"/>
                  </a:moveTo>
                  <a:lnTo>
                    <a:pt x="74917" y="31750"/>
                  </a:lnTo>
                  <a:lnTo>
                    <a:pt x="76200" y="38100"/>
                  </a:lnTo>
                  <a:lnTo>
                    <a:pt x="74921" y="44450"/>
                  </a:lnTo>
                  <a:lnTo>
                    <a:pt x="342900" y="44450"/>
                  </a:lnTo>
                  <a:lnTo>
                    <a:pt x="342900" y="31750"/>
                  </a:lnTo>
                  <a:close/>
                </a:path>
                <a:path w="419100" h="76200">
                  <a:moveTo>
                    <a:pt x="406400" y="31750"/>
                  </a:moveTo>
                  <a:lnTo>
                    <a:pt x="355600" y="31750"/>
                  </a:lnTo>
                  <a:lnTo>
                    <a:pt x="355600" y="44450"/>
                  </a:lnTo>
                  <a:lnTo>
                    <a:pt x="406400" y="44450"/>
                  </a:lnTo>
                  <a:lnTo>
                    <a:pt x="419100" y="38100"/>
                  </a:lnTo>
                  <a:lnTo>
                    <a:pt x="4064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3540" y="1102233"/>
            <a:ext cx="96921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rlito"/>
                <a:cs typeface="Carlito"/>
              </a:rPr>
              <a:t>In</a:t>
            </a:r>
            <a:r>
              <a:rPr sz="1800" b="1" spc="5" dirty="0">
                <a:latin typeface="Carlito"/>
                <a:cs typeface="Carlito"/>
              </a:rPr>
              <a:t>p</a:t>
            </a:r>
            <a:r>
              <a:rPr sz="1800" b="1" dirty="0">
                <a:latin typeface="Carlito"/>
                <a:cs typeface="Carlito"/>
              </a:rPr>
              <a:t>ut  </a:t>
            </a:r>
            <a:r>
              <a:rPr sz="1800" b="1" spc="-140" dirty="0">
                <a:latin typeface="Carlito"/>
                <a:cs typeface="Carlito"/>
              </a:rPr>
              <a:t>T</a:t>
            </a:r>
            <a:r>
              <a:rPr sz="1800" b="1" dirty="0">
                <a:latin typeface="Carlito"/>
                <a:cs typeface="Carlito"/>
              </a:rPr>
              <a:t>as</a:t>
            </a:r>
            <a:r>
              <a:rPr sz="1800" b="1" spc="-15" dirty="0">
                <a:latin typeface="Carlito"/>
                <a:cs typeface="Carlito"/>
              </a:rPr>
              <a:t>k</a:t>
            </a:r>
            <a:r>
              <a:rPr sz="1800" b="1" dirty="0">
                <a:latin typeface="Carlito"/>
                <a:cs typeface="Carlito"/>
              </a:rPr>
              <a:t>s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226929" y="6405384"/>
            <a:ext cx="54814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21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53213" y="1302511"/>
            <a:ext cx="558246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1500" algn="l"/>
                <a:tab pos="2908300" algn="l"/>
                <a:tab pos="4889500" algn="l"/>
              </a:tabLst>
            </a:pPr>
            <a:r>
              <a:rPr sz="1800" b="1" spc="-10" dirty="0">
                <a:latin typeface="Carlito"/>
                <a:cs typeface="Carlito"/>
              </a:rPr>
              <a:t>Stage</a:t>
            </a:r>
            <a:r>
              <a:rPr sz="1800" b="1" spc="-2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1	</a:t>
            </a:r>
            <a:r>
              <a:rPr sz="1800" b="1" spc="-10" dirty="0">
                <a:latin typeface="Carlito"/>
                <a:cs typeface="Carlito"/>
              </a:rPr>
              <a:t>Stage</a:t>
            </a:r>
            <a:r>
              <a:rPr sz="1800" b="1" spc="-2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2	K </a:t>
            </a:r>
            <a:r>
              <a:rPr sz="1800" b="1" spc="-105" dirty="0">
                <a:latin typeface="Arial"/>
                <a:cs typeface="Arial"/>
              </a:rPr>
              <a:t>–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15" dirty="0">
                <a:latin typeface="Carlito"/>
                <a:cs typeface="Carlito"/>
              </a:rPr>
              <a:t>stage</a:t>
            </a:r>
            <a:r>
              <a:rPr sz="1800" b="1" spc="-1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pipeline	</a:t>
            </a:r>
            <a:r>
              <a:rPr sz="1800" b="1" spc="-10" dirty="0">
                <a:latin typeface="Carlito"/>
                <a:cs typeface="Carlito"/>
              </a:rPr>
              <a:t>Stage</a:t>
            </a:r>
            <a:r>
              <a:rPr sz="1800" b="1" spc="-9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k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35780" y="703834"/>
            <a:ext cx="10081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rlito"/>
                <a:cs typeface="Carlito"/>
              </a:rPr>
              <a:t>bu</a:t>
            </a:r>
            <a:r>
              <a:rPr sz="1800" b="1" spc="-5" dirty="0">
                <a:latin typeface="Carlito"/>
                <a:cs typeface="Carlito"/>
              </a:rPr>
              <a:t>f</a:t>
            </a:r>
            <a:r>
              <a:rPr sz="1800" b="1" spc="-50" dirty="0">
                <a:latin typeface="Carlito"/>
                <a:cs typeface="Carlito"/>
              </a:rPr>
              <a:t>f</a:t>
            </a:r>
            <a:r>
              <a:rPr sz="1800" b="1" dirty="0">
                <a:latin typeface="Carlito"/>
                <a:cs typeface="Carlito"/>
              </a:rPr>
              <a:t>er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08943" y="81143"/>
            <a:ext cx="1169606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Pipelining </a:t>
            </a:r>
            <a:r>
              <a:rPr spc="-180" dirty="0"/>
              <a:t>Analogy </a:t>
            </a:r>
            <a:r>
              <a:rPr spc="425" dirty="0"/>
              <a:t>– </a:t>
            </a:r>
            <a:r>
              <a:rPr spc="-200" dirty="0">
                <a:solidFill>
                  <a:srgbClr val="0000FF"/>
                </a:solidFill>
              </a:rPr>
              <a:t>Grading </a:t>
            </a:r>
            <a:r>
              <a:rPr spc="-250" dirty="0">
                <a:solidFill>
                  <a:srgbClr val="0000FF"/>
                </a:solidFill>
              </a:rPr>
              <a:t>of</a:t>
            </a:r>
            <a:r>
              <a:rPr spc="-235" dirty="0">
                <a:solidFill>
                  <a:srgbClr val="0000FF"/>
                </a:solidFill>
              </a:rPr>
              <a:t> </a:t>
            </a:r>
            <a:r>
              <a:rPr spc="-260" dirty="0">
                <a:solidFill>
                  <a:srgbClr val="0000FF"/>
                </a:solidFill>
              </a:rPr>
              <a:t>Exam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5536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92239" y="1327214"/>
            <a:ext cx="3312387" cy="28575"/>
            <a:chOff x="8689975" y="1327213"/>
            <a:chExt cx="3311525" cy="28575"/>
          </a:xfrm>
        </p:grpSpPr>
        <p:sp>
          <p:nvSpPr>
            <p:cNvPr id="3" name="object 3"/>
            <p:cNvSpPr/>
            <p:nvPr/>
          </p:nvSpPr>
          <p:spPr>
            <a:xfrm>
              <a:off x="8689975" y="1341500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>
                  <a:moveTo>
                    <a:pt x="0" y="0"/>
                  </a:moveTo>
                  <a:lnTo>
                    <a:pt x="1800225" y="0"/>
                  </a:lnTo>
                </a:path>
              </a:pathLst>
            </a:custGeom>
            <a:ln w="28575">
              <a:solidFill>
                <a:srgbClr val="662C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2677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8242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8944" y="239037"/>
            <a:ext cx="116960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245" dirty="0"/>
              <a:t>Single-Cycle </a:t>
            </a:r>
            <a:r>
              <a:rPr sz="4000" spc="-280" dirty="0"/>
              <a:t>vs </a:t>
            </a:r>
            <a:r>
              <a:rPr sz="4000" spc="-245" dirty="0"/>
              <a:t>Pipelined</a:t>
            </a:r>
            <a:r>
              <a:rPr sz="4000" spc="50" dirty="0"/>
              <a:t> </a:t>
            </a:r>
            <a:r>
              <a:rPr sz="4000" spc="-305" dirty="0"/>
              <a:t>Execution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2339455" y="1841528"/>
            <a:ext cx="6798175" cy="127635"/>
            <a:chOff x="2338845" y="1841527"/>
            <a:chExt cx="6796405" cy="127635"/>
          </a:xfrm>
        </p:grpSpPr>
        <p:sp>
          <p:nvSpPr>
            <p:cNvPr id="8" name="object 8"/>
            <p:cNvSpPr/>
            <p:nvPr/>
          </p:nvSpPr>
          <p:spPr>
            <a:xfrm>
              <a:off x="8982658" y="1841527"/>
              <a:ext cx="153035" cy="127635"/>
            </a:xfrm>
            <a:custGeom>
              <a:avLst/>
              <a:gdLst/>
              <a:ahLst/>
              <a:cxnLst/>
              <a:rect l="l" t="t" r="r" b="b"/>
              <a:pathLst>
                <a:path w="153034" h="127635">
                  <a:moveTo>
                    <a:pt x="0" y="0"/>
                  </a:moveTo>
                  <a:lnTo>
                    <a:pt x="0" y="127108"/>
                  </a:lnTo>
                  <a:lnTo>
                    <a:pt x="152410" y="634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38845" y="1904955"/>
              <a:ext cx="6745605" cy="0"/>
            </a:xfrm>
            <a:custGeom>
              <a:avLst/>
              <a:gdLst/>
              <a:ahLst/>
              <a:cxnLst/>
              <a:rect l="l" t="t" r="r" b="b"/>
              <a:pathLst>
                <a:path w="6745605">
                  <a:moveTo>
                    <a:pt x="6745504" y="0"/>
                  </a:moveTo>
                  <a:lnTo>
                    <a:pt x="0" y="0"/>
                  </a:lnTo>
                </a:path>
              </a:pathLst>
            </a:custGeom>
            <a:ln w="25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89564" y="1841527"/>
              <a:ext cx="6174105" cy="114300"/>
            </a:xfrm>
            <a:custGeom>
              <a:avLst/>
              <a:gdLst/>
              <a:ahLst/>
              <a:cxnLst/>
              <a:rect l="l" t="t" r="r" b="b"/>
              <a:pathLst>
                <a:path w="6174105" h="114300">
                  <a:moveTo>
                    <a:pt x="0" y="0"/>
                  </a:moveTo>
                  <a:lnTo>
                    <a:pt x="0" y="114246"/>
                  </a:lnTo>
                </a:path>
                <a:path w="6174105" h="114300">
                  <a:moveTo>
                    <a:pt x="686101" y="0"/>
                  </a:moveTo>
                  <a:lnTo>
                    <a:pt x="686101" y="114246"/>
                  </a:lnTo>
                </a:path>
                <a:path w="6174105" h="114300">
                  <a:moveTo>
                    <a:pt x="1372203" y="0"/>
                  </a:moveTo>
                  <a:lnTo>
                    <a:pt x="1372203" y="114246"/>
                  </a:lnTo>
                </a:path>
                <a:path w="6174105" h="114300">
                  <a:moveTo>
                    <a:pt x="2057924" y="0"/>
                  </a:moveTo>
                  <a:lnTo>
                    <a:pt x="2057924" y="114246"/>
                  </a:lnTo>
                </a:path>
                <a:path w="6174105" h="114300">
                  <a:moveTo>
                    <a:pt x="2744026" y="0"/>
                  </a:moveTo>
                  <a:lnTo>
                    <a:pt x="2744026" y="114246"/>
                  </a:lnTo>
                </a:path>
                <a:path w="6174105" h="114300">
                  <a:moveTo>
                    <a:pt x="3429874" y="0"/>
                  </a:moveTo>
                  <a:lnTo>
                    <a:pt x="3429874" y="114246"/>
                  </a:lnTo>
                </a:path>
                <a:path w="6174105" h="114300">
                  <a:moveTo>
                    <a:pt x="4115976" y="0"/>
                  </a:moveTo>
                  <a:lnTo>
                    <a:pt x="4115976" y="114246"/>
                  </a:lnTo>
                </a:path>
                <a:path w="6174105" h="114300">
                  <a:moveTo>
                    <a:pt x="4802078" y="0"/>
                  </a:moveTo>
                  <a:lnTo>
                    <a:pt x="4802078" y="114246"/>
                  </a:lnTo>
                </a:path>
                <a:path w="6174105" h="114300">
                  <a:moveTo>
                    <a:pt x="5487799" y="0"/>
                  </a:moveTo>
                  <a:lnTo>
                    <a:pt x="5487799" y="114246"/>
                  </a:lnTo>
                </a:path>
                <a:path w="6174105" h="114300">
                  <a:moveTo>
                    <a:pt x="6173901" y="0"/>
                  </a:moveTo>
                  <a:lnTo>
                    <a:pt x="6173901" y="114246"/>
                  </a:lnTo>
                </a:path>
              </a:pathLst>
            </a:custGeom>
            <a:ln w="126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39433" y="1625542"/>
            <a:ext cx="12512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11187" y="1625542"/>
            <a:ext cx="33092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200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97467" y="1625542"/>
            <a:ext cx="33028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400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83494" y="1625542"/>
            <a:ext cx="33092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600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69775" y="1625542"/>
            <a:ext cx="381162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7065" algn="l"/>
                <a:tab pos="1333500" algn="l"/>
                <a:tab pos="2019300" algn="l"/>
                <a:tab pos="2705100" algn="l"/>
                <a:tab pos="3391535" algn="l"/>
              </a:tabLst>
            </a:pPr>
            <a:r>
              <a:rPr sz="1400" b="1" spc="15" dirty="0">
                <a:latin typeface="Arial"/>
                <a:cs typeface="Arial"/>
              </a:rPr>
              <a:t>80</a:t>
            </a:r>
            <a:r>
              <a:rPr sz="1400" b="1" dirty="0">
                <a:latin typeface="Arial"/>
                <a:cs typeface="Arial"/>
              </a:rPr>
              <a:t>0	</a:t>
            </a:r>
            <a:r>
              <a:rPr sz="1400" b="1" spc="15" dirty="0">
                <a:latin typeface="Arial"/>
                <a:cs typeface="Arial"/>
              </a:rPr>
              <a:t>100</a:t>
            </a:r>
            <a:r>
              <a:rPr sz="1400" b="1" dirty="0">
                <a:latin typeface="Arial"/>
                <a:cs typeface="Arial"/>
              </a:rPr>
              <a:t>0	</a:t>
            </a:r>
            <a:r>
              <a:rPr sz="1400" b="1" spc="15" dirty="0">
                <a:latin typeface="Arial"/>
                <a:cs typeface="Arial"/>
              </a:rPr>
              <a:t>120</a:t>
            </a:r>
            <a:r>
              <a:rPr sz="1400" b="1" dirty="0">
                <a:latin typeface="Arial"/>
                <a:cs typeface="Arial"/>
              </a:rPr>
              <a:t>0	</a:t>
            </a:r>
            <a:r>
              <a:rPr sz="1400" b="1" spc="15" dirty="0">
                <a:latin typeface="Arial"/>
                <a:cs typeface="Arial"/>
              </a:rPr>
              <a:t>140</a:t>
            </a:r>
            <a:r>
              <a:rPr sz="1400" b="1" dirty="0">
                <a:latin typeface="Arial"/>
                <a:cs typeface="Arial"/>
              </a:rPr>
              <a:t>0	</a:t>
            </a:r>
            <a:r>
              <a:rPr sz="1400" b="1" spc="15" dirty="0">
                <a:latin typeface="Arial"/>
                <a:cs typeface="Arial"/>
              </a:rPr>
              <a:t>160</a:t>
            </a:r>
            <a:r>
              <a:rPr sz="1400" b="1" dirty="0">
                <a:latin typeface="Arial"/>
                <a:cs typeface="Arial"/>
              </a:rPr>
              <a:t>0	</a:t>
            </a:r>
            <a:r>
              <a:rPr sz="1400" b="1" spc="15" dirty="0">
                <a:latin typeface="Arial"/>
                <a:cs typeface="Arial"/>
              </a:rPr>
              <a:t>1800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22244" y="2400567"/>
            <a:ext cx="698682" cy="356235"/>
          </a:xfrm>
          <a:custGeom>
            <a:avLst/>
            <a:gdLst/>
            <a:ahLst/>
            <a:cxnLst/>
            <a:rect l="l" t="t" r="r" b="b"/>
            <a:pathLst>
              <a:path w="698500" h="356235">
                <a:moveTo>
                  <a:pt x="698464" y="0"/>
                </a:moveTo>
                <a:lnTo>
                  <a:pt x="0" y="0"/>
                </a:lnTo>
                <a:lnTo>
                  <a:pt x="0" y="355627"/>
                </a:lnTo>
                <a:lnTo>
                  <a:pt x="698464" y="355627"/>
                </a:lnTo>
                <a:lnTo>
                  <a:pt x="6984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38548" y="2082981"/>
          <a:ext cx="1680647" cy="922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4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85" dirty="0">
                          <a:latin typeface="Courier New"/>
                          <a:cs typeface="Courier New"/>
                        </a:rPr>
                        <a:t>lw</a:t>
                      </a:r>
                      <a:r>
                        <a:rPr sz="1200" b="1" spc="-550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114" dirty="0">
                          <a:latin typeface="Courier New"/>
                          <a:cs typeface="Courier New"/>
                        </a:rPr>
                        <a:t>$1,</a:t>
                      </a:r>
                      <a:r>
                        <a:rPr sz="1200" b="1" spc="-550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150" dirty="0">
                          <a:latin typeface="Courier New"/>
                          <a:cs typeface="Courier New"/>
                        </a:rPr>
                        <a:t>100($0)</a:t>
                      </a:r>
                      <a:r>
                        <a:rPr sz="1200" b="1" spc="-550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0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200" b="1" spc="85" dirty="0">
                          <a:latin typeface="Courier New"/>
                          <a:cs typeface="Courier New"/>
                        </a:rPr>
                        <a:t>lw</a:t>
                      </a:r>
                      <a:r>
                        <a:rPr sz="1200" b="1" spc="-550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200" b="1" spc="114" dirty="0">
                          <a:latin typeface="Courier New"/>
                          <a:cs typeface="Courier New"/>
                        </a:rPr>
                        <a:t>$2,</a:t>
                      </a:r>
                      <a:r>
                        <a:rPr sz="1200" b="1" spc="-550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200" b="1" spc="150" dirty="0">
                          <a:latin typeface="Courier New"/>
                          <a:cs typeface="Courier New"/>
                        </a:rPr>
                        <a:t>200($0)</a:t>
                      </a:r>
                      <a:r>
                        <a:rPr sz="1200" b="1" spc="-550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96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9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200" b="1" spc="85" dirty="0">
                          <a:latin typeface="Courier New"/>
                          <a:cs typeface="Courier New"/>
                        </a:rPr>
                        <a:t>lw</a:t>
                      </a:r>
                      <a:r>
                        <a:rPr sz="1200" b="1" spc="-550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200" b="1" spc="114" dirty="0">
                          <a:latin typeface="Courier New"/>
                          <a:cs typeface="Courier New"/>
                        </a:rPr>
                        <a:t>$3,</a:t>
                      </a:r>
                      <a:r>
                        <a:rPr sz="1200" b="1" spc="-550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200" b="1" spc="150" dirty="0">
                          <a:latin typeface="Courier New"/>
                          <a:cs typeface="Courier New"/>
                        </a:rPr>
                        <a:t>300($0)</a:t>
                      </a:r>
                      <a:r>
                        <a:rPr sz="1200" b="1" spc="-550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969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7866731" y="2718184"/>
            <a:ext cx="889867" cy="394335"/>
            <a:chOff x="7864683" y="2718183"/>
            <a:chExt cx="889635" cy="394335"/>
          </a:xfrm>
        </p:grpSpPr>
        <p:sp>
          <p:nvSpPr>
            <p:cNvPr id="19" name="object 19"/>
            <p:cNvSpPr/>
            <p:nvPr/>
          </p:nvSpPr>
          <p:spPr>
            <a:xfrm>
              <a:off x="7864678" y="2743593"/>
              <a:ext cx="864235" cy="356235"/>
            </a:xfrm>
            <a:custGeom>
              <a:avLst/>
              <a:gdLst/>
              <a:ahLst/>
              <a:cxnLst/>
              <a:rect l="l" t="t" r="r" b="b"/>
              <a:pathLst>
                <a:path w="864234" h="356235">
                  <a:moveTo>
                    <a:pt x="863993" y="0"/>
                  </a:moveTo>
                  <a:lnTo>
                    <a:pt x="698779" y="0"/>
                  </a:lnTo>
                  <a:lnTo>
                    <a:pt x="686104" y="0"/>
                  </a:lnTo>
                  <a:lnTo>
                    <a:pt x="0" y="0"/>
                  </a:lnTo>
                  <a:lnTo>
                    <a:pt x="0" y="355625"/>
                  </a:lnTo>
                  <a:lnTo>
                    <a:pt x="698779" y="355625"/>
                  </a:lnTo>
                  <a:lnTo>
                    <a:pt x="698779" y="343001"/>
                  </a:lnTo>
                  <a:lnTo>
                    <a:pt x="800595" y="343001"/>
                  </a:lnTo>
                  <a:lnTo>
                    <a:pt x="863993" y="177812"/>
                  </a:lnTo>
                  <a:lnTo>
                    <a:pt x="800595" y="177812"/>
                  </a:lnTo>
                  <a:lnTo>
                    <a:pt x="8639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50785" y="2743583"/>
              <a:ext cx="178435" cy="343535"/>
            </a:xfrm>
            <a:custGeom>
              <a:avLst/>
              <a:gdLst/>
              <a:ahLst/>
              <a:cxnLst/>
              <a:rect l="l" t="t" r="r" b="b"/>
              <a:pathLst>
                <a:path w="178434" h="343535">
                  <a:moveTo>
                    <a:pt x="0" y="0"/>
                  </a:moveTo>
                  <a:lnTo>
                    <a:pt x="0" y="343004"/>
                  </a:lnTo>
                  <a:lnTo>
                    <a:pt x="114497" y="343004"/>
                  </a:lnTo>
                  <a:lnTo>
                    <a:pt x="177896" y="177813"/>
                  </a:lnTo>
                  <a:lnTo>
                    <a:pt x="114498" y="177813"/>
                  </a:lnTo>
                  <a:lnTo>
                    <a:pt x="177896" y="0"/>
                  </a:lnTo>
                  <a:lnTo>
                    <a:pt x="0" y="0"/>
                  </a:lnTo>
                </a:path>
              </a:pathLst>
            </a:custGeom>
            <a:ln w="50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8819788" y="2857943"/>
            <a:ext cx="342973" cy="1269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674811" y="2070147"/>
            <a:ext cx="127668" cy="1143635"/>
            <a:chOff x="674635" y="2070146"/>
            <a:chExt cx="127635" cy="1143635"/>
          </a:xfrm>
        </p:grpSpPr>
        <p:sp>
          <p:nvSpPr>
            <p:cNvPr id="23" name="object 23"/>
            <p:cNvSpPr/>
            <p:nvPr/>
          </p:nvSpPr>
          <p:spPr>
            <a:xfrm>
              <a:off x="674635" y="3061065"/>
              <a:ext cx="127635" cy="153035"/>
            </a:xfrm>
            <a:custGeom>
              <a:avLst/>
              <a:gdLst/>
              <a:ahLst/>
              <a:cxnLst/>
              <a:rect l="l" t="t" r="r" b="b"/>
              <a:pathLst>
                <a:path w="127634" h="153035">
                  <a:moveTo>
                    <a:pt x="127131" y="0"/>
                  </a:moveTo>
                  <a:lnTo>
                    <a:pt x="0" y="0"/>
                  </a:lnTo>
                  <a:lnTo>
                    <a:pt x="63720" y="152580"/>
                  </a:lnTo>
                  <a:lnTo>
                    <a:pt x="1271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8356" y="2070146"/>
              <a:ext cx="0" cy="1092835"/>
            </a:xfrm>
            <a:custGeom>
              <a:avLst/>
              <a:gdLst/>
              <a:ahLst/>
              <a:cxnLst/>
              <a:rect l="l" t="t" r="r" b="b"/>
              <a:pathLst>
                <a:path h="1092835">
                  <a:moveTo>
                    <a:pt x="0" y="0"/>
                  </a:moveTo>
                  <a:lnTo>
                    <a:pt x="0" y="1092744"/>
                  </a:lnTo>
                </a:path>
              </a:pathLst>
            </a:custGeom>
            <a:ln w="253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124744" y="1765261"/>
            <a:ext cx="43000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latin typeface="Arial"/>
                <a:cs typeface="Arial"/>
              </a:rPr>
              <a:t>T</a:t>
            </a:r>
            <a:r>
              <a:rPr sz="1400" b="1" spc="5" dirty="0">
                <a:latin typeface="Arial"/>
                <a:cs typeface="Arial"/>
              </a:rPr>
              <a:t>i</a:t>
            </a:r>
            <a:r>
              <a:rPr sz="1400" b="1" spc="-50" dirty="0">
                <a:latin typeface="Arial"/>
                <a:cs typeface="Arial"/>
              </a:rPr>
              <a:t>m</a:t>
            </a:r>
            <a:r>
              <a:rPr sz="1400" b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5104" y="1321435"/>
            <a:ext cx="1735907" cy="720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05"/>
              </a:spcBef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Non-P</a:t>
            </a: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pel</a:t>
            </a: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ned</a:t>
            </a:r>
            <a:endParaRPr sz="2000">
              <a:latin typeface="Arial"/>
              <a:cs typeface="Arial"/>
            </a:endParaRPr>
          </a:p>
          <a:p>
            <a:pPr marL="49530" marR="718185">
              <a:lnSpc>
                <a:spcPts val="1400"/>
              </a:lnSpc>
              <a:spcBef>
                <a:spcPts val="275"/>
              </a:spcBef>
            </a:pPr>
            <a:r>
              <a:rPr sz="1400" b="1" spc="5" dirty="0">
                <a:latin typeface="Arial"/>
                <a:cs typeface="Arial"/>
              </a:rPr>
              <a:t>I</a:t>
            </a:r>
            <a:r>
              <a:rPr sz="1400" b="1" spc="35" dirty="0">
                <a:latin typeface="Arial"/>
                <a:cs typeface="Arial"/>
              </a:rPr>
              <a:t>n</a:t>
            </a:r>
            <a:r>
              <a:rPr sz="1400" b="1" spc="15" dirty="0">
                <a:latin typeface="Arial"/>
                <a:cs typeface="Arial"/>
              </a:rPr>
              <a:t>s</a:t>
            </a:r>
            <a:r>
              <a:rPr sz="1400" b="1" spc="30" dirty="0">
                <a:latin typeface="Arial"/>
                <a:cs typeface="Arial"/>
              </a:rPr>
              <a:t>t</a:t>
            </a:r>
            <a:r>
              <a:rPr sz="1400" b="1" spc="50" dirty="0">
                <a:latin typeface="Arial"/>
                <a:cs typeface="Arial"/>
              </a:rPr>
              <a:t>r</a:t>
            </a:r>
            <a:r>
              <a:rPr sz="1400" b="1" spc="35" dirty="0">
                <a:latin typeface="Arial"/>
                <a:cs typeface="Arial"/>
              </a:rPr>
              <a:t>u</a:t>
            </a:r>
            <a:r>
              <a:rPr sz="1400" b="1" spc="15" dirty="0">
                <a:latin typeface="Arial"/>
                <a:cs typeface="Arial"/>
              </a:rPr>
              <a:t>c</a:t>
            </a:r>
            <a:r>
              <a:rPr sz="1400" b="1" spc="30" dirty="0">
                <a:latin typeface="Arial"/>
                <a:cs typeface="Arial"/>
              </a:rPr>
              <a:t>t</a:t>
            </a:r>
            <a:r>
              <a:rPr sz="1400" b="1" spc="5" dirty="0">
                <a:latin typeface="Arial"/>
                <a:cs typeface="Arial"/>
              </a:rPr>
              <a:t>i</a:t>
            </a:r>
            <a:r>
              <a:rPr sz="1400" b="1" spc="35" dirty="0">
                <a:latin typeface="Arial"/>
                <a:cs typeface="Arial"/>
              </a:rPr>
              <a:t>o</a:t>
            </a:r>
            <a:r>
              <a:rPr sz="1400" b="1" dirty="0">
                <a:latin typeface="Arial"/>
                <a:cs typeface="Arial"/>
              </a:rPr>
              <a:t>n  </a:t>
            </a:r>
            <a:r>
              <a:rPr sz="1400" b="1" spc="40" dirty="0">
                <a:latin typeface="Arial"/>
                <a:cs typeface="Arial"/>
              </a:rPr>
              <a:t>Order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90186" y="2527612"/>
            <a:ext cx="2745185" cy="127635"/>
            <a:chOff x="2389564" y="2527611"/>
            <a:chExt cx="2744470" cy="127635"/>
          </a:xfrm>
        </p:grpSpPr>
        <p:sp>
          <p:nvSpPr>
            <p:cNvPr id="28" name="object 28"/>
            <p:cNvSpPr/>
            <p:nvPr/>
          </p:nvSpPr>
          <p:spPr>
            <a:xfrm>
              <a:off x="2389555" y="2527617"/>
              <a:ext cx="2744470" cy="127635"/>
            </a:xfrm>
            <a:custGeom>
              <a:avLst/>
              <a:gdLst/>
              <a:ahLst/>
              <a:cxnLst/>
              <a:rect l="l" t="t" r="r" b="b"/>
              <a:pathLst>
                <a:path w="2744470" h="127635">
                  <a:moveTo>
                    <a:pt x="152539" y="0"/>
                  </a:moveTo>
                  <a:lnTo>
                    <a:pt x="0" y="63373"/>
                  </a:lnTo>
                  <a:lnTo>
                    <a:pt x="152539" y="127063"/>
                  </a:lnTo>
                  <a:lnTo>
                    <a:pt x="152539" y="0"/>
                  </a:lnTo>
                  <a:close/>
                </a:path>
                <a:path w="2744470" h="127635">
                  <a:moveTo>
                    <a:pt x="2744025" y="63373"/>
                  </a:moveTo>
                  <a:lnTo>
                    <a:pt x="2591612" y="0"/>
                  </a:lnTo>
                  <a:lnTo>
                    <a:pt x="2591612" y="127063"/>
                  </a:lnTo>
                  <a:lnTo>
                    <a:pt x="2744025" y="633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0663" y="2590989"/>
              <a:ext cx="2642235" cy="0"/>
            </a:xfrm>
            <a:custGeom>
              <a:avLst/>
              <a:gdLst/>
              <a:ahLst/>
              <a:cxnLst/>
              <a:rect l="l" t="t" r="r" b="b"/>
              <a:pathLst>
                <a:path w="2642235">
                  <a:moveTo>
                    <a:pt x="2642208" y="0"/>
                  </a:moveTo>
                  <a:lnTo>
                    <a:pt x="0" y="0"/>
                  </a:lnTo>
                </a:path>
              </a:pathLst>
            </a:custGeom>
            <a:ln w="25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2352241" y="2032254"/>
          <a:ext cx="6191591" cy="1042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6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6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36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66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66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36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29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49322">
                <a:tc>
                  <a:txBody>
                    <a:bodyPr/>
                    <a:lstStyle/>
                    <a:p>
                      <a:pPr marL="190500" marR="29209" indent="-14033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1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000" spc="-10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000" spc="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spc="-4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000" spc="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spc="7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n  </a:t>
                      </a:r>
                      <a:r>
                        <a:rPr sz="1000" spc="10" dirty="0">
                          <a:latin typeface="Arial"/>
                          <a:cs typeface="Arial"/>
                        </a:rPr>
                        <a:t>Fetch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13970" indent="-381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000" spc="-3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2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G  </a:t>
                      </a:r>
                      <a:r>
                        <a:rPr sz="1000" spc="-30" dirty="0">
                          <a:latin typeface="Arial"/>
                          <a:cs typeface="Arial"/>
                        </a:rPr>
                        <a:t>RD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000" spc="20" dirty="0">
                          <a:latin typeface="Arial"/>
                          <a:cs typeface="Arial"/>
                        </a:rPr>
                        <a:t>ALU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000" spc="30" dirty="0">
                          <a:latin typeface="Arial"/>
                          <a:cs typeface="Arial"/>
                        </a:rPr>
                        <a:t>MEM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13970" indent="-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000" spc="-3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2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G  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WR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322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ts val="1100"/>
                        </a:lnSpc>
                      </a:pPr>
                      <a:r>
                        <a:rPr sz="1400" b="1" spc="20" dirty="0">
                          <a:latin typeface="Arial"/>
                          <a:cs typeface="Arial"/>
                        </a:rPr>
                        <a:t>800ps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 marR="30480" indent="-1403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1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000" spc="3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000" spc="-10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000" spc="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spc="-4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3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000" spc="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spc="7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000" spc="3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n  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Fetch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13335" indent="-381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3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2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G 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RD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000" spc="25" dirty="0">
                          <a:latin typeface="Arial"/>
                          <a:cs typeface="Arial"/>
                        </a:rPr>
                        <a:t>ALU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000" spc="30" dirty="0">
                          <a:latin typeface="Arial"/>
                          <a:cs typeface="Arial"/>
                        </a:rPr>
                        <a:t>MEM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3335" indent="-254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3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2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G  </a:t>
                      </a:r>
                      <a:r>
                        <a:rPr sz="1000" spc="-55" dirty="0">
                          <a:latin typeface="Arial"/>
                          <a:cs typeface="Arial"/>
                        </a:rPr>
                        <a:t>WR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017">
                <a:tc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 marR="33655" indent="-139700">
                        <a:lnSpc>
                          <a:spcPct val="100000"/>
                        </a:lnSpc>
                      </a:pPr>
                      <a:r>
                        <a:rPr sz="1000" spc="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000" spc="-10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000" spc="2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spc="-3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000" spc="2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spc="7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n  </a:t>
                      </a:r>
                      <a:r>
                        <a:rPr sz="1000" spc="10" dirty="0">
                          <a:latin typeface="Arial"/>
                          <a:cs typeface="Arial"/>
                        </a:rPr>
                        <a:t>Fetch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5134927" y="2870629"/>
            <a:ext cx="153075" cy="127635"/>
          </a:xfrm>
          <a:custGeom>
            <a:avLst/>
            <a:gdLst/>
            <a:ahLst/>
            <a:cxnLst/>
            <a:rect l="l" t="t" r="r" b="b"/>
            <a:pathLst>
              <a:path w="153035" h="127635">
                <a:moveTo>
                  <a:pt x="152537" y="0"/>
                </a:moveTo>
                <a:lnTo>
                  <a:pt x="0" y="63377"/>
                </a:lnTo>
                <a:lnTo>
                  <a:pt x="152537" y="127058"/>
                </a:lnTo>
                <a:lnTo>
                  <a:pt x="152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27218" y="2870629"/>
            <a:ext cx="152440" cy="127635"/>
          </a:xfrm>
          <a:custGeom>
            <a:avLst/>
            <a:gdLst/>
            <a:ahLst/>
            <a:cxnLst/>
            <a:rect l="l" t="t" r="r" b="b"/>
            <a:pathLst>
              <a:path w="152400" h="127635">
                <a:moveTo>
                  <a:pt x="0" y="0"/>
                </a:moveTo>
                <a:lnTo>
                  <a:pt x="0" y="127058"/>
                </a:lnTo>
                <a:lnTo>
                  <a:pt x="152157" y="6337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7879415" y="3213647"/>
            <a:ext cx="762834" cy="127635"/>
            <a:chOff x="7877363" y="3213646"/>
            <a:chExt cx="762635" cy="127635"/>
          </a:xfrm>
        </p:grpSpPr>
        <p:sp>
          <p:nvSpPr>
            <p:cNvPr id="34" name="object 34"/>
            <p:cNvSpPr/>
            <p:nvPr/>
          </p:nvSpPr>
          <p:spPr>
            <a:xfrm>
              <a:off x="7877363" y="3213646"/>
              <a:ext cx="153035" cy="127635"/>
            </a:xfrm>
            <a:custGeom>
              <a:avLst/>
              <a:gdLst/>
              <a:ahLst/>
              <a:cxnLst/>
              <a:rect l="l" t="t" r="r" b="b"/>
              <a:pathLst>
                <a:path w="153034" h="127635">
                  <a:moveTo>
                    <a:pt x="152537" y="0"/>
                  </a:moveTo>
                  <a:lnTo>
                    <a:pt x="0" y="63377"/>
                  </a:lnTo>
                  <a:lnTo>
                    <a:pt x="152537" y="127058"/>
                  </a:lnTo>
                  <a:lnTo>
                    <a:pt x="152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928462" y="3277023"/>
              <a:ext cx="698500" cy="0"/>
            </a:xfrm>
            <a:custGeom>
              <a:avLst/>
              <a:gdLst/>
              <a:ahLst/>
              <a:cxnLst/>
              <a:rect l="l" t="t" r="r" b="b"/>
              <a:pathLst>
                <a:path w="698500">
                  <a:moveTo>
                    <a:pt x="698401" y="0"/>
                  </a:moveTo>
                  <a:lnTo>
                    <a:pt x="0" y="0"/>
                  </a:lnTo>
                </a:path>
              </a:pathLst>
            </a:custGeom>
            <a:ln w="25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172956" y="2716423"/>
            <a:ext cx="3490869" cy="80010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R="782320" algn="ctr">
              <a:lnSpc>
                <a:spcPct val="100000"/>
              </a:lnSpc>
              <a:spcBef>
                <a:spcPts val="310"/>
              </a:spcBef>
              <a:tabLst>
                <a:tab pos="2673985" algn="l"/>
              </a:tabLst>
            </a:pPr>
            <a:r>
              <a:rPr sz="10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1000">
              <a:latin typeface="Arial"/>
              <a:cs typeface="Arial"/>
            </a:endParaRPr>
          </a:p>
          <a:p>
            <a:pPr marR="830580" algn="ctr">
              <a:lnSpc>
                <a:spcPct val="100000"/>
              </a:lnSpc>
              <a:spcBef>
                <a:spcPts val="305"/>
              </a:spcBef>
            </a:pPr>
            <a:r>
              <a:rPr sz="1400" b="1" spc="15" dirty="0">
                <a:latin typeface="Arial"/>
                <a:cs typeface="Arial"/>
              </a:rPr>
              <a:t>800ps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019"/>
              </a:spcBef>
            </a:pPr>
            <a:r>
              <a:rPr sz="1400" b="1" spc="15" dirty="0">
                <a:latin typeface="Arial"/>
                <a:cs typeface="Arial"/>
              </a:rPr>
              <a:t>800</a:t>
            </a:r>
            <a:r>
              <a:rPr sz="1400" b="1" spc="40" dirty="0">
                <a:latin typeface="Arial"/>
                <a:cs typeface="Arial"/>
              </a:rPr>
              <a:t>p</a:t>
            </a:r>
            <a:r>
              <a:rPr sz="1400" b="1" spc="5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616437" y="3150213"/>
            <a:ext cx="750130" cy="254000"/>
            <a:chOff x="8614193" y="3150213"/>
            <a:chExt cx="749935" cy="254000"/>
          </a:xfrm>
        </p:grpSpPr>
        <p:sp>
          <p:nvSpPr>
            <p:cNvPr id="38" name="object 38"/>
            <p:cNvSpPr/>
            <p:nvPr/>
          </p:nvSpPr>
          <p:spPr>
            <a:xfrm>
              <a:off x="8626864" y="3277023"/>
              <a:ext cx="51435" cy="114935"/>
            </a:xfrm>
            <a:custGeom>
              <a:avLst/>
              <a:gdLst/>
              <a:ahLst/>
              <a:cxnLst/>
              <a:rect l="l" t="t" r="r" b="b"/>
              <a:pathLst>
                <a:path w="51434" h="114935">
                  <a:moveTo>
                    <a:pt x="0" y="0"/>
                  </a:moveTo>
                  <a:lnTo>
                    <a:pt x="51099" y="114435"/>
                  </a:lnTo>
                </a:path>
              </a:pathLst>
            </a:custGeom>
            <a:ln w="253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211274" y="3213645"/>
              <a:ext cx="153035" cy="127635"/>
            </a:xfrm>
            <a:custGeom>
              <a:avLst/>
              <a:gdLst/>
              <a:ahLst/>
              <a:cxnLst/>
              <a:rect l="l" t="t" r="r" b="b"/>
              <a:pathLst>
                <a:path w="153034" h="127635">
                  <a:moveTo>
                    <a:pt x="0" y="0"/>
                  </a:moveTo>
                  <a:lnTo>
                    <a:pt x="0" y="127058"/>
                  </a:lnTo>
                  <a:lnTo>
                    <a:pt x="152410" y="63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677963" y="3162890"/>
              <a:ext cx="635000" cy="228600"/>
            </a:xfrm>
            <a:custGeom>
              <a:avLst/>
              <a:gdLst/>
              <a:ahLst/>
              <a:cxnLst/>
              <a:rect l="l" t="t" r="r" b="b"/>
              <a:pathLst>
                <a:path w="635000" h="228600">
                  <a:moveTo>
                    <a:pt x="635002" y="114133"/>
                  </a:moveTo>
                  <a:lnTo>
                    <a:pt x="114117" y="114133"/>
                  </a:lnTo>
                </a:path>
                <a:path w="635000" h="228600">
                  <a:moveTo>
                    <a:pt x="63398" y="0"/>
                  </a:moveTo>
                  <a:lnTo>
                    <a:pt x="0" y="228568"/>
                  </a:lnTo>
                </a:path>
                <a:path w="635000" h="228600">
                  <a:moveTo>
                    <a:pt x="63398" y="0"/>
                  </a:moveTo>
                  <a:lnTo>
                    <a:pt x="114117" y="114133"/>
                  </a:lnTo>
                </a:path>
              </a:pathLst>
            </a:custGeom>
            <a:ln w="25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36693" y="3684271"/>
            <a:ext cx="1208720" cy="723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Pipelined</a:t>
            </a:r>
            <a:endParaRPr sz="2000">
              <a:latin typeface="Arial"/>
              <a:cs typeface="Arial"/>
            </a:endParaRPr>
          </a:p>
          <a:p>
            <a:pPr marL="12700" marR="227965">
              <a:lnSpc>
                <a:spcPts val="1400"/>
              </a:lnSpc>
              <a:spcBef>
                <a:spcPts val="295"/>
              </a:spcBef>
            </a:pPr>
            <a:r>
              <a:rPr sz="1400" b="1" spc="5" dirty="0">
                <a:latin typeface="Arial"/>
                <a:cs typeface="Arial"/>
              </a:rPr>
              <a:t>I</a:t>
            </a:r>
            <a:r>
              <a:rPr sz="1400" b="1" spc="35" dirty="0">
                <a:latin typeface="Arial"/>
                <a:cs typeface="Arial"/>
              </a:rPr>
              <a:t>n</a:t>
            </a:r>
            <a:r>
              <a:rPr sz="1400" b="1" spc="15" dirty="0">
                <a:latin typeface="Arial"/>
                <a:cs typeface="Arial"/>
              </a:rPr>
              <a:t>s</a:t>
            </a:r>
            <a:r>
              <a:rPr sz="1400" b="1" spc="30" dirty="0">
                <a:latin typeface="Arial"/>
                <a:cs typeface="Arial"/>
              </a:rPr>
              <a:t>t</a:t>
            </a:r>
            <a:r>
              <a:rPr sz="1400" b="1" spc="50" dirty="0">
                <a:latin typeface="Arial"/>
                <a:cs typeface="Arial"/>
              </a:rPr>
              <a:t>r</a:t>
            </a:r>
            <a:r>
              <a:rPr sz="1400" b="1" spc="35" dirty="0">
                <a:latin typeface="Arial"/>
                <a:cs typeface="Arial"/>
              </a:rPr>
              <a:t>u</a:t>
            </a:r>
            <a:r>
              <a:rPr sz="1400" b="1" spc="15" dirty="0">
                <a:latin typeface="Arial"/>
                <a:cs typeface="Arial"/>
              </a:rPr>
              <a:t>c</a:t>
            </a:r>
            <a:r>
              <a:rPr sz="1400" b="1" spc="30" dirty="0">
                <a:latin typeface="Arial"/>
                <a:cs typeface="Arial"/>
              </a:rPr>
              <a:t>t</a:t>
            </a:r>
            <a:r>
              <a:rPr sz="1400" b="1" spc="5" dirty="0">
                <a:latin typeface="Arial"/>
                <a:cs typeface="Arial"/>
              </a:rPr>
              <a:t>i</a:t>
            </a:r>
            <a:r>
              <a:rPr sz="1400" b="1" spc="35" dirty="0">
                <a:latin typeface="Arial"/>
                <a:cs typeface="Arial"/>
              </a:rPr>
              <a:t>o</a:t>
            </a:r>
            <a:r>
              <a:rPr sz="1400" b="1" dirty="0">
                <a:latin typeface="Arial"/>
                <a:cs typeface="Arial"/>
              </a:rPr>
              <a:t>n  </a:t>
            </a:r>
            <a:r>
              <a:rPr sz="1400" b="1" spc="40" dirty="0">
                <a:latin typeface="Arial"/>
                <a:cs typeface="Arial"/>
              </a:rPr>
              <a:t>Order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313955" y="4206903"/>
            <a:ext cx="5946418" cy="127635"/>
            <a:chOff x="2313352" y="4206902"/>
            <a:chExt cx="5944870" cy="127635"/>
          </a:xfrm>
        </p:grpSpPr>
        <p:sp>
          <p:nvSpPr>
            <p:cNvPr id="43" name="object 43"/>
            <p:cNvSpPr/>
            <p:nvPr/>
          </p:nvSpPr>
          <p:spPr>
            <a:xfrm>
              <a:off x="8105681" y="4206902"/>
              <a:ext cx="153035" cy="127635"/>
            </a:xfrm>
            <a:custGeom>
              <a:avLst/>
              <a:gdLst/>
              <a:ahLst/>
              <a:cxnLst/>
              <a:rect l="l" t="t" r="r" b="b"/>
              <a:pathLst>
                <a:path w="153034" h="127635">
                  <a:moveTo>
                    <a:pt x="0" y="0"/>
                  </a:moveTo>
                  <a:lnTo>
                    <a:pt x="0" y="127108"/>
                  </a:lnTo>
                  <a:lnTo>
                    <a:pt x="152506" y="634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313352" y="4270330"/>
              <a:ext cx="5894070" cy="0"/>
            </a:xfrm>
            <a:custGeom>
              <a:avLst/>
              <a:gdLst/>
              <a:ahLst/>
              <a:cxnLst/>
              <a:rect l="l" t="t" r="r" b="b"/>
              <a:pathLst>
                <a:path w="5894070">
                  <a:moveTo>
                    <a:pt x="5893999" y="0"/>
                  </a:moveTo>
                  <a:lnTo>
                    <a:pt x="0" y="0"/>
                  </a:lnTo>
                </a:path>
              </a:pathLst>
            </a:custGeom>
            <a:ln w="25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364060" y="4206902"/>
              <a:ext cx="5488305" cy="114300"/>
            </a:xfrm>
            <a:custGeom>
              <a:avLst/>
              <a:gdLst/>
              <a:ahLst/>
              <a:cxnLst/>
              <a:rect l="l" t="t" r="r" b="b"/>
              <a:pathLst>
                <a:path w="5488305" h="114300">
                  <a:moveTo>
                    <a:pt x="0" y="0"/>
                  </a:moveTo>
                  <a:lnTo>
                    <a:pt x="0" y="114246"/>
                  </a:lnTo>
                </a:path>
                <a:path w="5488305" h="114300">
                  <a:moveTo>
                    <a:pt x="685962" y="0"/>
                  </a:moveTo>
                  <a:lnTo>
                    <a:pt x="685962" y="114246"/>
                  </a:lnTo>
                </a:path>
                <a:path w="5488305" h="114300">
                  <a:moveTo>
                    <a:pt x="1371924" y="0"/>
                  </a:moveTo>
                  <a:lnTo>
                    <a:pt x="1371924" y="114246"/>
                  </a:lnTo>
                </a:path>
                <a:path w="5488305" h="114300">
                  <a:moveTo>
                    <a:pt x="2057886" y="0"/>
                  </a:moveTo>
                  <a:lnTo>
                    <a:pt x="2057886" y="114246"/>
                  </a:lnTo>
                </a:path>
                <a:path w="5488305" h="114300">
                  <a:moveTo>
                    <a:pt x="2743848" y="0"/>
                  </a:moveTo>
                  <a:lnTo>
                    <a:pt x="2743848" y="114246"/>
                  </a:lnTo>
                </a:path>
                <a:path w="5488305" h="114300">
                  <a:moveTo>
                    <a:pt x="3429810" y="0"/>
                  </a:moveTo>
                  <a:lnTo>
                    <a:pt x="3429810" y="114246"/>
                  </a:lnTo>
                </a:path>
                <a:path w="5488305" h="114300">
                  <a:moveTo>
                    <a:pt x="4115772" y="0"/>
                  </a:moveTo>
                  <a:lnTo>
                    <a:pt x="4115772" y="114246"/>
                  </a:lnTo>
                </a:path>
                <a:path w="5488305" h="114300">
                  <a:moveTo>
                    <a:pt x="4801734" y="0"/>
                  </a:moveTo>
                  <a:lnTo>
                    <a:pt x="4801734" y="114246"/>
                  </a:lnTo>
                </a:path>
                <a:path w="5488305" h="114300">
                  <a:moveTo>
                    <a:pt x="5487696" y="0"/>
                  </a:moveTo>
                  <a:lnTo>
                    <a:pt x="5487696" y="114246"/>
                  </a:lnTo>
                </a:path>
              </a:pathLst>
            </a:custGeom>
            <a:ln w="126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313932" y="3990917"/>
            <a:ext cx="12512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885695" y="3990917"/>
            <a:ext cx="33092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200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71836" y="3990917"/>
            <a:ext cx="33092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400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57976" y="3990917"/>
            <a:ext cx="33092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600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43990" y="3990917"/>
            <a:ext cx="312564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7700" algn="l"/>
                <a:tab pos="1333500" algn="l"/>
                <a:tab pos="2019300" algn="l"/>
                <a:tab pos="2705735" algn="l"/>
              </a:tabLst>
            </a:pPr>
            <a:r>
              <a:rPr sz="1400" b="1" spc="15" dirty="0">
                <a:latin typeface="Arial"/>
                <a:cs typeface="Arial"/>
              </a:rPr>
              <a:t>80</a:t>
            </a:r>
            <a:r>
              <a:rPr sz="1400" b="1" dirty="0">
                <a:latin typeface="Arial"/>
                <a:cs typeface="Arial"/>
              </a:rPr>
              <a:t>0	</a:t>
            </a:r>
            <a:r>
              <a:rPr sz="1400" b="1" spc="15" dirty="0">
                <a:latin typeface="Arial"/>
                <a:cs typeface="Arial"/>
              </a:rPr>
              <a:t>100</a:t>
            </a:r>
            <a:r>
              <a:rPr sz="1400" b="1" dirty="0">
                <a:latin typeface="Arial"/>
                <a:cs typeface="Arial"/>
              </a:rPr>
              <a:t>0	</a:t>
            </a:r>
            <a:r>
              <a:rPr sz="1400" b="1" spc="15" dirty="0">
                <a:latin typeface="Arial"/>
                <a:cs typeface="Arial"/>
              </a:rPr>
              <a:t>120</a:t>
            </a:r>
            <a:r>
              <a:rPr sz="1400" b="1" dirty="0">
                <a:latin typeface="Arial"/>
                <a:cs typeface="Arial"/>
              </a:rPr>
              <a:t>0	</a:t>
            </a:r>
            <a:r>
              <a:rPr sz="1400" b="1" spc="15" dirty="0">
                <a:latin typeface="Arial"/>
                <a:cs typeface="Arial"/>
              </a:rPr>
              <a:t>140</a:t>
            </a:r>
            <a:r>
              <a:rPr sz="1400" b="1" dirty="0">
                <a:latin typeface="Arial"/>
                <a:cs typeface="Arial"/>
              </a:rPr>
              <a:t>0	</a:t>
            </a:r>
            <a:r>
              <a:rPr sz="1400" b="1" spc="15" dirty="0">
                <a:latin typeface="Arial"/>
                <a:cs typeface="Arial"/>
              </a:rPr>
              <a:t>1600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351996" y="4422924"/>
            <a:ext cx="699317" cy="356235"/>
          </a:xfrm>
          <a:custGeom>
            <a:avLst/>
            <a:gdLst/>
            <a:ahLst/>
            <a:cxnLst/>
            <a:rect l="l" t="t" r="r" b="b"/>
            <a:pathLst>
              <a:path w="699135" h="356235">
                <a:moveTo>
                  <a:pt x="698639" y="0"/>
                </a:moveTo>
                <a:lnTo>
                  <a:pt x="0" y="0"/>
                </a:lnTo>
                <a:lnTo>
                  <a:pt x="0" y="355627"/>
                </a:lnTo>
                <a:lnTo>
                  <a:pt x="698639" y="355627"/>
                </a:lnTo>
                <a:lnTo>
                  <a:pt x="6986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713121" y="4448356"/>
          <a:ext cx="1686999" cy="922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4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90" dirty="0">
                          <a:latin typeface="Courier New"/>
                          <a:cs typeface="Courier New"/>
                        </a:rPr>
                        <a:t>lw</a:t>
                      </a:r>
                      <a:r>
                        <a:rPr sz="1200" b="1" spc="-545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120" dirty="0">
                          <a:latin typeface="Courier New"/>
                          <a:cs typeface="Courier New"/>
                        </a:rPr>
                        <a:t>$1,</a:t>
                      </a:r>
                      <a:r>
                        <a:rPr sz="1200" b="1" spc="-545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175" dirty="0">
                          <a:latin typeface="Courier New"/>
                          <a:cs typeface="Courier New"/>
                        </a:rPr>
                        <a:t>100($0</a:t>
                      </a:r>
                      <a:r>
                        <a:rPr sz="1200" b="1" dirty="0"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200" b="1" spc="-545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0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200" b="1" spc="90" dirty="0">
                          <a:latin typeface="Courier New"/>
                          <a:cs typeface="Courier New"/>
                        </a:rPr>
                        <a:t>lw</a:t>
                      </a:r>
                      <a:r>
                        <a:rPr sz="1200" b="1" spc="-545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200" b="1" spc="120" dirty="0">
                          <a:latin typeface="Courier New"/>
                          <a:cs typeface="Courier New"/>
                        </a:rPr>
                        <a:t>$2,</a:t>
                      </a:r>
                      <a:r>
                        <a:rPr sz="1200" b="1" spc="-545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200" b="1" spc="175" dirty="0">
                          <a:latin typeface="Courier New"/>
                          <a:cs typeface="Courier New"/>
                        </a:rPr>
                        <a:t>200($0</a:t>
                      </a:r>
                      <a:r>
                        <a:rPr sz="1200" b="1" dirty="0"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200" b="1" spc="-545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96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9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200" b="1" spc="90" dirty="0">
                          <a:latin typeface="Courier New"/>
                          <a:cs typeface="Courier New"/>
                        </a:rPr>
                        <a:t>lw</a:t>
                      </a:r>
                      <a:r>
                        <a:rPr sz="1200" b="1" spc="-545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200" b="1" spc="120" dirty="0">
                          <a:latin typeface="Courier New"/>
                          <a:cs typeface="Courier New"/>
                        </a:rPr>
                        <a:t>$3,</a:t>
                      </a:r>
                      <a:r>
                        <a:rPr sz="1200" b="1" spc="-545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200" b="1" spc="175" dirty="0">
                          <a:latin typeface="Courier New"/>
                          <a:cs typeface="Courier New"/>
                        </a:rPr>
                        <a:t>300($0</a:t>
                      </a:r>
                      <a:r>
                        <a:rPr sz="1200" b="1" dirty="0"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200" b="1" spc="-545" dirty="0">
                          <a:latin typeface="Courier New"/>
                          <a:cs typeface="Courier New"/>
                        </a:rPr>
                        <a:t> 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5969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3" name="object 53"/>
          <p:cNvGrpSpPr/>
          <p:nvPr/>
        </p:nvGrpSpPr>
        <p:grpSpPr>
          <a:xfrm>
            <a:off x="649397" y="4435522"/>
            <a:ext cx="127668" cy="1143635"/>
            <a:chOff x="649227" y="4435521"/>
            <a:chExt cx="127635" cy="1143635"/>
          </a:xfrm>
        </p:grpSpPr>
        <p:sp>
          <p:nvSpPr>
            <p:cNvPr id="54" name="object 54"/>
            <p:cNvSpPr/>
            <p:nvPr/>
          </p:nvSpPr>
          <p:spPr>
            <a:xfrm>
              <a:off x="649227" y="5426439"/>
              <a:ext cx="127635" cy="153035"/>
            </a:xfrm>
            <a:custGeom>
              <a:avLst/>
              <a:gdLst/>
              <a:ahLst/>
              <a:cxnLst/>
              <a:rect l="l" t="t" r="r" b="b"/>
              <a:pathLst>
                <a:path w="127634" h="153035">
                  <a:moveTo>
                    <a:pt x="127105" y="0"/>
                  </a:moveTo>
                  <a:lnTo>
                    <a:pt x="0" y="0"/>
                  </a:lnTo>
                  <a:lnTo>
                    <a:pt x="63707" y="152580"/>
                  </a:lnTo>
                  <a:lnTo>
                    <a:pt x="1271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12935" y="4435521"/>
              <a:ext cx="0" cy="1092835"/>
            </a:xfrm>
            <a:custGeom>
              <a:avLst/>
              <a:gdLst/>
              <a:ahLst/>
              <a:cxnLst/>
              <a:rect l="l" t="t" r="r" b="b"/>
              <a:pathLst>
                <a:path h="1092835">
                  <a:moveTo>
                    <a:pt x="0" y="0"/>
                  </a:moveTo>
                  <a:lnTo>
                    <a:pt x="0" y="1092744"/>
                  </a:lnTo>
                </a:path>
              </a:pathLst>
            </a:custGeom>
            <a:ln w="25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8247635" y="4130636"/>
            <a:ext cx="43000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latin typeface="Arial"/>
                <a:cs typeface="Arial"/>
              </a:rPr>
              <a:t>T</a:t>
            </a:r>
            <a:r>
              <a:rPr sz="1400" b="1" spc="5" dirty="0">
                <a:latin typeface="Arial"/>
                <a:cs typeface="Arial"/>
              </a:rPr>
              <a:t>i</a:t>
            </a:r>
            <a:r>
              <a:rPr sz="1400" b="1" spc="-50" dirty="0">
                <a:latin typeface="Arial"/>
                <a:cs typeface="Arial"/>
              </a:rPr>
              <a:t>m</a:t>
            </a:r>
            <a:r>
              <a:rPr sz="1400" b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364676" y="4765941"/>
            <a:ext cx="2058571" cy="699135"/>
            <a:chOff x="2364060" y="4765940"/>
            <a:chExt cx="2058035" cy="699135"/>
          </a:xfrm>
        </p:grpSpPr>
        <p:sp>
          <p:nvSpPr>
            <p:cNvPr id="58" name="object 58"/>
            <p:cNvSpPr/>
            <p:nvPr/>
          </p:nvSpPr>
          <p:spPr>
            <a:xfrm>
              <a:off x="2364054" y="4892992"/>
              <a:ext cx="686435" cy="127635"/>
            </a:xfrm>
            <a:custGeom>
              <a:avLst/>
              <a:gdLst/>
              <a:ahLst/>
              <a:cxnLst/>
              <a:rect l="l" t="t" r="r" b="b"/>
              <a:pathLst>
                <a:path w="686435" h="127635">
                  <a:moveTo>
                    <a:pt x="152501" y="0"/>
                  </a:moveTo>
                  <a:lnTo>
                    <a:pt x="0" y="63373"/>
                  </a:lnTo>
                  <a:lnTo>
                    <a:pt x="152501" y="127063"/>
                  </a:lnTo>
                  <a:lnTo>
                    <a:pt x="152501" y="0"/>
                  </a:lnTo>
                  <a:close/>
                </a:path>
                <a:path w="686435" h="127635">
                  <a:moveTo>
                    <a:pt x="685965" y="63373"/>
                  </a:moveTo>
                  <a:lnTo>
                    <a:pt x="533577" y="0"/>
                  </a:lnTo>
                  <a:lnTo>
                    <a:pt x="533577" y="127063"/>
                  </a:lnTo>
                  <a:lnTo>
                    <a:pt x="685965" y="633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414896" y="4956364"/>
              <a:ext cx="584835" cy="0"/>
            </a:xfrm>
            <a:custGeom>
              <a:avLst/>
              <a:gdLst/>
              <a:ahLst/>
              <a:cxnLst/>
              <a:rect l="l" t="t" r="r" b="b"/>
              <a:pathLst>
                <a:path w="584835">
                  <a:moveTo>
                    <a:pt x="584417" y="0"/>
                  </a:moveTo>
                  <a:lnTo>
                    <a:pt x="0" y="0"/>
                  </a:lnTo>
                </a:path>
              </a:pathLst>
            </a:custGeom>
            <a:ln w="25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037344" y="4765941"/>
              <a:ext cx="1384935" cy="699135"/>
            </a:xfrm>
            <a:custGeom>
              <a:avLst/>
              <a:gdLst/>
              <a:ahLst/>
              <a:cxnLst/>
              <a:rect l="l" t="t" r="r" b="b"/>
              <a:pathLst>
                <a:path w="1384935" h="699135">
                  <a:moveTo>
                    <a:pt x="1384592" y="343027"/>
                  </a:moveTo>
                  <a:lnTo>
                    <a:pt x="698639" y="343027"/>
                  </a:lnTo>
                  <a:lnTo>
                    <a:pt x="698639" y="0"/>
                  </a:lnTo>
                  <a:lnTo>
                    <a:pt x="0" y="0"/>
                  </a:lnTo>
                  <a:lnTo>
                    <a:pt x="0" y="355638"/>
                  </a:lnTo>
                  <a:lnTo>
                    <a:pt x="685952" y="355638"/>
                  </a:lnTo>
                  <a:lnTo>
                    <a:pt x="685952" y="698652"/>
                  </a:lnTo>
                  <a:lnTo>
                    <a:pt x="1384592" y="698652"/>
                  </a:lnTo>
                  <a:lnTo>
                    <a:pt x="1384592" y="3430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2326736" y="4397631"/>
          <a:ext cx="4471566" cy="1048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3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6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9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93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66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93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66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934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49322">
                <a:tc>
                  <a:txBody>
                    <a:bodyPr/>
                    <a:lstStyle/>
                    <a:p>
                      <a:pPr marL="190500" marR="29845" indent="-14033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1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000" spc="-10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000" spc="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spc="-4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000" spc="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spc="7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n  </a:t>
                      </a:r>
                      <a:r>
                        <a:rPr sz="1000" spc="10" dirty="0">
                          <a:latin typeface="Arial"/>
                          <a:cs typeface="Arial"/>
                        </a:rPr>
                        <a:t>Fetch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13335" indent="-387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000" spc="-3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2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G 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RD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000" spc="25" dirty="0">
                          <a:latin typeface="Arial"/>
                          <a:cs typeface="Arial"/>
                        </a:rPr>
                        <a:t>ALU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000" spc="30" dirty="0">
                          <a:latin typeface="Arial"/>
                          <a:cs typeface="Arial"/>
                        </a:rPr>
                        <a:t>MEM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19685" indent="-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000" spc="-3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2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G  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WR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88900">
                        <a:lnSpc>
                          <a:spcPts val="1050"/>
                        </a:lnSpc>
                      </a:pPr>
                      <a:r>
                        <a:rPr sz="1400" b="1" spc="15" dirty="0">
                          <a:latin typeface="Arial"/>
                          <a:cs typeface="Arial"/>
                        </a:rPr>
                        <a:t>200ps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84150" marR="29845" indent="-1403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1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000" spc="-10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000" spc="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spc="-4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000" spc="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spc="7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n  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Fetch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13335" indent="-387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3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2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G 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RD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000" spc="25" dirty="0">
                          <a:latin typeface="Arial"/>
                          <a:cs typeface="Arial"/>
                        </a:rPr>
                        <a:t>ALU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000" spc="30" dirty="0">
                          <a:latin typeface="Arial"/>
                          <a:cs typeface="Arial"/>
                        </a:rPr>
                        <a:t>MEM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19685" indent="-254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3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2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G  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WR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22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4150" marR="29845" indent="-1403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1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000" spc="-10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000" spc="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spc="-4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00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000" spc="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spc="7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000" spc="4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n  </a:t>
                      </a:r>
                      <a:r>
                        <a:rPr sz="1000" spc="5" dirty="0">
                          <a:latin typeface="Arial"/>
                          <a:cs typeface="Arial"/>
                        </a:rPr>
                        <a:t>Fetch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76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88900" marR="13335" indent="-387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3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2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G 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RD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000" spc="25" dirty="0">
                          <a:latin typeface="Arial"/>
                          <a:cs typeface="Arial"/>
                        </a:rPr>
                        <a:t>ALU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000" spc="30" dirty="0">
                          <a:latin typeface="Arial"/>
                          <a:cs typeface="Arial"/>
                        </a:rPr>
                        <a:t>MEM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marR="19685" indent="-254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3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spc="2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000" dirty="0">
                          <a:latin typeface="Arial"/>
                          <a:cs typeface="Arial"/>
                        </a:rPr>
                        <a:t>G  </a:t>
                      </a:r>
                      <a:r>
                        <a:rPr sz="1000" spc="-50" dirty="0">
                          <a:latin typeface="Arial"/>
                          <a:cs typeface="Arial"/>
                        </a:rPr>
                        <a:t>WR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2" name="object 62"/>
          <p:cNvGrpSpPr/>
          <p:nvPr/>
        </p:nvGrpSpPr>
        <p:grpSpPr>
          <a:xfrm>
            <a:off x="3050817" y="5236005"/>
            <a:ext cx="686614" cy="127635"/>
            <a:chOff x="3050022" y="5236004"/>
            <a:chExt cx="686435" cy="127635"/>
          </a:xfrm>
        </p:grpSpPr>
        <p:sp>
          <p:nvSpPr>
            <p:cNvPr id="63" name="object 63"/>
            <p:cNvSpPr/>
            <p:nvPr/>
          </p:nvSpPr>
          <p:spPr>
            <a:xfrm>
              <a:off x="3050019" y="5236006"/>
              <a:ext cx="686435" cy="127635"/>
            </a:xfrm>
            <a:custGeom>
              <a:avLst/>
              <a:gdLst/>
              <a:ahLst/>
              <a:cxnLst/>
              <a:rect l="l" t="t" r="r" b="b"/>
              <a:pathLst>
                <a:path w="686435" h="127635">
                  <a:moveTo>
                    <a:pt x="152501" y="0"/>
                  </a:moveTo>
                  <a:lnTo>
                    <a:pt x="0" y="63385"/>
                  </a:lnTo>
                  <a:lnTo>
                    <a:pt x="152501" y="127063"/>
                  </a:lnTo>
                  <a:lnTo>
                    <a:pt x="152501" y="0"/>
                  </a:lnTo>
                  <a:close/>
                </a:path>
                <a:path w="686435" h="127635">
                  <a:moveTo>
                    <a:pt x="685965" y="63385"/>
                  </a:moveTo>
                  <a:lnTo>
                    <a:pt x="533577" y="0"/>
                  </a:lnTo>
                  <a:lnTo>
                    <a:pt x="533577" y="127063"/>
                  </a:lnTo>
                  <a:lnTo>
                    <a:pt x="685965" y="633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00731" y="5299381"/>
              <a:ext cx="584835" cy="0"/>
            </a:xfrm>
            <a:custGeom>
              <a:avLst/>
              <a:gdLst/>
              <a:ahLst/>
              <a:cxnLst/>
              <a:rect l="l" t="t" r="r" b="b"/>
              <a:pathLst>
                <a:path w="584835">
                  <a:moveTo>
                    <a:pt x="584544" y="0"/>
                  </a:moveTo>
                  <a:lnTo>
                    <a:pt x="0" y="0"/>
                  </a:lnTo>
                </a:path>
              </a:pathLst>
            </a:custGeom>
            <a:ln w="25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3114578" y="5299305"/>
            <a:ext cx="54306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200</a:t>
            </a:r>
            <a:r>
              <a:rPr sz="1400" b="1" spc="40" dirty="0">
                <a:latin typeface="Arial"/>
                <a:cs typeface="Arial"/>
              </a:rPr>
              <a:t>p</a:t>
            </a:r>
            <a:r>
              <a:rPr sz="1400" b="1" spc="5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736957" y="5579022"/>
            <a:ext cx="686614" cy="127635"/>
            <a:chOff x="3735984" y="5579021"/>
            <a:chExt cx="686435" cy="127635"/>
          </a:xfrm>
        </p:grpSpPr>
        <p:sp>
          <p:nvSpPr>
            <p:cNvPr id="67" name="object 67"/>
            <p:cNvSpPr/>
            <p:nvPr/>
          </p:nvSpPr>
          <p:spPr>
            <a:xfrm>
              <a:off x="3735984" y="5579021"/>
              <a:ext cx="686435" cy="127635"/>
            </a:xfrm>
            <a:custGeom>
              <a:avLst/>
              <a:gdLst/>
              <a:ahLst/>
              <a:cxnLst/>
              <a:rect l="l" t="t" r="r" b="b"/>
              <a:pathLst>
                <a:path w="686435" h="127635">
                  <a:moveTo>
                    <a:pt x="152501" y="0"/>
                  </a:moveTo>
                  <a:lnTo>
                    <a:pt x="0" y="63385"/>
                  </a:lnTo>
                  <a:lnTo>
                    <a:pt x="152501" y="127063"/>
                  </a:lnTo>
                  <a:lnTo>
                    <a:pt x="152501" y="0"/>
                  </a:lnTo>
                  <a:close/>
                </a:path>
                <a:path w="686435" h="127635">
                  <a:moveTo>
                    <a:pt x="685952" y="63385"/>
                  </a:moveTo>
                  <a:lnTo>
                    <a:pt x="533577" y="0"/>
                  </a:lnTo>
                  <a:lnTo>
                    <a:pt x="533577" y="127063"/>
                  </a:lnTo>
                  <a:lnTo>
                    <a:pt x="685952" y="633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786693" y="5642398"/>
              <a:ext cx="584835" cy="0"/>
            </a:xfrm>
            <a:custGeom>
              <a:avLst/>
              <a:gdLst/>
              <a:ahLst/>
              <a:cxnLst/>
              <a:rect l="l" t="t" r="r" b="b"/>
              <a:pathLst>
                <a:path w="584835">
                  <a:moveTo>
                    <a:pt x="584544" y="0"/>
                  </a:moveTo>
                  <a:lnTo>
                    <a:pt x="0" y="0"/>
                  </a:lnTo>
                </a:path>
              </a:pathLst>
            </a:custGeom>
            <a:ln w="25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3800718" y="5642314"/>
            <a:ext cx="54306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200</a:t>
            </a:r>
            <a:r>
              <a:rPr sz="1400" b="1" spc="40" dirty="0">
                <a:latin typeface="Arial"/>
                <a:cs typeface="Arial"/>
              </a:rPr>
              <a:t>p</a:t>
            </a:r>
            <a:r>
              <a:rPr sz="1400" b="1" spc="5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4423098" y="5579022"/>
            <a:ext cx="686614" cy="127635"/>
            <a:chOff x="4421946" y="5579021"/>
            <a:chExt cx="686435" cy="127635"/>
          </a:xfrm>
        </p:grpSpPr>
        <p:sp>
          <p:nvSpPr>
            <p:cNvPr id="71" name="object 71"/>
            <p:cNvSpPr/>
            <p:nvPr/>
          </p:nvSpPr>
          <p:spPr>
            <a:xfrm>
              <a:off x="4421936" y="5579021"/>
              <a:ext cx="686435" cy="127635"/>
            </a:xfrm>
            <a:custGeom>
              <a:avLst/>
              <a:gdLst/>
              <a:ahLst/>
              <a:cxnLst/>
              <a:rect l="l" t="t" r="r" b="b"/>
              <a:pathLst>
                <a:path w="686435" h="127635">
                  <a:moveTo>
                    <a:pt x="152514" y="0"/>
                  </a:moveTo>
                  <a:lnTo>
                    <a:pt x="0" y="63385"/>
                  </a:lnTo>
                  <a:lnTo>
                    <a:pt x="152514" y="127063"/>
                  </a:lnTo>
                  <a:lnTo>
                    <a:pt x="152514" y="0"/>
                  </a:lnTo>
                  <a:close/>
                </a:path>
                <a:path w="686435" h="127635">
                  <a:moveTo>
                    <a:pt x="685965" y="63385"/>
                  </a:moveTo>
                  <a:lnTo>
                    <a:pt x="533463" y="0"/>
                  </a:lnTo>
                  <a:lnTo>
                    <a:pt x="533463" y="127063"/>
                  </a:lnTo>
                  <a:lnTo>
                    <a:pt x="685965" y="633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472655" y="5642398"/>
              <a:ext cx="584835" cy="0"/>
            </a:xfrm>
            <a:custGeom>
              <a:avLst/>
              <a:gdLst/>
              <a:ahLst/>
              <a:cxnLst/>
              <a:rect l="l" t="t" r="r" b="b"/>
              <a:pathLst>
                <a:path w="584835">
                  <a:moveTo>
                    <a:pt x="584544" y="0"/>
                  </a:moveTo>
                  <a:lnTo>
                    <a:pt x="0" y="0"/>
                  </a:lnTo>
                </a:path>
              </a:pathLst>
            </a:custGeom>
            <a:ln w="25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486859" y="5642314"/>
            <a:ext cx="54306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200</a:t>
            </a:r>
            <a:r>
              <a:rPr sz="1400" b="1" spc="40" dirty="0">
                <a:latin typeface="Arial"/>
                <a:cs typeface="Arial"/>
              </a:rPr>
              <a:t>p</a:t>
            </a:r>
            <a:r>
              <a:rPr sz="1400" b="1" spc="5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5109240" y="5579022"/>
            <a:ext cx="686614" cy="127635"/>
            <a:chOff x="5107909" y="5579021"/>
            <a:chExt cx="686435" cy="127635"/>
          </a:xfrm>
        </p:grpSpPr>
        <p:sp>
          <p:nvSpPr>
            <p:cNvPr id="75" name="object 75"/>
            <p:cNvSpPr/>
            <p:nvPr/>
          </p:nvSpPr>
          <p:spPr>
            <a:xfrm>
              <a:off x="5107902" y="5579021"/>
              <a:ext cx="686435" cy="127635"/>
            </a:xfrm>
            <a:custGeom>
              <a:avLst/>
              <a:gdLst/>
              <a:ahLst/>
              <a:cxnLst/>
              <a:rect l="l" t="t" r="r" b="b"/>
              <a:pathLst>
                <a:path w="686435" h="127635">
                  <a:moveTo>
                    <a:pt x="152501" y="0"/>
                  </a:moveTo>
                  <a:lnTo>
                    <a:pt x="0" y="63385"/>
                  </a:lnTo>
                  <a:lnTo>
                    <a:pt x="152501" y="127063"/>
                  </a:lnTo>
                  <a:lnTo>
                    <a:pt x="152501" y="0"/>
                  </a:lnTo>
                  <a:close/>
                </a:path>
                <a:path w="686435" h="127635">
                  <a:moveTo>
                    <a:pt x="685965" y="63385"/>
                  </a:moveTo>
                  <a:lnTo>
                    <a:pt x="533450" y="0"/>
                  </a:lnTo>
                  <a:lnTo>
                    <a:pt x="533450" y="127063"/>
                  </a:lnTo>
                  <a:lnTo>
                    <a:pt x="685965" y="633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58617" y="5642398"/>
              <a:ext cx="584835" cy="0"/>
            </a:xfrm>
            <a:custGeom>
              <a:avLst/>
              <a:gdLst/>
              <a:ahLst/>
              <a:cxnLst/>
              <a:rect l="l" t="t" r="r" b="b"/>
              <a:pathLst>
                <a:path w="584835">
                  <a:moveTo>
                    <a:pt x="584544" y="0"/>
                  </a:moveTo>
                  <a:lnTo>
                    <a:pt x="0" y="0"/>
                  </a:lnTo>
                </a:path>
              </a:pathLst>
            </a:custGeom>
            <a:ln w="25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5172999" y="5642314"/>
            <a:ext cx="54306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200</a:t>
            </a:r>
            <a:r>
              <a:rPr sz="1400" b="1" spc="40" dirty="0">
                <a:latin typeface="Arial"/>
                <a:cs typeface="Arial"/>
              </a:rPr>
              <a:t>p</a:t>
            </a:r>
            <a:r>
              <a:rPr sz="1400" b="1" spc="5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795380" y="5579022"/>
            <a:ext cx="686614" cy="127635"/>
            <a:chOff x="5793871" y="5579021"/>
            <a:chExt cx="686435" cy="127635"/>
          </a:xfrm>
        </p:grpSpPr>
        <p:sp>
          <p:nvSpPr>
            <p:cNvPr id="79" name="object 79"/>
            <p:cNvSpPr/>
            <p:nvPr/>
          </p:nvSpPr>
          <p:spPr>
            <a:xfrm>
              <a:off x="5793867" y="5579021"/>
              <a:ext cx="686435" cy="127635"/>
            </a:xfrm>
            <a:custGeom>
              <a:avLst/>
              <a:gdLst/>
              <a:ahLst/>
              <a:cxnLst/>
              <a:rect l="l" t="t" r="r" b="b"/>
              <a:pathLst>
                <a:path w="686435" h="127635">
                  <a:moveTo>
                    <a:pt x="152501" y="0"/>
                  </a:moveTo>
                  <a:lnTo>
                    <a:pt x="0" y="63385"/>
                  </a:lnTo>
                  <a:lnTo>
                    <a:pt x="152501" y="127063"/>
                  </a:lnTo>
                  <a:lnTo>
                    <a:pt x="152501" y="0"/>
                  </a:lnTo>
                  <a:close/>
                </a:path>
                <a:path w="686435" h="127635">
                  <a:moveTo>
                    <a:pt x="685965" y="63385"/>
                  </a:moveTo>
                  <a:lnTo>
                    <a:pt x="533450" y="0"/>
                  </a:lnTo>
                  <a:lnTo>
                    <a:pt x="533450" y="127063"/>
                  </a:lnTo>
                  <a:lnTo>
                    <a:pt x="685965" y="633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844579" y="5642398"/>
              <a:ext cx="584835" cy="0"/>
            </a:xfrm>
            <a:custGeom>
              <a:avLst/>
              <a:gdLst/>
              <a:ahLst/>
              <a:cxnLst/>
              <a:rect l="l" t="t" r="r" b="b"/>
              <a:pathLst>
                <a:path w="584835">
                  <a:moveTo>
                    <a:pt x="584544" y="0"/>
                  </a:moveTo>
                  <a:lnTo>
                    <a:pt x="0" y="0"/>
                  </a:lnTo>
                </a:path>
              </a:pathLst>
            </a:custGeom>
            <a:ln w="25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5859140" y="5642314"/>
            <a:ext cx="54306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200</a:t>
            </a:r>
            <a:r>
              <a:rPr sz="1400" b="1" spc="40" dirty="0">
                <a:latin typeface="Arial"/>
                <a:cs typeface="Arial"/>
              </a:rPr>
              <a:t>p</a:t>
            </a:r>
            <a:r>
              <a:rPr sz="1400" b="1" spc="5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481521" y="5579022"/>
            <a:ext cx="686614" cy="127635"/>
            <a:chOff x="6479833" y="5579021"/>
            <a:chExt cx="686435" cy="127635"/>
          </a:xfrm>
        </p:grpSpPr>
        <p:sp>
          <p:nvSpPr>
            <p:cNvPr id="83" name="object 83"/>
            <p:cNvSpPr/>
            <p:nvPr/>
          </p:nvSpPr>
          <p:spPr>
            <a:xfrm>
              <a:off x="6479832" y="5579021"/>
              <a:ext cx="686435" cy="127635"/>
            </a:xfrm>
            <a:custGeom>
              <a:avLst/>
              <a:gdLst/>
              <a:ahLst/>
              <a:cxnLst/>
              <a:rect l="l" t="t" r="r" b="b"/>
              <a:pathLst>
                <a:path w="686434" h="127635">
                  <a:moveTo>
                    <a:pt x="152501" y="0"/>
                  </a:moveTo>
                  <a:lnTo>
                    <a:pt x="0" y="63385"/>
                  </a:lnTo>
                  <a:lnTo>
                    <a:pt x="152501" y="127063"/>
                  </a:lnTo>
                  <a:lnTo>
                    <a:pt x="152501" y="0"/>
                  </a:lnTo>
                  <a:close/>
                </a:path>
                <a:path w="686434" h="127635">
                  <a:moveTo>
                    <a:pt x="685952" y="63385"/>
                  </a:moveTo>
                  <a:lnTo>
                    <a:pt x="533450" y="0"/>
                  </a:lnTo>
                  <a:lnTo>
                    <a:pt x="533450" y="127063"/>
                  </a:lnTo>
                  <a:lnTo>
                    <a:pt x="685952" y="633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530541" y="5642398"/>
              <a:ext cx="584835" cy="0"/>
            </a:xfrm>
            <a:custGeom>
              <a:avLst/>
              <a:gdLst/>
              <a:ahLst/>
              <a:cxnLst/>
              <a:rect l="l" t="t" r="r" b="b"/>
              <a:pathLst>
                <a:path w="584834">
                  <a:moveTo>
                    <a:pt x="584544" y="0"/>
                  </a:moveTo>
                  <a:lnTo>
                    <a:pt x="0" y="0"/>
                  </a:lnTo>
                </a:path>
              </a:pathLst>
            </a:custGeom>
            <a:ln w="25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6545281" y="5642314"/>
            <a:ext cx="54306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" dirty="0">
                <a:latin typeface="Arial"/>
                <a:cs typeface="Arial"/>
              </a:rPr>
              <a:t>200</a:t>
            </a:r>
            <a:r>
              <a:rPr sz="1400" b="1" spc="40" dirty="0">
                <a:latin typeface="Arial"/>
                <a:cs typeface="Arial"/>
              </a:rPr>
              <a:t>p</a:t>
            </a:r>
            <a:r>
              <a:rPr sz="1400" b="1" spc="5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1226929" y="6405384"/>
            <a:ext cx="54814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22</a:t>
            </a:fld>
            <a:endParaRPr sz="28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080334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92239" y="1327214"/>
            <a:ext cx="3312387" cy="28575"/>
            <a:chOff x="8689975" y="1327213"/>
            <a:chExt cx="3311525" cy="28575"/>
          </a:xfrm>
        </p:grpSpPr>
        <p:sp>
          <p:nvSpPr>
            <p:cNvPr id="3" name="object 3"/>
            <p:cNvSpPr/>
            <p:nvPr/>
          </p:nvSpPr>
          <p:spPr>
            <a:xfrm>
              <a:off x="8689975" y="1341500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>
                  <a:moveTo>
                    <a:pt x="0" y="0"/>
                  </a:moveTo>
                  <a:lnTo>
                    <a:pt x="1800225" y="0"/>
                  </a:lnTo>
                </a:path>
              </a:pathLst>
            </a:custGeom>
            <a:ln w="28575">
              <a:solidFill>
                <a:srgbClr val="662C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2677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8242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0611" y="312875"/>
            <a:ext cx="1165439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305" dirty="0">
                <a:latin typeface="Rockwell" panose="02060603020205020403" pitchFamily="18" charset="0"/>
              </a:rPr>
              <a:t>Performance </a:t>
            </a:r>
            <a:r>
              <a:rPr sz="4000" spc="-210" dirty="0">
                <a:latin typeface="Rockwell" panose="02060603020205020403" pitchFamily="18" charset="0"/>
              </a:rPr>
              <a:t>Issues </a:t>
            </a:r>
            <a:r>
              <a:rPr sz="4000" spc="-105" dirty="0">
                <a:latin typeface="Rockwell" panose="02060603020205020403" pitchFamily="18" charset="0"/>
              </a:rPr>
              <a:t>in</a:t>
            </a:r>
            <a:r>
              <a:rPr sz="4000" spc="15" dirty="0">
                <a:latin typeface="Rockwell" panose="02060603020205020403" pitchFamily="18" charset="0"/>
              </a:rPr>
              <a:t> </a:t>
            </a:r>
            <a:r>
              <a:rPr sz="4000" spc="-155" dirty="0">
                <a:latin typeface="Rockwell" panose="02060603020205020403" pitchFamily="18" charset="0"/>
              </a:rPr>
              <a:t>Pipelining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226929" y="6405384"/>
            <a:ext cx="54814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23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164" y="1321053"/>
            <a:ext cx="11389913" cy="30418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60" dirty="0">
                <a:solidFill>
                  <a:srgbClr val="FF3300"/>
                </a:solidFill>
                <a:latin typeface="Rockwell" panose="02060603020205020403" pitchFamily="18" charset="0"/>
                <a:cs typeface="Trebuchet MS"/>
              </a:rPr>
              <a:t>Speedup</a:t>
            </a:r>
            <a:r>
              <a:rPr sz="2800" b="1" spc="-150" dirty="0">
                <a:solidFill>
                  <a:srgbClr val="FF33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85" dirty="0">
                <a:solidFill>
                  <a:srgbClr val="FF3300"/>
                </a:solidFill>
                <a:latin typeface="Rockwell" panose="02060603020205020403" pitchFamily="18" charset="0"/>
                <a:cs typeface="Trebuchet MS"/>
              </a:rPr>
              <a:t>:</a:t>
            </a:r>
            <a:r>
              <a:rPr sz="2800" spc="-310" dirty="0">
                <a:solidFill>
                  <a:srgbClr val="FF33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latin typeface="Rockwell" panose="02060603020205020403" pitchFamily="18" charset="0"/>
                <a:cs typeface="Trebuchet MS"/>
              </a:rPr>
              <a:t>How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5" dirty="0">
                <a:latin typeface="Rockwell" panose="02060603020205020403" pitchFamily="18" charset="0"/>
                <a:cs typeface="Trebuchet MS"/>
              </a:rPr>
              <a:t>much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14" dirty="0">
                <a:latin typeface="Rockwell" panose="02060603020205020403" pitchFamily="18" charset="0"/>
                <a:cs typeface="Trebuchet MS"/>
              </a:rPr>
              <a:t>speed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0" dirty="0">
                <a:latin typeface="Rockwell" panose="02060603020205020403" pitchFamily="18" charset="0"/>
                <a:cs typeface="Trebuchet MS"/>
              </a:rPr>
              <a:t>up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performance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we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5" dirty="0">
                <a:latin typeface="Rockwell" panose="02060603020205020403" pitchFamily="18" charset="0"/>
                <a:cs typeface="Trebuchet MS"/>
              </a:rPr>
              <a:t>get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through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pipelining.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har char="•"/>
            </a:pP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286385" marR="4167504" lvl="1" indent="-286385" algn="r">
              <a:lnSpc>
                <a:spcPct val="100000"/>
              </a:lnSpc>
              <a:buFont typeface="Wingdings"/>
              <a:buChar char=""/>
              <a:tabLst>
                <a:tab pos="286385" algn="l"/>
                <a:tab pos="287020" algn="l"/>
                <a:tab pos="789305" algn="l"/>
              </a:tabLst>
            </a:pPr>
            <a:r>
              <a:rPr sz="2800" b="1" spc="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n:	</a:t>
            </a:r>
            <a:r>
              <a:rPr sz="2800" b="1" spc="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Number</a:t>
            </a:r>
            <a:r>
              <a:rPr sz="2800" b="1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1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of</a:t>
            </a:r>
            <a:r>
              <a:rPr sz="2800" b="1" spc="-1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tasks</a:t>
            </a:r>
            <a:r>
              <a:rPr sz="2800" b="1" spc="-15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to</a:t>
            </a:r>
            <a:r>
              <a:rPr sz="2800" b="1" spc="-1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5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be</a:t>
            </a:r>
            <a:r>
              <a:rPr sz="2800" b="1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7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performed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790000"/>
              </a:buClr>
              <a:buFont typeface="Wingdings"/>
              <a:buChar char=""/>
            </a:pP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42900" marR="4160520" indent="-342900">
              <a:lnSpc>
                <a:spcPct val="100000"/>
              </a:lnSpc>
              <a:buFont typeface="Arial"/>
              <a:buChar char="•"/>
              <a:tabLst>
                <a:tab pos="342900" algn="l"/>
                <a:tab pos="356235" algn="l"/>
              </a:tabLst>
            </a:pPr>
            <a:r>
              <a:rPr sz="2800" b="1" spc="80" dirty="0">
                <a:latin typeface="Rockwell" panose="02060603020205020403" pitchFamily="18" charset="0"/>
                <a:cs typeface="Trebuchet MS"/>
              </a:rPr>
              <a:t>Conventional </a:t>
            </a:r>
            <a:r>
              <a:rPr sz="2800" b="1" spc="175" dirty="0">
                <a:latin typeface="Rockwell" panose="02060603020205020403" pitchFamily="18" charset="0"/>
                <a:cs typeface="Trebuchet MS"/>
              </a:rPr>
              <a:t>Machine</a:t>
            </a:r>
            <a:r>
              <a:rPr sz="2800" b="1" spc="-38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70" dirty="0">
                <a:latin typeface="Rockwell" panose="02060603020205020403" pitchFamily="18" charset="0"/>
                <a:cs typeface="Trebuchet MS"/>
              </a:rPr>
              <a:t>(Non</a:t>
            </a:r>
            <a:r>
              <a:rPr lang="en-GB" sz="2800" b="1" spc="70" dirty="0">
                <a:latin typeface="Rockwell" panose="02060603020205020403" pitchFamily="18" charset="0"/>
                <a:cs typeface="Trebuchet MS"/>
              </a:rPr>
              <a:t>-pipelined</a:t>
            </a:r>
            <a:r>
              <a:rPr sz="2800" b="1" spc="70" dirty="0">
                <a:latin typeface="Rockwell" panose="02060603020205020403" pitchFamily="18" charset="0"/>
                <a:cs typeface="Trebuchet MS"/>
              </a:rPr>
              <a:t>)</a:t>
            </a:r>
            <a:r>
              <a:rPr lang="en-GB" sz="2800" b="1" spc="70" dirty="0">
                <a:latin typeface="Rockwell" panose="02060603020205020403" pitchFamily="18" charset="0"/>
                <a:cs typeface="Trebuchet MS"/>
              </a:rPr>
              <a:t>    </a:t>
            </a:r>
            <a:endParaRPr sz="2800" dirty="0">
              <a:latin typeface="Rockwell" panose="02060603020205020403" pitchFamily="18" charset="0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5296" y="4343400"/>
            <a:ext cx="715831" cy="86423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52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400" b="1" spc="-30" dirty="0">
                <a:solidFill>
                  <a:srgbClr val="790000"/>
                </a:solidFill>
                <a:latin typeface="Trebuchet MS"/>
                <a:cs typeface="Trebuchet MS"/>
              </a:rPr>
              <a:t>t</a:t>
            </a:r>
            <a:r>
              <a:rPr sz="2400" b="1" spc="-30" baseline="-25000" dirty="0">
                <a:solidFill>
                  <a:srgbClr val="790000"/>
                </a:solidFill>
                <a:latin typeface="Trebuchet MS"/>
                <a:cs typeface="Trebuchet MS"/>
              </a:rPr>
              <a:t>n</a:t>
            </a:r>
            <a:r>
              <a:rPr sz="2400" b="1" spc="-30" dirty="0">
                <a:solidFill>
                  <a:srgbClr val="790000"/>
                </a:solidFill>
                <a:latin typeface="Trebuchet MS"/>
                <a:cs typeface="Trebuchet MS"/>
              </a:rPr>
              <a:t>:</a:t>
            </a:r>
            <a:endParaRPr sz="2400" dirty="0">
              <a:latin typeface="Trebuchet MS"/>
              <a:cs typeface="Trebuchet MS"/>
            </a:endParaRPr>
          </a:p>
          <a:p>
            <a:pPr marL="299085" indent="-287020">
              <a:lnSpc>
                <a:spcPct val="100000"/>
              </a:lnSpc>
              <a:spcBef>
                <a:spcPts val="42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400" b="1" spc="-85" dirty="0">
                <a:solidFill>
                  <a:srgbClr val="790000"/>
                </a:solidFill>
                <a:latin typeface="Trebuchet MS"/>
                <a:cs typeface="Trebuchet MS"/>
              </a:rPr>
              <a:t>t</a:t>
            </a:r>
            <a:r>
              <a:rPr sz="2400" b="1" spc="-85" baseline="-25000" dirty="0">
                <a:solidFill>
                  <a:srgbClr val="790000"/>
                </a:solidFill>
                <a:latin typeface="Trebuchet MS"/>
                <a:cs typeface="Trebuchet MS"/>
              </a:rPr>
              <a:t>1</a:t>
            </a:r>
            <a:r>
              <a:rPr sz="2400" b="1" spc="-85" dirty="0">
                <a:solidFill>
                  <a:srgbClr val="790000"/>
                </a:solidFill>
                <a:latin typeface="Trebuchet MS"/>
                <a:cs typeface="Trebuchet MS"/>
              </a:rPr>
              <a:t>: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30387" y="4343400"/>
            <a:ext cx="5705690" cy="86423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520"/>
              </a:spcBef>
            </a:pPr>
            <a:r>
              <a:rPr sz="2400" b="1" spc="175" dirty="0">
                <a:solidFill>
                  <a:srgbClr val="790000"/>
                </a:solidFill>
                <a:latin typeface="Trebuchet MS"/>
                <a:cs typeface="Trebuchet MS"/>
              </a:rPr>
              <a:t>Clock</a:t>
            </a:r>
            <a:r>
              <a:rPr sz="2400" b="1" spc="-145" dirty="0">
                <a:solidFill>
                  <a:srgbClr val="790000"/>
                </a:solidFill>
                <a:latin typeface="Trebuchet MS"/>
                <a:cs typeface="Trebuchet MS"/>
              </a:rPr>
              <a:t> </a:t>
            </a:r>
            <a:r>
              <a:rPr sz="2400" b="1" spc="100" dirty="0">
                <a:solidFill>
                  <a:srgbClr val="790000"/>
                </a:solidFill>
                <a:latin typeface="Trebuchet MS"/>
                <a:cs typeface="Trebuchet MS"/>
              </a:rPr>
              <a:t>cycle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b="1" spc="150" dirty="0">
                <a:solidFill>
                  <a:srgbClr val="790000"/>
                </a:solidFill>
                <a:latin typeface="Trebuchet MS"/>
                <a:cs typeface="Trebuchet MS"/>
              </a:rPr>
              <a:t>Time</a:t>
            </a:r>
            <a:r>
              <a:rPr sz="2400" b="1" spc="-130" dirty="0">
                <a:solidFill>
                  <a:srgbClr val="790000"/>
                </a:solidFill>
                <a:latin typeface="Trebuchet MS"/>
                <a:cs typeface="Trebuchet MS"/>
              </a:rPr>
              <a:t> </a:t>
            </a:r>
            <a:r>
              <a:rPr sz="2400" b="1" spc="60" dirty="0">
                <a:solidFill>
                  <a:srgbClr val="790000"/>
                </a:solidFill>
                <a:latin typeface="Trebuchet MS"/>
                <a:cs typeface="Trebuchet MS"/>
              </a:rPr>
              <a:t>required</a:t>
            </a:r>
            <a:r>
              <a:rPr sz="2400" b="1" spc="-150" dirty="0">
                <a:solidFill>
                  <a:srgbClr val="790000"/>
                </a:solidFill>
                <a:latin typeface="Trebuchet MS"/>
                <a:cs typeface="Trebuchet MS"/>
              </a:rPr>
              <a:t> </a:t>
            </a:r>
            <a:r>
              <a:rPr sz="2400" b="1" spc="-60" dirty="0">
                <a:solidFill>
                  <a:srgbClr val="790000"/>
                </a:solidFill>
                <a:latin typeface="Trebuchet MS"/>
                <a:cs typeface="Trebuchet MS"/>
              </a:rPr>
              <a:t>to</a:t>
            </a:r>
            <a:r>
              <a:rPr sz="2400" b="1" spc="-130" dirty="0">
                <a:solidFill>
                  <a:srgbClr val="790000"/>
                </a:solidFill>
                <a:latin typeface="Trebuchet MS"/>
                <a:cs typeface="Trebuchet MS"/>
              </a:rPr>
              <a:t> </a:t>
            </a:r>
            <a:r>
              <a:rPr sz="2400" b="1" spc="65" dirty="0">
                <a:solidFill>
                  <a:srgbClr val="790000"/>
                </a:solidFill>
                <a:latin typeface="Trebuchet MS"/>
                <a:cs typeface="Trebuchet MS"/>
              </a:rPr>
              <a:t>complete</a:t>
            </a:r>
            <a:r>
              <a:rPr sz="2400" b="1" spc="-140" dirty="0">
                <a:solidFill>
                  <a:srgbClr val="790000"/>
                </a:solidFill>
                <a:latin typeface="Trebuchet MS"/>
                <a:cs typeface="Trebuchet MS"/>
              </a:rPr>
              <a:t> </a:t>
            </a:r>
            <a:r>
              <a:rPr sz="2400" b="1" spc="80" dirty="0">
                <a:solidFill>
                  <a:srgbClr val="790000"/>
                </a:solidFill>
                <a:latin typeface="Trebuchet MS"/>
                <a:cs typeface="Trebuchet MS"/>
              </a:rPr>
              <a:t>n</a:t>
            </a:r>
            <a:r>
              <a:rPr sz="2400" b="1" spc="-125" dirty="0">
                <a:solidFill>
                  <a:srgbClr val="790000"/>
                </a:solidFill>
                <a:latin typeface="Trebuchet MS"/>
                <a:cs typeface="Trebuchet MS"/>
              </a:rPr>
              <a:t> </a:t>
            </a:r>
            <a:r>
              <a:rPr sz="2400" b="1" spc="120" dirty="0">
                <a:solidFill>
                  <a:srgbClr val="790000"/>
                </a:solidFill>
                <a:latin typeface="Trebuchet MS"/>
                <a:cs typeface="Trebuchet MS"/>
              </a:rPr>
              <a:t>tasks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5295" y="5236760"/>
            <a:ext cx="382069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400" b="1" spc="-110" dirty="0">
                <a:solidFill>
                  <a:srgbClr val="790000"/>
                </a:solidFill>
                <a:latin typeface="Trebuchet MS"/>
                <a:cs typeface="Trebuchet MS"/>
              </a:rPr>
              <a:t>t</a:t>
            </a:r>
            <a:r>
              <a:rPr sz="2400" b="1" spc="-110" baseline="-25000" dirty="0">
                <a:solidFill>
                  <a:srgbClr val="790000"/>
                </a:solidFill>
                <a:latin typeface="Trebuchet MS"/>
                <a:cs typeface="Trebuchet MS"/>
              </a:rPr>
              <a:t>1</a:t>
            </a:r>
            <a:r>
              <a:rPr sz="2400" b="1" spc="-160" dirty="0">
                <a:solidFill>
                  <a:srgbClr val="790000"/>
                </a:solidFill>
                <a:latin typeface="Trebuchet MS"/>
                <a:cs typeface="Trebuchet MS"/>
              </a:rPr>
              <a:t> </a:t>
            </a:r>
            <a:r>
              <a:rPr lang="en-GB" sz="2400" b="1" spc="-160" dirty="0">
                <a:solidFill>
                  <a:srgbClr val="790000"/>
                </a:solidFill>
                <a:latin typeface="Trebuchet MS"/>
                <a:cs typeface="Trebuchet MS"/>
              </a:rPr>
              <a:t>   </a:t>
            </a:r>
            <a:r>
              <a:rPr sz="2400" b="1" spc="195" dirty="0">
                <a:solidFill>
                  <a:srgbClr val="790000"/>
                </a:solidFill>
                <a:latin typeface="Trebuchet MS"/>
                <a:cs typeface="Trebuchet MS"/>
              </a:rPr>
              <a:t>=</a:t>
            </a:r>
            <a:r>
              <a:rPr sz="2400" b="1" spc="-145" dirty="0">
                <a:solidFill>
                  <a:srgbClr val="790000"/>
                </a:solidFill>
                <a:latin typeface="Trebuchet MS"/>
                <a:cs typeface="Trebuchet MS"/>
              </a:rPr>
              <a:t> </a:t>
            </a:r>
            <a:r>
              <a:rPr sz="2400" b="1" spc="80" dirty="0">
                <a:solidFill>
                  <a:srgbClr val="790000"/>
                </a:solidFill>
                <a:latin typeface="Trebuchet MS"/>
                <a:cs typeface="Trebuchet MS"/>
              </a:rPr>
              <a:t>n</a:t>
            </a:r>
            <a:r>
              <a:rPr sz="2400" b="1" spc="-150" dirty="0">
                <a:solidFill>
                  <a:srgbClr val="790000"/>
                </a:solidFill>
                <a:latin typeface="Trebuchet MS"/>
                <a:cs typeface="Trebuchet MS"/>
              </a:rPr>
              <a:t> </a:t>
            </a:r>
            <a:r>
              <a:rPr sz="2400" b="1" spc="335" dirty="0">
                <a:solidFill>
                  <a:srgbClr val="790000"/>
                </a:solidFill>
                <a:latin typeface="Trebuchet MS"/>
                <a:cs typeface="Trebuchet MS"/>
              </a:rPr>
              <a:t>*</a:t>
            </a:r>
            <a:r>
              <a:rPr sz="2400" b="1" spc="-145" dirty="0">
                <a:solidFill>
                  <a:srgbClr val="790000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790000"/>
                </a:solidFill>
                <a:latin typeface="Trebuchet MS"/>
                <a:cs typeface="Trebuchet MS"/>
              </a:rPr>
              <a:t>t</a:t>
            </a:r>
            <a:r>
              <a:rPr sz="2400" b="1" spc="-25" baseline="-25000" dirty="0">
                <a:solidFill>
                  <a:srgbClr val="790000"/>
                </a:solidFill>
                <a:latin typeface="Trebuchet MS"/>
                <a:cs typeface="Trebuchet MS"/>
              </a:rPr>
              <a:t>n</a:t>
            </a:r>
            <a:endParaRPr sz="2400" baseline="-25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373467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8699" y="939434"/>
            <a:ext cx="11686244" cy="529183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wrap="square" lIns="0" tIns="768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110" dirty="0">
                <a:latin typeface="Rockwell" panose="02060603020205020403" pitchFamily="18" charset="0"/>
                <a:cs typeface="Trebuchet MS"/>
              </a:rPr>
              <a:t>Pipelined</a:t>
            </a:r>
            <a:r>
              <a:rPr sz="2800" b="1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204" dirty="0">
                <a:latin typeface="Rockwell" panose="02060603020205020403" pitchFamily="18" charset="0"/>
                <a:cs typeface="Trebuchet MS"/>
              </a:rPr>
              <a:t>Machine</a:t>
            </a:r>
            <a:r>
              <a:rPr sz="2800" b="1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00" dirty="0">
                <a:latin typeface="Rockwell" panose="02060603020205020403" pitchFamily="18" charset="0"/>
                <a:cs typeface="Trebuchet MS"/>
              </a:rPr>
              <a:t>(k</a:t>
            </a:r>
            <a:r>
              <a:rPr sz="2800" b="1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85" dirty="0">
                <a:latin typeface="Rockwell" panose="02060603020205020403" pitchFamily="18" charset="0"/>
                <a:cs typeface="Trebuchet MS"/>
              </a:rPr>
              <a:t>stages)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756285" algn="l"/>
                <a:tab pos="756920" algn="l"/>
                <a:tab pos="1363980" algn="l"/>
              </a:tabLst>
            </a:pPr>
            <a:r>
              <a:rPr sz="2400" b="1" spc="-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</a:t>
            </a:r>
            <a:r>
              <a:rPr sz="2400" b="1" spc="-25" baseline="-250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p</a:t>
            </a:r>
            <a:r>
              <a:rPr sz="2400" b="1" spc="-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:	</a:t>
            </a:r>
            <a:r>
              <a:rPr sz="2400" b="1" spc="17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Clock</a:t>
            </a:r>
            <a:r>
              <a:rPr sz="2400" b="1" spc="-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1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cycle</a:t>
            </a:r>
            <a:r>
              <a:rPr sz="2400" b="1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(time</a:t>
            </a:r>
            <a:r>
              <a:rPr sz="2400" b="1" spc="-1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-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to</a:t>
            </a:r>
            <a:r>
              <a:rPr sz="2400" b="1" spc="-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6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complete</a:t>
            </a:r>
            <a:r>
              <a:rPr sz="2400" b="1" spc="-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7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each</a:t>
            </a:r>
            <a:r>
              <a:rPr sz="2400" b="1" spc="-1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1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sub</a:t>
            </a:r>
            <a:r>
              <a:rPr sz="2400" b="1" spc="-1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operation)</a:t>
            </a:r>
            <a:endParaRPr sz="2400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420"/>
              </a:spcBef>
              <a:buFont typeface="Wingdings"/>
              <a:buChar char=""/>
              <a:tabLst>
                <a:tab pos="756285" algn="l"/>
                <a:tab pos="756920" algn="l"/>
                <a:tab pos="1347470" algn="l"/>
              </a:tabLst>
            </a:pPr>
            <a:r>
              <a:rPr sz="2400" b="1" spc="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</a:t>
            </a:r>
            <a:r>
              <a:rPr sz="2400" b="1" spc="20" baseline="-250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k</a:t>
            </a:r>
            <a:r>
              <a:rPr sz="2400" b="1" spc="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:	</a:t>
            </a:r>
            <a:r>
              <a:rPr sz="2400" b="1" spc="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Time</a:t>
            </a:r>
            <a:r>
              <a:rPr sz="2400" b="1" spc="-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required</a:t>
            </a:r>
            <a:r>
              <a:rPr sz="2400" b="1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-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to</a:t>
            </a:r>
            <a:r>
              <a:rPr sz="2400" b="1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7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complete</a:t>
            </a:r>
            <a:r>
              <a:rPr sz="2400" b="1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-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the</a:t>
            </a:r>
            <a:r>
              <a:rPr sz="2400" b="1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8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n</a:t>
            </a:r>
            <a:r>
              <a:rPr sz="2400" b="1" spc="-1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114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tasks</a:t>
            </a:r>
            <a:endParaRPr sz="2400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42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b="1" spc="5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</a:t>
            </a:r>
            <a:r>
              <a:rPr sz="2400" b="1" spc="50" baseline="-250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k</a:t>
            </a:r>
            <a:r>
              <a:rPr sz="2400" b="1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19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=</a:t>
            </a:r>
            <a:r>
              <a:rPr sz="2400" b="1" spc="-1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8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(k</a:t>
            </a:r>
            <a:r>
              <a:rPr sz="2400" b="1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19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+</a:t>
            </a:r>
            <a:r>
              <a:rPr sz="2400" b="1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lang="en-US" sz="2400" b="1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(</a:t>
            </a:r>
            <a:r>
              <a:rPr sz="2400" b="1" spc="8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n</a:t>
            </a:r>
            <a:r>
              <a:rPr sz="2400" b="1" spc="-11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-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-</a:t>
            </a:r>
            <a:r>
              <a:rPr sz="2400" b="1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-7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1)</a:t>
            </a:r>
            <a:r>
              <a:rPr lang="en-US" sz="2400" b="1" spc="-7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)</a:t>
            </a:r>
            <a:r>
              <a:rPr sz="2400" b="1" spc="-1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3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*</a:t>
            </a:r>
            <a:r>
              <a:rPr sz="2400" b="1" spc="-1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400" b="1" spc="-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</a:t>
            </a:r>
            <a:r>
              <a:rPr sz="2400" b="1" spc="-20" baseline="-250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p</a:t>
            </a:r>
            <a:endParaRPr sz="2400" baseline="-25000" dirty="0">
              <a:latin typeface="Rockwell" panose="02060603020205020403" pitchFamily="18" charset="0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790000"/>
              </a:buClr>
              <a:buFont typeface="Wingdings"/>
              <a:buChar char=""/>
            </a:pPr>
            <a:endParaRPr sz="31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70" dirty="0">
                <a:latin typeface="Rockwell" panose="02060603020205020403" pitchFamily="18" charset="0"/>
                <a:cs typeface="Trebuchet MS"/>
              </a:rPr>
              <a:t>Speedup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756285" algn="l"/>
                <a:tab pos="756920" algn="l"/>
                <a:tab pos="1426845" algn="l"/>
              </a:tabLst>
            </a:pPr>
            <a:r>
              <a:rPr sz="2400" b="1" spc="8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S</a:t>
            </a:r>
            <a:r>
              <a:rPr sz="2400" b="1" spc="80" baseline="-250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k</a:t>
            </a:r>
            <a:r>
              <a:rPr sz="2400" b="1" spc="8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:	</a:t>
            </a:r>
            <a:r>
              <a:rPr sz="2400" b="1" spc="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Speedup</a:t>
            </a:r>
            <a:endParaRPr sz="2400" dirty="0">
              <a:latin typeface="Rockwell" panose="02060603020205020403" pitchFamily="18" charset="0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434"/>
              </a:spcBef>
            </a:pPr>
            <a:r>
              <a:rPr sz="2400" dirty="0">
                <a:solidFill>
                  <a:srgbClr val="790000"/>
                </a:solidFill>
                <a:latin typeface="Rockwell" panose="02060603020205020403" pitchFamily="18" charset="0"/>
                <a:cs typeface="Wingdings"/>
              </a:rPr>
              <a:t></a:t>
            </a:r>
            <a:endParaRPr sz="2400" dirty="0">
              <a:latin typeface="Rockwell" panose="02060603020205020403" pitchFamily="18" charset="0"/>
              <a:cs typeface="Wingdings"/>
            </a:endParaRPr>
          </a:p>
          <a:p>
            <a:pPr marL="1153795" indent="-114173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1153795" algn="l"/>
                <a:tab pos="1154430" algn="l"/>
              </a:tabLst>
            </a:pPr>
            <a:r>
              <a:rPr sz="2800" b="1" spc="160" dirty="0">
                <a:latin typeface="Rockwell" panose="02060603020205020403" pitchFamily="18" charset="0"/>
                <a:cs typeface="Trebuchet MS"/>
              </a:rPr>
              <a:t>S</a:t>
            </a:r>
            <a:r>
              <a:rPr sz="2800" b="1" spc="160" baseline="-25000" dirty="0">
                <a:latin typeface="Rockwell" panose="02060603020205020403" pitchFamily="18" charset="0"/>
                <a:cs typeface="Trebuchet MS"/>
              </a:rPr>
              <a:t>k</a:t>
            </a:r>
            <a:r>
              <a:rPr sz="2800" b="1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225" dirty="0">
                <a:latin typeface="Rockwell" panose="02060603020205020403" pitchFamily="18" charset="0"/>
                <a:cs typeface="Trebuchet MS"/>
              </a:rPr>
              <a:t>=</a:t>
            </a:r>
            <a:r>
              <a:rPr sz="2800" b="1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05" dirty="0">
                <a:latin typeface="Rockwell" panose="02060603020205020403" pitchFamily="18" charset="0"/>
                <a:cs typeface="Trebuchet MS"/>
              </a:rPr>
              <a:t>n*t</a:t>
            </a:r>
            <a:r>
              <a:rPr sz="2800" b="1" spc="105" baseline="-25000" dirty="0">
                <a:latin typeface="Rockwell" panose="02060603020205020403" pitchFamily="18" charset="0"/>
                <a:cs typeface="Trebuchet MS"/>
              </a:rPr>
              <a:t>n</a:t>
            </a:r>
            <a:r>
              <a:rPr sz="2800" b="1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325" dirty="0">
                <a:latin typeface="Rockwell" panose="02060603020205020403" pitchFamily="18" charset="0"/>
                <a:cs typeface="Trebuchet MS"/>
              </a:rPr>
              <a:t>/</a:t>
            </a:r>
            <a:r>
              <a:rPr sz="2800" b="1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00" dirty="0">
                <a:latin typeface="Rockwell" panose="02060603020205020403" pitchFamily="18" charset="0"/>
                <a:cs typeface="Trebuchet MS"/>
              </a:rPr>
              <a:t>(k</a:t>
            </a:r>
            <a:r>
              <a:rPr sz="2800" b="1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225" dirty="0">
                <a:latin typeface="Rockwell" panose="02060603020205020403" pitchFamily="18" charset="0"/>
                <a:cs typeface="Trebuchet MS"/>
              </a:rPr>
              <a:t>+</a:t>
            </a:r>
            <a:r>
              <a:rPr sz="2800" b="1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lang="en-US" sz="2800" b="1" spc="-140" dirty="0">
                <a:latin typeface="Rockwell" panose="02060603020205020403" pitchFamily="18" charset="0"/>
                <a:cs typeface="Trebuchet MS"/>
              </a:rPr>
              <a:t>(</a:t>
            </a:r>
            <a:r>
              <a:rPr sz="2800" b="1" spc="90" dirty="0">
                <a:latin typeface="Rockwell" panose="02060603020205020403" pitchFamily="18" charset="0"/>
                <a:cs typeface="Trebuchet MS"/>
              </a:rPr>
              <a:t>n</a:t>
            </a:r>
            <a:r>
              <a:rPr sz="2800" b="1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lang="en-US" sz="2800" b="1" spc="-70" dirty="0">
                <a:latin typeface="Rockwell" panose="02060603020205020403" pitchFamily="18" charset="0"/>
                <a:cs typeface="Trebuchet MS"/>
              </a:rPr>
              <a:t>–</a:t>
            </a:r>
            <a:r>
              <a:rPr sz="2800" b="1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35" dirty="0">
                <a:latin typeface="Rockwell" panose="02060603020205020403" pitchFamily="18" charset="0"/>
                <a:cs typeface="Trebuchet MS"/>
              </a:rPr>
              <a:t>1</a:t>
            </a:r>
            <a:r>
              <a:rPr lang="en-US" sz="2800" b="1" spc="35" dirty="0">
                <a:latin typeface="Rockwell" panose="02060603020205020403" pitchFamily="18" charset="0"/>
                <a:cs typeface="Trebuchet MS"/>
              </a:rPr>
              <a:t>)</a:t>
            </a:r>
            <a:r>
              <a:rPr sz="2800" b="1" spc="35" dirty="0">
                <a:latin typeface="Rockwell" panose="02060603020205020403" pitchFamily="18" charset="0"/>
                <a:cs typeface="Trebuchet MS"/>
              </a:rPr>
              <a:t>)*</a:t>
            </a:r>
            <a:r>
              <a:rPr sz="2800" b="1" spc="35" dirty="0" err="1">
                <a:latin typeface="Rockwell" panose="02060603020205020403" pitchFamily="18" charset="0"/>
                <a:cs typeface="Trebuchet MS"/>
              </a:rPr>
              <a:t>t</a:t>
            </a:r>
            <a:r>
              <a:rPr sz="2800" b="1" spc="35" baseline="-25000" dirty="0" err="1">
                <a:latin typeface="Rockwell" panose="02060603020205020403" pitchFamily="18" charset="0"/>
                <a:cs typeface="Trebuchet MS"/>
              </a:rPr>
              <a:t>p</a:t>
            </a:r>
            <a:endParaRPr lang="en-GB" sz="2800" b="1" spc="35" baseline="-25000" dirty="0">
              <a:latin typeface="Rockwell" panose="02060603020205020403" pitchFamily="18" charset="0"/>
              <a:cs typeface="Trebuchet MS"/>
            </a:endParaRPr>
          </a:p>
          <a:p>
            <a:pPr marL="1153795" indent="-114173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1153795" algn="l"/>
                <a:tab pos="1154430" algn="l"/>
              </a:tabLst>
            </a:pPr>
            <a:endParaRPr lang="en-GB" sz="2800" b="1" spc="35" baseline="-25000" dirty="0">
              <a:latin typeface="Rockwell" panose="02060603020205020403" pitchFamily="18" charset="0"/>
              <a:cs typeface="Trebuchet MS"/>
            </a:endParaRPr>
          </a:p>
          <a:p>
            <a:pPr marL="1153795" indent="-114173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1153795" algn="l"/>
                <a:tab pos="1154430" algn="l"/>
              </a:tabLst>
            </a:pPr>
            <a:endParaRPr lang="en-GB" sz="2800" b="1" spc="35" baseline="-25000" dirty="0">
              <a:latin typeface="Rockwell" panose="02060603020205020403" pitchFamily="18" charset="0"/>
              <a:cs typeface="Trebuchet MS"/>
            </a:endParaRPr>
          </a:p>
          <a:p>
            <a:pPr marL="1153795" indent="-114173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1153795" algn="l"/>
                <a:tab pos="1154430" algn="l"/>
              </a:tabLst>
            </a:pPr>
            <a:endParaRPr lang="en-GB" sz="2800" b="1" spc="35" baseline="-25000" dirty="0">
              <a:latin typeface="Rockwell" panose="02060603020205020403" pitchFamily="18" charset="0"/>
              <a:cs typeface="Trebuchet MS"/>
            </a:endParaRPr>
          </a:p>
          <a:p>
            <a:pPr marL="1153795" indent="-114173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1153795" algn="l"/>
                <a:tab pos="1154430" algn="l"/>
              </a:tabLst>
            </a:pPr>
            <a:endParaRPr sz="2800" baseline="-25000" dirty="0">
              <a:latin typeface="Rockwell" panose="02060603020205020403" pitchFamily="18" charset="0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26929" y="6405384"/>
            <a:ext cx="54814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24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8943" y="265888"/>
            <a:ext cx="7865888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Performance </a:t>
            </a:r>
            <a:r>
              <a:rPr spc="-210" dirty="0"/>
              <a:t>Issues </a:t>
            </a:r>
            <a:r>
              <a:rPr spc="-105" dirty="0"/>
              <a:t>in </a:t>
            </a:r>
            <a:r>
              <a:rPr spc="-155" dirty="0"/>
              <a:t>Pipelining </a:t>
            </a:r>
            <a:r>
              <a:rPr spc="475" dirty="0"/>
              <a:t>–</a:t>
            </a:r>
            <a:r>
              <a:rPr spc="-330" dirty="0"/>
              <a:t> </a:t>
            </a:r>
            <a:r>
              <a:rPr spc="-335" dirty="0"/>
              <a:t>cont’d</a:t>
            </a:r>
          </a:p>
        </p:txBody>
      </p:sp>
    </p:spTree>
    <p:extLst>
      <p:ext uri="{BB962C8B-B14F-4D97-AF65-F5344CB8AC3E}">
        <p14:creationId xmlns:p14="http://schemas.microsoft.com/office/powerpoint/2010/main" val="2563887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92239" y="1327214"/>
            <a:ext cx="3312387" cy="28575"/>
            <a:chOff x="8689975" y="1327213"/>
            <a:chExt cx="3311525" cy="28575"/>
          </a:xfrm>
        </p:grpSpPr>
        <p:sp>
          <p:nvSpPr>
            <p:cNvPr id="3" name="object 3"/>
            <p:cNvSpPr/>
            <p:nvPr/>
          </p:nvSpPr>
          <p:spPr>
            <a:xfrm>
              <a:off x="8689975" y="1341500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>
                  <a:moveTo>
                    <a:pt x="0" y="0"/>
                  </a:moveTo>
                  <a:lnTo>
                    <a:pt x="1800225" y="0"/>
                  </a:lnTo>
                </a:path>
              </a:pathLst>
            </a:custGeom>
            <a:ln w="28575">
              <a:solidFill>
                <a:srgbClr val="662C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2677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8242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8944" y="125549"/>
            <a:ext cx="116960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305" dirty="0">
                <a:latin typeface="Rockwell" panose="02060603020205020403" pitchFamily="18" charset="0"/>
              </a:rPr>
              <a:t>Performance </a:t>
            </a:r>
            <a:r>
              <a:rPr sz="4000" spc="-204" dirty="0">
                <a:latin typeface="Rockwell" panose="02060603020205020403" pitchFamily="18" charset="0"/>
              </a:rPr>
              <a:t>Issue </a:t>
            </a:r>
            <a:r>
              <a:rPr sz="4000" spc="-125" dirty="0">
                <a:latin typeface="Rockwell" panose="02060603020205020403" pitchFamily="18" charset="0"/>
              </a:rPr>
              <a:t>-</a:t>
            </a:r>
            <a:r>
              <a:rPr sz="4000" spc="25" dirty="0">
                <a:latin typeface="Rockwell" panose="02060603020205020403" pitchFamily="18" charset="0"/>
              </a:rPr>
              <a:t> </a:t>
            </a:r>
            <a:r>
              <a:rPr sz="4000" spc="-305" dirty="0">
                <a:latin typeface="Rockwell" panose="02060603020205020403" pitchFamily="18" charset="0"/>
              </a:rPr>
              <a:t>Example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226929" y="6405384"/>
            <a:ext cx="54814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25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817" y="685800"/>
            <a:ext cx="11835190" cy="56913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ts val="2735"/>
              </a:lnSpc>
              <a:spcBef>
                <a:spcPts val="100"/>
              </a:spcBef>
            </a:pPr>
            <a:r>
              <a:rPr sz="2400" b="1" spc="-5" dirty="0">
                <a:latin typeface="Carlito"/>
                <a:cs typeface="Carlito"/>
              </a:rPr>
              <a:t>Example</a:t>
            </a:r>
            <a:endParaRPr sz="2400" dirty="0">
              <a:latin typeface="Carlito"/>
              <a:cs typeface="Carlito"/>
            </a:endParaRPr>
          </a:p>
          <a:p>
            <a:pPr marL="577850" indent="-162560">
              <a:lnSpc>
                <a:spcPts val="2590"/>
              </a:lnSpc>
              <a:buChar char="-"/>
              <a:tabLst>
                <a:tab pos="578485" algn="l"/>
              </a:tabLst>
            </a:pPr>
            <a:r>
              <a:rPr sz="2400" b="1" spc="-15" dirty="0">
                <a:latin typeface="Carlito"/>
                <a:cs typeface="Carlito"/>
              </a:rPr>
              <a:t>4-stage</a:t>
            </a:r>
            <a:r>
              <a:rPr sz="2400" b="1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pipeline</a:t>
            </a:r>
            <a:endParaRPr sz="2400" dirty="0">
              <a:latin typeface="Carlito"/>
              <a:cs typeface="Carlito"/>
            </a:endParaRPr>
          </a:p>
          <a:p>
            <a:pPr marL="577850" indent="-162560">
              <a:lnSpc>
                <a:spcPts val="2595"/>
              </a:lnSpc>
              <a:buChar char="-"/>
              <a:tabLst>
                <a:tab pos="578485" algn="l"/>
                <a:tab pos="4260215" algn="l"/>
              </a:tabLst>
            </a:pPr>
            <a:r>
              <a:rPr sz="2400" b="1" dirty="0">
                <a:latin typeface="Carlito"/>
                <a:cs typeface="Carlito"/>
              </a:rPr>
              <a:t>sub </a:t>
            </a:r>
            <a:r>
              <a:rPr sz="2400" b="1" spc="-10" dirty="0">
                <a:latin typeface="Carlito"/>
                <a:cs typeface="Carlito"/>
              </a:rPr>
              <a:t>operation </a:t>
            </a:r>
            <a:r>
              <a:rPr sz="2400" b="1" dirty="0">
                <a:latin typeface="Carlito"/>
                <a:cs typeface="Carlito"/>
              </a:rPr>
              <a:t>in</a:t>
            </a:r>
            <a:r>
              <a:rPr sz="2400" b="1" spc="-10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each</a:t>
            </a:r>
            <a:r>
              <a:rPr sz="2400" b="1" spc="5" dirty="0">
                <a:latin typeface="Carlito"/>
                <a:cs typeface="Carlito"/>
              </a:rPr>
              <a:t> </a:t>
            </a:r>
            <a:r>
              <a:rPr sz="2400" b="1" spc="-15" dirty="0">
                <a:latin typeface="Carlito"/>
                <a:cs typeface="Carlito"/>
              </a:rPr>
              <a:t>stage;	</a:t>
            </a:r>
            <a:r>
              <a:rPr sz="2400" b="1" dirty="0">
                <a:latin typeface="Carlito"/>
                <a:cs typeface="Carlito"/>
              </a:rPr>
              <a:t>t</a:t>
            </a:r>
            <a:r>
              <a:rPr sz="2400" b="1" baseline="-20833" dirty="0">
                <a:latin typeface="Carlito"/>
                <a:cs typeface="Carlito"/>
              </a:rPr>
              <a:t>p </a:t>
            </a:r>
            <a:r>
              <a:rPr sz="2400" b="1" dirty="0">
                <a:latin typeface="Carlito"/>
                <a:cs typeface="Carlito"/>
              </a:rPr>
              <a:t>=</a:t>
            </a:r>
            <a:r>
              <a:rPr sz="2400" b="1" spc="-190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20n</a:t>
            </a:r>
            <a:r>
              <a:rPr lang="en-US" sz="2400" b="1" spc="-5" dirty="0">
                <a:latin typeface="Carlito"/>
                <a:cs typeface="Carlito"/>
              </a:rPr>
              <a:t>s</a:t>
            </a:r>
            <a:endParaRPr sz="2400" dirty="0">
              <a:latin typeface="Carlito"/>
              <a:cs typeface="Carlito"/>
            </a:endParaRPr>
          </a:p>
          <a:p>
            <a:pPr marL="577850" indent="-162560">
              <a:lnSpc>
                <a:spcPts val="2595"/>
              </a:lnSpc>
              <a:buChar char="-"/>
              <a:tabLst>
                <a:tab pos="578485" algn="l"/>
              </a:tabLst>
            </a:pPr>
            <a:r>
              <a:rPr sz="2400" b="1" spc="-5" dirty="0">
                <a:latin typeface="Carlito"/>
                <a:cs typeface="Carlito"/>
              </a:rPr>
              <a:t>100 </a:t>
            </a:r>
            <a:r>
              <a:rPr sz="2400" b="1" spc="-10" dirty="0">
                <a:latin typeface="Carlito"/>
                <a:cs typeface="Carlito"/>
              </a:rPr>
              <a:t>tasks </a:t>
            </a:r>
            <a:r>
              <a:rPr sz="2400" b="1" spc="-15" dirty="0">
                <a:latin typeface="Carlito"/>
                <a:cs typeface="Carlito"/>
              </a:rPr>
              <a:t>to </a:t>
            </a:r>
            <a:r>
              <a:rPr sz="2400" b="1" dirty="0">
                <a:latin typeface="Carlito"/>
                <a:cs typeface="Carlito"/>
              </a:rPr>
              <a:t>be</a:t>
            </a:r>
            <a:r>
              <a:rPr sz="2400" b="1" spc="20" dirty="0">
                <a:latin typeface="Carlito"/>
                <a:cs typeface="Carlito"/>
              </a:rPr>
              <a:t> </a:t>
            </a:r>
            <a:r>
              <a:rPr sz="2400" b="1" spc="-20" dirty="0">
                <a:latin typeface="Carlito"/>
                <a:cs typeface="Carlito"/>
              </a:rPr>
              <a:t>executed</a:t>
            </a:r>
            <a:endParaRPr sz="2400" dirty="0">
              <a:latin typeface="Carlito"/>
              <a:cs typeface="Carlito"/>
            </a:endParaRPr>
          </a:p>
          <a:p>
            <a:pPr marL="577850" indent="-162560">
              <a:lnSpc>
                <a:spcPts val="2735"/>
              </a:lnSpc>
              <a:buChar char="-"/>
              <a:tabLst>
                <a:tab pos="578485" algn="l"/>
                <a:tab pos="4636770" algn="l"/>
              </a:tabLst>
            </a:pPr>
            <a:r>
              <a:rPr sz="2400" b="1" dirty="0">
                <a:latin typeface="Carlito"/>
                <a:cs typeface="Carlito"/>
              </a:rPr>
              <a:t>1 </a:t>
            </a:r>
            <a:r>
              <a:rPr sz="2400" b="1" spc="-10" dirty="0">
                <a:latin typeface="Carlito"/>
                <a:cs typeface="Carlito"/>
              </a:rPr>
              <a:t>task </a:t>
            </a:r>
            <a:r>
              <a:rPr sz="2400" b="1" dirty="0">
                <a:latin typeface="Carlito"/>
                <a:cs typeface="Carlito"/>
              </a:rPr>
              <a:t>in</a:t>
            </a:r>
            <a:r>
              <a:rPr sz="2400" b="1" spc="10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non-pipelined</a:t>
            </a:r>
            <a:r>
              <a:rPr sz="2400" b="1" dirty="0">
                <a:latin typeface="Carlito"/>
                <a:cs typeface="Carlito"/>
              </a:rPr>
              <a:t> </a:t>
            </a:r>
            <a:r>
              <a:rPr sz="2400" b="1" spc="-15" dirty="0">
                <a:latin typeface="Carlito"/>
                <a:cs typeface="Carlito"/>
              </a:rPr>
              <a:t>system;	</a:t>
            </a:r>
            <a:r>
              <a:rPr sz="2400" b="1" spc="-5" dirty="0">
                <a:latin typeface="Carlito"/>
                <a:cs typeface="Carlito"/>
              </a:rPr>
              <a:t>20*4 </a:t>
            </a:r>
            <a:r>
              <a:rPr sz="2400" b="1" dirty="0">
                <a:latin typeface="Carlito"/>
                <a:cs typeface="Carlito"/>
              </a:rPr>
              <a:t>=</a:t>
            </a:r>
            <a:r>
              <a:rPr sz="2400" b="1" spc="-5" dirty="0">
                <a:latin typeface="Carlito"/>
                <a:cs typeface="Carlito"/>
              </a:rPr>
              <a:t> 80n</a:t>
            </a:r>
            <a:r>
              <a:rPr lang="en-US" sz="2400" b="1" spc="-5" dirty="0">
                <a:latin typeface="Carlito"/>
                <a:cs typeface="Carlito"/>
              </a:rPr>
              <a:t>s</a:t>
            </a:r>
            <a:endParaRPr sz="24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 dirty="0">
              <a:latin typeface="Carlito"/>
              <a:cs typeface="Carlito"/>
            </a:endParaRPr>
          </a:p>
          <a:p>
            <a:pPr marL="620395">
              <a:lnSpc>
                <a:spcPts val="2735"/>
              </a:lnSpc>
            </a:pPr>
            <a:r>
              <a:rPr sz="2400" b="1" spc="-10" dirty="0">
                <a:latin typeface="Carlito"/>
                <a:cs typeface="Carlito"/>
              </a:rPr>
              <a:t>Pipelined </a:t>
            </a:r>
            <a:r>
              <a:rPr sz="2400" b="1" spc="-20" dirty="0">
                <a:latin typeface="Carlito"/>
                <a:cs typeface="Carlito"/>
              </a:rPr>
              <a:t>System</a:t>
            </a:r>
            <a:endParaRPr sz="2400" dirty="0">
              <a:latin typeface="Carlito"/>
              <a:cs typeface="Carlito"/>
            </a:endParaRPr>
          </a:p>
          <a:p>
            <a:pPr marL="1508760">
              <a:lnSpc>
                <a:spcPts val="2735"/>
              </a:lnSpc>
            </a:pPr>
            <a:r>
              <a:rPr sz="2400" b="1" dirty="0">
                <a:solidFill>
                  <a:srgbClr val="0000FF"/>
                </a:solidFill>
                <a:latin typeface="Carlito"/>
                <a:cs typeface="Carlito"/>
              </a:rPr>
              <a:t>(k + </a:t>
            </a:r>
            <a:r>
              <a:rPr lang="en-US" sz="2400" b="1" dirty="0">
                <a:solidFill>
                  <a:srgbClr val="0000FF"/>
                </a:solidFill>
                <a:latin typeface="Carlito"/>
                <a:cs typeface="Carlito"/>
              </a:rPr>
              <a:t>(</a:t>
            </a:r>
            <a:r>
              <a:rPr sz="2400" b="1" dirty="0">
                <a:solidFill>
                  <a:srgbClr val="0000FF"/>
                </a:solidFill>
                <a:latin typeface="Carlito"/>
                <a:cs typeface="Carlito"/>
              </a:rPr>
              <a:t>n </a:t>
            </a:r>
            <a:r>
              <a:rPr lang="en-US" sz="2400" b="1" dirty="0">
                <a:solidFill>
                  <a:srgbClr val="0000FF"/>
                </a:solidFill>
                <a:latin typeface="Carlito"/>
                <a:cs typeface="Carlito"/>
              </a:rPr>
              <a:t>–</a:t>
            </a:r>
            <a:r>
              <a:rPr sz="2400" b="1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rlito"/>
                <a:cs typeface="Carlito"/>
              </a:rPr>
              <a:t>1</a:t>
            </a:r>
            <a:r>
              <a:rPr lang="en-US" sz="2400" b="1" spc="-5" dirty="0">
                <a:solidFill>
                  <a:srgbClr val="0000FF"/>
                </a:solidFill>
                <a:latin typeface="Carlito"/>
                <a:cs typeface="Carlito"/>
              </a:rPr>
              <a:t>)</a:t>
            </a:r>
            <a:r>
              <a:rPr sz="2400" b="1" spc="-5" dirty="0">
                <a:solidFill>
                  <a:srgbClr val="0000FF"/>
                </a:solidFill>
                <a:latin typeface="Carlito"/>
                <a:cs typeface="Carlito"/>
              </a:rPr>
              <a:t>)*t</a:t>
            </a:r>
            <a:r>
              <a:rPr sz="2400" b="1" spc="-7" baseline="-20833" dirty="0">
                <a:solidFill>
                  <a:srgbClr val="0000FF"/>
                </a:solidFill>
                <a:latin typeface="Carlito"/>
                <a:cs typeface="Carlito"/>
              </a:rPr>
              <a:t>p </a:t>
            </a:r>
            <a:r>
              <a:rPr sz="2400" b="1" dirty="0">
                <a:solidFill>
                  <a:srgbClr val="0000FF"/>
                </a:solidFill>
                <a:latin typeface="Carlito"/>
                <a:cs typeface="Carlito"/>
              </a:rPr>
              <a:t>= (4 + </a:t>
            </a:r>
            <a:r>
              <a:rPr sz="2400" b="1" spc="-5" dirty="0">
                <a:solidFill>
                  <a:srgbClr val="0000FF"/>
                </a:solidFill>
                <a:latin typeface="Carlito"/>
                <a:cs typeface="Carlito"/>
              </a:rPr>
              <a:t>99) </a:t>
            </a:r>
            <a:r>
              <a:rPr sz="2400" b="1" dirty="0">
                <a:solidFill>
                  <a:srgbClr val="0000FF"/>
                </a:solidFill>
                <a:latin typeface="Carlito"/>
                <a:cs typeface="Carlito"/>
              </a:rPr>
              <a:t>* </a:t>
            </a:r>
            <a:r>
              <a:rPr sz="2400" b="1" spc="-5" dirty="0">
                <a:solidFill>
                  <a:srgbClr val="0000FF"/>
                </a:solidFill>
                <a:latin typeface="Carlito"/>
                <a:cs typeface="Carlito"/>
              </a:rPr>
              <a:t>20 </a:t>
            </a:r>
            <a:r>
              <a:rPr sz="2400" b="1" dirty="0">
                <a:solidFill>
                  <a:srgbClr val="0000FF"/>
                </a:solidFill>
                <a:latin typeface="Carlito"/>
                <a:cs typeface="Carlito"/>
              </a:rPr>
              <a:t>=</a:t>
            </a:r>
            <a:r>
              <a:rPr sz="2400" b="1" spc="-229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rlito"/>
                <a:cs typeface="Carlito"/>
              </a:rPr>
              <a:t>2060n</a:t>
            </a:r>
            <a:r>
              <a:rPr lang="en-US" sz="2400" b="1" spc="-5" dirty="0">
                <a:solidFill>
                  <a:srgbClr val="0000FF"/>
                </a:solidFill>
                <a:latin typeface="Carlito"/>
                <a:cs typeface="Carlito"/>
              </a:rPr>
              <a:t>s</a:t>
            </a:r>
            <a:endParaRPr sz="2400" dirty="0">
              <a:solidFill>
                <a:srgbClr val="0000FF"/>
              </a:solidFill>
              <a:latin typeface="Carlito"/>
              <a:cs typeface="Carlito"/>
            </a:endParaRPr>
          </a:p>
          <a:p>
            <a:pPr marL="620395">
              <a:lnSpc>
                <a:spcPts val="2735"/>
              </a:lnSpc>
              <a:spcBef>
                <a:spcPts val="2305"/>
              </a:spcBef>
            </a:pPr>
            <a:r>
              <a:rPr sz="2400" b="1" spc="-5" dirty="0">
                <a:latin typeface="Carlito"/>
                <a:cs typeface="Carlito"/>
              </a:rPr>
              <a:t>Non-Pipelined</a:t>
            </a:r>
            <a:r>
              <a:rPr sz="2400" b="1" spc="-10" dirty="0">
                <a:latin typeface="Carlito"/>
                <a:cs typeface="Carlito"/>
              </a:rPr>
              <a:t> </a:t>
            </a:r>
            <a:r>
              <a:rPr sz="2400" b="1" spc="-20" dirty="0">
                <a:latin typeface="Carlito"/>
                <a:cs typeface="Carlito"/>
              </a:rPr>
              <a:t>System</a:t>
            </a:r>
            <a:endParaRPr sz="2400" dirty="0">
              <a:latin typeface="Carlito"/>
              <a:cs typeface="Carlito"/>
            </a:endParaRPr>
          </a:p>
          <a:p>
            <a:pPr marL="1167130">
              <a:lnSpc>
                <a:spcPts val="2735"/>
              </a:lnSpc>
            </a:pPr>
            <a:r>
              <a:rPr lang="en-US" sz="2400" b="1" spc="-5" dirty="0">
                <a:solidFill>
                  <a:srgbClr val="0000FF"/>
                </a:solidFill>
                <a:latin typeface="Carlito"/>
                <a:cs typeface="Carlito"/>
              </a:rPr>
              <a:t>    </a:t>
            </a:r>
            <a:r>
              <a:rPr sz="2400" b="1" spc="-5" dirty="0">
                <a:solidFill>
                  <a:srgbClr val="0000FF"/>
                </a:solidFill>
                <a:latin typeface="Carlito"/>
                <a:cs typeface="Carlito"/>
              </a:rPr>
              <a:t>n*</a:t>
            </a:r>
            <a:r>
              <a:rPr sz="2400" b="1" spc="-5" dirty="0" err="1">
                <a:solidFill>
                  <a:srgbClr val="0000FF"/>
                </a:solidFill>
                <a:latin typeface="Carlito"/>
                <a:cs typeface="Carlito"/>
              </a:rPr>
              <a:t>t</a:t>
            </a:r>
            <a:r>
              <a:rPr sz="2400" b="1" spc="-7" baseline="-20833" dirty="0" err="1">
                <a:solidFill>
                  <a:srgbClr val="0000FF"/>
                </a:solidFill>
                <a:latin typeface="Carlito"/>
                <a:cs typeface="Carlito"/>
              </a:rPr>
              <a:t>p</a:t>
            </a:r>
            <a:r>
              <a:rPr sz="2400" b="1" spc="-7" baseline="-20833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0000FF"/>
                </a:solidFill>
                <a:latin typeface="Carlito"/>
                <a:cs typeface="Carlito"/>
              </a:rPr>
              <a:t>= 100 * 80 =</a:t>
            </a:r>
            <a:r>
              <a:rPr sz="2400" b="1" spc="-225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rlito"/>
                <a:cs typeface="Carlito"/>
              </a:rPr>
              <a:t>8000n</a:t>
            </a:r>
            <a:r>
              <a:rPr lang="en-US" sz="2400" b="1" spc="-5" dirty="0">
                <a:solidFill>
                  <a:srgbClr val="0000FF"/>
                </a:solidFill>
                <a:latin typeface="Carlito"/>
                <a:cs typeface="Carlito"/>
              </a:rPr>
              <a:t>s</a:t>
            </a:r>
            <a:endParaRPr sz="2400" dirty="0">
              <a:solidFill>
                <a:srgbClr val="0000FF"/>
              </a:solidFill>
              <a:latin typeface="Carlito"/>
              <a:cs typeface="Carlito"/>
            </a:endParaRPr>
          </a:p>
          <a:p>
            <a:pPr marL="620395">
              <a:lnSpc>
                <a:spcPts val="2735"/>
              </a:lnSpc>
              <a:spcBef>
                <a:spcPts val="2305"/>
              </a:spcBef>
            </a:pPr>
            <a:r>
              <a:rPr sz="2400" b="1" spc="-5" dirty="0">
                <a:latin typeface="Carlito"/>
                <a:cs typeface="Carlito"/>
              </a:rPr>
              <a:t>Speedup</a:t>
            </a:r>
            <a:endParaRPr sz="2400" dirty="0">
              <a:latin typeface="Carlito"/>
              <a:cs typeface="Carlito"/>
            </a:endParaRPr>
          </a:p>
          <a:p>
            <a:pPr marL="1167130">
              <a:lnSpc>
                <a:spcPts val="2735"/>
              </a:lnSpc>
            </a:pPr>
            <a:r>
              <a:rPr sz="2400" b="1" dirty="0">
                <a:solidFill>
                  <a:srgbClr val="0000FF"/>
                </a:solidFill>
                <a:latin typeface="Carlito"/>
                <a:cs typeface="Carlito"/>
              </a:rPr>
              <a:t>S</a:t>
            </a:r>
            <a:r>
              <a:rPr sz="2400" b="1" baseline="-20833" dirty="0">
                <a:solidFill>
                  <a:srgbClr val="0000FF"/>
                </a:solidFill>
                <a:latin typeface="Carlito"/>
                <a:cs typeface="Carlito"/>
              </a:rPr>
              <a:t>k </a:t>
            </a:r>
            <a:r>
              <a:rPr sz="2400" b="1" dirty="0">
                <a:solidFill>
                  <a:srgbClr val="0000FF"/>
                </a:solidFill>
                <a:latin typeface="Carlito"/>
                <a:cs typeface="Carlito"/>
              </a:rPr>
              <a:t>= </a:t>
            </a:r>
            <a:r>
              <a:rPr sz="2400" b="1" spc="-5" dirty="0">
                <a:solidFill>
                  <a:srgbClr val="0000FF"/>
                </a:solidFill>
                <a:latin typeface="Carlito"/>
                <a:cs typeface="Carlito"/>
              </a:rPr>
              <a:t>8000 </a:t>
            </a:r>
            <a:r>
              <a:rPr sz="2400" b="1" dirty="0">
                <a:solidFill>
                  <a:srgbClr val="0000FF"/>
                </a:solidFill>
                <a:latin typeface="Carlito"/>
                <a:cs typeface="Carlito"/>
              </a:rPr>
              <a:t>/ </a:t>
            </a:r>
            <a:r>
              <a:rPr sz="2400" b="1" spc="-5" dirty="0">
                <a:solidFill>
                  <a:srgbClr val="0000FF"/>
                </a:solidFill>
                <a:latin typeface="Carlito"/>
                <a:cs typeface="Carlito"/>
              </a:rPr>
              <a:t>2060 </a:t>
            </a:r>
            <a:r>
              <a:rPr sz="2400" b="1" dirty="0">
                <a:solidFill>
                  <a:srgbClr val="0000FF"/>
                </a:solidFill>
                <a:latin typeface="Carlito"/>
                <a:cs typeface="Carlito"/>
              </a:rPr>
              <a:t>=</a:t>
            </a:r>
            <a:r>
              <a:rPr sz="2400" b="1" spc="-225" dirty="0">
                <a:solidFill>
                  <a:srgbClr val="0000FF"/>
                </a:solidFill>
                <a:latin typeface="Carlito"/>
                <a:cs typeface="Carlito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rlito"/>
                <a:cs typeface="Carlito"/>
              </a:rPr>
              <a:t>3.88</a:t>
            </a:r>
            <a:endParaRPr sz="2400" b="1" dirty="0">
              <a:solidFill>
                <a:srgbClr val="0000FF"/>
              </a:solidFill>
              <a:latin typeface="Carlito"/>
              <a:cs typeface="Carlito"/>
            </a:endParaRPr>
          </a:p>
          <a:p>
            <a:pPr marL="620395">
              <a:lnSpc>
                <a:spcPct val="100000"/>
              </a:lnSpc>
              <a:spcBef>
                <a:spcPts val="2305"/>
              </a:spcBef>
            </a:pPr>
            <a:r>
              <a:rPr sz="2400" b="1" spc="-10" dirty="0">
                <a:solidFill>
                  <a:srgbClr val="FF0000"/>
                </a:solidFill>
                <a:latin typeface="Carlito"/>
                <a:cs typeface="Carlito"/>
              </a:rPr>
              <a:t>4-Stage Pipeline 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is </a:t>
            </a: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basically </a:t>
            </a:r>
            <a:r>
              <a:rPr sz="2400" b="1" spc="-10" dirty="0">
                <a:solidFill>
                  <a:srgbClr val="FF0000"/>
                </a:solidFill>
                <a:latin typeface="Carlito"/>
                <a:cs typeface="Carlito"/>
              </a:rPr>
              <a:t>identical </a:t>
            </a:r>
            <a:r>
              <a:rPr sz="2400" b="1" spc="-15" dirty="0">
                <a:solidFill>
                  <a:srgbClr val="FF0000"/>
                </a:solidFill>
                <a:latin typeface="Carlito"/>
                <a:cs typeface="Carlito"/>
              </a:rPr>
              <a:t>to </a:t>
            </a: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the </a:t>
            </a:r>
            <a:r>
              <a:rPr sz="2400" b="1" spc="-20" dirty="0">
                <a:solidFill>
                  <a:srgbClr val="FF0000"/>
                </a:solidFill>
                <a:latin typeface="Carlito"/>
                <a:cs typeface="Carlito"/>
              </a:rPr>
              <a:t>system </a:t>
            </a: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with 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4 </a:t>
            </a:r>
            <a:r>
              <a:rPr sz="2400" b="1" spc="-10" dirty="0">
                <a:solidFill>
                  <a:srgbClr val="FF0000"/>
                </a:solidFill>
                <a:latin typeface="Carlito"/>
                <a:cs typeface="Carlito"/>
              </a:rPr>
              <a:t>identical </a:t>
            </a: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function</a:t>
            </a:r>
            <a:r>
              <a:rPr sz="2400" b="1" spc="16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units</a:t>
            </a:r>
            <a:endParaRPr sz="2400" dirty="0">
              <a:solidFill>
                <a:srgbClr val="FF0000"/>
              </a:solidFill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410821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92239" y="1327214"/>
            <a:ext cx="3312387" cy="28575"/>
            <a:chOff x="8689975" y="1327213"/>
            <a:chExt cx="3311525" cy="28575"/>
          </a:xfrm>
        </p:grpSpPr>
        <p:sp>
          <p:nvSpPr>
            <p:cNvPr id="3" name="object 3"/>
            <p:cNvSpPr/>
            <p:nvPr/>
          </p:nvSpPr>
          <p:spPr>
            <a:xfrm>
              <a:off x="8689975" y="1341500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>
                  <a:moveTo>
                    <a:pt x="0" y="0"/>
                  </a:moveTo>
                  <a:lnTo>
                    <a:pt x="1800225" y="0"/>
                  </a:lnTo>
                </a:path>
              </a:pathLst>
            </a:custGeom>
            <a:ln w="28575">
              <a:solidFill>
                <a:srgbClr val="662C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52677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82426" y="1341500"/>
              <a:ext cx="719455" cy="0"/>
            </a:xfrm>
            <a:custGeom>
              <a:avLst/>
              <a:gdLst/>
              <a:ahLst/>
              <a:cxnLst/>
              <a:rect l="l" t="t" r="r" b="b"/>
              <a:pathLst>
                <a:path w="719454">
                  <a:moveTo>
                    <a:pt x="0" y="0"/>
                  </a:moveTo>
                  <a:lnTo>
                    <a:pt x="719074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418443" y="2525799"/>
            <a:ext cx="835242" cy="396904"/>
          </a:xfrm>
          <a:prstGeom prst="rect">
            <a:avLst/>
          </a:prstGeom>
          <a:ln w="24844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</a:pPr>
            <a:r>
              <a:rPr sz="1100" b="1" spc="285" dirty="0">
                <a:latin typeface="Arial"/>
                <a:cs typeface="Arial"/>
              </a:rPr>
              <a:t>P</a:t>
            </a:r>
            <a:r>
              <a:rPr sz="1350" b="1" spc="427" baseline="-18518" dirty="0">
                <a:latin typeface="Arial"/>
                <a:cs typeface="Arial"/>
              </a:rPr>
              <a:t>1</a:t>
            </a:r>
            <a:endParaRPr sz="1350" baseline="-18518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69944" y="2189092"/>
            <a:ext cx="118141" cy="327025"/>
            <a:chOff x="4768702" y="2189091"/>
            <a:chExt cx="118110" cy="327025"/>
          </a:xfrm>
        </p:grpSpPr>
        <p:sp>
          <p:nvSpPr>
            <p:cNvPr id="8" name="object 8"/>
            <p:cNvSpPr/>
            <p:nvPr/>
          </p:nvSpPr>
          <p:spPr>
            <a:xfrm>
              <a:off x="4768702" y="2422521"/>
              <a:ext cx="117500" cy="9319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20146" y="2189091"/>
              <a:ext cx="14604" cy="257810"/>
            </a:xfrm>
            <a:custGeom>
              <a:avLst/>
              <a:gdLst/>
              <a:ahLst/>
              <a:cxnLst/>
              <a:rect l="l" t="t" r="r" b="b"/>
              <a:pathLst>
                <a:path w="14604" h="257810">
                  <a:moveTo>
                    <a:pt x="0" y="257319"/>
                  </a:moveTo>
                  <a:lnTo>
                    <a:pt x="14597" y="257319"/>
                  </a:lnTo>
                  <a:lnTo>
                    <a:pt x="14597" y="0"/>
                  </a:lnTo>
                  <a:lnTo>
                    <a:pt x="0" y="0"/>
                  </a:lnTo>
                  <a:lnTo>
                    <a:pt x="0" y="2573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769944" y="3139485"/>
            <a:ext cx="118141" cy="327025"/>
            <a:chOff x="4768702" y="3139484"/>
            <a:chExt cx="118110" cy="327025"/>
          </a:xfrm>
        </p:grpSpPr>
        <p:sp>
          <p:nvSpPr>
            <p:cNvPr id="11" name="object 11"/>
            <p:cNvSpPr/>
            <p:nvPr/>
          </p:nvSpPr>
          <p:spPr>
            <a:xfrm>
              <a:off x="4768702" y="3372888"/>
              <a:ext cx="117500" cy="932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20146" y="3139484"/>
              <a:ext cx="14604" cy="257810"/>
            </a:xfrm>
            <a:custGeom>
              <a:avLst/>
              <a:gdLst/>
              <a:ahLst/>
              <a:cxnLst/>
              <a:rect l="l" t="t" r="r" b="b"/>
              <a:pathLst>
                <a:path w="14604" h="257810">
                  <a:moveTo>
                    <a:pt x="0" y="257319"/>
                  </a:moveTo>
                  <a:lnTo>
                    <a:pt x="14597" y="257319"/>
                  </a:lnTo>
                  <a:lnTo>
                    <a:pt x="14597" y="0"/>
                  </a:lnTo>
                  <a:lnTo>
                    <a:pt x="0" y="0"/>
                  </a:lnTo>
                  <a:lnTo>
                    <a:pt x="0" y="2573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17236" y="1968447"/>
            <a:ext cx="213416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1" spc="140" dirty="0">
                <a:latin typeface="Arial"/>
                <a:cs typeface="Arial"/>
              </a:rPr>
              <a:t>I</a:t>
            </a:r>
            <a:r>
              <a:rPr sz="1100" b="1" spc="-110" dirty="0">
                <a:latin typeface="Arial"/>
                <a:cs typeface="Arial"/>
              </a:rPr>
              <a:t> </a:t>
            </a:r>
            <a:r>
              <a:rPr sz="1350" b="1" spc="202" baseline="-15432" dirty="0">
                <a:latin typeface="Arial"/>
                <a:cs typeface="Arial"/>
              </a:rPr>
              <a:t>i</a:t>
            </a:r>
            <a:endParaRPr sz="1350" baseline="-15432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24815" y="2525799"/>
            <a:ext cx="835242" cy="396904"/>
          </a:xfrm>
          <a:prstGeom prst="rect">
            <a:avLst/>
          </a:prstGeom>
          <a:ln w="2484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imes New Roman"/>
              <a:cs typeface="Times New Roman"/>
            </a:endParaRPr>
          </a:p>
          <a:p>
            <a:pPr marL="380365">
              <a:lnSpc>
                <a:spcPct val="100000"/>
              </a:lnSpc>
            </a:pPr>
            <a:r>
              <a:rPr sz="1100" b="1" spc="225" dirty="0">
                <a:latin typeface="Arial"/>
                <a:cs typeface="Arial"/>
              </a:rPr>
              <a:t>P</a:t>
            </a:r>
            <a:r>
              <a:rPr sz="1350" b="1" spc="337" baseline="-18518" dirty="0">
                <a:latin typeface="Arial"/>
                <a:cs typeface="Arial"/>
              </a:rPr>
              <a:t>2</a:t>
            </a:r>
            <a:endParaRPr sz="1350" baseline="-18518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0954" y="2189092"/>
            <a:ext cx="117506" cy="327025"/>
            <a:chOff x="6189342" y="2189091"/>
            <a:chExt cx="117475" cy="327025"/>
          </a:xfrm>
        </p:grpSpPr>
        <p:sp>
          <p:nvSpPr>
            <p:cNvPr id="16" name="object 16"/>
            <p:cNvSpPr/>
            <p:nvPr/>
          </p:nvSpPr>
          <p:spPr>
            <a:xfrm>
              <a:off x="6189342" y="2422521"/>
              <a:ext cx="117047" cy="931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40421" y="2189091"/>
              <a:ext cx="14604" cy="257810"/>
            </a:xfrm>
            <a:custGeom>
              <a:avLst/>
              <a:gdLst/>
              <a:ahLst/>
              <a:cxnLst/>
              <a:rect l="l" t="t" r="r" b="b"/>
              <a:pathLst>
                <a:path w="14604" h="257810">
                  <a:moveTo>
                    <a:pt x="0" y="257319"/>
                  </a:moveTo>
                  <a:lnTo>
                    <a:pt x="14597" y="257319"/>
                  </a:lnTo>
                  <a:lnTo>
                    <a:pt x="14597" y="0"/>
                  </a:lnTo>
                  <a:lnTo>
                    <a:pt x="0" y="0"/>
                  </a:lnTo>
                  <a:lnTo>
                    <a:pt x="0" y="2573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190954" y="3139485"/>
            <a:ext cx="117506" cy="327025"/>
            <a:chOff x="6189342" y="3139484"/>
            <a:chExt cx="117475" cy="327025"/>
          </a:xfrm>
        </p:grpSpPr>
        <p:sp>
          <p:nvSpPr>
            <p:cNvPr id="19" name="object 19"/>
            <p:cNvSpPr/>
            <p:nvPr/>
          </p:nvSpPr>
          <p:spPr>
            <a:xfrm>
              <a:off x="6189342" y="3372888"/>
              <a:ext cx="117047" cy="9322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40421" y="3139484"/>
              <a:ext cx="14604" cy="257810"/>
            </a:xfrm>
            <a:custGeom>
              <a:avLst/>
              <a:gdLst/>
              <a:ahLst/>
              <a:cxnLst/>
              <a:rect l="l" t="t" r="r" b="b"/>
              <a:pathLst>
                <a:path w="14604" h="257810">
                  <a:moveTo>
                    <a:pt x="0" y="257319"/>
                  </a:moveTo>
                  <a:lnTo>
                    <a:pt x="14597" y="257319"/>
                  </a:lnTo>
                  <a:lnTo>
                    <a:pt x="14597" y="0"/>
                  </a:lnTo>
                  <a:lnTo>
                    <a:pt x="0" y="0"/>
                  </a:lnTo>
                  <a:lnTo>
                    <a:pt x="0" y="2573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138246" y="1998232"/>
            <a:ext cx="394438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1" spc="337" baseline="12626" dirty="0">
                <a:latin typeface="Arial"/>
                <a:cs typeface="Arial"/>
              </a:rPr>
              <a:t>I</a:t>
            </a:r>
            <a:r>
              <a:rPr sz="900" b="1" spc="225" dirty="0">
                <a:latin typeface="Arial"/>
                <a:cs typeface="Arial"/>
              </a:rPr>
              <a:t>i+1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45388" y="2525799"/>
            <a:ext cx="820633" cy="396904"/>
          </a:xfrm>
          <a:prstGeom prst="rect">
            <a:avLst/>
          </a:prstGeom>
          <a:ln w="24929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</a:pPr>
            <a:r>
              <a:rPr sz="1100" b="1" spc="225" dirty="0">
                <a:latin typeface="Arial"/>
                <a:cs typeface="Arial"/>
              </a:rPr>
              <a:t>P</a:t>
            </a:r>
            <a:r>
              <a:rPr sz="1350" b="1" spc="337" baseline="-18518" dirty="0">
                <a:latin typeface="Arial"/>
                <a:cs typeface="Arial"/>
              </a:rPr>
              <a:t>3</a:t>
            </a:r>
            <a:endParaRPr sz="1350" baseline="-18518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596914" y="2189092"/>
            <a:ext cx="117506" cy="327025"/>
            <a:chOff x="7594936" y="2189091"/>
            <a:chExt cx="117475" cy="327025"/>
          </a:xfrm>
        </p:grpSpPr>
        <p:sp>
          <p:nvSpPr>
            <p:cNvPr id="24" name="object 24"/>
            <p:cNvSpPr/>
            <p:nvPr/>
          </p:nvSpPr>
          <p:spPr>
            <a:xfrm>
              <a:off x="7594936" y="2422521"/>
              <a:ext cx="117193" cy="9319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46453" y="2189091"/>
              <a:ext cx="14604" cy="257810"/>
            </a:xfrm>
            <a:custGeom>
              <a:avLst/>
              <a:gdLst/>
              <a:ahLst/>
              <a:cxnLst/>
              <a:rect l="l" t="t" r="r" b="b"/>
              <a:pathLst>
                <a:path w="14604" h="257810">
                  <a:moveTo>
                    <a:pt x="0" y="257319"/>
                  </a:moveTo>
                  <a:lnTo>
                    <a:pt x="14597" y="257319"/>
                  </a:lnTo>
                  <a:lnTo>
                    <a:pt x="14597" y="0"/>
                  </a:lnTo>
                  <a:lnTo>
                    <a:pt x="0" y="0"/>
                  </a:lnTo>
                  <a:lnTo>
                    <a:pt x="0" y="2573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7596914" y="3139485"/>
            <a:ext cx="117506" cy="327025"/>
            <a:chOff x="7594936" y="3139484"/>
            <a:chExt cx="117475" cy="327025"/>
          </a:xfrm>
        </p:grpSpPr>
        <p:sp>
          <p:nvSpPr>
            <p:cNvPr id="27" name="object 27"/>
            <p:cNvSpPr/>
            <p:nvPr/>
          </p:nvSpPr>
          <p:spPr>
            <a:xfrm>
              <a:off x="7594936" y="3372888"/>
              <a:ext cx="117193" cy="9322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46453" y="3139484"/>
              <a:ext cx="14604" cy="257810"/>
            </a:xfrm>
            <a:custGeom>
              <a:avLst/>
              <a:gdLst/>
              <a:ahLst/>
              <a:cxnLst/>
              <a:rect l="l" t="t" r="r" b="b"/>
              <a:pathLst>
                <a:path w="14604" h="257810">
                  <a:moveTo>
                    <a:pt x="0" y="257319"/>
                  </a:moveTo>
                  <a:lnTo>
                    <a:pt x="14597" y="257319"/>
                  </a:lnTo>
                  <a:lnTo>
                    <a:pt x="14597" y="0"/>
                  </a:lnTo>
                  <a:lnTo>
                    <a:pt x="0" y="0"/>
                  </a:lnTo>
                  <a:lnTo>
                    <a:pt x="0" y="2573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544205" y="1998232"/>
            <a:ext cx="409682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1" spc="209" baseline="12626" dirty="0">
                <a:latin typeface="Arial"/>
                <a:cs typeface="Arial"/>
              </a:rPr>
              <a:t>I</a:t>
            </a:r>
            <a:r>
              <a:rPr sz="1650" b="1" spc="-157" baseline="12626" dirty="0">
                <a:latin typeface="Arial"/>
                <a:cs typeface="Arial"/>
              </a:rPr>
              <a:t> </a:t>
            </a:r>
            <a:r>
              <a:rPr sz="900" b="1" spc="215" dirty="0">
                <a:latin typeface="Arial"/>
                <a:cs typeface="Arial"/>
              </a:rPr>
              <a:t>i+2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51493" y="2525799"/>
            <a:ext cx="835242" cy="396904"/>
          </a:xfrm>
          <a:prstGeom prst="rect">
            <a:avLst/>
          </a:prstGeom>
          <a:ln w="24844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</a:pPr>
            <a:r>
              <a:rPr sz="1100" b="1" spc="285" dirty="0">
                <a:latin typeface="Arial"/>
                <a:cs typeface="Arial"/>
              </a:rPr>
              <a:t>P</a:t>
            </a:r>
            <a:r>
              <a:rPr sz="1350" b="1" spc="427" baseline="-18518" dirty="0">
                <a:latin typeface="Arial"/>
                <a:cs typeface="Arial"/>
              </a:rPr>
              <a:t>4</a:t>
            </a:r>
            <a:endParaRPr sz="1350" baseline="-18518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003019" y="2189092"/>
            <a:ext cx="118141" cy="327025"/>
            <a:chOff x="9000675" y="2189091"/>
            <a:chExt cx="118110" cy="327025"/>
          </a:xfrm>
        </p:grpSpPr>
        <p:sp>
          <p:nvSpPr>
            <p:cNvPr id="32" name="object 32"/>
            <p:cNvSpPr/>
            <p:nvPr/>
          </p:nvSpPr>
          <p:spPr>
            <a:xfrm>
              <a:off x="9000675" y="2422521"/>
              <a:ext cx="117485" cy="9319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052046" y="2189091"/>
              <a:ext cx="14604" cy="257810"/>
            </a:xfrm>
            <a:custGeom>
              <a:avLst/>
              <a:gdLst/>
              <a:ahLst/>
              <a:cxnLst/>
              <a:rect l="l" t="t" r="r" b="b"/>
              <a:pathLst>
                <a:path w="14604" h="257810">
                  <a:moveTo>
                    <a:pt x="0" y="257319"/>
                  </a:moveTo>
                  <a:lnTo>
                    <a:pt x="14597" y="257319"/>
                  </a:lnTo>
                  <a:lnTo>
                    <a:pt x="14597" y="0"/>
                  </a:lnTo>
                  <a:lnTo>
                    <a:pt x="0" y="0"/>
                  </a:lnTo>
                  <a:lnTo>
                    <a:pt x="0" y="2573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9003019" y="3139485"/>
            <a:ext cx="118141" cy="327025"/>
            <a:chOff x="9000675" y="3139484"/>
            <a:chExt cx="118110" cy="327025"/>
          </a:xfrm>
        </p:grpSpPr>
        <p:sp>
          <p:nvSpPr>
            <p:cNvPr id="35" name="object 35"/>
            <p:cNvSpPr/>
            <p:nvPr/>
          </p:nvSpPr>
          <p:spPr>
            <a:xfrm>
              <a:off x="9000675" y="3372888"/>
              <a:ext cx="117485" cy="9322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052046" y="3139484"/>
              <a:ext cx="14604" cy="257810"/>
            </a:xfrm>
            <a:custGeom>
              <a:avLst/>
              <a:gdLst/>
              <a:ahLst/>
              <a:cxnLst/>
              <a:rect l="l" t="t" r="r" b="b"/>
              <a:pathLst>
                <a:path w="14604" h="257810">
                  <a:moveTo>
                    <a:pt x="0" y="257319"/>
                  </a:moveTo>
                  <a:lnTo>
                    <a:pt x="14597" y="257319"/>
                  </a:lnTo>
                  <a:lnTo>
                    <a:pt x="14597" y="0"/>
                  </a:lnTo>
                  <a:lnTo>
                    <a:pt x="0" y="0"/>
                  </a:lnTo>
                  <a:lnTo>
                    <a:pt x="0" y="2573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950165" y="1998232"/>
            <a:ext cx="409682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1" spc="209" baseline="12626" dirty="0">
                <a:latin typeface="Arial"/>
                <a:cs typeface="Arial"/>
              </a:rPr>
              <a:t>I</a:t>
            </a:r>
            <a:r>
              <a:rPr sz="1650" b="1" spc="-157" baseline="12626" dirty="0">
                <a:latin typeface="Arial"/>
                <a:cs typeface="Arial"/>
              </a:rPr>
              <a:t> </a:t>
            </a:r>
            <a:r>
              <a:rPr sz="900" b="1" spc="215" dirty="0">
                <a:latin typeface="Arial"/>
                <a:cs typeface="Arial"/>
              </a:rPr>
              <a:t>i+3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226929" y="6405384"/>
            <a:ext cx="54814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26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43398" y="2457069"/>
            <a:ext cx="242442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rlito"/>
                <a:cs typeface="Carlito"/>
              </a:rPr>
              <a:t>Multiple </a:t>
            </a:r>
            <a:r>
              <a:rPr sz="2400" b="1" spc="-5" dirty="0">
                <a:latin typeface="Carlito"/>
                <a:cs typeface="Carlito"/>
              </a:rPr>
              <a:t>Functional</a:t>
            </a:r>
            <a:r>
              <a:rPr sz="2400" b="1" spc="-15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Units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308943" y="265888"/>
            <a:ext cx="7050336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Performance </a:t>
            </a:r>
            <a:r>
              <a:rPr spc="-204" dirty="0"/>
              <a:t>Issue </a:t>
            </a:r>
            <a:r>
              <a:rPr spc="475" dirty="0"/>
              <a:t>– </a:t>
            </a:r>
            <a:r>
              <a:rPr spc="-305" dirty="0"/>
              <a:t>Example </a:t>
            </a:r>
            <a:r>
              <a:rPr spc="-330" dirty="0"/>
              <a:t>(cont’d)</a:t>
            </a:r>
          </a:p>
        </p:txBody>
      </p:sp>
    </p:spTree>
    <p:extLst>
      <p:ext uri="{BB962C8B-B14F-4D97-AF65-F5344CB8AC3E}">
        <p14:creationId xmlns:p14="http://schemas.microsoft.com/office/powerpoint/2010/main" val="1606682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1978" y="1447800"/>
            <a:ext cx="11294686" cy="472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3" y="208259"/>
            <a:ext cx="967484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29" dirty="0"/>
              <a:t>Pipeline </a:t>
            </a:r>
            <a:r>
              <a:rPr b="1" spc="-305" dirty="0"/>
              <a:t>Performance </a:t>
            </a:r>
            <a:r>
              <a:rPr b="1" spc="475" dirty="0"/>
              <a:t>–</a:t>
            </a:r>
            <a:r>
              <a:rPr b="1" spc="35" dirty="0"/>
              <a:t> </a:t>
            </a:r>
            <a:r>
              <a:rPr b="1" spc="-340" dirty="0"/>
              <a:t>Example2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26929" y="6405384"/>
            <a:ext cx="54814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27</a:t>
            </a:fld>
            <a:endParaRPr sz="28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388150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3" y="269815"/>
            <a:ext cx="1091798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229" dirty="0">
                <a:latin typeface="Rockwell" panose="02060603020205020403" pitchFamily="18" charset="0"/>
              </a:rPr>
              <a:t>Pipeline </a:t>
            </a:r>
            <a:r>
              <a:rPr spc="-305" dirty="0">
                <a:latin typeface="Rockwell" panose="02060603020205020403" pitchFamily="18" charset="0"/>
              </a:rPr>
              <a:t>Performance </a:t>
            </a:r>
            <a:r>
              <a:rPr spc="475" dirty="0">
                <a:latin typeface="Rockwell" panose="02060603020205020403" pitchFamily="18" charset="0"/>
              </a:rPr>
              <a:t>–</a:t>
            </a:r>
            <a:r>
              <a:rPr spc="35" dirty="0">
                <a:latin typeface="Rockwell" panose="02060603020205020403" pitchFamily="18" charset="0"/>
              </a:rPr>
              <a:t> </a:t>
            </a:r>
            <a:r>
              <a:rPr spc="-340" dirty="0">
                <a:latin typeface="Rockwell" panose="02060603020205020403" pitchFamily="18" charset="0"/>
              </a:rPr>
              <a:t>Example2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26929" y="6405384"/>
            <a:ext cx="54814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z="2800" b="1" spc="-5" dirty="0">
                <a:solidFill>
                  <a:srgbClr val="FFFFFF"/>
                </a:solidFill>
                <a:latin typeface="Georgia"/>
                <a:cs typeface="Georgia"/>
              </a:rPr>
              <a:t>28</a:t>
            </a:fld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700" y="962304"/>
            <a:ext cx="11639875" cy="4485202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100" dirty="0">
                <a:solidFill>
                  <a:srgbClr val="0000FF"/>
                </a:solidFill>
                <a:latin typeface="Trebuchet MS"/>
                <a:cs typeface="Trebuchet MS"/>
              </a:rPr>
              <a:t>Design1:</a:t>
            </a:r>
            <a:endParaRPr sz="2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90" dirty="0">
                <a:latin typeface="Trebuchet MS"/>
                <a:cs typeface="Trebuchet MS"/>
              </a:rPr>
              <a:t>Average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spc="10" dirty="0">
                <a:latin typeface="Trebuchet MS"/>
                <a:cs typeface="Trebuchet MS"/>
              </a:rPr>
              <a:t>instruction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15" dirty="0">
                <a:latin typeface="Trebuchet MS"/>
                <a:cs typeface="Trebuchet MS"/>
              </a:rPr>
              <a:t>execution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time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395" dirty="0">
                <a:latin typeface="Trebuchet MS"/>
                <a:cs typeface="Trebuchet MS"/>
              </a:rPr>
              <a:t>=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clock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cycletime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250" dirty="0">
                <a:latin typeface="Trebuchet MS"/>
                <a:cs typeface="Trebuchet MS"/>
              </a:rPr>
              <a:t>*CPI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800" spc="-5" dirty="0">
                <a:latin typeface="Arial"/>
                <a:cs typeface="Arial"/>
              </a:rPr>
              <a:t>•	</a:t>
            </a:r>
            <a:r>
              <a:rPr sz="2800" spc="395" dirty="0">
                <a:latin typeface="Trebuchet MS"/>
                <a:cs typeface="Trebuchet MS"/>
              </a:rPr>
              <a:t>=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10ns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425" dirty="0">
                <a:latin typeface="Trebuchet MS"/>
                <a:cs typeface="Trebuchet MS"/>
              </a:rPr>
              <a:t>*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(4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*0.4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395" dirty="0">
                <a:latin typeface="Trebuchet MS"/>
                <a:cs typeface="Trebuchet MS"/>
              </a:rPr>
              <a:t>+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4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135" dirty="0">
                <a:latin typeface="Trebuchet MS"/>
                <a:cs typeface="Trebuchet MS"/>
              </a:rPr>
              <a:t>*0.2+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5*0.4)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395" dirty="0">
                <a:latin typeface="Trebuchet MS"/>
                <a:cs typeface="Trebuchet MS"/>
              </a:rPr>
              <a:t>=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10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*(1.6+0.8+2.0)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800" spc="-5" dirty="0">
                <a:latin typeface="Arial"/>
                <a:cs typeface="Arial"/>
              </a:rPr>
              <a:t>•	</a:t>
            </a:r>
            <a:r>
              <a:rPr sz="2800" spc="395" dirty="0">
                <a:latin typeface="Trebuchet MS"/>
                <a:cs typeface="Trebuchet MS"/>
              </a:rPr>
              <a:t>=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44ns</a:t>
            </a:r>
            <a:endParaRPr sz="2800" dirty="0">
              <a:latin typeface="Trebuchet MS"/>
              <a:cs typeface="Trebuchet MS"/>
            </a:endParaRPr>
          </a:p>
          <a:p>
            <a:pPr marL="441959" indent="-42989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441959" algn="l"/>
                <a:tab pos="442595" algn="l"/>
              </a:tabLst>
            </a:pPr>
            <a:r>
              <a:rPr sz="2800" spc="160" dirty="0">
                <a:solidFill>
                  <a:srgbClr val="0000FF"/>
                </a:solidFill>
                <a:latin typeface="Trebuchet MS"/>
                <a:cs typeface="Trebuchet MS"/>
              </a:rPr>
              <a:t>Design</a:t>
            </a:r>
            <a:r>
              <a:rPr sz="2800" spc="-16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800" spc="-85" dirty="0">
                <a:solidFill>
                  <a:srgbClr val="0000FF"/>
                </a:solidFill>
                <a:latin typeface="Trebuchet MS"/>
                <a:cs typeface="Trebuchet MS"/>
              </a:rPr>
              <a:t>2:</a:t>
            </a:r>
            <a:endParaRPr sz="2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90" dirty="0">
                <a:latin typeface="Trebuchet MS"/>
                <a:cs typeface="Trebuchet MS"/>
              </a:rPr>
              <a:t>Average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spc="10" dirty="0">
                <a:latin typeface="Trebuchet MS"/>
                <a:cs typeface="Trebuchet MS"/>
              </a:rPr>
              <a:t>instruction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time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lang="en-US" sz="2800" spc="-135" dirty="0">
                <a:latin typeface="Trebuchet MS"/>
                <a:cs typeface="Trebuchet MS"/>
              </a:rPr>
              <a:t>a</a:t>
            </a:r>
            <a:r>
              <a:rPr sz="2800" spc="-60" dirty="0">
                <a:latin typeface="Trebuchet MS"/>
                <a:cs typeface="Trebuchet MS"/>
              </a:rPr>
              <a:t>t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steady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state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is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clock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cycle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time: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800" spc="-5" dirty="0">
                <a:latin typeface="Arial"/>
                <a:cs typeface="Arial"/>
              </a:rPr>
              <a:t>•	</a:t>
            </a:r>
            <a:r>
              <a:rPr sz="2800" spc="395" dirty="0">
                <a:latin typeface="Trebuchet MS"/>
                <a:cs typeface="Trebuchet MS"/>
              </a:rPr>
              <a:t>=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10ns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395" dirty="0">
                <a:latin typeface="Trebuchet MS"/>
                <a:cs typeface="Trebuchet MS"/>
              </a:rPr>
              <a:t>+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1ns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5" dirty="0">
                <a:latin typeface="Trebuchet MS"/>
                <a:cs typeface="Trebuchet MS"/>
              </a:rPr>
              <a:t>(for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35" dirty="0">
                <a:latin typeface="Trebuchet MS"/>
                <a:cs typeface="Trebuchet MS"/>
              </a:rPr>
              <a:t>setup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90" dirty="0">
                <a:latin typeface="Trebuchet MS"/>
                <a:cs typeface="Trebuchet MS"/>
              </a:rPr>
              <a:t>and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clock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skew)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395" dirty="0">
                <a:latin typeface="Trebuchet MS"/>
                <a:cs typeface="Trebuchet MS"/>
              </a:rPr>
              <a:t>=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11ns</a:t>
            </a:r>
            <a:endParaRPr sz="2800" dirty="0">
              <a:latin typeface="Trebuchet MS"/>
              <a:cs typeface="Trebuchet MS"/>
            </a:endParaRPr>
          </a:p>
          <a:p>
            <a:pPr marL="441959" indent="-429895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441959" algn="l"/>
                <a:tab pos="442595" algn="l"/>
              </a:tabLst>
            </a:pPr>
            <a:r>
              <a:rPr sz="2800" spc="130" dirty="0">
                <a:solidFill>
                  <a:srgbClr val="0000FF"/>
                </a:solidFill>
                <a:latin typeface="Trebuchet MS"/>
                <a:cs typeface="Trebuchet MS"/>
              </a:rPr>
              <a:t>Speed</a:t>
            </a:r>
            <a:r>
              <a:rPr sz="2800" spc="-1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800" spc="114" dirty="0">
                <a:solidFill>
                  <a:srgbClr val="0000FF"/>
                </a:solidFill>
                <a:latin typeface="Trebuchet MS"/>
                <a:cs typeface="Trebuchet MS"/>
              </a:rPr>
              <a:t>up</a:t>
            </a:r>
            <a:r>
              <a:rPr sz="2800" spc="-14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800" spc="395" dirty="0">
                <a:latin typeface="Trebuchet MS"/>
                <a:cs typeface="Trebuchet MS"/>
              </a:rPr>
              <a:t>=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44/11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395" dirty="0">
                <a:latin typeface="Trebuchet MS"/>
                <a:cs typeface="Trebuchet MS"/>
              </a:rPr>
              <a:t>=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4</a:t>
            </a:r>
            <a:endParaRPr sz="28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093804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3" y="239037"/>
            <a:ext cx="1146676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229" dirty="0">
                <a:latin typeface="Rockwell" panose="02060603020205020403" pitchFamily="18" charset="0"/>
              </a:rPr>
              <a:t>Pipeline </a:t>
            </a:r>
            <a:r>
              <a:rPr sz="4000" spc="-305" dirty="0">
                <a:latin typeface="Rockwell" panose="02060603020205020403" pitchFamily="18" charset="0"/>
              </a:rPr>
              <a:t>Performance </a:t>
            </a:r>
            <a:r>
              <a:rPr sz="4000" spc="475" dirty="0">
                <a:latin typeface="Rockwell" panose="02060603020205020403" pitchFamily="18" charset="0"/>
              </a:rPr>
              <a:t>–</a:t>
            </a:r>
            <a:r>
              <a:rPr sz="4000" spc="35" dirty="0">
                <a:latin typeface="Rockwell" panose="02060603020205020403" pitchFamily="18" charset="0"/>
              </a:rPr>
              <a:t> </a:t>
            </a:r>
            <a:r>
              <a:rPr sz="4000" spc="-340" dirty="0">
                <a:latin typeface="Rockwell" panose="02060603020205020403" pitchFamily="18" charset="0"/>
              </a:rPr>
              <a:t>Example</a:t>
            </a:r>
            <a:r>
              <a:rPr lang="en-GB" sz="4000" spc="-340" dirty="0">
                <a:latin typeface="Rockwell" panose="02060603020205020403" pitchFamily="18" charset="0"/>
              </a:rPr>
              <a:t> </a:t>
            </a:r>
            <a:r>
              <a:rPr sz="4000" spc="-340" dirty="0">
                <a:latin typeface="Rockwell" panose="02060603020205020403" pitchFamily="18" charset="0"/>
              </a:rPr>
              <a:t>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39412" y="1066800"/>
            <a:ext cx="11716352" cy="46134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0365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pc="130" dirty="0"/>
              <a:t>Assume </a:t>
            </a:r>
            <a:r>
              <a:rPr spc="10" dirty="0"/>
              <a:t>times </a:t>
            </a:r>
            <a:r>
              <a:rPr dirty="0"/>
              <a:t>for </a:t>
            </a:r>
            <a:r>
              <a:rPr spc="55" dirty="0"/>
              <a:t>each </a:t>
            </a:r>
            <a:r>
              <a:rPr spc="-15" dirty="0"/>
              <a:t>functional </a:t>
            </a:r>
            <a:r>
              <a:rPr spc="-35" dirty="0"/>
              <a:t>unit </a:t>
            </a:r>
            <a:r>
              <a:rPr spc="-60" dirty="0"/>
              <a:t>of </a:t>
            </a:r>
            <a:r>
              <a:rPr spc="10" dirty="0"/>
              <a:t>a </a:t>
            </a:r>
            <a:r>
              <a:rPr spc="75" dirty="0"/>
              <a:t>pipeline </a:t>
            </a:r>
            <a:r>
              <a:rPr spc="-90" dirty="0"/>
              <a:t>to </a:t>
            </a:r>
            <a:r>
              <a:rPr spc="40" dirty="0"/>
              <a:t>be: </a:t>
            </a:r>
            <a:r>
              <a:rPr spc="15" dirty="0"/>
              <a:t>10ns, 8ns,  10ns,</a:t>
            </a:r>
            <a:r>
              <a:rPr spc="-390" dirty="0"/>
              <a:t> </a:t>
            </a:r>
            <a:r>
              <a:rPr spc="75" dirty="0"/>
              <a:t>10ns</a:t>
            </a:r>
            <a:r>
              <a:rPr spc="-145" dirty="0"/>
              <a:t> </a:t>
            </a:r>
            <a:r>
              <a:rPr spc="90" dirty="0"/>
              <a:t>and</a:t>
            </a:r>
            <a:r>
              <a:rPr spc="-140" dirty="0"/>
              <a:t> </a:t>
            </a:r>
            <a:r>
              <a:rPr spc="10" dirty="0"/>
              <a:t>7ns.</a:t>
            </a:r>
          </a:p>
          <a:p>
            <a:pPr marL="380365" indent="-3429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b="1" spc="110" dirty="0">
                <a:solidFill>
                  <a:srgbClr val="FF0000"/>
                </a:solidFill>
              </a:rPr>
              <a:t>Overhead</a:t>
            </a:r>
            <a:r>
              <a:rPr spc="-165" dirty="0"/>
              <a:t> </a:t>
            </a:r>
            <a:r>
              <a:rPr spc="85" dirty="0"/>
              <a:t>1ns</a:t>
            </a:r>
            <a:r>
              <a:rPr spc="-145" dirty="0"/>
              <a:t> </a:t>
            </a:r>
            <a:r>
              <a:rPr spc="114" dirty="0"/>
              <a:t>per</a:t>
            </a:r>
            <a:r>
              <a:rPr spc="-165" dirty="0"/>
              <a:t> </a:t>
            </a:r>
            <a:r>
              <a:rPr spc="-5" dirty="0"/>
              <a:t>stage.</a:t>
            </a:r>
            <a:r>
              <a:rPr spc="-365" dirty="0"/>
              <a:t> </a:t>
            </a:r>
            <a:r>
              <a:rPr b="1" spc="95" dirty="0">
                <a:solidFill>
                  <a:srgbClr val="0000FF"/>
                </a:solidFill>
              </a:rPr>
              <a:t>Compute</a:t>
            </a:r>
            <a:r>
              <a:rPr b="1" spc="-130" dirty="0">
                <a:solidFill>
                  <a:srgbClr val="0000FF"/>
                </a:solidFill>
              </a:rPr>
              <a:t> </a:t>
            </a:r>
            <a:r>
              <a:rPr b="1" spc="-40" dirty="0">
                <a:solidFill>
                  <a:srgbClr val="0000FF"/>
                </a:solidFill>
              </a:rPr>
              <a:t>the</a:t>
            </a:r>
            <a:r>
              <a:rPr b="1" spc="-150" dirty="0">
                <a:solidFill>
                  <a:srgbClr val="0000FF"/>
                </a:solidFill>
              </a:rPr>
              <a:t> </a:t>
            </a:r>
            <a:r>
              <a:rPr b="1" spc="135" dirty="0">
                <a:solidFill>
                  <a:srgbClr val="0000FF"/>
                </a:solidFill>
              </a:rPr>
              <a:t>speed</a:t>
            </a:r>
            <a:r>
              <a:rPr b="1" spc="-150" dirty="0">
                <a:solidFill>
                  <a:srgbClr val="0000FF"/>
                </a:solidFill>
              </a:rPr>
              <a:t> </a:t>
            </a:r>
            <a:r>
              <a:rPr b="1" spc="-60" dirty="0">
                <a:solidFill>
                  <a:srgbClr val="0000FF"/>
                </a:solidFill>
              </a:rPr>
              <a:t>of</a:t>
            </a:r>
            <a:r>
              <a:rPr b="1" spc="-150" dirty="0">
                <a:solidFill>
                  <a:srgbClr val="0000FF"/>
                </a:solidFill>
              </a:rPr>
              <a:t> </a:t>
            </a:r>
            <a:r>
              <a:rPr b="1" spc="-40" dirty="0">
                <a:solidFill>
                  <a:srgbClr val="0000FF"/>
                </a:solidFill>
              </a:rPr>
              <a:t>the</a:t>
            </a:r>
            <a:r>
              <a:rPr b="1" spc="-145" dirty="0">
                <a:solidFill>
                  <a:srgbClr val="0000FF"/>
                </a:solidFill>
              </a:rPr>
              <a:t> </a:t>
            </a:r>
            <a:r>
              <a:rPr b="1" spc="-15" dirty="0">
                <a:solidFill>
                  <a:srgbClr val="0000FF"/>
                </a:solidFill>
              </a:rPr>
              <a:t>data</a:t>
            </a:r>
            <a:r>
              <a:rPr b="1" spc="-140" dirty="0">
                <a:solidFill>
                  <a:srgbClr val="0000FF"/>
                </a:solidFill>
              </a:rPr>
              <a:t> </a:t>
            </a:r>
            <a:r>
              <a:rPr b="1" spc="-40" dirty="0">
                <a:solidFill>
                  <a:srgbClr val="0000FF"/>
                </a:solidFill>
              </a:rPr>
              <a:t>path</a:t>
            </a:r>
            <a:r>
              <a:rPr spc="-40" dirty="0"/>
              <a:t>.</a:t>
            </a:r>
          </a:p>
          <a:p>
            <a:pPr marL="466725" indent="-429895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Font typeface="Arial"/>
              <a:buChar char="•"/>
              <a:tabLst>
                <a:tab pos="467359" algn="l"/>
                <a:tab pos="467995" algn="l"/>
              </a:tabLst>
            </a:pPr>
            <a:r>
              <a:rPr b="1" spc="75" dirty="0">
                <a:solidFill>
                  <a:srgbClr val="0000FF"/>
                </a:solidFill>
                <a:latin typeface="Trebuchet MS"/>
                <a:cs typeface="Trebuchet MS"/>
              </a:rPr>
              <a:t>Pipelined</a:t>
            </a:r>
            <a:r>
              <a:rPr spc="75" dirty="0"/>
              <a:t>:</a:t>
            </a:r>
            <a:r>
              <a:rPr spc="-375" dirty="0"/>
              <a:t> </a:t>
            </a:r>
            <a:r>
              <a:rPr spc="45" dirty="0"/>
              <a:t>Stage</a:t>
            </a:r>
            <a:r>
              <a:rPr spc="-135" dirty="0"/>
              <a:t> </a:t>
            </a:r>
            <a:r>
              <a:rPr spc="-20" dirty="0"/>
              <a:t>time</a:t>
            </a:r>
            <a:r>
              <a:rPr spc="-145" dirty="0"/>
              <a:t> </a:t>
            </a:r>
            <a:r>
              <a:rPr spc="395" dirty="0"/>
              <a:t>=</a:t>
            </a:r>
            <a:r>
              <a:rPr spc="-155" dirty="0"/>
              <a:t> </a:t>
            </a:r>
            <a:r>
              <a:rPr spc="20" dirty="0"/>
              <a:t>MAX(10,8,10,10,7)</a:t>
            </a:r>
            <a:r>
              <a:rPr spc="-155" dirty="0"/>
              <a:t> </a:t>
            </a:r>
            <a:r>
              <a:rPr spc="395" dirty="0"/>
              <a:t>+</a:t>
            </a:r>
            <a:r>
              <a:rPr spc="-145" dirty="0"/>
              <a:t> </a:t>
            </a:r>
            <a:r>
              <a:rPr spc="65" dirty="0"/>
              <a:t>overhead</a:t>
            </a:r>
          </a:p>
          <a:p>
            <a:pPr marL="37465">
              <a:lnSpc>
                <a:spcPct val="100000"/>
              </a:lnSpc>
              <a:spcBef>
                <a:spcPts val="1010"/>
              </a:spcBef>
              <a:tabLst>
                <a:tab pos="380365" algn="l"/>
              </a:tabLst>
            </a:pPr>
            <a:r>
              <a:rPr spc="-5" dirty="0">
                <a:latin typeface="Arial"/>
                <a:cs typeface="Arial"/>
              </a:rPr>
              <a:t>•	</a:t>
            </a:r>
            <a:r>
              <a:rPr spc="395" dirty="0"/>
              <a:t>=</a:t>
            </a:r>
            <a:r>
              <a:rPr spc="-160" dirty="0"/>
              <a:t> </a:t>
            </a:r>
            <a:r>
              <a:rPr spc="45" dirty="0"/>
              <a:t>10</a:t>
            </a:r>
            <a:r>
              <a:rPr spc="-155" dirty="0"/>
              <a:t> </a:t>
            </a:r>
            <a:r>
              <a:rPr spc="395" dirty="0"/>
              <a:t>+</a:t>
            </a:r>
            <a:r>
              <a:rPr spc="-155" dirty="0"/>
              <a:t> </a:t>
            </a:r>
            <a:r>
              <a:rPr spc="45" dirty="0"/>
              <a:t>1</a:t>
            </a:r>
            <a:r>
              <a:rPr spc="-145" dirty="0"/>
              <a:t> </a:t>
            </a:r>
            <a:r>
              <a:rPr spc="395" dirty="0"/>
              <a:t>=</a:t>
            </a:r>
            <a:r>
              <a:rPr spc="-155" dirty="0"/>
              <a:t> </a:t>
            </a:r>
            <a:r>
              <a:rPr spc="15" dirty="0"/>
              <a:t>11ns.</a:t>
            </a:r>
          </a:p>
          <a:p>
            <a:pPr marL="380365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pc="60" dirty="0"/>
              <a:t>This</a:t>
            </a:r>
            <a:r>
              <a:rPr spc="-160" dirty="0"/>
              <a:t> </a:t>
            </a:r>
            <a:r>
              <a:rPr spc="80" dirty="0"/>
              <a:t>is</a:t>
            </a:r>
            <a:r>
              <a:rPr spc="-145" dirty="0"/>
              <a:t> </a:t>
            </a:r>
            <a:r>
              <a:rPr spc="-40" dirty="0"/>
              <a:t>the</a:t>
            </a:r>
            <a:r>
              <a:rPr spc="-145" dirty="0"/>
              <a:t> </a:t>
            </a:r>
            <a:r>
              <a:rPr spc="65" dirty="0"/>
              <a:t>average</a:t>
            </a:r>
            <a:r>
              <a:rPr spc="-155" dirty="0"/>
              <a:t> </a:t>
            </a:r>
            <a:r>
              <a:rPr spc="10" dirty="0"/>
              <a:t>instruction</a:t>
            </a:r>
            <a:r>
              <a:rPr spc="-120" dirty="0"/>
              <a:t> </a:t>
            </a:r>
            <a:r>
              <a:rPr spc="15" dirty="0"/>
              <a:t>execution</a:t>
            </a:r>
            <a:r>
              <a:rPr spc="-155" dirty="0"/>
              <a:t> </a:t>
            </a:r>
            <a:r>
              <a:rPr spc="-20" dirty="0"/>
              <a:t>time</a:t>
            </a:r>
            <a:r>
              <a:rPr spc="-145" dirty="0"/>
              <a:t> </a:t>
            </a:r>
            <a:r>
              <a:rPr spc="-130" dirty="0"/>
              <a:t>at</a:t>
            </a:r>
            <a:r>
              <a:rPr spc="-140" dirty="0"/>
              <a:t> </a:t>
            </a:r>
            <a:r>
              <a:rPr spc="45" dirty="0"/>
              <a:t>steady</a:t>
            </a:r>
            <a:r>
              <a:rPr spc="-140" dirty="0"/>
              <a:t> </a:t>
            </a:r>
            <a:r>
              <a:rPr spc="-95" dirty="0"/>
              <a:t>state.</a:t>
            </a:r>
          </a:p>
          <a:p>
            <a:pPr marL="466725" indent="-429895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Font typeface="Arial"/>
              <a:buChar char="•"/>
              <a:tabLst>
                <a:tab pos="467359" algn="l"/>
                <a:tab pos="467995" algn="l"/>
              </a:tabLst>
            </a:pPr>
            <a:r>
              <a:rPr b="1" spc="75" dirty="0">
                <a:solidFill>
                  <a:srgbClr val="0000FF"/>
                </a:solidFill>
                <a:latin typeface="Trebuchet MS"/>
                <a:cs typeface="Trebuchet MS"/>
              </a:rPr>
              <a:t>Non-pipelined</a:t>
            </a:r>
            <a:r>
              <a:rPr spc="75" dirty="0"/>
              <a:t>:</a:t>
            </a:r>
            <a:r>
              <a:rPr spc="-400" dirty="0"/>
              <a:t> </a:t>
            </a:r>
            <a:r>
              <a:rPr spc="155" dirty="0"/>
              <a:t>10+8+10+10+7</a:t>
            </a:r>
            <a:r>
              <a:rPr spc="-130" dirty="0"/>
              <a:t> </a:t>
            </a:r>
            <a:r>
              <a:rPr spc="395" dirty="0"/>
              <a:t>=</a:t>
            </a:r>
            <a:r>
              <a:rPr spc="-155" dirty="0"/>
              <a:t> </a:t>
            </a:r>
            <a:r>
              <a:rPr spc="75" dirty="0"/>
              <a:t>45ns</a:t>
            </a:r>
          </a:p>
          <a:p>
            <a:pPr marL="466725" indent="-429895">
              <a:lnSpc>
                <a:spcPct val="100000"/>
              </a:lnSpc>
              <a:spcBef>
                <a:spcPts val="1015"/>
              </a:spcBef>
              <a:buClr>
                <a:srgbClr val="000000"/>
              </a:buClr>
              <a:buFont typeface="Arial"/>
              <a:buChar char="•"/>
              <a:tabLst>
                <a:tab pos="467359" algn="l"/>
                <a:tab pos="467995" algn="l"/>
              </a:tabLst>
            </a:pPr>
            <a:r>
              <a:rPr b="1" spc="70" dirty="0">
                <a:solidFill>
                  <a:srgbClr val="0000FF"/>
                </a:solidFill>
                <a:latin typeface="Trebuchet MS"/>
                <a:cs typeface="Trebuchet MS"/>
              </a:rPr>
              <a:t>Speedup</a:t>
            </a:r>
            <a:r>
              <a:rPr b="1" spc="-1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pc="395" dirty="0"/>
              <a:t>=</a:t>
            </a:r>
            <a:r>
              <a:rPr spc="-155" dirty="0"/>
              <a:t> </a:t>
            </a:r>
            <a:r>
              <a:rPr spc="50" dirty="0"/>
              <a:t>45/11=</a:t>
            </a:r>
            <a:r>
              <a:rPr spc="-145" dirty="0"/>
              <a:t> </a:t>
            </a:r>
            <a:r>
              <a:rPr spc="-45" dirty="0"/>
              <a:t>4.1</a:t>
            </a:r>
            <a:r>
              <a:rPr spc="-155" dirty="0"/>
              <a:t> </a:t>
            </a:r>
            <a:r>
              <a:rPr spc="15" dirty="0"/>
              <a:t>times</a:t>
            </a:r>
          </a:p>
        </p:txBody>
      </p:sp>
    </p:spTree>
    <p:extLst>
      <p:ext uri="{BB962C8B-B14F-4D97-AF65-F5344CB8AC3E}">
        <p14:creationId xmlns:p14="http://schemas.microsoft.com/office/powerpoint/2010/main" val="2936496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5769" y="1752600"/>
            <a:ext cx="11561915" cy="29822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7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Efficiency</a:t>
            </a:r>
            <a:r>
              <a:rPr sz="2800" spc="7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:</a:t>
            </a:r>
            <a:r>
              <a:rPr sz="2800" spc="-3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latin typeface="Rockwell" panose="02060603020205020403" pitchFamily="18" charset="0"/>
                <a:cs typeface="Trebuchet MS"/>
              </a:rPr>
              <a:t>efficiency</a:t>
            </a:r>
            <a:r>
              <a:rPr sz="2800" spc="-10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pipeline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can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60" dirty="0">
                <a:latin typeface="Rockwell" panose="02060603020205020403" pitchFamily="18" charset="0"/>
                <a:cs typeface="Trebuchet MS"/>
              </a:rPr>
              <a:t>be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0" dirty="0">
                <a:latin typeface="Rockwell" panose="02060603020205020403" pitchFamily="18" charset="0"/>
                <a:cs typeface="Trebuchet MS"/>
              </a:rPr>
              <a:t>measured</a:t>
            </a:r>
            <a:r>
              <a:rPr sz="2800" spc="-10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as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ratio 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800" spc="-18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busy</a:t>
            </a:r>
            <a:r>
              <a:rPr sz="2800" spc="-1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time</a:t>
            </a:r>
            <a:r>
              <a:rPr sz="2800" spc="-1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span</a:t>
            </a:r>
            <a:r>
              <a:rPr sz="2800" spc="-1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90" dirty="0"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9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total</a:t>
            </a:r>
            <a:r>
              <a:rPr sz="2800" spc="-1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time</a:t>
            </a:r>
            <a:r>
              <a:rPr sz="2800" spc="-14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span</a:t>
            </a:r>
            <a:r>
              <a:rPr sz="2800" spc="-14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including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idle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70" dirty="0">
                <a:latin typeface="Rockwell" panose="02060603020205020403" pitchFamily="18" charset="0"/>
                <a:cs typeface="Trebuchet MS"/>
              </a:rPr>
              <a:t>time.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0" dirty="0">
                <a:latin typeface="Rockwell" panose="02060603020205020403" pitchFamily="18" charset="0"/>
                <a:cs typeface="Trebuchet MS"/>
              </a:rPr>
              <a:t>Let </a:t>
            </a:r>
            <a:r>
              <a:rPr sz="2800" spc="70" dirty="0">
                <a:latin typeface="Rockwell" panose="02060603020205020403" pitchFamily="18" charset="0"/>
                <a:cs typeface="Trebuchet MS"/>
              </a:rPr>
              <a:t>c </a:t>
            </a:r>
            <a:r>
              <a:rPr sz="2800" spc="160" dirty="0">
                <a:latin typeface="Rockwell" panose="02060603020205020403" pitchFamily="18" charset="0"/>
                <a:cs typeface="Trebuchet MS"/>
              </a:rPr>
              <a:t>be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85" dirty="0">
                <a:latin typeface="Rockwell" panose="02060603020205020403" pitchFamily="18" charset="0"/>
                <a:cs typeface="Trebuchet MS"/>
              </a:rPr>
              <a:t>clock </a:t>
            </a:r>
            <a:r>
              <a:rPr sz="2800" spc="110" dirty="0">
                <a:latin typeface="Rockwell" panose="02060603020205020403" pitchFamily="18" charset="0"/>
                <a:cs typeface="Trebuchet MS"/>
              </a:rPr>
              <a:t>period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of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pipeline,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15" dirty="0">
                <a:latin typeface="Rockwell" panose="02060603020205020403" pitchFamily="18" charset="0"/>
                <a:cs typeface="Trebuchet MS"/>
              </a:rPr>
              <a:t>efficiency </a:t>
            </a:r>
            <a:r>
              <a:rPr sz="2800" spc="245" dirty="0">
                <a:latin typeface="Rockwell" panose="02060603020205020403" pitchFamily="18" charset="0"/>
                <a:cs typeface="Trebuchet MS"/>
              </a:rPr>
              <a:t>E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can </a:t>
            </a:r>
            <a:r>
              <a:rPr sz="2800" spc="160" dirty="0">
                <a:latin typeface="Rockwell" panose="02060603020205020403" pitchFamily="18" charset="0"/>
                <a:cs typeface="Trebuchet MS"/>
              </a:rPr>
              <a:t>be  </a:t>
            </a:r>
            <a:r>
              <a:rPr sz="2800" spc="60" dirty="0">
                <a:latin typeface="Rockwell" panose="02060603020205020403" pitchFamily="18" charset="0"/>
                <a:cs typeface="Trebuchet MS"/>
              </a:rPr>
              <a:t>denoted</a:t>
            </a:r>
            <a:r>
              <a:rPr sz="2800" spc="-18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as: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spcBef>
                <a:spcPts val="9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2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E</a:t>
            </a:r>
            <a:r>
              <a:rPr sz="2800" spc="-1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=</a:t>
            </a:r>
            <a:r>
              <a:rPr sz="2800" spc="-1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(n.</a:t>
            </a:r>
            <a:r>
              <a:rPr sz="2800" spc="-3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m.</a:t>
            </a:r>
            <a:r>
              <a:rPr sz="2800" spc="-3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c)</a:t>
            </a:r>
            <a:r>
              <a:rPr sz="2800" spc="-1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/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m.</a:t>
            </a:r>
            <a:r>
              <a:rPr sz="2800" spc="-3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[m.</a:t>
            </a:r>
            <a:r>
              <a:rPr sz="2800" spc="-31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c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+</a:t>
            </a:r>
            <a:r>
              <a:rPr sz="2800" spc="-1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(n-1).c]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=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n</a:t>
            </a:r>
            <a:r>
              <a:rPr sz="2800" spc="-1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/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[(m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+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(n-1)]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220" dirty="0">
                <a:latin typeface="Rockwell" panose="02060603020205020403" pitchFamily="18" charset="0"/>
                <a:cs typeface="Trebuchet MS"/>
              </a:rPr>
              <a:t>As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40" dirty="0">
                <a:latin typeface="Rockwell" panose="02060603020205020403" pitchFamily="18" charset="0"/>
                <a:cs typeface="Trebuchet MS"/>
              </a:rPr>
              <a:t>n-&gt;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60" dirty="0">
                <a:latin typeface="Rockwell" panose="02060603020205020403" pitchFamily="18" charset="0"/>
                <a:cs typeface="Trebuchet MS"/>
              </a:rPr>
              <a:t>∞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15" dirty="0">
                <a:latin typeface="Rockwell" panose="02060603020205020403" pitchFamily="18" charset="0"/>
                <a:cs typeface="Trebuchet MS"/>
              </a:rPr>
              <a:t>,</a:t>
            </a:r>
            <a:r>
              <a:rPr sz="2800" spc="-37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45" dirty="0">
                <a:latin typeface="Rockwell" panose="02060603020205020403" pitchFamily="18" charset="0"/>
                <a:cs typeface="Trebuchet MS"/>
              </a:rPr>
              <a:t>E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14" dirty="0">
                <a:latin typeface="Rockwell" panose="02060603020205020403" pitchFamily="18" charset="0"/>
                <a:cs typeface="Trebuchet MS"/>
              </a:rPr>
              <a:t>becomes</a:t>
            </a:r>
            <a:r>
              <a:rPr sz="2800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85" dirty="0">
                <a:latin typeface="Rockwell" panose="02060603020205020403" pitchFamily="18" charset="0"/>
                <a:cs typeface="Trebuchet MS"/>
              </a:rPr>
              <a:t>1.</a:t>
            </a:r>
            <a:endParaRPr sz="2800" dirty="0">
              <a:latin typeface="Rockwell" panose="02060603020205020403" pitchFamily="18" charset="0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1750" y="315795"/>
            <a:ext cx="1157167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305" dirty="0">
                <a:latin typeface="Rockwell" panose="02060603020205020403" pitchFamily="18" charset="0"/>
              </a:rPr>
              <a:t>Performance </a:t>
            </a:r>
            <a:r>
              <a:rPr sz="4000" spc="-204" dirty="0">
                <a:latin typeface="Rockwell" panose="02060603020205020403" pitchFamily="18" charset="0"/>
              </a:rPr>
              <a:t>Issue </a:t>
            </a:r>
            <a:r>
              <a:rPr sz="4000" spc="475" dirty="0">
                <a:latin typeface="Rockwell" panose="02060603020205020403" pitchFamily="18" charset="0"/>
              </a:rPr>
              <a:t>–</a:t>
            </a:r>
            <a:r>
              <a:rPr sz="4000" spc="50" dirty="0">
                <a:latin typeface="Rockwell" panose="02060603020205020403" pitchFamily="18" charset="0"/>
              </a:rPr>
              <a:t> </a:t>
            </a:r>
            <a:r>
              <a:rPr sz="4000" spc="-330" dirty="0">
                <a:latin typeface="Rockwell" panose="02060603020205020403" pitchFamily="18" charset="0"/>
              </a:rPr>
              <a:t>(cont’d)</a:t>
            </a:r>
          </a:p>
        </p:txBody>
      </p:sp>
    </p:spTree>
    <p:extLst>
      <p:ext uri="{BB962C8B-B14F-4D97-AF65-F5344CB8AC3E}">
        <p14:creationId xmlns:p14="http://schemas.microsoft.com/office/powerpoint/2010/main" val="1043963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1819" y="1341500"/>
            <a:ext cx="113059" cy="0"/>
          </a:xfrm>
          <a:custGeom>
            <a:avLst/>
            <a:gdLst/>
            <a:ahLst/>
            <a:cxnLst/>
            <a:rect l="l" t="t" r="r" b="b"/>
            <a:pathLst>
              <a:path w="113029">
                <a:moveTo>
                  <a:pt x="0" y="0"/>
                </a:moveTo>
                <a:lnTo>
                  <a:pt x="112775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640" y="1129029"/>
            <a:ext cx="11316106" cy="444288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 algn="just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Throughput</a:t>
            </a:r>
            <a:r>
              <a:rPr sz="2800" spc="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:</a:t>
            </a:r>
            <a:r>
              <a:rPr sz="2800" spc="-4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Throughput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5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pipeline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can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40" dirty="0">
                <a:latin typeface="Rockwell" panose="02060603020205020403" pitchFamily="18" charset="0"/>
                <a:cs typeface="Trebuchet MS"/>
              </a:rPr>
              <a:t>be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defined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0" dirty="0">
                <a:latin typeface="Rockwell" panose="02060603020205020403" pitchFamily="18" charset="0"/>
                <a:cs typeface="Trebuchet MS"/>
              </a:rPr>
              <a:t>as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number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5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800" spc="-10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results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95" dirty="0">
                <a:latin typeface="Rockwell" panose="02060603020205020403" pitchFamily="18" charset="0"/>
                <a:cs typeface="Trebuchet MS"/>
              </a:rPr>
              <a:t>that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have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0" dirty="0">
                <a:latin typeface="Rockwell" panose="02060603020205020403" pitchFamily="18" charset="0"/>
                <a:cs typeface="Trebuchet MS"/>
              </a:rPr>
              <a:t>been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achieved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per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unit</a:t>
            </a:r>
            <a:r>
              <a:rPr sz="2800" spc="-1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6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time.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75" dirty="0">
                <a:latin typeface="Rockwell" panose="02060603020205020403" pitchFamily="18" charset="0"/>
                <a:cs typeface="Trebuchet MS"/>
              </a:rPr>
              <a:t>It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can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40" dirty="0">
                <a:latin typeface="Rockwell" panose="02060603020205020403" pitchFamily="18" charset="0"/>
                <a:cs typeface="Trebuchet MS"/>
              </a:rPr>
              <a:t>be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5" dirty="0">
                <a:latin typeface="Rockwell" panose="02060603020205020403" pitchFamily="18" charset="0"/>
                <a:cs typeface="Trebuchet MS"/>
              </a:rPr>
              <a:t>denoted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as: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25"/>
              </a:spcBef>
              <a:buChar char="•"/>
            </a:pPr>
            <a:endParaRPr sz="4400" dirty="0">
              <a:latin typeface="Rockwell" panose="02060603020205020403" pitchFamily="18" charset="0"/>
              <a:cs typeface="Trebuchet MS"/>
            </a:endParaRPr>
          </a:p>
          <a:p>
            <a:pPr marL="756285" lvl="1" indent="-287020" algn="just">
              <a:lnSpc>
                <a:spcPct val="100000"/>
              </a:lnSpc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800" spc="-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</a:t>
            </a:r>
            <a:r>
              <a:rPr sz="2800" spc="-1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=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(n</a:t>
            </a:r>
            <a:r>
              <a:rPr sz="2800" spc="-1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/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[m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+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(n-1)])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/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c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=</a:t>
            </a:r>
            <a:r>
              <a:rPr sz="2800" spc="-1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E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/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c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lvl="1" algn="just">
              <a:lnSpc>
                <a:spcPct val="100000"/>
              </a:lnSpc>
              <a:spcBef>
                <a:spcPts val="10"/>
              </a:spcBef>
              <a:buClr>
                <a:srgbClr val="0000FF"/>
              </a:buClr>
              <a:buFont typeface="Wingdings"/>
              <a:buChar char=""/>
            </a:pPr>
            <a:endParaRPr sz="4000" dirty="0">
              <a:latin typeface="Rockwell" panose="02060603020205020403" pitchFamily="18" charset="0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50" dirty="0">
                <a:latin typeface="Rockwell" panose="02060603020205020403" pitchFamily="18" charset="0"/>
                <a:cs typeface="Trebuchet MS"/>
              </a:rPr>
              <a:t>Throughput</a:t>
            </a:r>
            <a:r>
              <a:rPr sz="2800" spc="-17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denotes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latin typeface="Rockwell" panose="02060603020205020403" pitchFamily="18" charset="0"/>
                <a:cs typeface="Trebuchet MS"/>
              </a:rPr>
              <a:t>computing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5" dirty="0">
                <a:latin typeface="Rockwell" panose="02060603020205020403" pitchFamily="18" charset="0"/>
                <a:cs typeface="Trebuchet MS"/>
              </a:rPr>
              <a:t>power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5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pipeline.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10"/>
              </a:spcBef>
              <a:buChar char="•"/>
            </a:pPr>
            <a:endParaRPr sz="4000" dirty="0">
              <a:latin typeface="Rockwell" panose="02060603020205020403" pitchFamily="18" charset="0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105" dirty="0">
                <a:latin typeface="Rockwell" panose="02060603020205020403" pitchFamily="18" charset="0"/>
                <a:cs typeface="Trebuchet MS"/>
              </a:rPr>
              <a:t>Maximum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speedup,</a:t>
            </a:r>
            <a:r>
              <a:rPr sz="2800" spc="-3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efficiency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and</a:t>
            </a:r>
            <a:r>
              <a:rPr sz="2800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throughput</a:t>
            </a:r>
            <a:r>
              <a:rPr sz="2800" spc="-1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are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ideal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cases.</a:t>
            </a:r>
            <a:endParaRPr sz="2800" dirty="0">
              <a:latin typeface="Rockwell" panose="02060603020205020403" pitchFamily="18" charset="0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8942" y="239037"/>
            <a:ext cx="1146676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305" dirty="0">
                <a:latin typeface="Rockwell" panose="02060603020205020403" pitchFamily="18" charset="0"/>
              </a:rPr>
              <a:t>Performance </a:t>
            </a:r>
            <a:r>
              <a:rPr sz="4000" spc="-204" dirty="0">
                <a:latin typeface="Rockwell" panose="02060603020205020403" pitchFamily="18" charset="0"/>
              </a:rPr>
              <a:t>Issue </a:t>
            </a:r>
            <a:r>
              <a:rPr sz="4000" spc="475" dirty="0">
                <a:latin typeface="Rockwell" panose="02060603020205020403" pitchFamily="18" charset="0"/>
              </a:rPr>
              <a:t>–</a:t>
            </a:r>
            <a:r>
              <a:rPr sz="4000" spc="50" dirty="0">
                <a:latin typeface="Rockwell" panose="02060603020205020403" pitchFamily="18" charset="0"/>
              </a:rPr>
              <a:t> </a:t>
            </a:r>
            <a:r>
              <a:rPr sz="4000" spc="-330" dirty="0">
                <a:latin typeface="Rockwell" panose="02060603020205020403" pitchFamily="18" charset="0"/>
              </a:rPr>
              <a:t>(cont’d)</a:t>
            </a:r>
          </a:p>
        </p:txBody>
      </p:sp>
    </p:spTree>
    <p:extLst>
      <p:ext uri="{BB962C8B-B14F-4D97-AF65-F5344CB8AC3E}">
        <p14:creationId xmlns:p14="http://schemas.microsoft.com/office/powerpoint/2010/main" val="1390790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4" y="208260"/>
            <a:ext cx="1146676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229" dirty="0"/>
              <a:t>Pipeline</a:t>
            </a:r>
            <a:r>
              <a:rPr sz="4400" spc="40" dirty="0"/>
              <a:t> </a:t>
            </a:r>
            <a:r>
              <a:rPr sz="4400" spc="-170" dirty="0"/>
              <a:t>Hazards/Limitations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33477" y="1341500"/>
            <a:ext cx="11639876" cy="438389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335" rIns="0" bIns="0" rtlCol="0">
            <a:spAutoFit/>
          </a:bodyPr>
          <a:lstStyle/>
          <a:p>
            <a:pPr marL="355600" marR="76517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spc="50" dirty="0">
                <a:latin typeface="Rockwell" panose="02060603020205020403" pitchFamily="18" charset="0"/>
                <a:cs typeface="Trebuchet MS"/>
              </a:rPr>
              <a:t>Hazards</a:t>
            </a:r>
            <a:r>
              <a:rPr sz="26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55" dirty="0">
                <a:latin typeface="Rockwell" panose="02060603020205020403" pitchFamily="18" charset="0"/>
                <a:cs typeface="Trebuchet MS"/>
              </a:rPr>
              <a:t>reduce</a:t>
            </a:r>
            <a:r>
              <a:rPr sz="26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6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55" dirty="0">
                <a:latin typeface="Rockwell" panose="02060603020205020403" pitchFamily="18" charset="0"/>
                <a:cs typeface="Trebuchet MS"/>
              </a:rPr>
              <a:t>performance</a:t>
            </a:r>
            <a:r>
              <a:rPr sz="26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20" dirty="0">
                <a:latin typeface="Rockwell" panose="02060603020205020403" pitchFamily="18" charset="0"/>
                <a:cs typeface="Trebuchet MS"/>
              </a:rPr>
              <a:t>from</a:t>
            </a:r>
            <a:r>
              <a:rPr sz="26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6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55" dirty="0">
                <a:latin typeface="Rockwell" panose="02060603020205020403" pitchFamily="18" charset="0"/>
                <a:cs typeface="Trebuchet MS"/>
              </a:rPr>
              <a:t>ideal</a:t>
            </a:r>
            <a:r>
              <a:rPr sz="26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120" dirty="0">
                <a:latin typeface="Rockwell" panose="02060603020205020403" pitchFamily="18" charset="0"/>
                <a:cs typeface="Trebuchet MS"/>
              </a:rPr>
              <a:t>speedup</a:t>
            </a:r>
            <a:r>
              <a:rPr sz="26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105" dirty="0">
                <a:latin typeface="Rockwell" panose="02060603020205020403" pitchFamily="18" charset="0"/>
                <a:cs typeface="Trebuchet MS"/>
              </a:rPr>
              <a:t>gained</a:t>
            </a:r>
            <a:r>
              <a:rPr sz="26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150" dirty="0">
                <a:latin typeface="Rockwell" panose="02060603020205020403" pitchFamily="18" charset="0"/>
                <a:cs typeface="Trebuchet MS"/>
              </a:rPr>
              <a:t>by  </a:t>
            </a:r>
            <a:r>
              <a:rPr sz="2600" spc="50" dirty="0">
                <a:latin typeface="Rockwell" panose="02060603020205020403" pitchFamily="18" charset="0"/>
                <a:cs typeface="Trebuchet MS"/>
              </a:rPr>
              <a:t>pipelines:</a:t>
            </a:r>
            <a:endParaRPr sz="2600" dirty="0">
              <a:latin typeface="Rockwell" panose="02060603020205020403" pitchFamily="18" charset="0"/>
              <a:cs typeface="Trebuchet MS"/>
            </a:endParaRPr>
          </a:p>
          <a:p>
            <a:pPr marL="436245" indent="-424180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436245" algn="l"/>
                <a:tab pos="436880" algn="l"/>
              </a:tabLst>
            </a:pPr>
            <a:r>
              <a:rPr sz="2600" b="1" spc="6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Structural</a:t>
            </a:r>
            <a:r>
              <a:rPr sz="2600" b="1" spc="-17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7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hazard:</a:t>
            </a:r>
            <a:r>
              <a:rPr sz="2600" b="1" spc="-36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10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Resource</a:t>
            </a:r>
            <a:r>
              <a:rPr sz="2600" b="1" spc="-16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5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conflict.</a:t>
            </a:r>
            <a:endParaRPr sz="2600" dirty="0">
              <a:latin typeface="Rockwell" panose="02060603020205020403" pitchFamily="18" charset="0"/>
              <a:cs typeface="Trebuchet MS"/>
            </a:endParaRPr>
          </a:p>
          <a:p>
            <a:pPr marL="355600" marR="589915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spc="40" dirty="0">
                <a:latin typeface="Rockwell" panose="02060603020205020403" pitchFamily="18" charset="0"/>
                <a:cs typeface="Trebuchet MS"/>
              </a:rPr>
              <a:t>Hardware</a:t>
            </a:r>
            <a:r>
              <a:rPr sz="2600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10" dirty="0">
                <a:latin typeface="Rockwell" panose="02060603020205020403" pitchFamily="18" charset="0"/>
                <a:cs typeface="Trebuchet MS"/>
              </a:rPr>
              <a:t>cannot</a:t>
            </a:r>
            <a:r>
              <a:rPr sz="26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65" dirty="0">
                <a:latin typeface="Rockwell" panose="02060603020205020403" pitchFamily="18" charset="0"/>
                <a:cs typeface="Trebuchet MS"/>
              </a:rPr>
              <a:t>support</a:t>
            </a:r>
            <a:r>
              <a:rPr sz="26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dirty="0">
                <a:latin typeface="Rockwell" panose="02060603020205020403" pitchFamily="18" charset="0"/>
                <a:cs typeface="Trebuchet MS"/>
              </a:rPr>
              <a:t>all</a:t>
            </a:r>
            <a:r>
              <a:rPr sz="26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100" dirty="0">
                <a:latin typeface="Rockwell" panose="02060603020205020403" pitchFamily="18" charset="0"/>
                <a:cs typeface="Trebuchet MS"/>
              </a:rPr>
              <a:t>possible</a:t>
            </a:r>
            <a:r>
              <a:rPr sz="26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50" dirty="0">
                <a:latin typeface="Rockwell" panose="02060603020205020403" pitchFamily="18" charset="0"/>
                <a:cs typeface="Trebuchet MS"/>
              </a:rPr>
              <a:t>combinations</a:t>
            </a:r>
            <a:r>
              <a:rPr sz="26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55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6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15" dirty="0">
                <a:latin typeface="Rockwell" panose="02060603020205020403" pitchFamily="18" charset="0"/>
                <a:cs typeface="Trebuchet MS"/>
              </a:rPr>
              <a:t>instructions</a:t>
            </a:r>
            <a:r>
              <a:rPr sz="2600" spc="-10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45" dirty="0">
                <a:latin typeface="Rockwell" panose="02060603020205020403" pitchFamily="18" charset="0"/>
                <a:cs typeface="Trebuchet MS"/>
              </a:rPr>
              <a:t>in  </a:t>
            </a:r>
            <a:r>
              <a:rPr sz="2600" spc="35" dirty="0">
                <a:latin typeface="Rockwell" panose="02060603020205020403" pitchFamily="18" charset="0"/>
                <a:cs typeface="Trebuchet MS"/>
              </a:rPr>
              <a:t>simultaneous </a:t>
            </a:r>
            <a:r>
              <a:rPr sz="2600" spc="75" dirty="0">
                <a:latin typeface="Rockwell" panose="02060603020205020403" pitchFamily="18" charset="0"/>
                <a:cs typeface="Trebuchet MS"/>
              </a:rPr>
              <a:t>overlapped</a:t>
            </a:r>
            <a:r>
              <a:rPr sz="2600" spc="-3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5" dirty="0">
                <a:latin typeface="Rockwell" panose="02060603020205020403" pitchFamily="18" charset="0"/>
                <a:cs typeface="Trebuchet MS"/>
              </a:rPr>
              <a:t>execution.</a:t>
            </a:r>
            <a:endParaRPr sz="2600" dirty="0">
              <a:latin typeface="Rockwell" panose="02060603020205020403" pitchFamily="18" charset="0"/>
              <a:cs typeface="Trebuchet MS"/>
            </a:endParaRPr>
          </a:p>
          <a:p>
            <a:pPr marL="436245" indent="-424180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Font typeface="Arial"/>
              <a:buChar char="•"/>
              <a:tabLst>
                <a:tab pos="436245" algn="l"/>
                <a:tab pos="436880" algn="l"/>
              </a:tabLst>
            </a:pPr>
            <a:r>
              <a:rPr sz="2600" b="1" spc="1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Data</a:t>
            </a:r>
            <a:r>
              <a:rPr sz="2600" b="1" spc="-16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7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hazard:</a:t>
            </a:r>
            <a:endParaRPr sz="26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b="1" spc="125" dirty="0">
                <a:latin typeface="Rockwell" panose="02060603020205020403" pitchFamily="18" charset="0"/>
                <a:cs typeface="Trebuchet MS"/>
              </a:rPr>
              <a:t>When</a:t>
            </a:r>
            <a:r>
              <a:rPr sz="2600" b="1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110" dirty="0">
                <a:latin typeface="Rockwell" panose="02060603020205020403" pitchFamily="18" charset="0"/>
                <a:cs typeface="Trebuchet MS"/>
              </a:rPr>
              <a:t>an</a:t>
            </a:r>
            <a:r>
              <a:rPr sz="2600" b="1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75" dirty="0">
                <a:latin typeface="Rockwell" panose="02060603020205020403" pitchFamily="18" charset="0"/>
                <a:cs typeface="Trebuchet MS"/>
              </a:rPr>
              <a:t>instruction</a:t>
            </a:r>
            <a:r>
              <a:rPr sz="2600" b="1" spc="-17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85" dirty="0">
                <a:latin typeface="Rockwell" panose="02060603020205020403" pitchFamily="18" charset="0"/>
                <a:cs typeface="Trebuchet MS"/>
              </a:rPr>
              <a:t>depends</a:t>
            </a:r>
            <a:r>
              <a:rPr sz="2600" b="1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80" dirty="0">
                <a:latin typeface="Rockwell" panose="02060603020205020403" pitchFamily="18" charset="0"/>
                <a:cs typeface="Trebuchet MS"/>
              </a:rPr>
              <a:t>on</a:t>
            </a:r>
            <a:r>
              <a:rPr sz="26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6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5" dirty="0">
                <a:latin typeface="Rockwell" panose="02060603020205020403" pitchFamily="18" charset="0"/>
                <a:cs typeface="Trebuchet MS"/>
              </a:rPr>
              <a:t>results</a:t>
            </a:r>
            <a:r>
              <a:rPr sz="26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55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6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6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65" dirty="0">
                <a:latin typeface="Rockwell" panose="02060603020205020403" pitchFamily="18" charset="0"/>
                <a:cs typeface="Trebuchet MS"/>
              </a:rPr>
              <a:t>previous</a:t>
            </a:r>
            <a:r>
              <a:rPr sz="26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10" dirty="0">
                <a:latin typeface="Rockwell" panose="02060603020205020403" pitchFamily="18" charset="0"/>
                <a:cs typeface="Trebuchet MS"/>
              </a:rPr>
              <a:t>instruction.</a:t>
            </a:r>
            <a:endParaRPr sz="2600" dirty="0">
              <a:latin typeface="Rockwell" panose="02060603020205020403" pitchFamily="18" charset="0"/>
              <a:cs typeface="Trebuchet MS"/>
            </a:endParaRPr>
          </a:p>
          <a:p>
            <a:pPr marL="436245" indent="-424180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Font typeface="Arial"/>
              <a:buChar char="•"/>
              <a:tabLst>
                <a:tab pos="436245" algn="l"/>
                <a:tab pos="436880" algn="l"/>
              </a:tabLst>
            </a:pPr>
            <a:r>
              <a:rPr sz="2600" b="1" spc="9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Control</a:t>
            </a:r>
            <a:r>
              <a:rPr sz="2600" b="1" spc="-16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7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hazard:</a:t>
            </a:r>
            <a:endParaRPr sz="26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b="1" spc="165" dirty="0">
                <a:latin typeface="Rockwell" panose="02060603020205020403" pitchFamily="18" charset="0"/>
                <a:cs typeface="Trebuchet MS"/>
              </a:rPr>
              <a:t>Due</a:t>
            </a:r>
            <a:r>
              <a:rPr sz="2600" b="1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-60" dirty="0">
                <a:latin typeface="Rockwell" panose="02060603020205020403" pitchFamily="18" charset="0"/>
                <a:cs typeface="Trebuchet MS"/>
              </a:rPr>
              <a:t>to</a:t>
            </a:r>
            <a:r>
              <a:rPr sz="2600" b="1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100" dirty="0">
                <a:latin typeface="Rockwell" panose="02060603020205020403" pitchFamily="18" charset="0"/>
                <a:cs typeface="Trebuchet MS"/>
              </a:rPr>
              <a:t>branches</a:t>
            </a:r>
            <a:r>
              <a:rPr sz="2600" b="1" spc="-18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spc="114" dirty="0">
                <a:latin typeface="Rockwell" panose="02060603020205020403" pitchFamily="18" charset="0"/>
                <a:cs typeface="Trebuchet MS"/>
              </a:rPr>
              <a:t>and</a:t>
            </a:r>
            <a:r>
              <a:rPr sz="2600" b="1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b="1" dirty="0">
                <a:latin typeface="Rockwell" panose="02060603020205020403" pitchFamily="18" charset="0"/>
                <a:cs typeface="Trebuchet MS"/>
              </a:rPr>
              <a:t>other</a:t>
            </a:r>
            <a:r>
              <a:rPr sz="2600" b="1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15" dirty="0">
                <a:latin typeface="Rockwell" panose="02060603020205020403" pitchFamily="18" charset="0"/>
                <a:cs typeface="Trebuchet MS"/>
              </a:rPr>
              <a:t>instructions</a:t>
            </a:r>
            <a:r>
              <a:rPr sz="26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105" dirty="0">
                <a:latin typeface="Rockwell" panose="02060603020205020403" pitchFamily="18" charset="0"/>
                <a:cs typeface="Trebuchet MS"/>
              </a:rPr>
              <a:t>that</a:t>
            </a:r>
            <a:r>
              <a:rPr sz="26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75" dirty="0">
                <a:latin typeface="Rockwell" panose="02060603020205020403" pitchFamily="18" charset="0"/>
                <a:cs typeface="Trebuchet MS"/>
              </a:rPr>
              <a:t>affect</a:t>
            </a:r>
            <a:r>
              <a:rPr sz="26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6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600" spc="45" dirty="0">
                <a:latin typeface="Rockwell" panose="02060603020205020403" pitchFamily="18" charset="0"/>
                <a:cs typeface="Trebuchet MS"/>
              </a:rPr>
              <a:t>PC.</a:t>
            </a:r>
            <a:endParaRPr sz="2600" dirty="0">
              <a:latin typeface="Rockwell" panose="02060603020205020403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622431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629" y="436376"/>
            <a:ext cx="1156191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229" dirty="0">
                <a:latin typeface="Rockwell" panose="02060603020205020403" pitchFamily="18" charset="0"/>
              </a:rPr>
              <a:t>Pipeline</a:t>
            </a:r>
            <a:r>
              <a:rPr sz="4400" spc="20" dirty="0">
                <a:latin typeface="Rockwell" panose="02060603020205020403" pitchFamily="18" charset="0"/>
              </a:rPr>
              <a:t> </a:t>
            </a:r>
            <a:r>
              <a:rPr sz="4400" spc="-185" dirty="0">
                <a:latin typeface="Rockwell" panose="02060603020205020403" pitchFamily="18" charset="0"/>
              </a:rPr>
              <a:t>Stalls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16986" y="1600200"/>
            <a:ext cx="11561915" cy="344389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065" rIns="0" bIns="0" rtlCol="0">
            <a:spAutoFit/>
          </a:bodyPr>
          <a:lstStyle/>
          <a:p>
            <a:pPr marL="355600" marR="6985" indent="-342900" algn="just">
              <a:lnSpc>
                <a:spcPct val="100000"/>
              </a:lnSpc>
              <a:spcBef>
                <a:spcPts val="95"/>
              </a:spcBef>
              <a:spcAft>
                <a:spcPts val="1200"/>
              </a:spcAft>
              <a:buFont typeface="Arial"/>
              <a:buChar char="•"/>
              <a:tabLst>
                <a:tab pos="354965" algn="l"/>
                <a:tab pos="355600" algn="l"/>
                <a:tab pos="794385" algn="l"/>
                <a:tab pos="1650364" algn="l"/>
                <a:tab pos="2106295" algn="l"/>
                <a:tab pos="2812415" algn="l"/>
                <a:tab pos="3912235" algn="l"/>
                <a:tab pos="4409440" algn="l"/>
                <a:tab pos="5641340" algn="l"/>
                <a:tab pos="6994525" algn="l"/>
                <a:tab pos="7811770" algn="l"/>
                <a:tab pos="8311515" algn="l"/>
                <a:tab pos="9084310" algn="l"/>
                <a:tab pos="9580880" algn="l"/>
                <a:tab pos="10285095" algn="l"/>
              </a:tabLst>
            </a:pPr>
            <a:r>
              <a:rPr sz="2800" spc="300" dirty="0">
                <a:latin typeface="Rockwell" panose="02060603020205020403" pitchFamily="18" charset="0"/>
                <a:cs typeface="Trebuchet MS"/>
              </a:rPr>
              <a:t>A	</a:t>
            </a:r>
            <a:r>
              <a:rPr sz="2800" b="1" spc="-25" dirty="0">
                <a:solidFill>
                  <a:srgbClr val="FF0000"/>
                </a:solidFill>
                <a:latin typeface="Rockwell" panose="02060603020205020403" pitchFamily="18" charset="0"/>
                <a:cs typeface="Trebuchet MS"/>
              </a:rPr>
              <a:t>stall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	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i</a:t>
            </a:r>
            <a:r>
              <a:rPr sz="2800" spc="95" dirty="0">
                <a:latin typeface="Rockwell" panose="02060603020205020403" pitchFamily="18" charset="0"/>
                <a:cs typeface="Trebuchet MS"/>
              </a:rPr>
              <a:t>s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	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	</a:t>
            </a:r>
            <a:r>
              <a:rPr sz="2800" spc="60" dirty="0">
                <a:latin typeface="Rockwell" panose="02060603020205020403" pitchFamily="18" charset="0"/>
                <a:cs typeface="Trebuchet MS"/>
              </a:rPr>
              <a:t>del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190" dirty="0">
                <a:latin typeface="Rockwell" panose="02060603020205020403" pitchFamily="18" charset="0"/>
                <a:cs typeface="Trebuchet MS"/>
              </a:rPr>
              <a:t>y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	</a:t>
            </a:r>
            <a:r>
              <a:rPr sz="2800" spc="25" dirty="0">
                <a:latin typeface="Rockwell" panose="02060603020205020403" pitchFamily="18" charset="0"/>
                <a:cs typeface="Trebuchet MS"/>
              </a:rPr>
              <a:t>i</a:t>
            </a:r>
            <a:r>
              <a:rPr sz="2800" spc="55" dirty="0">
                <a:latin typeface="Rockwell" panose="02060603020205020403" pitchFamily="18" charset="0"/>
                <a:cs typeface="Trebuchet MS"/>
              </a:rPr>
              <a:t>n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	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cycles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	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ca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u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s</a:t>
            </a:r>
            <a:r>
              <a:rPr sz="2800" spc="130" dirty="0">
                <a:latin typeface="Rockwell" panose="02060603020205020403" pitchFamily="18" charset="0"/>
                <a:cs typeface="Trebuchet MS"/>
              </a:rPr>
              <a:t>e</a:t>
            </a:r>
            <a:r>
              <a:rPr sz="2800" spc="185" dirty="0">
                <a:latin typeface="Rockwell" panose="02060603020205020403" pitchFamily="18" charset="0"/>
                <a:cs typeface="Trebuchet MS"/>
              </a:rPr>
              <a:t>d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	</a:t>
            </a:r>
            <a:r>
              <a:rPr sz="2800" spc="100" dirty="0">
                <a:latin typeface="Rockwell" panose="02060603020205020403" pitchFamily="18" charset="0"/>
                <a:cs typeface="Trebuchet MS"/>
              </a:rPr>
              <a:t>due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	</a:t>
            </a:r>
            <a:r>
              <a:rPr sz="2800" spc="-80" dirty="0">
                <a:latin typeface="Rockwell" panose="02060603020205020403" pitchFamily="18" charset="0"/>
                <a:cs typeface="Trebuchet MS"/>
              </a:rPr>
              <a:t>t</a:t>
            </a:r>
            <a:r>
              <a:rPr sz="2800" spc="-100" dirty="0">
                <a:latin typeface="Rockwell" panose="02060603020205020403" pitchFamily="18" charset="0"/>
                <a:cs typeface="Trebuchet MS"/>
              </a:rPr>
              <a:t>o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	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n</a:t>
            </a:r>
            <a:r>
              <a:rPr sz="2800" spc="190" dirty="0">
                <a:latin typeface="Rockwell" panose="02060603020205020403" pitchFamily="18" charset="0"/>
                <a:cs typeface="Trebuchet MS"/>
              </a:rPr>
              <a:t>y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	</a:t>
            </a:r>
            <a:r>
              <a:rPr sz="2800" spc="-65" dirty="0">
                <a:latin typeface="Rockwell" panose="02060603020205020403" pitchFamily="18" charset="0"/>
                <a:cs typeface="Trebuchet MS"/>
              </a:rPr>
              <a:t>o</a:t>
            </a:r>
            <a:r>
              <a:rPr sz="2800" spc="-50" dirty="0">
                <a:latin typeface="Rockwell" panose="02060603020205020403" pitchFamily="18" charset="0"/>
                <a:cs typeface="Trebuchet MS"/>
              </a:rPr>
              <a:t>f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	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	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h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zar</a:t>
            </a:r>
            <a:r>
              <a:rPr sz="2800" spc="135" dirty="0">
                <a:latin typeface="Rockwell" panose="02060603020205020403" pitchFamily="18" charset="0"/>
                <a:cs typeface="Trebuchet MS"/>
              </a:rPr>
              <a:t>ds 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mentioned</a:t>
            </a:r>
            <a:r>
              <a:rPr sz="2800" spc="-18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0" dirty="0">
                <a:latin typeface="Rockwell" panose="02060603020205020403" pitchFamily="18" charset="0"/>
                <a:cs typeface="Trebuchet MS"/>
              </a:rPr>
              <a:t>above.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441959" indent="-429895" algn="just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/>
              <a:buChar char="•"/>
              <a:tabLst>
                <a:tab pos="441959" algn="l"/>
                <a:tab pos="442595" algn="l"/>
              </a:tabLst>
            </a:pPr>
            <a:r>
              <a:rPr sz="2800" b="1" spc="70" dirty="0">
                <a:latin typeface="Rockwell" panose="02060603020205020403" pitchFamily="18" charset="0"/>
                <a:cs typeface="Trebuchet MS"/>
              </a:rPr>
              <a:t>Speedup</a:t>
            </a:r>
            <a:r>
              <a:rPr sz="2800" b="1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15" dirty="0">
                <a:latin typeface="Rockwell" panose="02060603020205020403" pitchFamily="18" charset="0"/>
                <a:cs typeface="Trebuchet MS"/>
              </a:rPr>
              <a:t>: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spcBef>
                <a:spcPts val="994"/>
              </a:spcBef>
              <a:spcAft>
                <a:spcPts val="1200"/>
              </a:spcAft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65" dirty="0">
                <a:latin typeface="Rockwell" panose="02060603020205020403" pitchFamily="18" charset="0"/>
                <a:cs typeface="Trebuchet MS"/>
              </a:rPr>
              <a:t>1/(1+pipeline</a:t>
            </a:r>
            <a:r>
              <a:rPr sz="2800" spc="-17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stall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14" dirty="0">
                <a:latin typeface="Rockwell" panose="02060603020205020403" pitchFamily="18" charset="0"/>
                <a:cs typeface="Trebuchet MS"/>
              </a:rPr>
              <a:t>per</a:t>
            </a:r>
            <a:r>
              <a:rPr sz="2800" spc="-17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instruction)*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25" dirty="0">
                <a:latin typeface="Rockwell" panose="02060603020205020403" pitchFamily="18" charset="0"/>
                <a:cs typeface="Trebuchet MS"/>
              </a:rPr>
              <a:t>Number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stages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10"/>
              </a:spcBef>
              <a:spcAft>
                <a:spcPts val="1200"/>
              </a:spcAft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125" dirty="0">
                <a:latin typeface="Rockwell" panose="02060603020205020403" pitchFamily="18" charset="0"/>
                <a:cs typeface="Trebuchet MS"/>
              </a:rPr>
              <a:t>Number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of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cycles </a:t>
            </a:r>
            <a:r>
              <a:rPr sz="2800" spc="110" dirty="0">
                <a:latin typeface="Rockwell" panose="02060603020205020403" pitchFamily="18" charset="0"/>
                <a:cs typeface="Trebuchet MS"/>
              </a:rPr>
              <a:t>needed </a:t>
            </a:r>
            <a:r>
              <a:rPr sz="2800" spc="-85" dirty="0">
                <a:latin typeface="Rockwell" panose="02060603020205020403" pitchFamily="18" charset="0"/>
                <a:cs typeface="Trebuchet MS"/>
              </a:rPr>
              <a:t>to </a:t>
            </a:r>
            <a:r>
              <a:rPr sz="2800" spc="-5" dirty="0">
                <a:latin typeface="Rockwell" panose="02060603020205020403" pitchFamily="18" charset="0"/>
                <a:cs typeface="Trebuchet MS"/>
              </a:rPr>
              <a:t>initially </a:t>
            </a:r>
            <a:r>
              <a:rPr sz="2800" spc="-55" dirty="0">
                <a:latin typeface="Rockwell" panose="02060603020205020403" pitchFamily="18" charset="0"/>
                <a:cs typeface="Trebuchet MS"/>
              </a:rPr>
              <a:t>fill </a:t>
            </a:r>
            <a:r>
              <a:rPr sz="2800" spc="110" dirty="0">
                <a:latin typeface="Rockwell" panose="02060603020205020403" pitchFamily="18" charset="0"/>
                <a:cs typeface="Trebuchet MS"/>
              </a:rPr>
              <a:t>up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pipeline could </a:t>
            </a:r>
            <a:r>
              <a:rPr sz="2800" spc="160" dirty="0">
                <a:latin typeface="Rockwell" panose="02060603020205020403" pitchFamily="18" charset="0"/>
                <a:cs typeface="Trebuchet MS"/>
              </a:rPr>
              <a:t>be 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included</a:t>
            </a:r>
            <a:r>
              <a:rPr sz="2800" spc="-17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in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latin typeface="Rockwell" panose="02060603020205020403" pitchFamily="18" charset="0"/>
                <a:cs typeface="Trebuchet MS"/>
              </a:rPr>
              <a:t>computation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average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stall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14" dirty="0">
                <a:latin typeface="Rockwell" panose="02060603020205020403" pitchFamily="18" charset="0"/>
                <a:cs typeface="Trebuchet MS"/>
              </a:rPr>
              <a:t>per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instruction</a:t>
            </a:r>
            <a:endParaRPr sz="2800" dirty="0">
              <a:latin typeface="Rockwell" panose="02060603020205020403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48790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4" y="239037"/>
            <a:ext cx="1146676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235" dirty="0">
                <a:latin typeface="Rockwell" panose="02060603020205020403" pitchFamily="18" charset="0"/>
              </a:rPr>
              <a:t>Structural</a:t>
            </a:r>
            <a:r>
              <a:rPr sz="4000" spc="10" dirty="0">
                <a:latin typeface="Rockwell" panose="02060603020205020403" pitchFamily="18" charset="0"/>
              </a:rPr>
              <a:t> </a:t>
            </a:r>
            <a:r>
              <a:rPr sz="4000" spc="-275" dirty="0">
                <a:latin typeface="Rockwell" panose="02060603020205020403" pitchFamily="18" charset="0"/>
              </a:rPr>
              <a:t>Hazards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15994" y="1341500"/>
            <a:ext cx="11563185" cy="501868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spcAft>
                <a:spcPts val="1200"/>
              </a:spcAft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155" dirty="0">
                <a:latin typeface="Rockwell" panose="02060603020205020403" pitchFamily="18" charset="0"/>
                <a:cs typeface="Trebuchet MS"/>
              </a:rPr>
              <a:t>When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more 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than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one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instruction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in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pipeline </a:t>
            </a:r>
            <a:r>
              <a:rPr sz="2800" spc="105" dirty="0">
                <a:latin typeface="Rockwell" panose="02060603020205020403" pitchFamily="18" charset="0"/>
                <a:cs typeface="Trebuchet MS"/>
              </a:rPr>
              <a:t>needs </a:t>
            </a:r>
            <a:r>
              <a:rPr sz="2800" spc="-90" dirty="0">
                <a:latin typeface="Rockwell" panose="02060603020205020403" pitchFamily="18" charset="0"/>
                <a:cs typeface="Trebuchet MS"/>
              </a:rPr>
              <a:t>to </a:t>
            </a:r>
            <a:r>
              <a:rPr sz="2800" spc="85" dirty="0">
                <a:latin typeface="Rockwell" panose="02060603020205020403" pitchFamily="18" charset="0"/>
                <a:cs typeface="Trebuchet MS"/>
              </a:rPr>
              <a:t>access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  resource,</a:t>
            </a:r>
            <a:r>
              <a:rPr sz="2800" spc="-38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0" dirty="0">
                <a:latin typeface="Rockwell" panose="02060603020205020403" pitchFamily="18" charset="0"/>
                <a:cs typeface="Trebuchet MS"/>
              </a:rPr>
              <a:t>datapath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is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said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90" dirty="0"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have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8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structural</a:t>
            </a:r>
            <a:r>
              <a:rPr sz="2800" b="1" spc="-1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7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hazard.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441959" indent="-429895" algn="just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/>
              <a:buChar char="•"/>
              <a:tabLst>
                <a:tab pos="441959" algn="l"/>
                <a:tab pos="442595" algn="l"/>
              </a:tabLst>
            </a:pPr>
            <a:r>
              <a:rPr sz="2800" spc="110" dirty="0">
                <a:latin typeface="Rockwell" panose="02060603020205020403" pitchFamily="18" charset="0"/>
                <a:cs typeface="Trebuchet MS"/>
              </a:rPr>
              <a:t>Examples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800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resources:</a:t>
            </a:r>
            <a:r>
              <a:rPr sz="2800" spc="-38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register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80" dirty="0">
                <a:latin typeface="Rockwell" panose="02060603020205020403" pitchFamily="18" charset="0"/>
                <a:cs typeface="Trebuchet MS"/>
              </a:rPr>
              <a:t>file,</a:t>
            </a:r>
            <a:r>
              <a:rPr sz="2800" spc="-39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5" dirty="0">
                <a:latin typeface="Rockwell" panose="02060603020205020403" pitchFamily="18" charset="0"/>
                <a:cs typeface="Trebuchet MS"/>
              </a:rPr>
              <a:t>memory,</a:t>
            </a:r>
            <a:r>
              <a:rPr sz="2800" spc="-38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0" dirty="0">
                <a:latin typeface="Rockwell" panose="02060603020205020403" pitchFamily="18" charset="0"/>
                <a:cs typeface="Trebuchet MS"/>
              </a:rPr>
              <a:t>ALU.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994"/>
              </a:spcBef>
              <a:spcAft>
                <a:spcPts val="1200"/>
              </a:spcAft>
              <a:buFont typeface="Arial"/>
              <a:buChar char="•"/>
              <a:tabLst>
                <a:tab pos="443865" algn="l"/>
                <a:tab pos="444500" algn="l"/>
              </a:tabLst>
            </a:pPr>
            <a:r>
              <a:rPr dirty="0">
                <a:latin typeface="Rockwell" panose="02060603020205020403" pitchFamily="18" charset="0"/>
              </a:rPr>
              <a:t>	</a:t>
            </a:r>
            <a:r>
              <a:rPr sz="2800" b="1" spc="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Solution</a:t>
            </a:r>
            <a:r>
              <a:rPr sz="2800" spc="20" dirty="0">
                <a:latin typeface="Rockwell" panose="02060603020205020403" pitchFamily="18" charset="0"/>
                <a:cs typeface="Trebuchet MS"/>
              </a:rPr>
              <a:t>: 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Stall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pipeline 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for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one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clock cycle </a:t>
            </a:r>
            <a:r>
              <a:rPr sz="2800" spc="55" dirty="0">
                <a:latin typeface="Rockwell" panose="02060603020205020403" pitchFamily="18" charset="0"/>
                <a:cs typeface="Trebuchet MS"/>
              </a:rPr>
              <a:t>when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conflict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is  </a:t>
            </a:r>
            <a:r>
              <a:rPr sz="2800" spc="-10" dirty="0">
                <a:latin typeface="Rockwell" panose="02060603020205020403" pitchFamily="18" charset="0"/>
                <a:cs typeface="Trebuchet MS"/>
              </a:rPr>
              <a:t>detected.</a:t>
            </a:r>
            <a:r>
              <a:rPr sz="2800" spc="-505" dirty="0">
                <a:latin typeface="Rockwell" panose="02060603020205020403" pitchFamily="18" charset="0"/>
                <a:cs typeface="Trebuchet MS"/>
              </a:rPr>
              <a:t> </a:t>
            </a:r>
            <a:r>
              <a:rPr lang="en-GB" sz="2800" spc="-50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latin typeface="Rockwell" panose="02060603020205020403" pitchFamily="18" charset="0"/>
                <a:cs typeface="Trebuchet MS"/>
              </a:rPr>
              <a:t>This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results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in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9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pipeline</a:t>
            </a:r>
            <a:r>
              <a:rPr sz="2800" b="1" spc="-14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bubble.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1010"/>
              </a:spcBef>
              <a:spcAft>
                <a:spcPts val="1200"/>
              </a:spcAft>
              <a:buFont typeface="Arial"/>
              <a:buChar char="•"/>
              <a:tabLst>
                <a:tab pos="443865" algn="l"/>
                <a:tab pos="444500" algn="l"/>
              </a:tabLst>
            </a:pPr>
            <a:r>
              <a:rPr dirty="0">
                <a:latin typeface="Rockwell" panose="02060603020205020403" pitchFamily="18" charset="0"/>
              </a:rPr>
              <a:t>	</a:t>
            </a:r>
            <a:r>
              <a:rPr sz="2800" spc="85" dirty="0">
                <a:latin typeface="Rockwell" panose="02060603020205020403" pitchFamily="18" charset="0"/>
                <a:cs typeface="Trebuchet MS"/>
              </a:rPr>
              <a:t>Figures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4 </a:t>
            </a:r>
            <a:r>
              <a:rPr sz="2800" spc="-85" dirty="0">
                <a:latin typeface="Rockwell" panose="02060603020205020403" pitchFamily="18" charset="0"/>
                <a:cs typeface="Trebuchet MS"/>
              </a:rPr>
              <a:t>&amp;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5 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illustrate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110" dirty="0">
                <a:latin typeface="Rockwell" panose="02060603020205020403" pitchFamily="18" charset="0"/>
                <a:cs typeface="Trebuchet MS"/>
              </a:rPr>
              <a:t>memory </a:t>
            </a:r>
            <a:r>
              <a:rPr sz="2800" spc="85" dirty="0">
                <a:latin typeface="Rockwell" panose="02060603020205020403" pitchFamily="18" charset="0"/>
                <a:cs typeface="Trebuchet MS"/>
              </a:rPr>
              <a:t>access 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conflict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and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how 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it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is 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resolved</a:t>
            </a:r>
            <a:r>
              <a:rPr sz="2800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65" dirty="0">
                <a:latin typeface="Rockwell" panose="02060603020205020403" pitchFamily="18" charset="0"/>
                <a:cs typeface="Trebuchet MS"/>
              </a:rPr>
              <a:t>by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stalling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an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0" dirty="0">
                <a:latin typeface="Rockwell" panose="02060603020205020403" pitchFamily="18" charset="0"/>
                <a:cs typeface="Trebuchet MS"/>
              </a:rPr>
              <a:t>instruction.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spcBef>
                <a:spcPts val="994"/>
              </a:spcBef>
              <a:spcAft>
                <a:spcPts val="1200"/>
              </a:spcAft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10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Problem:</a:t>
            </a:r>
            <a:r>
              <a:rPr sz="2800" b="1" spc="-17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5" dirty="0">
                <a:latin typeface="Rockwell" panose="02060603020205020403" pitchFamily="18" charset="0"/>
                <a:cs typeface="Trebuchet MS"/>
              </a:rPr>
              <a:t>one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10" dirty="0">
                <a:latin typeface="Rockwell" panose="02060603020205020403" pitchFamily="18" charset="0"/>
                <a:cs typeface="Trebuchet MS"/>
              </a:rPr>
              <a:t>memory</a:t>
            </a:r>
            <a:r>
              <a:rPr sz="2800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port.</a:t>
            </a:r>
            <a:endParaRPr sz="2800" dirty="0">
              <a:latin typeface="Rockwell" panose="02060603020205020403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36275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943" y="208259"/>
            <a:ext cx="1028444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35" dirty="0">
                <a:solidFill>
                  <a:srgbClr val="FF0000"/>
                </a:solidFill>
              </a:rPr>
              <a:t>Structural </a:t>
            </a:r>
            <a:r>
              <a:rPr b="1" spc="-275" dirty="0">
                <a:solidFill>
                  <a:srgbClr val="FF0000"/>
                </a:solidFill>
              </a:rPr>
              <a:t>Hazards </a:t>
            </a:r>
            <a:r>
              <a:rPr b="1" spc="-250" dirty="0">
                <a:solidFill>
                  <a:srgbClr val="FF0000"/>
                </a:solidFill>
              </a:rPr>
              <a:t>and </a:t>
            </a:r>
            <a:r>
              <a:rPr b="1" spc="-185" dirty="0">
                <a:solidFill>
                  <a:srgbClr val="FF0000"/>
                </a:solidFill>
              </a:rPr>
              <a:t>Stalls </a:t>
            </a:r>
            <a:r>
              <a:rPr b="1" spc="-125" dirty="0">
                <a:solidFill>
                  <a:srgbClr val="FF0000"/>
                </a:solidFill>
              </a:rPr>
              <a:t>-</a:t>
            </a:r>
            <a:r>
              <a:rPr b="1" spc="-200" dirty="0">
                <a:solidFill>
                  <a:srgbClr val="FF0000"/>
                </a:solidFill>
              </a:rPr>
              <a:t> </a:t>
            </a:r>
            <a:r>
              <a:rPr b="1" spc="-229" dirty="0">
                <a:solidFill>
                  <a:srgbClr val="FF0000"/>
                </a:solidFill>
              </a:rPr>
              <a:t>Conflicts</a:t>
            </a:r>
          </a:p>
        </p:txBody>
      </p:sp>
      <p:sp>
        <p:nvSpPr>
          <p:cNvPr id="3" name="object 3"/>
          <p:cNvSpPr/>
          <p:nvPr/>
        </p:nvSpPr>
        <p:spPr>
          <a:xfrm>
            <a:off x="806522" y="1909234"/>
            <a:ext cx="9932811" cy="32653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6" t="26100" r="19442" b="36950"/>
          <a:stretch/>
        </p:blipFill>
        <p:spPr bwMode="auto">
          <a:xfrm>
            <a:off x="8993942" y="1219201"/>
            <a:ext cx="2935033" cy="2702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8999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6080" y="1568895"/>
            <a:ext cx="9968097" cy="4061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3" y="208259"/>
            <a:ext cx="1043523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35" dirty="0">
                <a:solidFill>
                  <a:srgbClr val="FF0000"/>
                </a:solidFill>
              </a:rPr>
              <a:t>Structural </a:t>
            </a:r>
            <a:r>
              <a:rPr b="1" spc="-275" dirty="0">
                <a:solidFill>
                  <a:srgbClr val="FF0000"/>
                </a:solidFill>
              </a:rPr>
              <a:t>Hazards </a:t>
            </a:r>
            <a:r>
              <a:rPr b="1" spc="-250" dirty="0">
                <a:solidFill>
                  <a:srgbClr val="FF0000"/>
                </a:solidFill>
              </a:rPr>
              <a:t>and </a:t>
            </a:r>
            <a:r>
              <a:rPr b="1" spc="-185" dirty="0">
                <a:solidFill>
                  <a:srgbClr val="FF0000"/>
                </a:solidFill>
              </a:rPr>
              <a:t>Stalls </a:t>
            </a:r>
            <a:r>
              <a:rPr b="1" spc="-125" dirty="0">
                <a:solidFill>
                  <a:srgbClr val="FF0000"/>
                </a:solidFill>
              </a:rPr>
              <a:t>-</a:t>
            </a:r>
            <a:r>
              <a:rPr b="1" spc="-185" dirty="0">
                <a:solidFill>
                  <a:srgbClr val="FF0000"/>
                </a:solidFill>
              </a:rPr>
              <a:t> </a:t>
            </a:r>
            <a:r>
              <a:rPr b="1" spc="-220" dirty="0">
                <a:solidFill>
                  <a:srgbClr val="FF0000"/>
                </a:solidFill>
              </a:rPr>
              <a:t>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8697968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1347" y="1143000"/>
            <a:ext cx="11164363" cy="472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5895" y="208259"/>
            <a:ext cx="1136981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35" dirty="0">
                <a:solidFill>
                  <a:srgbClr val="FF0000"/>
                </a:solidFill>
              </a:rPr>
              <a:t>Structural </a:t>
            </a:r>
            <a:r>
              <a:rPr b="1" spc="-275" dirty="0">
                <a:solidFill>
                  <a:srgbClr val="FF0000"/>
                </a:solidFill>
              </a:rPr>
              <a:t>Hazards </a:t>
            </a:r>
            <a:r>
              <a:rPr b="1" spc="-250" dirty="0">
                <a:solidFill>
                  <a:srgbClr val="FF0000"/>
                </a:solidFill>
              </a:rPr>
              <a:t>and </a:t>
            </a:r>
            <a:r>
              <a:rPr b="1" spc="-185" dirty="0">
                <a:solidFill>
                  <a:srgbClr val="FF0000"/>
                </a:solidFill>
              </a:rPr>
              <a:t>Stalls </a:t>
            </a:r>
            <a:r>
              <a:rPr b="1" spc="-125" dirty="0">
                <a:solidFill>
                  <a:srgbClr val="FF0000"/>
                </a:solidFill>
              </a:rPr>
              <a:t>-</a:t>
            </a:r>
            <a:r>
              <a:rPr b="1" spc="-180" dirty="0">
                <a:solidFill>
                  <a:srgbClr val="FF0000"/>
                </a:solidFill>
              </a:rPr>
              <a:t> </a:t>
            </a:r>
            <a:r>
              <a:rPr b="1" spc="-310" dirty="0">
                <a:solidFill>
                  <a:srgbClr val="FF0000"/>
                </a:solidFill>
              </a:rPr>
              <a:t>Bubble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4508747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4" y="265888"/>
            <a:ext cx="4307056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Data </a:t>
            </a:r>
            <a:r>
              <a:rPr spc="-285" dirty="0"/>
              <a:t>Hazard </a:t>
            </a:r>
            <a:r>
              <a:rPr spc="-125" dirty="0"/>
              <a:t>-</a:t>
            </a:r>
            <a:r>
              <a:rPr dirty="0"/>
              <a:t> </a:t>
            </a:r>
            <a:r>
              <a:rPr spc="-305" dirty="0"/>
              <a:t>Example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18701" y="962305"/>
            <a:ext cx="11639875" cy="392607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140" dirty="0">
                <a:latin typeface="Trebuchet MS"/>
                <a:cs typeface="Trebuchet MS"/>
              </a:rPr>
              <a:t>Consider </a:t>
            </a:r>
            <a:r>
              <a:rPr sz="2800" spc="-40" dirty="0">
                <a:latin typeface="Trebuchet MS"/>
                <a:cs typeface="Trebuchet MS"/>
              </a:rPr>
              <a:t>the </a:t>
            </a:r>
            <a:r>
              <a:rPr sz="2800" spc="10" dirty="0">
                <a:latin typeface="Trebuchet MS"/>
                <a:cs typeface="Trebuchet MS"/>
              </a:rPr>
              <a:t>instruction</a:t>
            </a:r>
            <a:r>
              <a:rPr lang="en-GB" sz="2800" spc="10" dirty="0">
                <a:latin typeface="Trebuchet MS"/>
                <a:cs typeface="Trebuchet MS"/>
              </a:rPr>
              <a:t> </a:t>
            </a:r>
            <a:r>
              <a:rPr sz="2800" spc="-585" dirty="0">
                <a:latin typeface="Trebuchet MS"/>
                <a:cs typeface="Trebuchet MS"/>
              </a:rPr>
              <a:t> </a:t>
            </a:r>
            <a:r>
              <a:rPr sz="2800" spc="55" dirty="0">
                <a:latin typeface="Trebuchet MS"/>
                <a:cs typeface="Trebuchet MS"/>
              </a:rPr>
              <a:t>sequence:</a:t>
            </a:r>
            <a:endParaRPr sz="2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310" dirty="0">
                <a:latin typeface="Trebuchet MS"/>
                <a:cs typeface="Trebuchet MS"/>
              </a:rPr>
              <a:t>ADD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R1,R2,R3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215" dirty="0">
                <a:latin typeface="Trebuchet MS"/>
                <a:cs typeface="Trebuchet MS"/>
              </a:rPr>
              <a:t>;</a:t>
            </a:r>
            <a:r>
              <a:rPr sz="2800" spc="-37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result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is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in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50" dirty="0">
                <a:latin typeface="Trebuchet MS"/>
                <a:cs typeface="Trebuchet MS"/>
              </a:rPr>
              <a:t>R1</a:t>
            </a:r>
            <a:endParaRPr sz="2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85" dirty="0">
                <a:latin typeface="Trebuchet MS"/>
                <a:cs typeface="Trebuchet MS"/>
              </a:rPr>
              <a:t>SUB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R4,R5,R1</a:t>
            </a:r>
            <a:endParaRPr sz="2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280" dirty="0">
                <a:latin typeface="Trebuchet MS"/>
                <a:cs typeface="Trebuchet MS"/>
              </a:rPr>
              <a:t>AND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R6,R1,R7</a:t>
            </a:r>
            <a:endParaRPr sz="2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204" dirty="0">
                <a:latin typeface="Trebuchet MS"/>
                <a:cs typeface="Trebuchet MS"/>
              </a:rPr>
              <a:t>OR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R8,R1,R9</a:t>
            </a:r>
            <a:endParaRPr sz="2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225" dirty="0">
                <a:latin typeface="Trebuchet MS"/>
                <a:cs typeface="Trebuchet MS"/>
              </a:rPr>
              <a:t>XOR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R10,R1,R11</a:t>
            </a:r>
            <a:endParaRPr sz="2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90" dirty="0">
                <a:solidFill>
                  <a:srgbClr val="0000FF"/>
                </a:solidFill>
                <a:latin typeface="Trebuchet MS"/>
                <a:cs typeface="Trebuchet MS"/>
              </a:rPr>
              <a:t>All</a:t>
            </a:r>
            <a:r>
              <a:rPr sz="2800" b="1" spc="-17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800" b="1" spc="20" dirty="0">
                <a:solidFill>
                  <a:srgbClr val="0000FF"/>
                </a:solidFill>
                <a:latin typeface="Trebuchet MS"/>
                <a:cs typeface="Trebuchet MS"/>
              </a:rPr>
              <a:t>instructions</a:t>
            </a:r>
            <a:r>
              <a:rPr sz="2800" b="1" spc="-14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800" b="1" spc="85" dirty="0">
                <a:solidFill>
                  <a:srgbClr val="0000FF"/>
                </a:solidFill>
                <a:latin typeface="Trebuchet MS"/>
                <a:cs typeface="Trebuchet MS"/>
              </a:rPr>
              <a:t>use</a:t>
            </a:r>
            <a:r>
              <a:rPr sz="2800" b="1" spc="-14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800" b="1" spc="50" dirty="0">
                <a:solidFill>
                  <a:srgbClr val="0000FF"/>
                </a:solidFill>
                <a:latin typeface="Trebuchet MS"/>
                <a:cs typeface="Trebuchet MS"/>
              </a:rPr>
              <a:t>R1</a:t>
            </a:r>
            <a:r>
              <a:rPr sz="2800" b="1" spc="-14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800" b="1" spc="-65" dirty="0">
                <a:solidFill>
                  <a:srgbClr val="0000FF"/>
                </a:solidFill>
                <a:latin typeface="Trebuchet MS"/>
                <a:cs typeface="Trebuchet MS"/>
              </a:rPr>
              <a:t>after</a:t>
            </a:r>
            <a:r>
              <a:rPr sz="2800" b="1" spc="-14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800" b="1" spc="-40" dirty="0">
                <a:solidFill>
                  <a:srgbClr val="0000FF"/>
                </a:solidFill>
                <a:latin typeface="Trebuchet MS"/>
                <a:cs typeface="Trebuchet MS"/>
              </a:rPr>
              <a:t>the</a:t>
            </a:r>
            <a:r>
              <a:rPr sz="2800" b="1" spc="-1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800" b="1" spc="-45" dirty="0">
                <a:solidFill>
                  <a:srgbClr val="0000FF"/>
                </a:solidFill>
                <a:latin typeface="Trebuchet MS"/>
                <a:cs typeface="Trebuchet MS"/>
              </a:rPr>
              <a:t>first</a:t>
            </a:r>
            <a:r>
              <a:rPr sz="2800" b="1" spc="-14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rebuchet MS"/>
                <a:cs typeface="Trebuchet MS"/>
              </a:rPr>
              <a:t>instruction</a:t>
            </a:r>
            <a:r>
              <a:rPr sz="2800" spc="-10" dirty="0">
                <a:latin typeface="Trebuchet MS"/>
                <a:cs typeface="Trebuchet MS"/>
              </a:rPr>
              <a:t>.</a:t>
            </a:r>
            <a:endParaRPr sz="2800" dirty="0">
              <a:latin typeface="Trebuchet MS"/>
              <a:cs typeface="Trebuchet M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6" t="26100" r="19442" b="36950"/>
          <a:stretch/>
        </p:blipFill>
        <p:spPr bwMode="auto">
          <a:xfrm>
            <a:off x="8155524" y="962305"/>
            <a:ext cx="3563365" cy="328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44473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4" y="239037"/>
            <a:ext cx="1142744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245" dirty="0">
                <a:latin typeface="Rockwell" panose="02060603020205020403" pitchFamily="18" charset="0"/>
              </a:rPr>
              <a:t>Data </a:t>
            </a:r>
            <a:r>
              <a:rPr sz="4000" spc="-285" dirty="0">
                <a:latin typeface="Rockwell" panose="02060603020205020403" pitchFamily="18" charset="0"/>
              </a:rPr>
              <a:t>Hazard </a:t>
            </a:r>
            <a:r>
              <a:rPr sz="4000" spc="-125" dirty="0">
                <a:latin typeface="Rockwell" panose="02060603020205020403" pitchFamily="18" charset="0"/>
              </a:rPr>
              <a:t>-</a:t>
            </a:r>
            <a:r>
              <a:rPr sz="4000" spc="10" dirty="0">
                <a:latin typeface="Rockwell" panose="02060603020205020403" pitchFamily="18" charset="0"/>
              </a:rPr>
              <a:t> </a:t>
            </a:r>
            <a:r>
              <a:rPr sz="4000" spc="-220" dirty="0">
                <a:latin typeface="Rockwell" panose="02060603020205020403" pitchFamily="18" charset="0"/>
              </a:rPr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33016" y="1028700"/>
            <a:ext cx="11589862" cy="48006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065" rIns="0" bIns="0" rtlCol="0">
            <a:spAutoFit/>
          </a:bodyPr>
          <a:lstStyle/>
          <a:p>
            <a:pPr marL="355600" marR="33020" indent="-3429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spc="55" dirty="0">
                <a:latin typeface="Rockwell" panose="02060603020205020403" pitchFamily="18" charset="0"/>
                <a:cs typeface="Trebuchet MS"/>
              </a:rPr>
              <a:t>Usually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solved </a:t>
            </a:r>
            <a:r>
              <a:rPr sz="2800" spc="165" dirty="0">
                <a:latin typeface="Rockwell" panose="02060603020205020403" pitchFamily="18" charset="0"/>
                <a:cs typeface="Trebuchet MS"/>
              </a:rPr>
              <a:t>by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data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or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register </a:t>
            </a:r>
            <a:r>
              <a:rPr sz="2800" spc="60" dirty="0">
                <a:latin typeface="Rockwell" panose="02060603020205020403" pitchFamily="18" charset="0"/>
                <a:cs typeface="Trebuchet MS"/>
              </a:rPr>
              <a:t>forwarding </a:t>
            </a:r>
            <a:r>
              <a:rPr sz="2800" spc="125" dirty="0">
                <a:latin typeface="Rockwell" panose="02060603020205020403" pitchFamily="18" charset="0"/>
                <a:cs typeface="Trebuchet MS"/>
              </a:rPr>
              <a:t>(bypassing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or </a:t>
            </a:r>
            <a:r>
              <a:rPr sz="2800" spc="20" dirty="0">
                <a:latin typeface="Rockwell" panose="02060603020205020403" pitchFamily="18" charset="0"/>
                <a:cs typeface="Trebuchet MS"/>
              </a:rPr>
              <a:t>short</a:t>
            </a:r>
            <a:r>
              <a:rPr lang="en-GB" sz="2800" spc="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0" dirty="0">
                <a:latin typeface="Rockwell" panose="02060603020205020403" pitchFamily="18" charset="0"/>
                <a:cs typeface="Trebuchet MS"/>
              </a:rPr>
              <a:t>-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circuiting).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444500" algn="l"/>
              </a:tabLst>
            </a:pPr>
            <a:r>
              <a:rPr dirty="0">
                <a:latin typeface="Rockwell" panose="02060603020205020403" pitchFamily="18" charset="0"/>
              </a:rPr>
              <a:t>	</a:t>
            </a:r>
            <a:r>
              <a:rPr sz="2800" spc="120" dirty="0">
                <a:latin typeface="Rockwell" panose="02060603020205020403" pitchFamily="18" charset="0"/>
                <a:cs typeface="Trebuchet MS"/>
              </a:rPr>
              <a:t>How?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data</a:t>
            </a:r>
            <a:r>
              <a:rPr sz="2800" spc="-9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selected</a:t>
            </a:r>
            <a:r>
              <a:rPr sz="2800" spc="-10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is</a:t>
            </a:r>
            <a:r>
              <a:rPr sz="2800" spc="-8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not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0" dirty="0">
                <a:latin typeface="Rockwell" panose="02060603020205020403" pitchFamily="18" charset="0"/>
                <a:cs typeface="Trebuchet MS"/>
              </a:rPr>
              <a:t>really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14" dirty="0">
                <a:latin typeface="Rockwell" panose="02060603020205020403" pitchFamily="18" charset="0"/>
                <a:cs typeface="Trebuchet MS"/>
              </a:rPr>
              <a:t>used</a:t>
            </a:r>
            <a:r>
              <a:rPr sz="2800" spc="-10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in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10" dirty="0">
                <a:latin typeface="Rockwell" panose="02060603020205020403" pitchFamily="18" charset="0"/>
                <a:cs typeface="Trebuchet MS"/>
              </a:rPr>
              <a:t>ID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but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in</a:t>
            </a:r>
            <a:r>
              <a:rPr sz="2800" spc="-9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0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" dirty="0">
                <a:latin typeface="Rockwell" panose="02060603020205020403" pitchFamily="18" charset="0"/>
                <a:cs typeface="Trebuchet MS"/>
              </a:rPr>
              <a:t>next</a:t>
            </a:r>
            <a:r>
              <a:rPr sz="2800" spc="-9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stage:  </a:t>
            </a:r>
            <a:r>
              <a:rPr sz="2800" spc="-10" dirty="0">
                <a:latin typeface="Rockwell" panose="02060603020205020403" pitchFamily="18" charset="0"/>
                <a:cs typeface="Trebuchet MS"/>
              </a:rPr>
              <a:t>ALU.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441959" indent="-429895" algn="just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Font typeface="Arial"/>
              <a:buChar char="•"/>
              <a:tabLst>
                <a:tab pos="442595" algn="l"/>
              </a:tabLst>
            </a:pPr>
            <a:r>
              <a:rPr sz="2800" b="1" spc="8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Forwarding </a:t>
            </a:r>
            <a:r>
              <a:rPr sz="2800" b="1" spc="1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works </a:t>
            </a:r>
            <a:r>
              <a:rPr sz="2800" b="1" spc="17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as</a:t>
            </a:r>
            <a:r>
              <a:rPr sz="2800" b="1" spc="-60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6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follows: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33020" indent="-342900" algn="just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444500" algn="l"/>
              </a:tabLst>
            </a:pPr>
            <a:r>
              <a:rPr dirty="0">
                <a:latin typeface="Rockwell" panose="02060603020205020403" pitchFamily="18" charset="0"/>
              </a:rPr>
              <a:t>	</a:t>
            </a:r>
            <a:r>
              <a:rPr sz="2800" spc="135" dirty="0">
                <a:latin typeface="Rockwell" panose="02060603020205020403" pitchFamily="18" charset="0"/>
                <a:cs typeface="Trebuchet MS"/>
              </a:rPr>
              <a:t>ALU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result 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from </a:t>
            </a:r>
            <a:r>
              <a:rPr sz="2800" spc="240" dirty="0">
                <a:latin typeface="Rockwell" panose="02060603020205020403" pitchFamily="18" charset="0"/>
                <a:cs typeface="Trebuchet MS"/>
              </a:rPr>
              <a:t>EX/MEM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buffer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is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always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fed </a:t>
            </a:r>
            <a:r>
              <a:rPr sz="2800" spc="130" dirty="0">
                <a:latin typeface="Rockwell" panose="02060603020205020403" pitchFamily="18" charset="0"/>
                <a:cs typeface="Trebuchet MS"/>
              </a:rPr>
              <a:t>back </a:t>
            </a:r>
            <a:r>
              <a:rPr sz="2800" spc="-90" dirty="0">
                <a:latin typeface="Rockwell" panose="02060603020205020403" pitchFamily="18" charset="0"/>
                <a:cs typeface="Trebuchet MS"/>
              </a:rPr>
              <a:t>to </a:t>
            </a:r>
            <a:r>
              <a:rPr sz="2800" spc="135" dirty="0">
                <a:latin typeface="Rockwell" panose="02060603020205020403" pitchFamily="18" charset="0"/>
                <a:cs typeface="Trebuchet MS"/>
              </a:rPr>
              <a:t>ALU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input 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latches.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34290" indent="-342900" algn="just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444500" algn="l"/>
              </a:tabLst>
            </a:pPr>
            <a:r>
              <a:rPr dirty="0">
                <a:latin typeface="Rockwell" panose="02060603020205020403" pitchFamily="18" charset="0"/>
              </a:rPr>
              <a:t>	</a:t>
            </a:r>
            <a:r>
              <a:rPr sz="2800" spc="-65" dirty="0">
                <a:latin typeface="Rockwell" panose="02060603020205020403" pitchFamily="18" charset="0"/>
                <a:cs typeface="Trebuchet MS"/>
              </a:rPr>
              <a:t>If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60" dirty="0">
                <a:latin typeface="Rockwell" panose="02060603020205020403" pitchFamily="18" charset="0"/>
                <a:cs typeface="Trebuchet MS"/>
              </a:rPr>
              <a:t>forwarding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hardware 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detects 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that 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its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source </a:t>
            </a:r>
            <a:r>
              <a:rPr sz="2800" spc="85" dirty="0">
                <a:latin typeface="Rockwell" panose="02060603020205020403" pitchFamily="18" charset="0"/>
                <a:cs typeface="Trebuchet MS"/>
              </a:rPr>
              <a:t>operand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has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  </a:t>
            </a:r>
            <a:r>
              <a:rPr sz="2800" spc="55" dirty="0">
                <a:latin typeface="Rockwell" panose="02060603020205020403" pitchFamily="18" charset="0"/>
                <a:cs typeface="Trebuchet MS"/>
              </a:rPr>
              <a:t>new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0" dirty="0">
                <a:latin typeface="Rockwell" panose="02060603020205020403" pitchFamily="18" charset="0"/>
                <a:cs typeface="Trebuchet MS"/>
              </a:rPr>
              <a:t>value,</a:t>
            </a:r>
            <a:r>
              <a:rPr sz="2800" spc="-38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0" dirty="0">
                <a:latin typeface="Rockwell" panose="02060603020205020403" pitchFamily="18" charset="0"/>
                <a:cs typeface="Trebuchet MS"/>
              </a:rPr>
              <a:t>logic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selects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newer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result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than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value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read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from 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register</a:t>
            </a:r>
            <a:r>
              <a:rPr sz="2800" spc="-2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80" dirty="0">
                <a:latin typeface="Rockwell" panose="02060603020205020403" pitchFamily="18" charset="0"/>
                <a:cs typeface="Trebuchet MS"/>
              </a:rPr>
              <a:t>file.</a:t>
            </a:r>
            <a:endParaRPr sz="2800" dirty="0">
              <a:latin typeface="Rockwell" panose="02060603020205020403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4975804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3" y="239037"/>
            <a:ext cx="1135124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245" dirty="0"/>
              <a:t>Data </a:t>
            </a:r>
            <a:r>
              <a:rPr sz="4000" spc="-285" dirty="0"/>
              <a:t>Hazard </a:t>
            </a:r>
            <a:r>
              <a:rPr sz="4000" spc="475" dirty="0"/>
              <a:t>– </a:t>
            </a:r>
            <a:r>
              <a:rPr sz="4000" spc="-220" dirty="0"/>
              <a:t>Solution</a:t>
            </a:r>
            <a:r>
              <a:rPr sz="4000" spc="-355" dirty="0"/>
              <a:t> </a:t>
            </a:r>
            <a:r>
              <a:rPr sz="4000" spc="-325" dirty="0"/>
              <a:t>(cont’d)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16947" y="1343998"/>
            <a:ext cx="11561280" cy="374653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spcAft>
                <a:spcPts val="1800"/>
              </a:spcAft>
              <a:buFont typeface="Arial"/>
              <a:buChar char="•"/>
              <a:tabLst>
                <a:tab pos="355600" algn="l"/>
              </a:tabLst>
            </a:pPr>
            <a:r>
              <a:rPr sz="2800" spc="5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results </a:t>
            </a:r>
            <a:r>
              <a:rPr sz="2800" spc="100" dirty="0">
                <a:latin typeface="Rockwell" panose="02060603020205020403" pitchFamily="18" charset="0"/>
                <a:cs typeface="Trebuchet MS"/>
              </a:rPr>
              <a:t>need </a:t>
            </a:r>
            <a:r>
              <a:rPr sz="2800" spc="-90" dirty="0">
                <a:latin typeface="Rockwell" panose="02060603020205020403" pitchFamily="18" charset="0"/>
                <a:cs typeface="Trebuchet MS"/>
              </a:rPr>
              <a:t>to </a:t>
            </a:r>
            <a:r>
              <a:rPr sz="2800" spc="160" dirty="0">
                <a:latin typeface="Rockwell" panose="02060603020205020403" pitchFamily="18" charset="0"/>
                <a:cs typeface="Trebuchet MS"/>
              </a:rPr>
              <a:t>be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forwarded 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not </a:t>
            </a:r>
            <a:r>
              <a:rPr sz="2800" spc="70" dirty="0">
                <a:latin typeface="Rockwell" panose="02060603020205020403" pitchFamily="18" charset="0"/>
                <a:cs typeface="Trebuchet MS"/>
              </a:rPr>
              <a:t>only 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from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immediate 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previous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instruction 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but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also 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from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any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instruction 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that 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started </a:t>
            </a:r>
            <a:r>
              <a:rPr sz="2800" spc="110" dirty="0">
                <a:latin typeface="Rockwell" panose="02060603020205020403" pitchFamily="18" charset="0"/>
                <a:cs typeface="Trebuchet MS"/>
              </a:rPr>
              <a:t>up </a:t>
            </a:r>
            <a:r>
              <a:rPr sz="2800" spc="-90" dirty="0">
                <a:latin typeface="Rockwell" panose="02060603020205020403" pitchFamily="18" charset="0"/>
                <a:cs typeface="Trebuchet MS"/>
              </a:rPr>
              <a:t>to  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three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cycles</a:t>
            </a:r>
            <a:r>
              <a:rPr sz="2800" spc="-27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before.</a:t>
            </a:r>
          </a:p>
          <a:p>
            <a:pPr marL="355600" marR="6350" indent="-342900" algn="just">
              <a:lnSpc>
                <a:spcPct val="100000"/>
              </a:lnSpc>
              <a:spcBef>
                <a:spcPts val="1000"/>
              </a:spcBef>
              <a:spcAft>
                <a:spcPts val="1800"/>
              </a:spcAft>
              <a:buFont typeface="Arial"/>
              <a:buChar char="•"/>
              <a:tabLst>
                <a:tab pos="430530" algn="l"/>
              </a:tabLst>
            </a:pPr>
            <a:r>
              <a:rPr dirty="0">
                <a:latin typeface="Rockwell" panose="02060603020205020403" pitchFamily="18" charset="0"/>
              </a:rPr>
              <a:t>	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result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from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484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EX/MEM</a:t>
            </a:r>
            <a:r>
              <a:rPr sz="2800" b="1" spc="-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(1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cycle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before)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and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46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MEM/WB</a:t>
            </a:r>
            <a:r>
              <a:rPr sz="2800" b="1" spc="-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(2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cycles 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before)</a:t>
            </a:r>
            <a:r>
              <a:rPr sz="2800" spc="-18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are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forwarded</a:t>
            </a:r>
            <a:r>
              <a:rPr sz="2800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90" dirty="0"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both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35" dirty="0">
                <a:latin typeface="Rockwell" panose="02060603020205020403" pitchFamily="18" charset="0"/>
                <a:cs typeface="Trebuchet MS"/>
              </a:rPr>
              <a:t>ALU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" dirty="0">
                <a:latin typeface="Rockwell" panose="02060603020205020403" pitchFamily="18" charset="0"/>
                <a:cs typeface="Trebuchet MS"/>
              </a:rPr>
              <a:t>inputs.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994"/>
              </a:spcBef>
              <a:spcAft>
                <a:spcPts val="1800"/>
              </a:spcAft>
              <a:buFont typeface="Arial"/>
              <a:buChar char="•"/>
              <a:tabLst>
                <a:tab pos="415290" algn="l"/>
              </a:tabLst>
            </a:pPr>
            <a:r>
              <a:rPr dirty="0">
                <a:latin typeface="Rockwell" panose="02060603020205020403" pitchFamily="18" charset="0"/>
              </a:rPr>
              <a:t>	</a:t>
            </a:r>
            <a:r>
              <a:rPr sz="2800" spc="100" dirty="0">
                <a:latin typeface="Rockwell" panose="02060603020205020403" pitchFamily="18" charset="0"/>
                <a:cs typeface="Trebuchet MS"/>
              </a:rPr>
              <a:t>Writing 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into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register 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file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is </a:t>
            </a:r>
            <a:r>
              <a:rPr sz="2800" spc="110" dirty="0">
                <a:latin typeface="Rockwell" panose="02060603020205020403" pitchFamily="18" charset="0"/>
                <a:cs typeface="Trebuchet MS"/>
              </a:rPr>
              <a:t>done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in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-45" dirty="0">
                <a:latin typeface="Rockwell" panose="02060603020205020403" pitchFamily="18" charset="0"/>
                <a:cs typeface="Trebuchet MS"/>
              </a:rPr>
              <a:t>first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half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of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cycle</a:t>
            </a:r>
            <a:r>
              <a:rPr sz="2800" spc="-2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and 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read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is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5" dirty="0">
                <a:latin typeface="Rockwell" panose="02060603020205020403" pitchFamily="18" charset="0"/>
                <a:cs typeface="Trebuchet MS"/>
              </a:rPr>
              <a:t>done</a:t>
            </a:r>
            <a:r>
              <a:rPr sz="2800" spc="-1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in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5" dirty="0">
                <a:latin typeface="Rockwell" panose="02060603020205020403" pitchFamily="18" charset="0"/>
                <a:cs typeface="Trebuchet MS"/>
              </a:rPr>
              <a:t>second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half.(3</a:t>
            </a:r>
            <a:r>
              <a:rPr sz="2800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5" dirty="0">
                <a:latin typeface="Rockwell" panose="02060603020205020403" pitchFamily="18" charset="0"/>
                <a:cs typeface="Trebuchet MS"/>
              </a:rPr>
              <a:t>cycles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before)</a:t>
            </a:r>
            <a:endParaRPr sz="2800" dirty="0">
              <a:latin typeface="Rockwell" panose="02060603020205020403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382428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3" y="235110"/>
            <a:ext cx="1127504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245" dirty="0">
                <a:latin typeface="Rockwell" panose="02060603020205020403" pitchFamily="18" charset="0"/>
              </a:rPr>
              <a:t>Data </a:t>
            </a:r>
            <a:r>
              <a:rPr sz="4000" spc="-285" dirty="0">
                <a:latin typeface="Rockwell" panose="02060603020205020403" pitchFamily="18" charset="0"/>
              </a:rPr>
              <a:t>Hazard </a:t>
            </a:r>
            <a:r>
              <a:rPr sz="4000" spc="475" dirty="0">
                <a:latin typeface="Rockwell" panose="02060603020205020403" pitchFamily="18" charset="0"/>
              </a:rPr>
              <a:t>– </a:t>
            </a:r>
            <a:r>
              <a:rPr lang="en-US" sz="4000" spc="475" dirty="0">
                <a:latin typeface="Rockwell" panose="02060603020205020403" pitchFamily="18" charset="0"/>
              </a:rPr>
              <a:t>Example</a:t>
            </a:r>
            <a:endParaRPr sz="4000" spc="-325" dirty="0">
              <a:latin typeface="Rockwell" panose="02060603020205020403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08943" y="1348126"/>
            <a:ext cx="11887062" cy="43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800" b="1" dirty="0">
                <a:latin typeface="Rockwell" panose="02060603020205020403" pitchFamily="18" charset="0"/>
              </a:rPr>
              <a:t>Example 1</a:t>
            </a:r>
            <a:r>
              <a:rPr lang="en-US" sz="2800" dirty="0">
                <a:latin typeface="Rockwell" panose="02060603020205020403" pitchFamily="18" charset="0"/>
              </a:rPr>
              <a:t> :</a:t>
            </a:r>
            <a:br>
              <a:rPr lang="en-US" sz="2800" dirty="0">
                <a:latin typeface="Rockwell" panose="02060603020205020403" pitchFamily="18" charset="0"/>
              </a:rPr>
            </a:br>
            <a:r>
              <a:rPr lang="en-US" sz="2800" dirty="0">
                <a:latin typeface="Rockwell" panose="02060603020205020403" pitchFamily="18" charset="0"/>
              </a:rPr>
              <a:t>       add     $s0,    $t0,    $t1</a:t>
            </a:r>
            <a:br>
              <a:rPr lang="en-US" sz="2800" dirty="0">
                <a:latin typeface="Rockwell" panose="02060603020205020403" pitchFamily="18" charset="0"/>
              </a:rPr>
            </a:br>
            <a:r>
              <a:rPr lang="en-US" sz="2800" dirty="0">
                <a:latin typeface="Rockwell" panose="02060603020205020403" pitchFamily="18" charset="0"/>
              </a:rPr>
              <a:t>       sub      $t2,    $s0,    $t3</a:t>
            </a:r>
          </a:p>
          <a:p>
            <a:r>
              <a:rPr lang="en-US" sz="2800" dirty="0">
                <a:latin typeface="Rockwell" panose="02060603020205020403" pitchFamily="18" charset="0"/>
              </a:rPr>
              <a:t>In the example, the second instruction is dependent on the result in $s0 of the first instruction:</a:t>
            </a:r>
            <a:br>
              <a:rPr lang="en-US" sz="2800" dirty="0">
                <a:latin typeface="Rockwell" panose="02060603020205020403" pitchFamily="18" charset="0"/>
              </a:rPr>
            </a:br>
            <a:r>
              <a:rPr lang="en-US" sz="2800" dirty="0">
                <a:latin typeface="Rockwell" panose="02060603020205020403" pitchFamily="18" charset="0"/>
              </a:rPr>
              <a:t>     if $s0 = -5  </a:t>
            </a: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before add</a:t>
            </a:r>
            <a:br>
              <a:rPr lang="en-US" sz="2800" dirty="0">
                <a:latin typeface="Rockwell" panose="02060603020205020403" pitchFamily="18" charset="0"/>
              </a:rPr>
            </a:br>
            <a:r>
              <a:rPr lang="en-US" sz="2800" dirty="0">
                <a:latin typeface="Rockwell" panose="02060603020205020403" pitchFamily="18" charset="0"/>
              </a:rPr>
              <a:t>         $s0 =  8  </a:t>
            </a:r>
            <a:r>
              <a:rPr lang="en-US" sz="2800" b="1" dirty="0">
                <a:solidFill>
                  <a:srgbClr val="0000FF"/>
                </a:solidFill>
                <a:latin typeface="Rockwell" panose="02060603020205020403" pitchFamily="18" charset="0"/>
              </a:rPr>
              <a:t>after add</a:t>
            </a:r>
            <a:br>
              <a:rPr lang="en-US" sz="2800" dirty="0">
                <a:latin typeface="Rockwell" panose="02060603020205020403" pitchFamily="18" charset="0"/>
              </a:rPr>
            </a:br>
            <a:r>
              <a:rPr lang="en-US" sz="2800" dirty="0">
                <a:latin typeface="Rockwell" panose="02060603020205020403" pitchFamily="18" charset="0"/>
              </a:rPr>
              <a:t>     then the </a:t>
            </a:r>
            <a:r>
              <a:rPr lang="en-US" sz="2800" b="1" dirty="0">
                <a:solidFill>
                  <a:srgbClr val="FF0000"/>
                </a:solidFill>
                <a:latin typeface="Rockwell" panose="02060603020205020403" pitchFamily="18" charset="0"/>
              </a:rPr>
              <a:t>value 8</a:t>
            </a:r>
            <a:r>
              <a:rPr lang="en-US" sz="2800" dirty="0">
                <a:latin typeface="Rockwell" panose="02060603020205020403" pitchFamily="18" charset="0"/>
              </a:rPr>
              <a:t> should be used in the second instruction sub.</a:t>
            </a:r>
            <a:br>
              <a:rPr lang="en-US" sz="2800" dirty="0">
                <a:latin typeface="Rockwell" panose="02060603020205020403" pitchFamily="18" charset="0"/>
              </a:rPr>
            </a:br>
            <a:r>
              <a:rPr lang="en-US" sz="2800" dirty="0">
                <a:latin typeface="Rockwell" panose="02060603020205020403" pitchFamily="18" charset="0"/>
              </a:rPr>
              <a:t> </a:t>
            </a:r>
          </a:p>
          <a:p>
            <a:r>
              <a:rPr lang="en-US" sz="2800" dirty="0">
                <a:solidFill>
                  <a:srgbClr val="0000FF"/>
                </a:solidFill>
                <a:latin typeface="Rockwell" panose="02060603020205020403" pitchFamily="18" charset="0"/>
              </a:rPr>
              <a:t>Draw the multiple clock cycle pipeline diagram for the execution</a:t>
            </a:r>
            <a:r>
              <a:rPr lang="en-US" sz="2800" dirty="0">
                <a:latin typeface="Rockwell" panose="02060603020205020403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690162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2" y="265887"/>
            <a:ext cx="1164963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245" dirty="0">
                <a:latin typeface="Rockwell" pitchFamily="18" charset="0"/>
              </a:rPr>
              <a:t>Data </a:t>
            </a:r>
            <a:r>
              <a:rPr spc="-285" dirty="0">
                <a:latin typeface="Rockwell" pitchFamily="18" charset="0"/>
              </a:rPr>
              <a:t>Hazard </a:t>
            </a:r>
            <a:r>
              <a:rPr spc="475" dirty="0">
                <a:latin typeface="Rockwell" pitchFamily="18" charset="0"/>
              </a:rPr>
              <a:t>– </a:t>
            </a:r>
            <a:r>
              <a:rPr lang="en-US" spc="475" dirty="0">
                <a:latin typeface="Rockwell" pitchFamily="18" charset="0"/>
              </a:rPr>
              <a:t>Example(cont’d)</a:t>
            </a:r>
            <a:endParaRPr spc="-325" dirty="0">
              <a:latin typeface="Rockwell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07411" y="990600"/>
            <a:ext cx="11721978" cy="51828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dirty="0"/>
              <a:t>                           </a:t>
            </a:r>
            <a:br>
              <a:rPr lang="en-US" sz="2400" dirty="0"/>
            </a:br>
            <a:r>
              <a:rPr lang="en-US" sz="2400" dirty="0"/>
              <a:t> Execution           Time       CC1     CC2      CC3       CC4          CC5        CC6</a:t>
            </a:r>
            <a:br>
              <a:rPr lang="en-US" sz="2400" dirty="0"/>
            </a:br>
            <a:r>
              <a:rPr lang="en-US" sz="2400" dirty="0"/>
              <a:t> order</a:t>
            </a:r>
            <a:br>
              <a:rPr lang="en-US" sz="2400" dirty="0"/>
            </a:br>
            <a:r>
              <a:rPr lang="en-US" sz="2400" dirty="0"/>
              <a:t>add $s0, $t0, $t1                    IF -----ID------EX------MEM----WB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value in $s0</a:t>
            </a:r>
            <a:r>
              <a:rPr lang="en-US" sz="2400" dirty="0"/>
              <a:t>                             -5        -5        -5          -5          -5/8         8</a:t>
            </a:r>
          </a:p>
          <a:p>
            <a:r>
              <a:rPr lang="en-US" sz="2400" dirty="0"/>
              <a:t>sub  $t2, $s0, $t3                                IF -----ID-------EX------MEM-----WB</a:t>
            </a:r>
            <a:br>
              <a:rPr lang="en-US" sz="2400" dirty="0"/>
            </a:br>
            <a:r>
              <a:rPr lang="en-US" sz="2400" dirty="0"/>
              <a:t> </a:t>
            </a:r>
          </a:p>
          <a:p>
            <a:r>
              <a:rPr lang="en-US" sz="2400" dirty="0"/>
              <a:t>    In which clock cycle add writes to $s0?     Clock 5</a:t>
            </a:r>
            <a:br>
              <a:rPr lang="en-US" sz="2400" dirty="0"/>
            </a:br>
            <a:r>
              <a:rPr lang="en-US" sz="2400" dirty="0"/>
              <a:t>    In which clock cycle sub reads $s0?            Clock 3</a:t>
            </a:r>
          </a:p>
          <a:p>
            <a:endParaRPr lang="en-US" sz="2400" dirty="0"/>
          </a:p>
          <a:p>
            <a:r>
              <a:rPr lang="en-US" sz="2400" dirty="0"/>
              <a:t>For sub instruction, the value in $s0 has to be read in its ID stage (CC3).</a:t>
            </a:r>
            <a:br>
              <a:rPr lang="en-US" sz="2400" dirty="0"/>
            </a:br>
            <a:r>
              <a:rPr lang="en-US" sz="2400" dirty="0"/>
              <a:t>However, the value in $s0 in CC3 is still -5 and not the correct value</a:t>
            </a:r>
            <a:br>
              <a:rPr lang="en-US" sz="2400" dirty="0"/>
            </a:br>
            <a:r>
              <a:rPr lang="en-US" sz="2400" dirty="0"/>
              <a:t>8. We can only have the correct value in $s0 at the end of clock 5 (CC5).</a:t>
            </a:r>
          </a:p>
          <a:p>
            <a:r>
              <a:rPr lang="en-US" sz="2400" dirty="0"/>
              <a:t>The dependency goes from CC5 ---&gt; CC3 (backward)</a:t>
            </a:r>
          </a:p>
        </p:txBody>
      </p:sp>
    </p:spTree>
    <p:extLst>
      <p:ext uri="{BB962C8B-B14F-4D97-AF65-F5344CB8AC3E}">
        <p14:creationId xmlns:p14="http://schemas.microsoft.com/office/powerpoint/2010/main" val="24745896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3" y="265888"/>
            <a:ext cx="116032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245" dirty="0">
                <a:latin typeface="Rockwell" panose="02060603020205020403" pitchFamily="18" charset="0"/>
              </a:rPr>
              <a:t>Data </a:t>
            </a:r>
            <a:r>
              <a:rPr spc="-285" dirty="0">
                <a:latin typeface="Rockwell" panose="02060603020205020403" pitchFamily="18" charset="0"/>
              </a:rPr>
              <a:t>Hazard</a:t>
            </a:r>
            <a:r>
              <a:rPr spc="-430" dirty="0">
                <a:latin typeface="Rockwell" panose="02060603020205020403" pitchFamily="18" charset="0"/>
              </a:rPr>
              <a:t> </a:t>
            </a:r>
            <a:r>
              <a:rPr spc="-185" dirty="0">
                <a:latin typeface="Rockwell" panose="02060603020205020403" pitchFamily="18" charset="0"/>
              </a:rPr>
              <a:t>Stalls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43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52198" y="1143000"/>
            <a:ext cx="11560010" cy="478784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90" dirty="0">
                <a:latin typeface="Rockwell" panose="02060603020205020403" pitchFamily="18" charset="0"/>
                <a:cs typeface="Trebuchet MS"/>
              </a:rPr>
              <a:t>All</a:t>
            </a:r>
            <a:r>
              <a:rPr sz="2800" spc="-17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data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hazards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cannot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60" dirty="0">
                <a:latin typeface="Rockwell" panose="02060603020205020403" pitchFamily="18" charset="0"/>
                <a:cs typeface="Trebuchet MS"/>
              </a:rPr>
              <a:t>be</a:t>
            </a:r>
            <a:r>
              <a:rPr sz="2800" spc="-1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solved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65" dirty="0">
                <a:latin typeface="Rockwell" panose="02060603020205020403" pitchFamily="18" charset="0"/>
                <a:cs typeface="Trebuchet MS"/>
              </a:rPr>
              <a:t>by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forwarding: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110" dirty="0">
                <a:latin typeface="Rockwell" panose="02060603020205020403" pitchFamily="18" charset="0"/>
                <a:cs typeface="Trebuchet MS"/>
              </a:rPr>
              <a:t>LW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R1,0(R2)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85" dirty="0">
                <a:latin typeface="Rockwell" panose="02060603020205020403" pitchFamily="18" charset="0"/>
                <a:cs typeface="Trebuchet MS"/>
              </a:rPr>
              <a:t>SUB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R4,R1,</a:t>
            </a:r>
            <a:r>
              <a:rPr sz="2800" spc="-61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R5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280" dirty="0">
                <a:latin typeface="Rockwell" panose="02060603020205020403" pitchFamily="18" charset="0"/>
                <a:cs typeface="Trebuchet MS"/>
              </a:rPr>
              <a:t>AND</a:t>
            </a:r>
            <a:r>
              <a:rPr sz="2800" spc="-17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R6,R1,R7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204" dirty="0">
                <a:latin typeface="Rockwell" panose="02060603020205020403" pitchFamily="18" charset="0"/>
                <a:cs typeface="Trebuchet MS"/>
              </a:rPr>
              <a:t>OR</a:t>
            </a:r>
            <a:r>
              <a:rPr sz="2800" spc="-16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R8,R1,R9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443865" algn="l"/>
                <a:tab pos="444500" algn="l"/>
                <a:tab pos="1652270" algn="l"/>
                <a:tab pos="2327275" algn="l"/>
                <a:tab pos="3891279" algn="l"/>
                <a:tab pos="6409055" algn="l"/>
                <a:tab pos="6837680" algn="l"/>
                <a:tab pos="8482330" algn="l"/>
              </a:tabLst>
            </a:pPr>
            <a:r>
              <a:rPr sz="2800" spc="55" dirty="0">
                <a:latin typeface="Rockwell" panose="02060603020205020403" pitchFamily="18" charset="0"/>
                <a:cs typeface="Trebuchet MS"/>
              </a:rPr>
              <a:t>Unlike	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	</a:t>
            </a:r>
            <a:r>
              <a:rPr sz="2800" spc="60" dirty="0">
                <a:latin typeface="Rockwell" panose="02060603020205020403" pitchFamily="18" charset="0"/>
                <a:cs typeface="Trebuchet MS"/>
              </a:rPr>
              <a:t>previous</a:t>
            </a:r>
            <a:r>
              <a:rPr lang="en-GB" sz="2800" spc="6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example,</a:t>
            </a:r>
            <a:r>
              <a:rPr sz="2800" spc="19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data	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is</a:t>
            </a:r>
            <a:r>
              <a:rPr lang="en-GB" sz="2800" spc="8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available	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until</a:t>
            </a:r>
            <a:r>
              <a:rPr lang="en-GB" sz="2800" spc="-30" dirty="0">
                <a:latin typeface="Rockwell" panose="02060603020205020403" pitchFamily="18" charset="0"/>
                <a:cs typeface="Trebuchet MS"/>
              </a:rPr>
              <a:t> a </a:t>
            </a:r>
            <a:r>
              <a:rPr sz="2800" spc="155" dirty="0">
                <a:latin typeface="Rockwell" panose="02060603020205020403" pitchFamily="18" charset="0"/>
                <a:cs typeface="Trebuchet MS"/>
              </a:rPr>
              <a:t>MEM/WB. </a:t>
            </a:r>
            <a:endParaRPr lang="en-GB" sz="2800" spc="155" dirty="0">
              <a:latin typeface="Rockwell" panose="02060603020205020403" pitchFamily="18" charset="0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443865" algn="l"/>
                <a:tab pos="444500" algn="l"/>
                <a:tab pos="1652270" algn="l"/>
                <a:tab pos="2327275" algn="l"/>
                <a:tab pos="3891279" algn="l"/>
                <a:tab pos="6409055" algn="l"/>
                <a:tab pos="6837680" algn="l"/>
                <a:tab pos="8482330" algn="l"/>
              </a:tabLst>
            </a:pPr>
            <a:r>
              <a:rPr sz="2800" spc="114" dirty="0">
                <a:latin typeface="Rockwell" panose="02060603020205020403" pitchFamily="18" charset="0"/>
                <a:cs typeface="Trebuchet MS"/>
              </a:rPr>
              <a:t>So </a:t>
            </a:r>
            <a:r>
              <a:rPr sz="2800" spc="-5" dirty="0">
                <a:latin typeface="Rockwell" panose="02060603020205020403" pitchFamily="18" charset="0"/>
                <a:cs typeface="Trebuchet MS"/>
              </a:rPr>
              <a:t>subtract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35" dirty="0">
                <a:latin typeface="Rockwell" panose="02060603020205020403" pitchFamily="18" charset="0"/>
                <a:cs typeface="Trebuchet MS"/>
              </a:rPr>
              <a:t>ALU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cycle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has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90" dirty="0"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60" dirty="0">
                <a:latin typeface="Rockwell" panose="02060603020205020403" pitchFamily="18" charset="0"/>
                <a:cs typeface="Trebuchet MS"/>
              </a:rPr>
              <a:t>be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latin typeface="Rockwell" panose="02060603020205020403" pitchFamily="18" charset="0"/>
                <a:cs typeface="Trebuchet MS"/>
              </a:rPr>
              <a:t>stalled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5" dirty="0">
                <a:latin typeface="Rockwell" panose="02060603020205020403" pitchFamily="18" charset="0"/>
                <a:cs typeface="Trebuchet MS"/>
              </a:rPr>
              <a:t>introducing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a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latin typeface="Rockwell" panose="02060603020205020403" pitchFamily="18" charset="0"/>
                <a:cs typeface="Trebuchet MS"/>
              </a:rPr>
              <a:t>(vertical)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latin typeface="Rockwell" panose="02060603020205020403" pitchFamily="18" charset="0"/>
                <a:cs typeface="Trebuchet MS"/>
              </a:rPr>
              <a:t>bubble.</a:t>
            </a:r>
            <a:endParaRPr lang="en-GB" sz="2800" spc="60" dirty="0">
              <a:latin typeface="Rockwell" panose="02060603020205020403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393513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0787" y="304800"/>
            <a:ext cx="988269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45" dirty="0"/>
              <a:t>Data </a:t>
            </a:r>
            <a:r>
              <a:rPr b="1" spc="-275" dirty="0"/>
              <a:t>Hazards </a:t>
            </a:r>
            <a:r>
              <a:rPr b="1" spc="-250" dirty="0"/>
              <a:t>and</a:t>
            </a:r>
            <a:r>
              <a:rPr b="1" spc="-40" dirty="0"/>
              <a:t> </a:t>
            </a:r>
            <a:r>
              <a:rPr b="1" spc="-185" dirty="0"/>
              <a:t>Stalls</a:t>
            </a:r>
          </a:p>
        </p:txBody>
      </p:sp>
      <p:sp>
        <p:nvSpPr>
          <p:cNvPr id="3" name="object 3"/>
          <p:cNvSpPr/>
          <p:nvPr/>
        </p:nvSpPr>
        <p:spPr>
          <a:xfrm>
            <a:off x="763587" y="1450808"/>
            <a:ext cx="10749081" cy="41117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44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4941184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725" y="1256490"/>
            <a:ext cx="11126462" cy="43061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1187" y="300668"/>
            <a:ext cx="1094949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45" dirty="0"/>
              <a:t>Data </a:t>
            </a:r>
            <a:r>
              <a:rPr b="1" spc="-275" dirty="0"/>
              <a:t>Hazards </a:t>
            </a:r>
            <a:r>
              <a:rPr b="1" spc="-250" dirty="0"/>
              <a:t>and</a:t>
            </a:r>
            <a:r>
              <a:rPr b="1" spc="-40" dirty="0"/>
              <a:t> </a:t>
            </a:r>
            <a:r>
              <a:rPr b="1" spc="-185" dirty="0"/>
              <a:t>Stalls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45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413047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387" y="381000"/>
            <a:ext cx="1051304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45" dirty="0"/>
              <a:t>Data </a:t>
            </a:r>
            <a:r>
              <a:rPr b="1" spc="-275" dirty="0"/>
              <a:t>Hazards </a:t>
            </a:r>
            <a:r>
              <a:rPr b="1" spc="475" dirty="0"/>
              <a:t>– </a:t>
            </a:r>
            <a:r>
              <a:rPr b="1" spc="-295" dirty="0"/>
              <a:t>Time </a:t>
            </a:r>
            <a:r>
              <a:rPr b="1" spc="-275" dirty="0"/>
              <a:t>Stage</a:t>
            </a:r>
            <a:r>
              <a:rPr b="1" spc="-210" dirty="0"/>
              <a:t> </a:t>
            </a:r>
            <a:r>
              <a:rPr b="1" spc="-185" dirty="0"/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687387" y="1295400"/>
            <a:ext cx="10972800" cy="449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46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6067025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944" y="265888"/>
            <a:ext cx="11466766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245" dirty="0">
                <a:latin typeface="Rockwell" panose="02060603020205020403" pitchFamily="18" charset="0"/>
              </a:rPr>
              <a:t>Data </a:t>
            </a:r>
            <a:r>
              <a:rPr spc="-285" dirty="0">
                <a:latin typeface="Rockwell" panose="02060603020205020403" pitchFamily="18" charset="0"/>
              </a:rPr>
              <a:t>Hazard</a:t>
            </a:r>
            <a:r>
              <a:rPr spc="-440" dirty="0">
                <a:latin typeface="Rockwell" panose="02060603020205020403" pitchFamily="18" charset="0"/>
              </a:rPr>
              <a:t> </a:t>
            </a:r>
            <a:r>
              <a:rPr spc="-185" dirty="0">
                <a:latin typeface="Rockwell" panose="02060603020205020403" pitchFamily="18" charset="0"/>
              </a:rPr>
              <a:t>Classification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47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73081" y="986472"/>
            <a:ext cx="11561280" cy="488505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1" spc="220" dirty="0">
                <a:solidFill>
                  <a:srgbClr val="3B11ED"/>
                </a:solidFill>
                <a:latin typeface="Trebuchet MS"/>
                <a:cs typeface="Trebuchet MS"/>
              </a:rPr>
              <a:t>RAW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-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85" dirty="0">
                <a:latin typeface="Trebuchet MS"/>
                <a:cs typeface="Trebuchet MS"/>
              </a:rPr>
              <a:t>Read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After</a:t>
            </a:r>
            <a:r>
              <a:rPr sz="2800" spc="-370" dirty="0">
                <a:latin typeface="Trebuchet MS"/>
                <a:cs typeface="Trebuchet MS"/>
              </a:rPr>
              <a:t> </a:t>
            </a:r>
            <a:r>
              <a:rPr sz="2800" spc="15" dirty="0">
                <a:latin typeface="Trebuchet MS"/>
                <a:cs typeface="Trebuchet MS"/>
              </a:rPr>
              <a:t>Write.</a:t>
            </a:r>
            <a:r>
              <a:rPr sz="2800" spc="-365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Most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common:</a:t>
            </a:r>
            <a:r>
              <a:rPr sz="2800" spc="-390" dirty="0">
                <a:latin typeface="Trebuchet MS"/>
                <a:cs typeface="Trebuchet MS"/>
              </a:rPr>
              <a:t> </a:t>
            </a:r>
            <a:r>
              <a:rPr sz="2800" spc="90" dirty="0">
                <a:latin typeface="Trebuchet MS"/>
                <a:cs typeface="Trebuchet MS"/>
              </a:rPr>
              <a:t>solved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165" dirty="0">
                <a:latin typeface="Trebuchet MS"/>
                <a:cs typeface="Trebuchet MS"/>
              </a:rPr>
              <a:t>by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data</a:t>
            </a:r>
            <a:r>
              <a:rPr sz="2800" spc="-130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forwarding.</a:t>
            </a:r>
            <a:endParaRPr sz="2800" dirty="0">
              <a:latin typeface="Trebuchet MS"/>
              <a:cs typeface="Trebuchet MS"/>
            </a:endParaRPr>
          </a:p>
          <a:p>
            <a:pPr marL="414655" indent="-402590" algn="just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415290" algn="l"/>
              </a:tabLst>
            </a:pPr>
            <a:r>
              <a:rPr sz="2800" b="1" spc="300" dirty="0">
                <a:solidFill>
                  <a:srgbClr val="3B11ED"/>
                </a:solidFill>
                <a:latin typeface="Trebuchet MS"/>
                <a:cs typeface="Trebuchet MS"/>
              </a:rPr>
              <a:t>WAW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-</a:t>
            </a:r>
            <a:r>
              <a:rPr sz="2800" spc="-370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Write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After</a:t>
            </a:r>
            <a:r>
              <a:rPr sz="2800" spc="-380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Write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215" dirty="0">
                <a:latin typeface="Trebuchet MS"/>
                <a:cs typeface="Trebuchet MS"/>
              </a:rPr>
              <a:t>:</a:t>
            </a:r>
            <a:r>
              <a:rPr sz="2800" spc="-375" dirty="0">
                <a:latin typeface="Trebuchet MS"/>
                <a:cs typeface="Trebuchet MS"/>
              </a:rPr>
              <a:t> </a:t>
            </a:r>
            <a:r>
              <a:rPr sz="2800" spc="10" dirty="0">
                <a:latin typeface="Trebuchet MS"/>
                <a:cs typeface="Trebuchet MS"/>
              </a:rPr>
              <a:t>Inst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15" dirty="0">
                <a:latin typeface="Trebuchet MS"/>
                <a:cs typeface="Trebuchet MS"/>
              </a:rPr>
              <a:t>i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55" dirty="0">
                <a:latin typeface="Trebuchet MS"/>
                <a:cs typeface="Trebuchet MS"/>
              </a:rPr>
              <a:t>(load)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40" dirty="0">
                <a:latin typeface="Trebuchet MS"/>
                <a:cs typeface="Trebuchet MS"/>
              </a:rPr>
              <a:t>before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inst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215" dirty="0">
                <a:latin typeface="Trebuchet MS"/>
                <a:cs typeface="Trebuchet MS"/>
              </a:rPr>
              <a:t>j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35" dirty="0">
                <a:latin typeface="Trebuchet MS"/>
                <a:cs typeface="Trebuchet MS"/>
              </a:rPr>
              <a:t>(add).</a:t>
            </a:r>
            <a:endParaRPr sz="2800" dirty="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355600" algn="l"/>
              </a:tabLst>
            </a:pPr>
            <a:r>
              <a:rPr sz="2800" spc="-15" dirty="0">
                <a:latin typeface="Trebuchet MS"/>
                <a:cs typeface="Trebuchet MS"/>
              </a:rPr>
              <a:t>Both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5" dirty="0">
                <a:latin typeface="Trebuchet MS"/>
                <a:cs typeface="Trebuchet MS"/>
              </a:rPr>
              <a:t>write</a:t>
            </a:r>
            <a:r>
              <a:rPr sz="2800" spc="-85" dirty="0">
                <a:latin typeface="Trebuchet MS"/>
                <a:cs typeface="Trebuchet MS"/>
              </a:rPr>
              <a:t> to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same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register.</a:t>
            </a:r>
            <a:r>
              <a:rPr sz="2800" spc="-31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But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inst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15" dirty="0">
                <a:latin typeface="Trebuchet MS"/>
                <a:cs typeface="Trebuchet MS"/>
              </a:rPr>
              <a:t>i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does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it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40" dirty="0">
                <a:latin typeface="Trebuchet MS"/>
                <a:cs typeface="Trebuchet MS"/>
              </a:rPr>
              <a:t>before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inst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215" dirty="0">
                <a:latin typeface="Trebuchet MS"/>
                <a:cs typeface="Trebuchet MS"/>
              </a:rPr>
              <a:t>j.</a:t>
            </a:r>
            <a:r>
              <a:rPr sz="2800" spc="-315" dirty="0">
                <a:latin typeface="Trebuchet MS"/>
                <a:cs typeface="Trebuchet MS"/>
              </a:rPr>
              <a:t> </a:t>
            </a:r>
            <a:r>
              <a:rPr sz="2800" spc="210" dirty="0">
                <a:latin typeface="Trebuchet MS"/>
                <a:cs typeface="Trebuchet MS"/>
              </a:rPr>
              <a:t>DLX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avoids  </a:t>
            </a:r>
            <a:r>
              <a:rPr sz="2800" spc="-10" dirty="0">
                <a:latin typeface="Trebuchet MS"/>
                <a:cs typeface="Trebuchet MS"/>
              </a:rPr>
              <a:t>this </a:t>
            </a:r>
            <a:r>
              <a:rPr sz="2800" spc="165" dirty="0">
                <a:latin typeface="Trebuchet MS"/>
                <a:cs typeface="Trebuchet MS"/>
              </a:rPr>
              <a:t>by </a:t>
            </a:r>
            <a:r>
              <a:rPr sz="2800" spc="30" dirty="0">
                <a:latin typeface="Trebuchet MS"/>
                <a:cs typeface="Trebuchet MS"/>
              </a:rPr>
              <a:t>waiting </a:t>
            </a:r>
            <a:r>
              <a:rPr sz="2800" dirty="0">
                <a:latin typeface="Trebuchet MS"/>
                <a:cs typeface="Trebuchet MS"/>
              </a:rPr>
              <a:t>for </a:t>
            </a:r>
            <a:r>
              <a:rPr sz="2800" spc="225" dirty="0">
                <a:latin typeface="Trebuchet MS"/>
                <a:cs typeface="Trebuchet MS"/>
              </a:rPr>
              <a:t>WB </a:t>
            </a:r>
            <a:r>
              <a:rPr sz="2800" spc="-90" dirty="0">
                <a:latin typeface="Trebuchet MS"/>
                <a:cs typeface="Trebuchet MS"/>
              </a:rPr>
              <a:t>to </a:t>
            </a:r>
            <a:r>
              <a:rPr sz="2800" spc="5" dirty="0">
                <a:latin typeface="Trebuchet MS"/>
                <a:cs typeface="Trebuchet MS"/>
              </a:rPr>
              <a:t>write </a:t>
            </a:r>
            <a:r>
              <a:rPr sz="2800" spc="-90" dirty="0">
                <a:latin typeface="Trebuchet MS"/>
                <a:cs typeface="Trebuchet MS"/>
              </a:rPr>
              <a:t>to </a:t>
            </a:r>
            <a:r>
              <a:rPr sz="2800" spc="30" dirty="0">
                <a:latin typeface="Trebuchet MS"/>
                <a:cs typeface="Trebuchet MS"/>
              </a:rPr>
              <a:t>registers. </a:t>
            </a:r>
            <a:r>
              <a:rPr sz="2800" spc="114" dirty="0">
                <a:latin typeface="Trebuchet MS"/>
                <a:cs typeface="Trebuchet MS"/>
              </a:rPr>
              <a:t>So </a:t>
            </a:r>
            <a:r>
              <a:rPr sz="2800" spc="85" dirty="0">
                <a:latin typeface="Trebuchet MS"/>
                <a:cs typeface="Trebuchet MS"/>
              </a:rPr>
              <a:t>no </a:t>
            </a:r>
            <a:r>
              <a:rPr sz="2800" spc="300" dirty="0">
                <a:latin typeface="Trebuchet MS"/>
                <a:cs typeface="Trebuchet MS"/>
              </a:rPr>
              <a:t>WAW </a:t>
            </a:r>
            <a:r>
              <a:rPr sz="2800" spc="20" dirty="0">
                <a:latin typeface="Trebuchet MS"/>
                <a:cs typeface="Trebuchet MS"/>
              </a:rPr>
              <a:t>hazard </a:t>
            </a:r>
            <a:r>
              <a:rPr sz="2800" spc="40" dirty="0">
                <a:latin typeface="Trebuchet MS"/>
                <a:cs typeface="Trebuchet MS"/>
              </a:rPr>
              <a:t>in  </a:t>
            </a:r>
            <a:r>
              <a:rPr sz="2800" spc="100" dirty="0">
                <a:latin typeface="Trebuchet MS"/>
                <a:cs typeface="Trebuchet MS"/>
              </a:rPr>
              <a:t>DLX.</a:t>
            </a:r>
            <a:endParaRPr sz="2800" dirty="0">
              <a:latin typeface="Trebuchet MS"/>
              <a:cs typeface="Trebuchet MS"/>
            </a:endParaRPr>
          </a:p>
          <a:p>
            <a:pPr marL="355600" marR="5715" indent="-342900" algn="just">
              <a:lnSpc>
                <a:spcPts val="3020"/>
              </a:lnSpc>
              <a:spcBef>
                <a:spcPts val="1025"/>
              </a:spcBef>
              <a:buFont typeface="Arial"/>
              <a:buChar char="•"/>
              <a:tabLst>
                <a:tab pos="415290" algn="l"/>
              </a:tabLst>
            </a:pPr>
            <a:r>
              <a:rPr sz="2800" b="1" spc="220" dirty="0">
                <a:solidFill>
                  <a:srgbClr val="3B11ED"/>
                </a:solidFill>
                <a:latin typeface="Trebuchet MS"/>
                <a:cs typeface="Trebuchet MS"/>
              </a:rPr>
              <a:t>WAR</a:t>
            </a:r>
            <a:r>
              <a:rPr sz="2800" spc="22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- </a:t>
            </a:r>
            <a:r>
              <a:rPr sz="2800" spc="75" dirty="0">
                <a:latin typeface="Trebuchet MS"/>
                <a:cs typeface="Trebuchet MS"/>
              </a:rPr>
              <a:t>Write </a:t>
            </a:r>
            <a:r>
              <a:rPr sz="2800" spc="-65" dirty="0">
                <a:latin typeface="Trebuchet MS"/>
                <a:cs typeface="Trebuchet MS"/>
              </a:rPr>
              <a:t>after </a:t>
            </a:r>
            <a:r>
              <a:rPr sz="2800" spc="25" dirty="0">
                <a:latin typeface="Trebuchet MS"/>
                <a:cs typeface="Trebuchet MS"/>
              </a:rPr>
              <a:t>Read: </a:t>
            </a:r>
            <a:r>
              <a:rPr sz="2800" spc="-15" dirty="0">
                <a:latin typeface="Trebuchet MS"/>
                <a:cs typeface="Trebuchet MS"/>
              </a:rPr>
              <a:t>inst </a:t>
            </a:r>
            <a:r>
              <a:rPr sz="2800" spc="-210" dirty="0">
                <a:latin typeface="Trebuchet MS"/>
                <a:cs typeface="Trebuchet MS"/>
              </a:rPr>
              <a:t>j </a:t>
            </a:r>
            <a:r>
              <a:rPr sz="2800" spc="20" dirty="0">
                <a:latin typeface="Trebuchet MS"/>
                <a:cs typeface="Trebuchet MS"/>
              </a:rPr>
              <a:t>tries </a:t>
            </a:r>
            <a:r>
              <a:rPr sz="2800" spc="-85" dirty="0">
                <a:latin typeface="Trebuchet MS"/>
                <a:cs typeface="Trebuchet MS"/>
              </a:rPr>
              <a:t>to </a:t>
            </a:r>
            <a:r>
              <a:rPr sz="2800" spc="5" dirty="0">
                <a:latin typeface="Trebuchet MS"/>
                <a:cs typeface="Trebuchet MS"/>
              </a:rPr>
              <a:t>write </a:t>
            </a:r>
            <a:r>
              <a:rPr sz="2800" spc="10" dirty="0">
                <a:latin typeface="Trebuchet MS"/>
                <a:cs typeface="Trebuchet MS"/>
              </a:rPr>
              <a:t>a </a:t>
            </a:r>
            <a:r>
              <a:rPr sz="2800" spc="15" dirty="0">
                <a:latin typeface="Trebuchet MS"/>
                <a:cs typeface="Trebuchet MS"/>
              </a:rPr>
              <a:t>destination </a:t>
            </a:r>
            <a:r>
              <a:rPr sz="2800" spc="40" dirty="0">
                <a:latin typeface="Trebuchet MS"/>
                <a:cs typeface="Trebuchet MS"/>
              </a:rPr>
              <a:t>before </a:t>
            </a:r>
            <a:r>
              <a:rPr sz="2800" spc="-130" dirty="0">
                <a:latin typeface="Trebuchet MS"/>
                <a:cs typeface="Trebuchet MS"/>
              </a:rPr>
              <a:t>it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is  </a:t>
            </a:r>
            <a:r>
              <a:rPr sz="2800" spc="45" dirty="0">
                <a:latin typeface="Trebuchet MS"/>
                <a:cs typeface="Trebuchet MS"/>
              </a:rPr>
              <a:t>read </a:t>
            </a:r>
            <a:r>
              <a:rPr sz="2800" spc="165" dirty="0">
                <a:latin typeface="Trebuchet MS"/>
                <a:cs typeface="Trebuchet MS"/>
              </a:rPr>
              <a:t>by </a:t>
            </a:r>
            <a:r>
              <a:rPr sz="2800" spc="-55" dirty="0">
                <a:latin typeface="Trebuchet MS"/>
                <a:cs typeface="Trebuchet MS"/>
              </a:rPr>
              <a:t>I, </a:t>
            </a:r>
            <a:r>
              <a:rPr sz="2800" spc="120" dirty="0">
                <a:latin typeface="Trebuchet MS"/>
                <a:cs typeface="Trebuchet MS"/>
              </a:rPr>
              <a:t>so </a:t>
            </a:r>
            <a:r>
              <a:rPr sz="2800" spc="95" dirty="0">
                <a:latin typeface="Trebuchet MS"/>
                <a:cs typeface="Trebuchet MS"/>
              </a:rPr>
              <a:t>I </a:t>
            </a:r>
            <a:r>
              <a:rPr sz="2800" spc="25" dirty="0">
                <a:latin typeface="Trebuchet MS"/>
                <a:cs typeface="Trebuchet MS"/>
              </a:rPr>
              <a:t>incorrectly </a:t>
            </a:r>
            <a:r>
              <a:rPr sz="2800" spc="55" dirty="0">
                <a:latin typeface="Trebuchet MS"/>
                <a:cs typeface="Trebuchet MS"/>
              </a:rPr>
              <a:t>gets </a:t>
            </a:r>
            <a:r>
              <a:rPr sz="2800" spc="-35" dirty="0">
                <a:latin typeface="Trebuchet MS"/>
                <a:cs typeface="Trebuchet MS"/>
              </a:rPr>
              <a:t>its </a:t>
            </a:r>
            <a:r>
              <a:rPr sz="2800" spc="-10" dirty="0">
                <a:latin typeface="Trebuchet MS"/>
                <a:cs typeface="Trebuchet MS"/>
              </a:rPr>
              <a:t>value. </a:t>
            </a:r>
            <a:r>
              <a:rPr sz="2800" spc="55" dirty="0">
                <a:latin typeface="Trebuchet MS"/>
                <a:cs typeface="Trebuchet MS"/>
              </a:rPr>
              <a:t>This </a:t>
            </a:r>
            <a:r>
              <a:rPr sz="2800" spc="10" dirty="0">
                <a:latin typeface="Trebuchet MS"/>
                <a:cs typeface="Trebuchet MS"/>
              </a:rPr>
              <a:t>cannot </a:t>
            </a:r>
            <a:r>
              <a:rPr sz="2800" spc="100" dirty="0">
                <a:latin typeface="Trebuchet MS"/>
                <a:cs typeface="Trebuchet MS"/>
              </a:rPr>
              <a:t>happen </a:t>
            </a:r>
            <a:r>
              <a:rPr sz="2800" spc="35" dirty="0">
                <a:latin typeface="Trebuchet MS"/>
                <a:cs typeface="Trebuchet MS"/>
              </a:rPr>
              <a:t>in </a:t>
            </a:r>
            <a:r>
              <a:rPr sz="2800" spc="210" dirty="0">
                <a:latin typeface="Trebuchet MS"/>
                <a:cs typeface="Trebuchet MS"/>
              </a:rPr>
              <a:t>DLX  </a:t>
            </a:r>
            <a:r>
              <a:rPr sz="2800" spc="75" dirty="0">
                <a:latin typeface="Trebuchet MS"/>
                <a:cs typeface="Trebuchet MS"/>
              </a:rPr>
              <a:t>since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all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inst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read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40" dirty="0">
                <a:latin typeface="Trebuchet MS"/>
                <a:cs typeface="Trebuchet MS"/>
              </a:rPr>
              <a:t>early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(ID)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but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5" dirty="0">
                <a:latin typeface="Trebuchet MS"/>
                <a:cs typeface="Trebuchet MS"/>
              </a:rPr>
              <a:t>write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late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55" dirty="0">
                <a:latin typeface="Trebuchet MS"/>
                <a:cs typeface="Trebuchet MS"/>
              </a:rPr>
              <a:t>(WB).</a:t>
            </a:r>
            <a:endParaRPr sz="2800" dirty="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355600" algn="l"/>
              </a:tabLst>
            </a:pPr>
            <a:r>
              <a:rPr sz="2800" spc="-60" dirty="0">
                <a:latin typeface="Trebuchet MS"/>
                <a:cs typeface="Trebuchet MS"/>
              </a:rPr>
              <a:t>But </a:t>
            </a:r>
            <a:r>
              <a:rPr sz="2800" b="1" spc="300" dirty="0">
                <a:latin typeface="Trebuchet MS"/>
                <a:cs typeface="Trebuchet MS"/>
              </a:rPr>
              <a:t>WAW</a:t>
            </a:r>
            <a:r>
              <a:rPr sz="2800" spc="300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happens </a:t>
            </a:r>
            <a:r>
              <a:rPr sz="2800" spc="35" dirty="0">
                <a:latin typeface="Trebuchet MS"/>
                <a:cs typeface="Trebuchet MS"/>
              </a:rPr>
              <a:t>in </a:t>
            </a:r>
            <a:r>
              <a:rPr sz="2800" spc="90" dirty="0">
                <a:latin typeface="Trebuchet MS"/>
                <a:cs typeface="Trebuchet MS"/>
              </a:rPr>
              <a:t>complex </a:t>
            </a:r>
            <a:r>
              <a:rPr sz="2800" spc="10" dirty="0">
                <a:latin typeface="Trebuchet MS"/>
                <a:cs typeface="Trebuchet MS"/>
              </a:rPr>
              <a:t>instruction </a:t>
            </a:r>
            <a:r>
              <a:rPr sz="2800" spc="25" dirty="0">
                <a:latin typeface="Trebuchet MS"/>
                <a:cs typeface="Trebuchet MS"/>
              </a:rPr>
              <a:t>sets </a:t>
            </a:r>
            <a:r>
              <a:rPr sz="2800" spc="-110" dirty="0">
                <a:latin typeface="Trebuchet MS"/>
                <a:cs typeface="Trebuchet MS"/>
              </a:rPr>
              <a:t>that </a:t>
            </a:r>
            <a:r>
              <a:rPr sz="2800" spc="40" dirty="0">
                <a:latin typeface="Trebuchet MS"/>
                <a:cs typeface="Trebuchet MS"/>
              </a:rPr>
              <a:t>have </a:t>
            </a:r>
            <a:r>
              <a:rPr sz="2800" spc="-30" dirty="0">
                <a:latin typeface="Trebuchet MS"/>
                <a:cs typeface="Trebuchet MS"/>
              </a:rPr>
              <a:t>auto-  </a:t>
            </a:r>
            <a:r>
              <a:rPr sz="2800" spc="10" dirty="0">
                <a:latin typeface="Trebuchet MS"/>
                <a:cs typeface="Trebuchet MS"/>
              </a:rPr>
              <a:t>increment </a:t>
            </a:r>
            <a:r>
              <a:rPr sz="2800" spc="110" dirty="0">
                <a:latin typeface="Trebuchet MS"/>
                <a:cs typeface="Trebuchet MS"/>
              </a:rPr>
              <a:t>mode </a:t>
            </a:r>
            <a:r>
              <a:rPr sz="2800" spc="90" dirty="0">
                <a:latin typeface="Trebuchet MS"/>
                <a:cs typeface="Trebuchet MS"/>
              </a:rPr>
              <a:t>and </a:t>
            </a:r>
            <a:r>
              <a:rPr sz="2800" spc="25" dirty="0">
                <a:latin typeface="Trebuchet MS"/>
                <a:cs typeface="Trebuchet MS"/>
              </a:rPr>
              <a:t>require </a:t>
            </a:r>
            <a:r>
              <a:rPr sz="2800" spc="95" dirty="0">
                <a:latin typeface="Trebuchet MS"/>
                <a:cs typeface="Trebuchet MS"/>
              </a:rPr>
              <a:t>operands </a:t>
            </a:r>
            <a:r>
              <a:rPr sz="2800" spc="-90" dirty="0">
                <a:latin typeface="Trebuchet MS"/>
                <a:cs typeface="Trebuchet MS"/>
              </a:rPr>
              <a:t>to</a:t>
            </a:r>
            <a:r>
              <a:rPr sz="2800" spc="660" dirty="0">
                <a:latin typeface="Trebuchet MS"/>
                <a:cs typeface="Trebuchet MS"/>
              </a:rPr>
              <a:t> </a:t>
            </a:r>
            <a:r>
              <a:rPr sz="2800" spc="160" dirty="0">
                <a:latin typeface="Trebuchet MS"/>
                <a:cs typeface="Trebuchet MS"/>
              </a:rPr>
              <a:t>be </a:t>
            </a:r>
            <a:r>
              <a:rPr sz="2800" spc="45" dirty="0">
                <a:latin typeface="Trebuchet MS"/>
                <a:cs typeface="Trebuchet MS"/>
              </a:rPr>
              <a:t>read </a:t>
            </a:r>
            <a:r>
              <a:rPr sz="2800" spc="-50" dirty="0">
                <a:latin typeface="Trebuchet MS"/>
                <a:cs typeface="Trebuchet MS"/>
              </a:rPr>
              <a:t>late </a:t>
            </a:r>
            <a:r>
              <a:rPr sz="2800" spc="80" dirty="0">
                <a:latin typeface="Trebuchet MS"/>
                <a:cs typeface="Trebuchet MS"/>
              </a:rPr>
              <a:t>cycle  </a:t>
            </a:r>
            <a:r>
              <a:rPr sz="2800" spc="90" dirty="0">
                <a:latin typeface="Trebuchet MS"/>
                <a:cs typeface="Trebuchet MS"/>
              </a:rPr>
              <a:t>experience</a:t>
            </a:r>
            <a:r>
              <a:rPr sz="2800" spc="-415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WAW.</a:t>
            </a:r>
            <a:endParaRPr sz="28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6568046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4572" y="125549"/>
            <a:ext cx="115600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spc="-245" dirty="0">
                <a:latin typeface="Rockwell" panose="02060603020205020403" pitchFamily="18" charset="0"/>
              </a:rPr>
              <a:t>Data </a:t>
            </a:r>
            <a:r>
              <a:rPr sz="4000" spc="-285" dirty="0">
                <a:latin typeface="Rockwell" panose="02060603020205020403" pitchFamily="18" charset="0"/>
              </a:rPr>
              <a:t>Hazard</a:t>
            </a:r>
            <a:r>
              <a:rPr sz="4000" spc="-430" dirty="0">
                <a:latin typeface="Rockwell" panose="02060603020205020403" pitchFamily="18" charset="0"/>
              </a:rPr>
              <a:t> </a:t>
            </a:r>
            <a:r>
              <a:rPr lang="en-GB" sz="4000" spc="-185" dirty="0">
                <a:latin typeface="Rockwell" panose="02060603020205020403" pitchFamily="18" charset="0"/>
              </a:rPr>
              <a:t>Classifications</a:t>
            </a:r>
            <a:endParaRPr sz="4000" spc="-185" dirty="0">
              <a:latin typeface="Rockwell" panose="02060603020205020403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48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02724" y="838200"/>
            <a:ext cx="11560010" cy="23871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0" tIns="139065" rIns="0" bIns="0" rtlCol="0">
            <a:spAutoFit/>
          </a:bodyPr>
          <a:lstStyle/>
          <a:p>
            <a:pPr lvl="1" algn="just"/>
            <a:r>
              <a:rPr lang="en-US" sz="2800" dirty="0"/>
              <a:t>Describe each of the following categories of Data Hazards: </a:t>
            </a:r>
            <a:r>
              <a:rPr lang="en-US" sz="2800" b="1" dirty="0"/>
              <a:t>RAW, WAR, WAW</a:t>
            </a:r>
            <a:r>
              <a:rPr lang="en-US" sz="2800" dirty="0"/>
              <a:t>. Using  (I – iii) below state which is </a:t>
            </a:r>
            <a:r>
              <a:rPr lang="en-US" sz="2800" b="1" dirty="0"/>
              <a:t>RAW, WAR or WAW </a:t>
            </a:r>
            <a:r>
              <a:rPr lang="en-US" sz="2800" dirty="0"/>
              <a:t>and indicate how each occurs using an arrow.  </a:t>
            </a:r>
            <a:r>
              <a:rPr lang="en-US" dirty="0"/>
              <a:t>						</a:t>
            </a:r>
            <a:endParaRPr lang="en-US" sz="1600" dirty="0"/>
          </a:p>
          <a:p>
            <a:r>
              <a:rPr lang="en-US" dirty="0"/>
              <a:t> </a:t>
            </a:r>
            <a:endParaRPr lang="en-US" sz="1600" dirty="0"/>
          </a:p>
          <a:p>
            <a:pPr lvl="0"/>
            <a:r>
              <a:rPr lang="en-US" b="1" dirty="0"/>
              <a:t>	R3 </a:t>
            </a:r>
            <a:r>
              <a:rPr lang="en-US" b="1" dirty="0">
                <a:sym typeface="Wingdings"/>
              </a:rPr>
              <a:t></a:t>
            </a:r>
            <a:r>
              <a:rPr lang="en-US" b="1" dirty="0"/>
              <a:t> R1 op R2	ii)	R3 </a:t>
            </a:r>
            <a:r>
              <a:rPr lang="en-US" b="1" dirty="0">
                <a:sym typeface="Wingdings"/>
              </a:rPr>
              <a:t></a:t>
            </a:r>
            <a:r>
              <a:rPr lang="en-US" b="1" dirty="0"/>
              <a:t> R1 op R2	iii)	R3 </a:t>
            </a:r>
            <a:r>
              <a:rPr lang="en-US" b="1" dirty="0">
                <a:sym typeface="Wingdings"/>
              </a:rPr>
              <a:t></a:t>
            </a:r>
            <a:r>
              <a:rPr lang="en-US" b="1" dirty="0"/>
              <a:t> R1 op R2	 </a:t>
            </a:r>
            <a:endParaRPr lang="en-US" sz="1600" dirty="0"/>
          </a:p>
          <a:p>
            <a:r>
              <a:rPr lang="en-US" b="1" dirty="0"/>
              <a:t>	R5 </a:t>
            </a:r>
            <a:r>
              <a:rPr lang="en-US" b="1" dirty="0">
                <a:sym typeface="Wingdings"/>
              </a:rPr>
              <a:t></a:t>
            </a:r>
            <a:r>
              <a:rPr lang="en-US" b="1" dirty="0"/>
              <a:t> R3 op R4		R1 </a:t>
            </a:r>
            <a:r>
              <a:rPr lang="en-US" b="1" dirty="0">
                <a:sym typeface="Wingdings"/>
              </a:rPr>
              <a:t></a:t>
            </a:r>
            <a:r>
              <a:rPr lang="en-US" b="1" dirty="0"/>
              <a:t> R4 op R5		R3 </a:t>
            </a:r>
            <a:r>
              <a:rPr lang="en-US" b="1" dirty="0">
                <a:sym typeface="Wingdings"/>
              </a:rPr>
              <a:t></a:t>
            </a:r>
            <a:r>
              <a:rPr lang="en-US" b="1" dirty="0"/>
              <a:t> R6 op R7</a:t>
            </a:r>
            <a:endParaRPr lang="en-US" sz="1600" dirty="0"/>
          </a:p>
          <a:p>
            <a:r>
              <a:rPr lang="en-US" sz="800" b="1" dirty="0"/>
              <a:t> </a:t>
            </a:r>
            <a:endParaRPr lang="en-US" sz="3200" dirty="0"/>
          </a:p>
        </p:txBody>
      </p:sp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0" t="43692" r="31261" b="12820"/>
          <a:stretch>
            <a:fillRect/>
          </a:stretch>
        </p:blipFill>
        <p:spPr bwMode="auto">
          <a:xfrm>
            <a:off x="2287587" y="3311187"/>
            <a:ext cx="6781799" cy="2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04910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4572" y="125549"/>
            <a:ext cx="115600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000" spc="-245" dirty="0">
                <a:latin typeface="Rockwell" panose="02060603020205020403" pitchFamily="18" charset="0"/>
              </a:rPr>
              <a:t>Example 1</a:t>
            </a:r>
            <a:endParaRPr sz="4000" spc="-185" dirty="0">
              <a:latin typeface="Rockwell" panose="02060603020205020403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49</a:t>
            </a:fld>
            <a:endParaRPr spc="-5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11B43E-B321-4FE4-ACBC-FE06724B04E0}"/>
              </a:ext>
            </a:extLst>
          </p:cNvPr>
          <p:cNvSpPr/>
          <p:nvPr/>
        </p:nvSpPr>
        <p:spPr>
          <a:xfrm>
            <a:off x="687387" y="791401"/>
            <a:ext cx="9677400" cy="5202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24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hazards in the following code:</a:t>
            </a:r>
            <a:endParaRPr lang="en-GB" sz="24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GB" sz="24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I1: ADD R1, R2, R3</a:t>
            </a:r>
            <a:br>
              <a:rPr lang="en-GB" sz="24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I2: SUB R4, R1, R5</a:t>
            </a:r>
            <a:br>
              <a:rPr lang="en-GB" sz="24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I3: MUL R1, R6, R7</a:t>
            </a:r>
            <a:br>
              <a:rPr lang="en-GB" sz="24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I4: DIV R8, R1, R9</a:t>
            </a:r>
            <a:endParaRPr lang="en-GB" sz="24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GB" sz="2400" dirty="0">
              <a:latin typeface="Rockwell" panose="020608030305050204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24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GB" sz="24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Between I1 and I2</a:t>
            </a:r>
            <a:endParaRPr lang="en-GB" sz="24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I2 reads R1 after I1 writes R1.</a:t>
            </a:r>
            <a:endParaRPr lang="en-GB" sz="2400" dirty="0">
              <a:solidFill>
                <a:srgbClr val="7A0000"/>
              </a:solidFill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 hazard.</a:t>
            </a:r>
            <a:endParaRPr lang="en-GB" sz="2400" dirty="0">
              <a:solidFill>
                <a:srgbClr val="7A0000"/>
              </a:solidFill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Between I1 and I3</a:t>
            </a:r>
            <a:endParaRPr lang="en-GB" sz="24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I3 writes R1 after I1 writes R1.</a:t>
            </a:r>
            <a:endParaRPr lang="en-GB" sz="2400" dirty="0">
              <a:solidFill>
                <a:srgbClr val="7A0000"/>
              </a:solidFill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WAW hazard.</a:t>
            </a:r>
            <a:endParaRPr lang="en-GB" sz="2400" dirty="0">
              <a:solidFill>
                <a:srgbClr val="7A0000"/>
              </a:solidFill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6898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4572" y="125549"/>
            <a:ext cx="115600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000" spc="-245" dirty="0">
                <a:latin typeface="Rockwell" panose="02060603020205020403" pitchFamily="18" charset="0"/>
              </a:rPr>
              <a:t>Example 1</a:t>
            </a:r>
            <a:endParaRPr sz="4000" spc="-185" dirty="0">
              <a:latin typeface="Rockwell" panose="02060603020205020403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50</a:t>
            </a:fld>
            <a:endParaRPr spc="-5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11B43E-B321-4FE4-ACBC-FE06724B04E0}"/>
              </a:ext>
            </a:extLst>
          </p:cNvPr>
          <p:cNvSpPr/>
          <p:nvPr/>
        </p:nvSpPr>
        <p:spPr>
          <a:xfrm>
            <a:off x="839786" y="1341500"/>
            <a:ext cx="7421233" cy="3488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2600" b="1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Between I3 and I4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I4 reads R1 after I3 writes R1.</a:t>
            </a:r>
            <a:endParaRPr lang="en-GB" sz="2600" dirty="0">
              <a:solidFill>
                <a:srgbClr val="7A0000"/>
              </a:solidFill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 hazard</a:t>
            </a: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GB" sz="2600" b="1" dirty="0">
              <a:latin typeface="Rockwell" panose="020608030305050204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2600" b="1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 Answer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I1 → I2 : RAW 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I1 → I3 : WAW 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I3 → I4 : RAW </a:t>
            </a:r>
            <a:endParaRPr lang="en-GB" sz="2600" dirty="0">
              <a:effectLst/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4046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4572" y="125549"/>
            <a:ext cx="115600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000" spc="-245" dirty="0">
                <a:latin typeface="Rockwell" panose="02060603020205020403" pitchFamily="18" charset="0"/>
              </a:rPr>
              <a:t>Example 2</a:t>
            </a:r>
            <a:endParaRPr sz="4000" spc="-185" dirty="0">
              <a:latin typeface="Rockwell" panose="02060603020205020403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51</a:t>
            </a:fld>
            <a:endParaRPr spc="-5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11B43E-B321-4FE4-ACBC-FE06724B04E0}"/>
              </a:ext>
            </a:extLst>
          </p:cNvPr>
          <p:cNvSpPr/>
          <p:nvPr/>
        </p:nvSpPr>
        <p:spPr>
          <a:xfrm>
            <a:off x="534987" y="776292"/>
            <a:ext cx="10346666" cy="5267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Given the instruction sequence: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I1: LOAD R1, 0(R2)</a:t>
            </a:r>
            <a:b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I2: ADD R3, R1, R4</a:t>
            </a:r>
            <a:b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I3: SUB R5, R6, R7</a:t>
            </a:r>
            <a:b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I4: MUL R8, R3, R9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Rearrange instructions to minimize stalls.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GB" sz="2600" u="sng" dirty="0">
                <a:solidFill>
                  <a:srgbClr val="0000FF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GB" sz="2600" u="sng" dirty="0">
              <a:solidFill>
                <a:srgbClr val="0000FF"/>
              </a:solidFill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600" b="1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Original Sequence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LOAD → dependent ADD immediately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creates a load-use hazard.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0915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4572" y="125549"/>
            <a:ext cx="115600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000" spc="-245" dirty="0">
                <a:latin typeface="Rockwell" panose="02060603020205020403" pitchFamily="18" charset="0"/>
              </a:rPr>
              <a:t>Example 2</a:t>
            </a:r>
            <a:endParaRPr sz="4000" spc="-185" dirty="0">
              <a:latin typeface="Rockwell" panose="02060603020205020403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52</a:t>
            </a:fld>
            <a:endParaRPr spc="-5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11B43E-B321-4FE4-ACBC-FE06724B04E0}"/>
              </a:ext>
            </a:extLst>
          </p:cNvPr>
          <p:cNvSpPr/>
          <p:nvPr/>
        </p:nvSpPr>
        <p:spPr>
          <a:xfrm>
            <a:off x="419464" y="776292"/>
            <a:ext cx="11425117" cy="5816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600" b="1" dirty="0">
                <a:solidFill>
                  <a:srgbClr val="0000FF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Optimized Scheduling</a:t>
            </a:r>
            <a:endParaRPr lang="en-GB" sz="2600" dirty="0">
              <a:solidFill>
                <a:srgbClr val="0000FF"/>
              </a:solidFill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Move independent instructions between dependent instructions.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GB" sz="26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I1: LOAD R1, 0(R2)</a:t>
            </a:r>
            <a:br>
              <a:rPr lang="en-GB" sz="26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6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I3: SUB R5, R6, R7</a:t>
            </a:r>
            <a:br>
              <a:rPr lang="en-GB" sz="26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6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I2: ADD R3, R1, R4</a:t>
            </a:r>
            <a:br>
              <a:rPr lang="en-GB" sz="26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600" dirty="0">
                <a:solidFill>
                  <a:srgbClr val="7A0000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I4: MUL R8, R3, R9</a:t>
            </a:r>
            <a:endParaRPr lang="en-GB" sz="2600" dirty="0">
              <a:solidFill>
                <a:srgbClr val="7A0000"/>
              </a:solidFill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600" u="sng" dirty="0">
                <a:solidFill>
                  <a:srgbClr val="0000FF"/>
                </a:solidFill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GB" sz="2600" u="sng" dirty="0">
              <a:solidFill>
                <a:srgbClr val="0000FF"/>
              </a:solidFill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 instruction fills the delay slot and reduces stalling.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600" b="1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 Answer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Optimized sequence: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GB" sz="2600" dirty="0">
                <a:latin typeface="Rockwell" panose="020608030305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LOAD – SUB – ADD - MUL</a:t>
            </a:r>
            <a:endParaRPr lang="en-GB" sz="2600" dirty="0"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GB" sz="2600" dirty="0">
              <a:effectLst/>
              <a:latin typeface="Rockwell" panose="020608030305050204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484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39379" y="1341500"/>
            <a:ext cx="265499" cy="0"/>
          </a:xfrm>
          <a:custGeom>
            <a:avLst/>
            <a:gdLst/>
            <a:ahLst/>
            <a:cxnLst/>
            <a:rect l="l" t="t" r="r" b="b"/>
            <a:pathLst>
              <a:path w="265429">
                <a:moveTo>
                  <a:pt x="0" y="0"/>
                </a:moveTo>
                <a:lnTo>
                  <a:pt x="265175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987" y="239037"/>
            <a:ext cx="1185089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000" spc="-180" dirty="0">
                <a:latin typeface="Rockwell" panose="02060603020205020403" pitchFamily="18" charset="0"/>
              </a:rPr>
              <a:t>Effects of Pipeline</a:t>
            </a:r>
            <a:r>
              <a:rPr sz="4000" spc="-330" dirty="0">
                <a:latin typeface="Rockwell" panose="02060603020205020403" pitchFamily="18" charset="0"/>
              </a:rPr>
              <a:t> </a:t>
            </a:r>
            <a:r>
              <a:rPr lang="en-GB" sz="4000" spc="-390" dirty="0">
                <a:latin typeface="Rockwell" panose="02060603020205020403" pitchFamily="18" charset="0"/>
              </a:rPr>
              <a:t>Hazards</a:t>
            </a:r>
            <a:endParaRPr sz="4000" spc="-575" dirty="0">
              <a:latin typeface="Rockwell" panose="02060603020205020403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53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53987" y="1219200"/>
            <a:ext cx="11699619" cy="442941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355600" marR="5588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1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Data</a:t>
            </a:r>
            <a:r>
              <a:rPr sz="2800" b="1" spc="-1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6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dependency</a:t>
            </a:r>
            <a:r>
              <a:rPr sz="2800" b="1" spc="-13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between</a:t>
            </a:r>
            <a:r>
              <a:rPr sz="2800" b="1" spc="-1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0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successive</a:t>
            </a:r>
            <a:r>
              <a:rPr sz="2800" b="1" spc="-1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9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tasks:</a:t>
            </a:r>
            <a:r>
              <a:rPr sz="2800" b="1" spc="-27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There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may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40" dirty="0">
                <a:latin typeface="Rockwell" panose="02060603020205020403" pitchFamily="18" charset="0"/>
                <a:cs typeface="Trebuchet MS"/>
              </a:rPr>
              <a:t>be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dependencies 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between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latin typeface="Rockwell" panose="02060603020205020403" pitchFamily="18" charset="0"/>
                <a:cs typeface="Trebuchet MS"/>
              </a:rPr>
              <a:t>instructions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5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two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tasks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0" dirty="0">
                <a:latin typeface="Rockwell" panose="02060603020205020403" pitchFamily="18" charset="0"/>
                <a:cs typeface="Trebuchet MS"/>
              </a:rPr>
              <a:t>used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in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pipeline.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spcBef>
                <a:spcPts val="16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5" dirty="0">
                <a:latin typeface="Rockwell" panose="02060603020205020403" pitchFamily="18" charset="0"/>
                <a:cs typeface="Trebuchet MS"/>
              </a:rPr>
              <a:t>For</a:t>
            </a:r>
            <a:r>
              <a:rPr sz="2800" spc="-1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example: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994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800" spc="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One</a:t>
            </a:r>
            <a:r>
              <a:rPr sz="2800" spc="-1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instruction</a:t>
            </a:r>
            <a:r>
              <a:rPr sz="2800" spc="-114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cannot</a:t>
            </a:r>
            <a:r>
              <a:rPr sz="2800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be</a:t>
            </a:r>
            <a:r>
              <a:rPr sz="2800" spc="-114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started</a:t>
            </a:r>
            <a:r>
              <a:rPr sz="2800" spc="-11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until</a:t>
            </a:r>
            <a:r>
              <a:rPr sz="2800" spc="-1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previous</a:t>
            </a:r>
            <a:r>
              <a:rPr sz="2800" spc="-1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instruction</a:t>
            </a:r>
            <a:r>
              <a:rPr sz="2800" spc="-114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returns</a:t>
            </a:r>
            <a:r>
              <a:rPr sz="2800" spc="-1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the  </a:t>
            </a:r>
            <a:r>
              <a:rPr sz="2800" spc="-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results,</a:t>
            </a:r>
            <a:r>
              <a:rPr sz="2800" spc="-3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as</a:t>
            </a:r>
            <a:r>
              <a:rPr sz="2800" spc="-1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both</a:t>
            </a:r>
            <a:r>
              <a:rPr sz="2800" spc="-1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are</a:t>
            </a:r>
            <a:r>
              <a:rPr sz="2800" spc="-114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interdependent.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756285" marR="217170" lvl="1" indent="-287020" algn="just">
              <a:lnSpc>
                <a:spcPct val="100000"/>
              </a:lnSpc>
              <a:spcBef>
                <a:spcPts val="163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800" spc="5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Another</a:t>
            </a:r>
            <a:r>
              <a:rPr sz="2800" spc="-1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instance</a:t>
            </a:r>
            <a:r>
              <a:rPr sz="2800" spc="-114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of</a:t>
            </a:r>
            <a:r>
              <a:rPr sz="2800" spc="-114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data</a:t>
            </a:r>
            <a:r>
              <a:rPr sz="2800" spc="-114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dependency</a:t>
            </a:r>
            <a:r>
              <a:rPr sz="2800" spc="-13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will</a:t>
            </a:r>
            <a:r>
              <a:rPr sz="2800" spc="-114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4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be</a:t>
            </a:r>
            <a:r>
              <a:rPr sz="2800" spc="-114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when</a:t>
            </a:r>
            <a:r>
              <a:rPr sz="2800" spc="-1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both</a:t>
            </a:r>
            <a:r>
              <a:rPr sz="2800" spc="-114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instructions </a:t>
            </a:r>
            <a:r>
              <a:rPr sz="2800" spc="1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try</a:t>
            </a:r>
            <a:r>
              <a:rPr sz="2800" b="1" spc="-13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7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to</a:t>
            </a:r>
            <a:r>
              <a:rPr sz="2800" b="1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5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modify</a:t>
            </a:r>
            <a:r>
              <a:rPr sz="2800" b="1" spc="-12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the</a:t>
            </a:r>
            <a:r>
              <a:rPr sz="2800" b="1" spc="-1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7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same</a:t>
            </a:r>
            <a:r>
              <a:rPr sz="2800" b="1" spc="-14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1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data</a:t>
            </a:r>
            <a:r>
              <a:rPr sz="2800" b="1" spc="-114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object.</a:t>
            </a:r>
            <a:r>
              <a:rPr sz="2800" spc="-42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These</a:t>
            </a:r>
            <a:r>
              <a:rPr sz="2800" spc="-130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are</a:t>
            </a:r>
            <a:r>
              <a:rPr sz="2800" spc="-12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called</a:t>
            </a:r>
            <a:r>
              <a:rPr sz="2800" spc="-114" dirty="0">
                <a:solidFill>
                  <a:srgbClr val="790000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5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data</a:t>
            </a:r>
            <a:r>
              <a:rPr sz="2800" b="1" spc="-1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7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hazards.</a:t>
            </a:r>
            <a:endParaRPr lang="en-US" sz="2800" b="1" spc="70" dirty="0">
              <a:solidFill>
                <a:srgbClr val="0000FF"/>
              </a:solidFill>
              <a:latin typeface="Rockwell" panose="02060603020205020403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9693295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5505" y="1273925"/>
            <a:ext cx="11453422" cy="4700646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160655" algn="just">
              <a:lnSpc>
                <a:spcPct val="130100"/>
              </a:lnSpc>
              <a:spcBef>
                <a:spcPts val="265"/>
              </a:spcBef>
            </a:pPr>
            <a:r>
              <a:rPr sz="2800" b="1" spc="9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Resource</a:t>
            </a:r>
            <a:r>
              <a:rPr sz="2800" b="1" spc="-15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8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Constraints</a:t>
            </a:r>
            <a:r>
              <a:rPr sz="2800" b="1" spc="80" dirty="0">
                <a:latin typeface="Rockwell" panose="02060603020205020403" pitchFamily="18" charset="0"/>
                <a:cs typeface="Trebuchet MS"/>
              </a:rPr>
              <a:t>:</a:t>
            </a:r>
            <a:r>
              <a:rPr sz="2800" b="1" spc="-38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35" dirty="0">
                <a:latin typeface="Rockwell" panose="02060603020205020403" pitchFamily="18" charset="0"/>
                <a:cs typeface="Trebuchet MS"/>
              </a:rPr>
              <a:t>When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resources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are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not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available</a:t>
            </a:r>
            <a:r>
              <a:rPr sz="2800" spc="-9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at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time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0" dirty="0">
                <a:latin typeface="Rockwell" panose="02060603020205020403" pitchFamily="18" charset="0"/>
                <a:cs typeface="Trebuchet MS"/>
              </a:rPr>
              <a:t>of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latin typeface="Rockwell" panose="02060603020205020403" pitchFamily="18" charset="0"/>
                <a:cs typeface="Trebuchet MS"/>
              </a:rPr>
              <a:t>execution  </a:t>
            </a:r>
            <a:r>
              <a:rPr sz="2800" spc="-10" dirty="0">
                <a:latin typeface="Rockwell" panose="02060603020205020403" pitchFamily="18" charset="0"/>
                <a:cs typeface="Trebuchet MS"/>
              </a:rPr>
              <a:t>then</a:t>
            </a:r>
            <a:r>
              <a:rPr sz="2800" spc="-15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7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delays</a:t>
            </a:r>
            <a:r>
              <a:rPr sz="2800" spc="-114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are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5" dirty="0">
                <a:latin typeface="Rockwell" panose="02060603020205020403" pitchFamily="18" charset="0"/>
                <a:cs typeface="Trebuchet MS"/>
              </a:rPr>
              <a:t>caused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in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0" dirty="0">
                <a:latin typeface="Rockwell" panose="02060603020205020403" pitchFamily="18" charset="0"/>
                <a:cs typeface="Trebuchet MS"/>
              </a:rPr>
              <a:t>pipelining.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2800" spc="5" dirty="0">
                <a:latin typeface="Rockwell" panose="02060603020205020403" pitchFamily="18" charset="0"/>
                <a:cs typeface="Trebuchet MS"/>
              </a:rPr>
              <a:t>For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35" dirty="0">
                <a:latin typeface="Rockwell" panose="02060603020205020403" pitchFamily="18" charset="0"/>
                <a:cs typeface="Trebuchet MS"/>
              </a:rPr>
              <a:t>example: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355600" marR="5080" indent="-78105" algn="just">
              <a:lnSpc>
                <a:spcPct val="101499"/>
              </a:lnSpc>
              <a:spcBef>
                <a:spcPts val="1350"/>
              </a:spcBef>
              <a:buSzPct val="95833"/>
              <a:buAutoNum type="arabicParenR"/>
              <a:tabLst>
                <a:tab pos="557530" algn="l"/>
              </a:tabLst>
            </a:pPr>
            <a:r>
              <a:rPr lang="en-US" sz="2800" spc="-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5" dirty="0">
                <a:latin typeface="Rockwell" panose="02060603020205020403" pitchFamily="18" charset="0"/>
                <a:cs typeface="Trebuchet MS"/>
              </a:rPr>
              <a:t>If </a:t>
            </a:r>
            <a:r>
              <a:rPr sz="2800" spc="70" dirty="0">
                <a:latin typeface="Rockwell" panose="02060603020205020403" pitchFamily="18" charset="0"/>
                <a:cs typeface="Trebuchet MS"/>
              </a:rPr>
              <a:t>one </a:t>
            </a:r>
            <a:r>
              <a:rPr sz="2800" b="1" spc="7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common </a:t>
            </a:r>
            <a:r>
              <a:rPr sz="2800" b="1" spc="9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memory</a:t>
            </a:r>
            <a:r>
              <a:rPr sz="2800" spc="9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is </a:t>
            </a:r>
            <a:r>
              <a:rPr sz="2800" spc="95" dirty="0">
                <a:latin typeface="Rockwell" panose="02060603020205020403" pitchFamily="18" charset="0"/>
                <a:cs typeface="Trebuchet MS"/>
              </a:rPr>
              <a:t>used </a:t>
            </a:r>
            <a:r>
              <a:rPr sz="2800" dirty="0">
                <a:latin typeface="Rockwell" panose="02060603020205020403" pitchFamily="18" charset="0"/>
                <a:cs typeface="Trebuchet MS"/>
              </a:rPr>
              <a:t>for </a:t>
            </a:r>
            <a:r>
              <a:rPr sz="2800" spc="30" dirty="0">
                <a:latin typeface="Rockwell" panose="02060603020205020403" pitchFamily="18" charset="0"/>
                <a:cs typeface="Trebuchet MS"/>
              </a:rPr>
              <a:t>both </a:t>
            </a:r>
            <a:r>
              <a:rPr sz="2800" spc="-15" dirty="0">
                <a:latin typeface="Rockwell" panose="02060603020205020403" pitchFamily="18" charset="0"/>
                <a:cs typeface="Trebuchet MS"/>
              </a:rPr>
              <a:t>data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and </a:t>
            </a:r>
            <a:r>
              <a:rPr sz="2800" spc="15" dirty="0">
                <a:latin typeface="Rockwell" panose="02060603020205020403" pitchFamily="18" charset="0"/>
                <a:cs typeface="Trebuchet MS"/>
              </a:rPr>
              <a:t>instructions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and </a:t>
            </a:r>
            <a:r>
              <a:rPr sz="2800" spc="-20" dirty="0">
                <a:latin typeface="Rockwell" panose="02060603020205020403" pitchFamily="18" charset="0"/>
                <a:cs typeface="Trebuchet MS"/>
              </a:rPr>
              <a:t>there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is  </a:t>
            </a:r>
            <a:r>
              <a:rPr sz="2800" spc="90" dirty="0">
                <a:latin typeface="Rockwell" panose="02060603020205020403" pitchFamily="18" charset="0"/>
                <a:cs typeface="Trebuchet MS"/>
              </a:rPr>
              <a:t>need</a:t>
            </a:r>
            <a:r>
              <a:rPr sz="2800" spc="-5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75" dirty="0"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5" dirty="0">
                <a:latin typeface="Rockwell" panose="02060603020205020403" pitchFamily="18" charset="0"/>
                <a:cs typeface="Trebuchet MS"/>
              </a:rPr>
              <a:t>read/write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and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fetch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instruction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at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4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same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time,</a:t>
            </a:r>
            <a:r>
              <a:rPr sz="2800" spc="-2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0" dirty="0">
                <a:latin typeface="Rockwell" panose="02060603020205020403" pitchFamily="18" charset="0"/>
                <a:cs typeface="Trebuchet MS"/>
              </a:rPr>
              <a:t>then</a:t>
            </a:r>
            <a:r>
              <a:rPr sz="2800" spc="-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0" dirty="0">
                <a:latin typeface="Rockwell" panose="02060603020205020403" pitchFamily="18" charset="0"/>
                <a:cs typeface="Trebuchet MS"/>
              </a:rPr>
              <a:t>only</a:t>
            </a:r>
            <a:r>
              <a:rPr sz="2800" spc="-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one</a:t>
            </a:r>
            <a:r>
              <a:rPr sz="2800" spc="-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can  </a:t>
            </a:r>
            <a:r>
              <a:rPr sz="2800" spc="135" dirty="0">
                <a:latin typeface="Rockwell" panose="02060603020205020403" pitchFamily="18" charset="0"/>
                <a:cs typeface="Trebuchet MS"/>
              </a:rPr>
              <a:t>be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70" dirty="0">
                <a:latin typeface="Rockwell" panose="02060603020205020403" pitchFamily="18" charset="0"/>
                <a:cs typeface="Trebuchet MS"/>
              </a:rPr>
              <a:t>carried</a:t>
            </a:r>
            <a:r>
              <a:rPr sz="2800" spc="-114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out</a:t>
            </a:r>
            <a:r>
              <a:rPr sz="2800" spc="-14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80" dirty="0">
                <a:latin typeface="Rockwell" panose="02060603020205020403" pitchFamily="18" charset="0"/>
                <a:cs typeface="Trebuchet MS"/>
              </a:rPr>
              <a:t>and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5" dirty="0">
                <a:latin typeface="Rockwell" panose="02060603020205020403" pitchFamily="18" charset="0"/>
                <a:cs typeface="Trebuchet MS"/>
              </a:rPr>
              <a:t>other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has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75" dirty="0">
                <a:latin typeface="Rockwell" panose="02060603020205020403" pitchFamily="18" charset="0"/>
                <a:cs typeface="Trebuchet MS"/>
              </a:rPr>
              <a:t>to</a:t>
            </a:r>
            <a:r>
              <a:rPr sz="2800" spc="-12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75" dirty="0">
                <a:latin typeface="Rockwell" panose="02060603020205020403" pitchFamily="18" charset="0"/>
                <a:cs typeface="Trebuchet MS"/>
              </a:rPr>
              <a:t>wait.</a:t>
            </a:r>
            <a:endParaRPr sz="2800" dirty="0">
              <a:latin typeface="Rockwell" panose="02060603020205020403" pitchFamily="18" charset="0"/>
              <a:cs typeface="Trebuchet MS"/>
            </a:endParaRPr>
          </a:p>
          <a:p>
            <a:pPr marL="518795" indent="-280035" algn="just">
              <a:lnSpc>
                <a:spcPct val="100000"/>
              </a:lnSpc>
              <a:spcBef>
                <a:spcPts val="1635"/>
              </a:spcBef>
              <a:buSzPct val="95833"/>
              <a:buAutoNum type="arabicParenR"/>
              <a:tabLst>
                <a:tab pos="519430" algn="l"/>
              </a:tabLst>
            </a:pPr>
            <a:r>
              <a:rPr lang="en-US" sz="2800" spc="1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5" dirty="0">
                <a:latin typeface="Rockwell" panose="02060603020205020403" pitchFamily="18" charset="0"/>
                <a:cs typeface="Trebuchet MS"/>
              </a:rPr>
              <a:t>Limited</a:t>
            </a:r>
            <a:r>
              <a:rPr sz="2800" spc="-10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resource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like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15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execution</a:t>
            </a:r>
            <a:r>
              <a:rPr sz="2800" b="1" spc="-1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b="1" spc="-6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unit,</a:t>
            </a:r>
            <a:r>
              <a:rPr sz="2800" spc="-320" dirty="0">
                <a:solidFill>
                  <a:srgbClr val="0000FF"/>
                </a:solidFill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0" dirty="0">
                <a:latin typeface="Rockwell" panose="02060603020205020403" pitchFamily="18" charset="0"/>
                <a:cs typeface="Trebuchet MS"/>
              </a:rPr>
              <a:t>which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65" dirty="0">
                <a:latin typeface="Rockwell" panose="02060603020205020403" pitchFamily="18" charset="0"/>
                <a:cs typeface="Trebuchet MS"/>
              </a:rPr>
              <a:t>may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35" dirty="0">
                <a:latin typeface="Rockwell" panose="02060603020205020403" pitchFamily="18" charset="0"/>
                <a:cs typeface="Trebuchet MS"/>
              </a:rPr>
              <a:t>be</a:t>
            </a:r>
            <a:r>
              <a:rPr sz="2800" spc="-135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130" dirty="0">
                <a:latin typeface="Rockwell" panose="02060603020205020403" pitchFamily="18" charset="0"/>
                <a:cs typeface="Trebuchet MS"/>
              </a:rPr>
              <a:t>busy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110" dirty="0">
                <a:latin typeface="Rockwell" panose="02060603020205020403" pitchFamily="18" charset="0"/>
                <a:cs typeface="Trebuchet MS"/>
              </a:rPr>
              <a:t>at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35" dirty="0">
                <a:latin typeface="Rockwell" panose="02060603020205020403" pitchFamily="18" charset="0"/>
                <a:cs typeface="Trebuchet MS"/>
              </a:rPr>
              <a:t>the</a:t>
            </a:r>
            <a:r>
              <a:rPr sz="2800" spc="-12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45" dirty="0">
                <a:latin typeface="Rockwell" panose="02060603020205020403" pitchFamily="18" charset="0"/>
                <a:cs typeface="Trebuchet MS"/>
              </a:rPr>
              <a:t>required</a:t>
            </a:r>
            <a:r>
              <a:rPr sz="2800" spc="-130" dirty="0">
                <a:latin typeface="Rockwell" panose="02060603020205020403" pitchFamily="18" charset="0"/>
                <a:cs typeface="Trebuchet MS"/>
              </a:rPr>
              <a:t> </a:t>
            </a:r>
            <a:r>
              <a:rPr sz="2800" spc="-60" dirty="0">
                <a:latin typeface="Rockwell" panose="02060603020205020403" pitchFamily="18" charset="0"/>
                <a:cs typeface="Trebuchet MS"/>
              </a:rPr>
              <a:t>time.</a:t>
            </a:r>
            <a:endParaRPr sz="2800" dirty="0">
              <a:latin typeface="Rockwell" panose="02060603020205020403" pitchFamily="18" charset="0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54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3987" y="228600"/>
            <a:ext cx="1185095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000" spc="-180" dirty="0">
                <a:latin typeface="Rockwell" panose="02060603020205020403" pitchFamily="18" charset="0"/>
              </a:rPr>
              <a:t>Effects of Pipeline</a:t>
            </a:r>
            <a:r>
              <a:rPr lang="en-GB" sz="4000" spc="-330" dirty="0">
                <a:latin typeface="Rockwell" panose="02060603020205020403" pitchFamily="18" charset="0"/>
              </a:rPr>
              <a:t> </a:t>
            </a:r>
            <a:r>
              <a:rPr lang="en-GB" sz="4000" spc="-390" dirty="0">
                <a:latin typeface="Rockwell" panose="02060603020205020403" pitchFamily="18" charset="0"/>
              </a:rPr>
              <a:t>Hazards</a:t>
            </a:r>
            <a:endParaRPr sz="4000" spc="-575" dirty="0"/>
          </a:p>
        </p:txBody>
      </p:sp>
    </p:spTree>
    <p:extLst>
      <p:ext uri="{BB962C8B-B14F-4D97-AF65-F5344CB8AC3E}">
        <p14:creationId xmlns:p14="http://schemas.microsoft.com/office/powerpoint/2010/main" val="40736567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5154" y="1254097"/>
            <a:ext cx="11453422" cy="480452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33655" rIns="0" bIns="0" rtlCol="0">
            <a:spAutoFit/>
          </a:bodyPr>
          <a:lstStyle/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Improving system performance is a major objective in processor design, and pipelining provides an effective solution for achieving this goal. </a:t>
            </a:r>
          </a:p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By dividing instruction execution into stages and allowing overlapping operations, pipelining increases processor throughput and makes better use of CPU resources.</a:t>
            </a:r>
          </a:p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Despite the challenges associated with hazards and synchronization, modern computer systems employ sophisticated hardware and software techniques to reduce pipeline delays and maintain efficient execution. 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55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3987" y="228600"/>
            <a:ext cx="1185095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GB" sz="4000" dirty="0">
                <a:latin typeface="Rockwell" panose="02060603020205020403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527991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5154" y="1143000"/>
            <a:ext cx="11453422" cy="328102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33655" rIns="0" bIns="0" rtlCol="0">
            <a:spAutoFit/>
          </a:bodyPr>
          <a:lstStyle/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As processor technologies continue to evolve, pipelining remains a foundational concept in high-performance computing and advanced processor architecture.</a:t>
            </a:r>
          </a:p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Rockwell" panose="02060603020205020403" pitchFamily="18" charset="0"/>
              </a:rPr>
              <a:t>Understanding pipelining enables students and system designers to appreciate how modern processors execute instructions rapidly and efficiently, making it an essential topic in Computer Architecture and Organization.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56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3987" y="228600"/>
            <a:ext cx="1185095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GB" sz="4000" dirty="0">
                <a:latin typeface="Rockwell" panose="02060603020205020403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407484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58576" y="1341500"/>
            <a:ext cx="46367" cy="0"/>
          </a:xfrm>
          <a:custGeom>
            <a:avLst/>
            <a:gdLst/>
            <a:ahLst/>
            <a:cxnLst/>
            <a:rect l="l" t="t" r="r" b="b"/>
            <a:pathLst>
              <a:path w="46354">
                <a:moveTo>
                  <a:pt x="0" y="0"/>
                </a:moveTo>
                <a:lnTo>
                  <a:pt x="4603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219306" y="6405384"/>
            <a:ext cx="55640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225"/>
              </a:lnSpc>
            </a:pPr>
            <a:fld id="{81D60167-4931-47E6-BA6A-407CBD079E47}" type="slidenum">
              <a:rPr spc="-5" dirty="0"/>
              <a:t>57</a:t>
            </a:fld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3987" y="2514600"/>
            <a:ext cx="11850956" cy="6283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GB" sz="4000" dirty="0">
                <a:latin typeface="Rockwell" panose="02060603020205020403" pitchFamily="18" charset="0"/>
              </a:rPr>
              <a:t>End of Unit</a:t>
            </a:r>
          </a:p>
        </p:txBody>
      </p:sp>
    </p:spTree>
    <p:extLst>
      <p:ext uri="{BB962C8B-B14F-4D97-AF65-F5344CB8AC3E}">
        <p14:creationId xmlns:p14="http://schemas.microsoft.com/office/powerpoint/2010/main" val="3442507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1891874</TotalTime>
  <Words>3832</Words>
  <Application>Microsoft Office PowerPoint</Application>
  <PresentationFormat>Custom</PresentationFormat>
  <Paragraphs>514</Paragraphs>
  <Slides>57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71" baseType="lpstr">
      <vt:lpstr>Arial</vt:lpstr>
      <vt:lpstr>Calibri</vt:lpstr>
      <vt:lpstr>Carlito</vt:lpstr>
      <vt:lpstr>Courier New</vt:lpstr>
      <vt:lpstr>Georgia</vt:lpstr>
      <vt:lpstr>Noto Sans Mono CJK JP Bold</vt:lpstr>
      <vt:lpstr>Rockwell</vt:lpstr>
      <vt:lpstr>Rockwell Condensed</vt:lpstr>
      <vt:lpstr>Symbol</vt:lpstr>
      <vt:lpstr>Times New Roman</vt:lpstr>
      <vt:lpstr>Trebuchet MS</vt:lpstr>
      <vt:lpstr>Wingdings</vt:lpstr>
      <vt:lpstr>Office Theme</vt:lpstr>
      <vt:lpstr>Custom Design</vt:lpstr>
      <vt:lpstr>IFT222 Computer Architecture and Organization</vt:lpstr>
      <vt:lpstr>Improving System Performance through Pipelining</vt:lpstr>
      <vt:lpstr>General Introduction</vt:lpstr>
      <vt:lpstr>General Introduction -2</vt:lpstr>
      <vt:lpstr>General Introduction - 3</vt:lpstr>
      <vt:lpstr>General Introduction - 4</vt:lpstr>
      <vt:lpstr>Learning Outcomes</vt:lpstr>
      <vt:lpstr>Learning Outcomes</vt:lpstr>
      <vt:lpstr>Pipelining</vt:lpstr>
      <vt:lpstr>Pipelining - Introduction</vt:lpstr>
      <vt:lpstr>What is Pipelining? - 1</vt:lpstr>
      <vt:lpstr>What is a Pipeline? - 2</vt:lpstr>
      <vt:lpstr>Pipeline Characteristics</vt:lpstr>
      <vt:lpstr>Pipeline Analogy – The Laundry</vt:lpstr>
      <vt:lpstr>Pipeline Analogy  – The Laundry - Sequential Operation</vt:lpstr>
      <vt:lpstr>Pipeline Analogy  – The Laundry - Overlapping Tasks</vt:lpstr>
      <vt:lpstr>Pipeline Analogy – The Laundry (cont’d)</vt:lpstr>
      <vt:lpstr>Pipeline Analogy – The Laundry (cont’d)</vt:lpstr>
      <vt:lpstr>Pipelining Analogy – Grading of Exam</vt:lpstr>
      <vt:lpstr>Pipelining Analogy – Grading of Exam</vt:lpstr>
      <vt:lpstr>Pipelining Analogy – Grading of Exam</vt:lpstr>
      <vt:lpstr>Single-Cycle vs Pipelined Execution</vt:lpstr>
      <vt:lpstr>Performance Issues in Pipelining</vt:lpstr>
      <vt:lpstr>Performance Issues in Pipelining – cont’d</vt:lpstr>
      <vt:lpstr>Performance Issue - Example</vt:lpstr>
      <vt:lpstr>Performance Issue – Example (cont’d)</vt:lpstr>
      <vt:lpstr>Pipeline Performance – Example2</vt:lpstr>
      <vt:lpstr>Pipeline Performance – Example2</vt:lpstr>
      <vt:lpstr>Pipeline Performance – Example 3</vt:lpstr>
      <vt:lpstr>Performance Issue – (cont’d)</vt:lpstr>
      <vt:lpstr>Performance Issue – (cont’d)</vt:lpstr>
      <vt:lpstr>Pipeline Hazards/Limitations</vt:lpstr>
      <vt:lpstr>Pipeline Stalls</vt:lpstr>
      <vt:lpstr>Structural Hazards</vt:lpstr>
      <vt:lpstr>Structural Hazards and Stalls - Conflicts</vt:lpstr>
      <vt:lpstr>Structural Hazards and Stalls - Solution</vt:lpstr>
      <vt:lpstr>Structural Hazards and Stalls - Bubble</vt:lpstr>
      <vt:lpstr>Data Hazard - Example</vt:lpstr>
      <vt:lpstr>Data Hazard - Solution</vt:lpstr>
      <vt:lpstr>Data Hazard – Solution (cont’d)</vt:lpstr>
      <vt:lpstr>Data Hazard – Example</vt:lpstr>
      <vt:lpstr>Data Hazard – Example(cont’d)</vt:lpstr>
      <vt:lpstr>Data Hazard Stalls</vt:lpstr>
      <vt:lpstr>Data Hazards and Stalls</vt:lpstr>
      <vt:lpstr>Data Hazards and Stalls</vt:lpstr>
      <vt:lpstr>Data Hazards – Time Stage Diagram</vt:lpstr>
      <vt:lpstr>Data Hazard Classification</vt:lpstr>
      <vt:lpstr>Data Hazard Classifications</vt:lpstr>
      <vt:lpstr>Example 1</vt:lpstr>
      <vt:lpstr>Example 1</vt:lpstr>
      <vt:lpstr>Example 2</vt:lpstr>
      <vt:lpstr>Example 2</vt:lpstr>
      <vt:lpstr>Effects of Pipeline Hazards</vt:lpstr>
      <vt:lpstr>Effects of Pipeline Hazards</vt:lpstr>
      <vt:lpstr>Conclusion</vt:lpstr>
      <vt:lpstr>Conclusion</vt:lpstr>
      <vt:lpstr>End of Unit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Driving Administrative Quality For Vision 10: 2022</dc:title>
  <dc:creator>HP</dc:creator>
  <cp:lastModifiedBy>Oluranti Jonathan</cp:lastModifiedBy>
  <cp:revision>213</cp:revision>
  <cp:lastPrinted>2015-08-03T07:22:59Z</cp:lastPrinted>
  <dcterms:created xsi:type="dcterms:W3CDTF">2014-01-31T21:42:27Z</dcterms:created>
  <dcterms:modified xsi:type="dcterms:W3CDTF">2026-07-24T18:07:17Z</dcterms:modified>
</cp:coreProperties>
</file>