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</p:sldMasterIdLst>
  <p:notesMasterIdLst>
    <p:notesMasterId r:id="rId30"/>
  </p:notesMasterIdLst>
  <p:sldIdLst>
    <p:sldId id="259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8" r:id="rId29"/>
  </p:sldIdLst>
  <p:sldSz cx="12192000" cy="6858000"/>
  <p:notesSz cx="6858000" cy="9144000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0"/>
    <p:restoredTop sz="0"/>
  </p:normalViewPr>
  <p:slideViewPr>
    <p:cSldViewPr>
      <p:cViewPr varScale="1">
        <p:scale>
          <a:sx n="72" d="100"/>
          <a:sy n="72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C2D98-93E0-E941-9BF8-4C9EFEF75C98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217B5-B1EA-5949-9C40-B104F5A208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354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6220AD5-E807-4A4F-B397-E2F55B532C6D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187CC43-F3BE-42DC-B550-FF8FE60FE78E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056C194-2D03-4E26-A135-469C0FC0C7D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9F927040-45DC-4F70-8A2E-40DF67BFF906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70823AF1-6784-4021-A046-91E10682DAB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912C9A99-C1B6-41D7-BDDE-90FC114B0CC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66DEE138-2D6A-4DC7-B75C-33CFED973A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1A4C827F-F78F-4969-891D-8466B0473502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A941C2F-184D-48DC-8BD6-9E19A39C1C0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A26C1A8-9F51-42A6-921B-88A6F64A613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65713A2-6292-4A7B-B232-C835DB1A47A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 Title Slide">
    <p:bg>
      <p:bgPr>
        <a:blipFill dpi="0" rotWithShape="1">
          <a:blip r:embed="rId2">
            <a:alphaModFix amt="5000"/>
            <a:lum/>
          </a:blip>
          <a:tile tx="0" ty="241300" sx="39000" sy="39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254A86B-E942-B9F7-D9BB-9E6D03481B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" y="-7144"/>
            <a:ext cx="12211198" cy="68687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4FA936-24B7-8705-4CBC-DAFFE26FDB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609600" y="4175760"/>
            <a:ext cx="5181600" cy="329882"/>
          </a:xfrm>
        </p:spPr>
        <p:txBody>
          <a:bodyPr anchor="b">
            <a:normAutofit/>
          </a:bodyPr>
          <a:lstStyle>
            <a:lvl1pPr algn="l">
              <a:defRPr sz="1100" b="1" i="1">
                <a:solidFill>
                  <a:srgbClr val="FF000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/>
              <a:t>Full Names (Dr/Prof. Xxx Xxx)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4F582-DACC-CFEF-7AB8-EEDA6A4D67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609600" y="4455344"/>
            <a:ext cx="5262880" cy="24873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buNone/>
              <a:defRPr sz="1100" b="0" i="1">
                <a:solidFill>
                  <a:srgbClr val="FF0000"/>
                </a:solidFill>
                <a:latin typeface="Montserrat" panose="02000505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PhD. In Xxxx Xxxx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C5553-232D-AD79-227B-D537AC530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79F10-8AD4-3346-BDCC-0C28058CF15B}" type="datetime2">
              <a:rPr lang="en-GB" smtClean="0"/>
              <a:t>Tuesday, 28 July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D40AF-33DC-E85E-C9AC-069570E84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F19F5-DA36-F1AD-D76F-D4A5144F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95145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363B01-B82B-1051-7D2D-B4A6CE8516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"/>
            <a:ext cx="12192000" cy="6498589"/>
          </a:xfrm>
          <a:prstGeom prst="rect">
            <a:avLst/>
          </a:prstGeom>
          <a:solidFill>
            <a:srgbClr val="FF00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9F81FC-E5BB-99B6-1D62-9CA3280D16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838200" y="1877403"/>
            <a:ext cx="10515600" cy="1133475"/>
          </a:xfrm>
        </p:spPr>
        <p:txBody>
          <a:bodyPr anchor="b"/>
          <a:lstStyle>
            <a:lvl1pPr algn="ctr">
              <a:defRPr sz="6000">
                <a:solidFill>
                  <a:srgbClr val="FF000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/>
              <a:t>Click to add: Module One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7BFA8-EFAE-8F65-D8AA-48C4E46323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 hasCustomPrompt="1"/>
          </p:nvPr>
        </p:nvSpPr>
        <p:spPr>
          <a:xfrm>
            <a:off x="838200" y="3604603"/>
            <a:ext cx="10515600" cy="1311779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rgbClr val="FF0000"/>
                </a:solidFill>
                <a:latin typeface="Montserrat" panose="02000505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add Unit One: &lt;Unit One’s Title&gt;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BC5F5-C6C5-402F-56D8-EF447A03C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14A0-0995-4445-99D4-7DFD2AAA19A6}" type="datetime2">
              <a:rPr lang="en-GB" smtClean="0"/>
              <a:t>Tuesday, 28 July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39D24-EB5E-BAE8-A434-FDD7793E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E699F-F625-A400-48A8-086D15C55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399638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. Learning Objectiv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FC90B-FDCE-24C6-1899-537A1F2697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/>
              <a:t>Click to edit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D69A4-746A-9288-6907-0E2B272095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1pPr>
            <a:lvl2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2pPr>
            <a:lvl3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3pPr>
            <a:lvl4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4pPr>
            <a:lvl5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/>
              <a:t>Click to edit Learning Outcome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0B7B4-9EC1-9000-69E6-37B9105F0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86174-5757-3A42-9959-86F6ABB7977A}" type="datetime2">
              <a:rPr lang="en-GB" smtClean="0"/>
              <a:t>Tuesday, 28 July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7E68F-8FEF-F17A-E9E4-A0C9FA223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65AEE-83B6-BEFB-0228-E6AF6C8B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36322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. Learning Outcom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FC90B-FDCE-24C6-1899-537A1F2697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/>
              <a:t>Click to edit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D69A4-746A-9288-6907-0E2B272095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1pPr>
            <a:lvl2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2pPr>
            <a:lvl3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3pPr>
            <a:lvl4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4pPr>
            <a:lvl5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/>
              <a:t>Click to edit Learning Outcome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0B7B4-9EC1-9000-69E6-37B9105F0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94901-21E4-3444-A222-65C6CE2B01B8}" type="datetime2">
              <a:rPr lang="en-GB" smtClean="0"/>
              <a:t>Tuesday, 28 July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7E68F-8FEF-F17A-E9E4-A0C9FA223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65AEE-83B6-BEFB-0228-E6AF6C8B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6ACEE6-6622-EB19-1B71-27BD720449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"/>
            <a:ext cx="12192000" cy="6498589"/>
          </a:xfrm>
          <a:prstGeom prst="rect">
            <a:avLst/>
          </a:prstGeom>
          <a:solidFill>
            <a:srgbClr val="FF00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046321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. Introdu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FC90B-FDCE-24C6-1899-537A1F2697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/>
              <a:t>Click to edit the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D69A4-746A-9288-6907-0E2B272095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1pPr>
            <a:lvl2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2pPr>
            <a:lvl3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3pPr>
            <a:lvl4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4pPr>
            <a:lvl5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/>
              <a:t>Click to edit Introduction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0B7B4-9EC1-9000-69E6-37B9105F0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11B6-DBCC-F440-9DC1-9DEB4E5CD1D9}" type="datetime2">
              <a:rPr lang="en-GB" smtClean="0"/>
              <a:t>Tuesday, 28 July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7E68F-8FEF-F17A-E9E4-A0C9FA223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65AEE-83B6-BEFB-0228-E6AF6C8B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6870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 Sub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F81FC-E5BB-99B6-1D62-9CA3280D16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739267" y="2862263"/>
            <a:ext cx="10713466" cy="1133475"/>
          </a:xfrm>
        </p:spPr>
        <p:txBody>
          <a:bodyPr anchor="b"/>
          <a:lstStyle>
            <a:lvl1pPr algn="ctr">
              <a:defRPr sz="6000">
                <a:solidFill>
                  <a:srgbClr val="FF000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/>
              <a:t>Click to edit Sub-Unit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BC5F5-C6C5-402F-56D8-EF447A03C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 b="1">
                <a:latin typeface="Montserrat" panose="02000505000000020004" pitchFamily="2" charset="77"/>
              </a:defRPr>
            </a:lvl1pPr>
          </a:lstStyle>
          <a:p>
            <a:fld id="{90498037-4DEB-5849-A1C8-21C57CCD57E7}" type="datetime2">
              <a:rPr lang="en-GB" smtClean="0"/>
              <a:t>Tuesday, 28 July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39D24-EB5E-BAE8-A434-FDD7793E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2000505000000020004" pitchFamily="2" charset="77"/>
              </a:defRPr>
            </a:lvl1pPr>
          </a:lstStyle>
          <a:p>
            <a:r>
              <a:rPr lang="en-GB" err="1"/>
              <a:t>ccodel.covenantuniversity.edu.ng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E699F-F625-A400-48A8-086D15C55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11C5AD-5EA2-CF4B-7E39-F0C36A3FAF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"/>
            <a:ext cx="12192000" cy="6498589"/>
          </a:xfrm>
          <a:prstGeom prst="rect">
            <a:avLst/>
          </a:prstGeom>
          <a:solidFill>
            <a:srgbClr val="FF00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55005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. Content 1 Slide -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FC90B-FDCE-24C6-1899-537A1F2697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D69A4-746A-9288-6907-0E2B272095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1pPr>
            <a:lvl2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2pPr>
            <a:lvl3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3pPr>
            <a:lvl4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4pPr>
            <a:lvl5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0B7B4-9EC1-9000-69E6-37B9105F0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7AA4B-1E8D-6B43-AF58-4617CEC658B5}" type="datetime2">
              <a:rPr lang="en-GB" smtClean="0"/>
              <a:t>Tuesday, 28 July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7E68F-8FEF-F17A-E9E4-A0C9FA223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65AEE-83B6-BEFB-0228-E6AF6C8B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12729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8. Content 2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6FB3-761F-E89D-525B-9E8D7FCB36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05A19-0512-725B-CA28-38EC1F3894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2000505000000020004" pitchFamily="2" charset="77"/>
              </a:defRPr>
            </a:lvl1pPr>
            <a:lvl2pPr>
              <a:defRPr>
                <a:latin typeface="Montserrat" panose="02000505000000020004" pitchFamily="2" charset="77"/>
              </a:defRPr>
            </a:lvl2pPr>
            <a:lvl3pPr>
              <a:defRPr>
                <a:latin typeface="Montserrat" panose="02000505000000020004" pitchFamily="2" charset="77"/>
              </a:defRPr>
            </a:lvl3pPr>
            <a:lvl4pPr>
              <a:defRPr>
                <a:latin typeface="Montserrat" panose="02000505000000020004" pitchFamily="2" charset="77"/>
              </a:defRPr>
            </a:lvl4pPr>
            <a:lvl5pPr>
              <a:defRPr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99B5E-8AB0-DE15-C93C-98DFFC6579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2000505000000020004" pitchFamily="2" charset="77"/>
              </a:defRPr>
            </a:lvl1pPr>
            <a:lvl2pPr>
              <a:defRPr>
                <a:latin typeface="Montserrat" panose="02000505000000020004" pitchFamily="2" charset="77"/>
              </a:defRPr>
            </a:lvl2pPr>
            <a:lvl3pPr>
              <a:defRPr>
                <a:latin typeface="Montserrat" panose="02000505000000020004" pitchFamily="2" charset="77"/>
              </a:defRPr>
            </a:lvl3pPr>
            <a:lvl4pPr>
              <a:defRPr>
                <a:latin typeface="Montserrat" panose="02000505000000020004" pitchFamily="2" charset="77"/>
              </a:defRPr>
            </a:lvl4pPr>
            <a:lvl5pPr>
              <a:defRPr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1DCEA-48C3-5D00-2BAA-46B326C7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7B8F-4F15-4343-8145-CB61A0091A7B}" type="datetime2">
              <a:rPr lang="en-GB" smtClean="0"/>
              <a:t>Tuesday, 28 July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22635F-73A0-FDA6-9415-BEAF0D6C9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CB139-8AD7-5C4D-7E2C-A7F073B96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10274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. Content 3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7279D-3228-97B2-70E8-FAF71AB37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D1C3B-7838-502B-9790-FB74F915C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1F50B-03E4-5E11-F411-F44545437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590F7B-78BF-DE5B-BA03-2B2C46CE7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949446-F5C7-4824-F551-BD36C7ACDD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E34715-0A04-C11A-8846-A1C46369E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86464-92D0-F241-8D03-0C13C7FB7D97}" type="datetime2">
              <a:rPr lang="en-GB" smtClean="0"/>
              <a:t>Tuesday, 28 July 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C24315-4487-3A57-BC7D-EAE2B858F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B1CD1C-FE14-3FBF-5751-6C52AA1A1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06215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0. Onl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D670-6A90-2E16-99C9-A97C7C3CCA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1DCFF8-7493-3683-FB5B-063ABCEA1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0C54F-46CD-0D40-8AD8-B8BC7EB73F78}" type="datetime2">
              <a:rPr lang="en-GB" smtClean="0"/>
              <a:t>Tuesday, 28 July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3A1C53-5CE5-4807-650A-853667C8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ABE4D-25CA-3581-7E8F-63CDFD106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C24541-271B-6874-FCCE-5631DF6854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"/>
            <a:ext cx="12192000" cy="6498589"/>
          </a:xfrm>
          <a:prstGeom prst="rect">
            <a:avLst/>
          </a:prstGeom>
          <a:solidFill>
            <a:srgbClr val="FF00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80679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1.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9A4A1E-8077-246F-6DDC-D8CCEEA4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11AD3-F371-6B48-958F-BAC80E22E922}" type="datetime2">
              <a:rPr lang="en-GB" smtClean="0"/>
              <a:t>Tuesday, 28 July 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BD725D-35CE-7D12-FEC5-FC714BAD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8CB75-2884-E619-F6CE-2E1E2018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170290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2.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54DF2-2C3D-D27E-6897-8AFD7B2423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F3F35-CF21-8F23-530F-AB5E1CFBC7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C03A8-89D4-1CC2-BBF8-16AB44984D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86032-D1F1-3BC7-A923-F3B4B78E1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57BDD-61BF-FC40-BC48-5A4F76B73BE2}" type="datetime2">
              <a:rPr lang="en-GB" smtClean="0"/>
              <a:t>Tuesday, 28 July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5D57D-082E-FE4A-65B2-9B3A49CDD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7C229-52CB-F632-9D2D-BA9922883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848812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3.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EE3A-C216-3065-760E-F78A48EF66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E0551D-7C01-12E8-91C9-66A50E8F73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2BCD5E-365C-7790-B6E9-676C849EC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18253-FBCA-B3E6-E158-B7451085A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760D2-ABD1-284C-AF35-4CC04E8B4B15}" type="datetime2">
              <a:rPr lang="en-GB" smtClean="0"/>
              <a:t>Tuesday, 28 July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6C9DE-4525-648A-E7D4-3E6DE2846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846645-D0FC-AAB4-E892-2BD2E738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77399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alphaModFix amt="5000"/>
            <a:lum/>
          </a:blip>
          <a:tile tx="0" ty="177800" sx="39000" sy="39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B71BB7-C3BF-B7D9-13E3-1084B15CD1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59B7C9-4B5F-C601-D7F0-360C6029670E}"/>
              </a:ext>
            </a:extLst>
          </p:cNvPr>
          <p:cNvSpPr/>
          <p:nvPr userDrawn="1"/>
        </p:nvSpPr>
        <p:spPr>
          <a:xfrm>
            <a:off x="0" y="6492874"/>
            <a:ext cx="12192000" cy="365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01262-4A88-E579-CA6C-A38CF53E94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0C321-9917-0B69-1CEC-9AFEBB9C91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85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b="1" kern="1200">
                <a:solidFill>
                  <a:schemeClr val="bg1"/>
                </a:solidFill>
                <a:latin typeface="Montserrat" panose="02000505000000020004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3DA6C6E-C52F-1C4D-9F96-201F365015FF}" type="datetime2">
              <a:rPr lang="en-GB" smtClean="0"/>
              <a:t>Tuesday, 28 July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0785D-A8FD-2289-9669-8C624CE3C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859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Montserrat" panose="02000505000000020004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err="1"/>
              <a:t>ccodel.covenantuniversity.edu.ng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AF98C-F72B-8CFB-25E4-98C4C1A48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985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1" kern="1200">
                <a:solidFill>
                  <a:schemeClr val="bg1"/>
                </a:solidFill>
                <a:latin typeface="Montserrat" panose="02000505000000020004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9F36F3-1658-ED4F-8598-A2C0B2600E57}" type="slidenum">
              <a:rPr lang="en-GB" smtClean="0"/>
              <a:t>‹#›</a:t>
            </a:fld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E2D5314-409F-DD0D-3E0D-6159A639385A}"/>
              </a:ext>
            </a:extLst>
          </p:cNvPr>
          <p:cNvGrpSpPr/>
          <p:nvPr userDrawn="1"/>
        </p:nvGrpSpPr>
        <p:grpSpPr>
          <a:xfrm>
            <a:off x="72530" y="83961"/>
            <a:ext cx="953033" cy="454520"/>
            <a:chOff x="72530" y="83961"/>
            <a:chExt cx="953033" cy="454520"/>
          </a:xfrm>
        </p:grpSpPr>
        <p:pic>
          <p:nvPicPr>
            <p:cNvPr id="9" name="Picture 8" descr="A blue logo with a black background&#10;&#10;Description automatically generated">
              <a:extLst>
                <a:ext uri="{FF2B5EF4-FFF2-40B4-BE49-F238E27FC236}">
                  <a16:creationId xmlns:a16="http://schemas.microsoft.com/office/drawing/2014/main" id="{DB257207-F0D3-DED6-9112-832CF204FA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527911" y="127042"/>
              <a:ext cx="497652" cy="365125"/>
            </a:xfrm>
            <a:prstGeom prst="rect">
              <a:avLst/>
            </a:prstGeom>
          </p:spPr>
        </p:pic>
        <p:pic>
          <p:nvPicPr>
            <p:cNvPr id="8" name="Picture 7" descr="A logo of the earth&#10;&#10;Description automatically generated">
              <a:extLst>
                <a:ext uri="{FF2B5EF4-FFF2-40B4-BE49-F238E27FC236}">
                  <a16:creationId xmlns:a16="http://schemas.microsoft.com/office/drawing/2014/main" id="{5C55C339-8A76-8B23-7A21-8FE5596AC5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/>
            <a:stretch>
              <a:fillRect/>
            </a:stretch>
          </p:blipFill>
          <p:spPr>
            <a:xfrm>
              <a:off x="72530" y="83961"/>
              <a:ext cx="455381" cy="4545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90318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FF0000"/>
          </a:solidFill>
          <a:latin typeface="Montserrat" panose="0200050500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b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b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b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b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A73049-2D87-42A3-42FE-028E86BD96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Dr Kehinde D. OYEYEMI 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2E28788-92F5-D932-02E5-6ACE5BF480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Department of physics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312006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F5CCBDE-D577-5E5E-F9AE-28C0D5C78B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TUTORIAL 1</a:t>
            </a:r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DE3D5DE-D58A-14B0-9F46-0ADCA4030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F5BC746-00E2-21B1-EB74-B1637EF43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733800"/>
            <a:ext cx="9738364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01181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3</a:t>
            </a:fld>
            <a:endParaRPr lang="en-GB"/>
          </a:p>
        </p:txBody>
      </p:sp>
      <p:pic>
        <p:nvPicPr>
          <p:cNvPr id="4" name="Picture 3" descr="A diagram of a circuit&#10;&#10;Description automatically generated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" y="762000"/>
            <a:ext cx="3886200" cy="4191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228600"/>
            <a:ext cx="6228720" cy="275148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5256" y="3105105"/>
            <a:ext cx="2799356" cy="142056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1871" y="3365323"/>
            <a:ext cx="3228054" cy="90013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6110" y="4832797"/>
            <a:ext cx="1827050" cy="59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52644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4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533400"/>
            <a:ext cx="6208582" cy="2590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103" y="381001"/>
            <a:ext cx="5267497" cy="27431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3124200"/>
            <a:ext cx="2836575" cy="7715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5227" y="3022106"/>
            <a:ext cx="3176089" cy="10334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559" y="3908153"/>
            <a:ext cx="2522644" cy="104301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8209" y="3124200"/>
            <a:ext cx="4764591" cy="105370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4191000"/>
            <a:ext cx="4770329" cy="121925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5422605"/>
            <a:ext cx="4813332" cy="94572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04415" y="5802557"/>
            <a:ext cx="1644981" cy="67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85802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11734800" cy="1524000"/>
          </a:xfrm>
        </p:spPr>
        <p:txBody>
          <a:bodyPr/>
          <a:lstStyle/>
          <a:p>
            <a:r>
              <a:rPr lang="en-US" dirty="0"/>
              <a:t>Calculate the electric field in which a charged oil drops of mass 8 mg and charged +9 µC will be held stationary.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5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61919"/>
            <a:ext cx="11201400" cy="446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8263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457200"/>
            <a:ext cx="10515600" cy="1524000"/>
          </a:xfrm>
        </p:spPr>
        <p:txBody>
          <a:bodyPr/>
          <a:lstStyle/>
          <a:p>
            <a:r>
              <a:rPr lang="en-US" dirty="0"/>
              <a:t>What is the capacitance of a capacitor having a stored energy of 2.25 </a:t>
            </a:r>
            <a:r>
              <a:rPr lang="en-US" dirty="0" err="1"/>
              <a:t>mJ</a:t>
            </a:r>
            <a:r>
              <a:rPr lang="en-US" dirty="0"/>
              <a:t> after being charged with a 30-volt source?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6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752600"/>
            <a:ext cx="3681479" cy="19683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351" y="4034098"/>
            <a:ext cx="3262375" cy="196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43750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68020"/>
            <a:ext cx="35591262" cy="38987988"/>
          </a:xfrm>
        </p:spPr>
        <p:txBody>
          <a:bodyPr/>
          <a:lstStyle/>
          <a:p>
            <a:r>
              <a:rPr lang="en-US" dirty="0"/>
              <a:t>Calculate the magnitude of the electric </a:t>
            </a:r>
          </a:p>
          <a:p>
            <a:pPr marL="0" indent="0">
              <a:buNone/>
            </a:pPr>
            <a:r>
              <a:rPr lang="en-US" dirty="0" smtClean="0"/>
              <a:t>    field </a:t>
            </a:r>
            <a:r>
              <a:rPr lang="en-US" dirty="0"/>
              <a:t>intensity represented by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7</a:t>
            </a:fld>
            <a:endParaRPr lang="en-GB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-1" y="-1"/>
            <a:ext cx="4126523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0624060"/>
              </p:ext>
            </p:extLst>
          </p:nvPr>
        </p:nvGraphicFramePr>
        <p:xfrm>
          <a:off x="2300868" y="1167656"/>
          <a:ext cx="5867400" cy="1410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r:id="rId3" imgW="1002865" imgH="241195" progId="Equation.DSMT4">
                  <p:embed/>
                </p:oleObj>
              </mc:Choice>
              <mc:Fallback>
                <p:oleObj r:id="rId3" imgW="1002865" imgH="24119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868" y="1167656"/>
                        <a:ext cx="5867400" cy="14104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567490"/>
            <a:ext cx="4365840" cy="210032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690114"/>
            <a:ext cx="10952445" cy="151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85711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"/>
            <a:ext cx="10515600" cy="2590800"/>
          </a:xfrm>
        </p:spPr>
        <p:txBody>
          <a:bodyPr/>
          <a:lstStyle/>
          <a:p>
            <a:r>
              <a:rPr lang="en-US" dirty="0"/>
              <a:t>A conducting sphere of radius 0.25 m carries a total charge of 6 × 10⁻⁶ C. Calculate the electric field at a point 0.50 m from the center of the sphere.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8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002635"/>
            <a:ext cx="5020478" cy="174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81675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33401"/>
            <a:ext cx="10515600" cy="2286000"/>
          </a:xfrm>
        </p:spPr>
        <p:txBody>
          <a:bodyPr/>
          <a:lstStyle/>
          <a:p>
            <a:r>
              <a:rPr lang="en-US" dirty="0"/>
              <a:t>The area of each plate of a parallel plate capacitor is 4 x 10</a:t>
            </a:r>
            <a:r>
              <a:rPr lang="en-US" baseline="30000" dirty="0"/>
              <a:t>-2</a:t>
            </a:r>
            <a:r>
              <a:rPr lang="en-US" dirty="0"/>
              <a:t> m</a:t>
            </a:r>
            <a:r>
              <a:rPr lang="en-US" baseline="30000" dirty="0"/>
              <a:t>2</a:t>
            </a:r>
            <a:r>
              <a:rPr lang="en-US" dirty="0"/>
              <a:t>. If the thickness of the dielectric placed in between the plates is 10</a:t>
            </a:r>
            <a:r>
              <a:rPr lang="en-US" baseline="30000" dirty="0"/>
              <a:t>-3</a:t>
            </a:r>
            <a:r>
              <a:rPr lang="en-US" dirty="0"/>
              <a:t> m and the relative permittivity of the dielectric is 7, then the capacitance of the capacitor is?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9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819401"/>
            <a:ext cx="7854894" cy="331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18754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0"/>
            <a:ext cx="10820400" cy="1295400"/>
          </a:xfrm>
        </p:spPr>
        <p:txBody>
          <a:bodyPr/>
          <a:lstStyle/>
          <a:p>
            <a:r>
              <a:rPr lang="en-US" dirty="0"/>
              <a:t>A uniform electric field E = 200 N/C passes through a surface of area 2 m</a:t>
            </a:r>
            <a:r>
              <a:rPr lang="en-US" baseline="30000" dirty="0"/>
              <a:t>2</a:t>
            </a:r>
            <a:r>
              <a:rPr lang="en-US" dirty="0"/>
              <a:t> at 0⁰. Find </a:t>
            </a:r>
            <a:r>
              <a:rPr lang="en-US" dirty="0" smtClean="0"/>
              <a:t>Flux.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10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64" y="990600"/>
            <a:ext cx="7612672" cy="27433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810000"/>
            <a:ext cx="8137639" cy="259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58178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10515600" cy="4351338"/>
          </a:xfrm>
        </p:spPr>
        <p:txBody>
          <a:bodyPr/>
          <a:lstStyle/>
          <a:p>
            <a:r>
              <a:rPr lang="en-US" dirty="0"/>
              <a:t>What is the charge of a system that has 6.2 x 10</a:t>
            </a:r>
            <a:r>
              <a:rPr lang="en-US" baseline="30000" dirty="0"/>
              <a:t>18 </a:t>
            </a:r>
            <a:r>
              <a:rPr lang="en-US" dirty="0"/>
              <a:t>electrons?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11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227" y="3777554"/>
            <a:ext cx="8572746" cy="13335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005" y="5219333"/>
            <a:ext cx="10007444" cy="126624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005" y="914400"/>
            <a:ext cx="9289290" cy="275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27955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28600"/>
            <a:ext cx="10515600" cy="1371600"/>
          </a:xfrm>
        </p:spPr>
        <p:txBody>
          <a:bodyPr/>
          <a:lstStyle/>
          <a:p>
            <a:r>
              <a:rPr lang="en-US" dirty="0"/>
              <a:t>What is the absolute potential at each of the following distances from a charge of +4 </a:t>
            </a:r>
            <a:r>
              <a:rPr lang="en-US" dirty="0" err="1"/>
              <a:t>μC</a:t>
            </a:r>
            <a:r>
              <a:rPr lang="en-US" dirty="0"/>
              <a:t> in air: r = 5 cm and r = 20 cm?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12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0"/>
            <a:ext cx="5791200" cy="323028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628" y="1524000"/>
            <a:ext cx="6070772" cy="323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675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0"/>
            <a:ext cx="10515600" cy="4351338"/>
          </a:xfrm>
        </p:spPr>
        <p:txBody>
          <a:bodyPr/>
          <a:lstStyle/>
          <a:p>
            <a:r>
              <a:rPr lang="en-US" dirty="0"/>
              <a:t>Given a circuit where R1, R2 and R3 are in series with a voltage source of 48 V, such that R1 = 7 Ω, R2 = 6 Ω and R3 = 3 Ω, calculate the current that flows through R3?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13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10" y="1799421"/>
            <a:ext cx="3737390" cy="7524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66" y="2895600"/>
            <a:ext cx="3250877" cy="185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5916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10515600" cy="1828800"/>
          </a:xfrm>
        </p:spPr>
        <p:txBody>
          <a:bodyPr/>
          <a:lstStyle/>
          <a:p>
            <a:r>
              <a:rPr lang="en-US" dirty="0"/>
              <a:t>A charge of 8 x 10</a:t>
            </a:r>
            <a:r>
              <a:rPr lang="en-US" baseline="30000" dirty="0"/>
              <a:t>-8</a:t>
            </a:r>
            <a:r>
              <a:rPr lang="en-US" dirty="0"/>
              <a:t> C is 0.40 m from a charge of </a:t>
            </a:r>
            <a:r>
              <a:rPr lang="en-US" dirty="0" smtClean="0"/>
              <a:t>     -</a:t>
            </a:r>
            <a:r>
              <a:rPr lang="en-US" dirty="0"/>
              <a:t>2.0 x 10</a:t>
            </a:r>
            <a:r>
              <a:rPr lang="en-US" baseline="30000" dirty="0"/>
              <a:t>-8</a:t>
            </a:r>
            <a:r>
              <a:rPr lang="en-US" dirty="0"/>
              <a:t> C. Determine the electric field produced by the negative charge at the location of the positive charge.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14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14600"/>
            <a:ext cx="3415473" cy="14144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621" y="2177487"/>
            <a:ext cx="7307558" cy="22076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649846"/>
            <a:ext cx="4441862" cy="116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15697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914400"/>
                <a:ext cx="10515600" cy="1981200"/>
              </a:xfrm>
            </p:spPr>
            <p:txBody>
              <a:bodyPr/>
              <a:lstStyle/>
              <a:p>
                <a:r>
                  <a:rPr lang="en-US" dirty="0"/>
                  <a:t>An electron of mass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9.1 ×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−31</m:t>
                        </m:r>
                      </m:sup>
                    </m:sSup>
                  </m:oMath>
                </a14:m>
                <a:r>
                  <a:rPr lang="en-US" dirty="0"/>
                  <a:t> kg and charge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1.6 ×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 baseline="30000">
                            <a:latin typeface="Cambria Math" panose="02040503050406030204" pitchFamily="18" charset="0"/>
                          </a:rPr>
                          <m:t>−19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 </m:t>
                    </m:r>
                  </m:oMath>
                </a14:m>
                <a:r>
                  <a:rPr lang="en-US" dirty="0"/>
                  <a:t>enters a magnetic field of 0.03 T perpendicularly with velocity 4 × 10</a:t>
                </a:r>
                <a:r>
                  <a:rPr lang="en-US" baseline="30000" dirty="0"/>
                  <a:t>6</a:t>
                </a:r>
                <a:r>
                  <a:rPr lang="en-US" dirty="0"/>
                  <a:t> m/s. Find the radius of its circular path.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914400"/>
                <a:ext cx="10515600" cy="1981200"/>
              </a:xfrm>
              <a:blipFill>
                <a:blip r:embed="rId2"/>
                <a:stretch>
                  <a:fillRect l="-1043" t="-4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15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590800"/>
            <a:ext cx="5562600" cy="3657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743200"/>
            <a:ext cx="5742911" cy="350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47649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1"/>
            <a:ext cx="10515600" cy="3352800"/>
          </a:xfrm>
        </p:spPr>
        <p:txBody>
          <a:bodyPr/>
          <a:lstStyle/>
          <a:p>
            <a:r>
              <a:rPr lang="en-US" dirty="0"/>
              <a:t>In a circuit, the external resistor has a value of 5 Ω. The internal resistance of the cell is 0.5 Ω. If the current flowing is 1 A. Calculate the </a:t>
            </a:r>
            <a:r>
              <a:rPr lang="en-US" dirty="0" err="1"/>
              <a:t>e.m.f</a:t>
            </a:r>
            <a:r>
              <a:rPr lang="en-US" dirty="0"/>
              <a:t> of the </a:t>
            </a:r>
            <a:r>
              <a:rPr lang="en-US" dirty="0" smtClean="0"/>
              <a:t>cell.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16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519305"/>
            <a:ext cx="6321667" cy="30385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267" y="2549122"/>
            <a:ext cx="4607197" cy="176699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535" y="4343400"/>
            <a:ext cx="3018865" cy="87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71314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90600" y="228600"/>
                <a:ext cx="10515600" cy="2438400"/>
              </a:xfrm>
            </p:spPr>
            <p:txBody>
              <a:bodyPr/>
              <a:lstStyle/>
              <a:p>
                <a:r>
                  <a:rPr lang="en-US" dirty="0"/>
                  <a:t>At a distance of 5 cm from a long straight wire, the magnetic field measured is 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4.0 ×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 baseline="30000">
                            <a:latin typeface="Cambria Math" panose="02040503050406030204" pitchFamily="18" charset="0"/>
                          </a:rPr>
                          <m:t>−5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 Calculate the current I flowing through the wire</a:t>
                </a:r>
              </a:p>
              <a:p>
                <a:pPr marL="0" indent="0">
                  <a:buNone/>
                </a:pPr>
                <a:r>
                  <a:rPr lang="en-US" dirty="0" smtClean="0"/>
                  <a:t>   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𝑈𝑠𝑒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= 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×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 baseline="30000">
                            <a:latin typeface="Cambria Math" panose="02040503050406030204" pitchFamily="18" charset="0"/>
                          </a:rPr>
                          <m:t>−7</m:t>
                        </m:r>
                      </m:sup>
                    </m:sSup>
                    <m:r>
                      <a:rPr lang="en-US" i="1" baseline="30000">
                        <a:latin typeface="Cambria Math" panose="02040503050406030204" pitchFamily="18" charset="0"/>
                      </a:rPr>
                      <m:t> </m:t>
                    </m:r>
                  </m:oMath>
                </a14:m>
                <a:r>
                  <a:rPr lang="en-US" dirty="0"/>
                  <a:t>T/A)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0600" y="228600"/>
                <a:ext cx="10515600" cy="2438400"/>
              </a:xfrm>
              <a:blipFill>
                <a:blip r:embed="rId2"/>
                <a:stretch>
                  <a:fillRect l="-1043" t="-4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17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369049"/>
            <a:ext cx="5260874" cy="175028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421296"/>
            <a:ext cx="3819697" cy="223630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084" y="4216282"/>
            <a:ext cx="5452305" cy="202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01977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43000" y="228600"/>
                <a:ext cx="10515600" cy="2514600"/>
              </a:xfrm>
            </p:spPr>
            <p:txBody>
              <a:bodyPr/>
              <a:lstStyle/>
              <a:p>
                <a:r>
                  <a:rPr lang="en-US" dirty="0"/>
                  <a:t>A proton experiences a magnetic force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3.2 ×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 baseline="30000">
                            <a:latin typeface="Cambria Math" panose="02040503050406030204" pitchFamily="18" charset="0"/>
                          </a:rPr>
                          <m:t>−14</m:t>
                        </m:r>
                      </m:sup>
                    </m:sSup>
                  </m:oMath>
                </a14:m>
                <a:r>
                  <a:rPr lang="en-US" baseline="30000" dirty="0"/>
                  <a:t> </a:t>
                </a:r>
                <a:r>
                  <a:rPr lang="en-US" dirty="0"/>
                  <a:t>N while moving through a magnetic field of 0.2 T. If the angle between the velocity vector and the magnetic field is 60</a:t>
                </a:r>
                <a:r>
                  <a:rPr lang="en-US" baseline="30000" dirty="0"/>
                  <a:t>∘</a:t>
                </a:r>
                <a:r>
                  <a:rPr lang="en-US" dirty="0"/>
                  <a:t>. calculate the speed of the proton. Take: Charge of proton: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= 1.6 ×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 baseline="30000">
                            <a:latin typeface="Cambria Math" panose="02040503050406030204" pitchFamily="18" charset="0"/>
                          </a:rPr>
                          <m:t>−19</m:t>
                        </m:r>
                      </m:sup>
                    </m:sSup>
                  </m:oMath>
                </a14:m>
                <a:r>
                  <a:rPr lang="en-US" dirty="0"/>
                  <a:t> C)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228600"/>
                <a:ext cx="10515600" cy="2514600"/>
              </a:xfrm>
              <a:blipFill>
                <a:blip r:embed="rId2"/>
                <a:stretch>
                  <a:fillRect l="-1043" t="-4369" r="-986" b="-1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18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514600"/>
            <a:ext cx="5746236" cy="3124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766" y="2511287"/>
            <a:ext cx="5779130" cy="244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3867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0"/>
            <a:ext cx="10515600" cy="4351338"/>
          </a:xfrm>
        </p:spPr>
        <p:txBody>
          <a:bodyPr/>
          <a:lstStyle/>
          <a:p>
            <a:r>
              <a:rPr lang="en-US" dirty="0"/>
              <a:t>A cell of unknown </a:t>
            </a:r>
            <a:r>
              <a:rPr lang="en-US" dirty="0" err="1"/>
              <a:t>e.m.f</a:t>
            </a:r>
            <a:r>
              <a:rPr lang="en-US" dirty="0"/>
              <a:t> E, and internal resistance 2 Ω is connected to a 5 Ω resistor. If the terminal </a:t>
            </a:r>
            <a:r>
              <a:rPr lang="en-US" dirty="0" err="1"/>
              <a:t>p.d</a:t>
            </a:r>
            <a:r>
              <a:rPr lang="en-US" dirty="0"/>
              <a:t>. is 1 volt, calculate the value of “E” if a current of “I” flows through the cell.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19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76400"/>
            <a:ext cx="5467390" cy="43953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353" y="1663148"/>
            <a:ext cx="1666941" cy="9525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5426" y="2819400"/>
            <a:ext cx="5803174" cy="96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18943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66800" y="228600"/>
                <a:ext cx="10515600" cy="1981200"/>
              </a:xfrm>
            </p:spPr>
            <p:txBody>
              <a:bodyPr/>
              <a:lstStyle/>
              <a:p>
                <a:r>
                  <a:rPr lang="en-US" dirty="0"/>
                  <a:t>A solenoid of length 0.4 m has 800 turns and produces a magnetic field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2.5 ×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i="1" baseline="3000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US" i="1" baseline="3000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en-US" baseline="30000" dirty="0"/>
                  <a:t> </a:t>
                </a:r>
                <a:r>
                  <a:rPr lang="en-US" dirty="0"/>
                  <a:t>T inside it. Calculate the current flowing through the solenoid.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𝑈𝑠𝑒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= 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×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 baseline="30000">
                            <a:latin typeface="Cambria Math" panose="02040503050406030204" pitchFamily="18" charset="0"/>
                          </a:rPr>
                          <m:t>−7</m:t>
                        </m:r>
                      </m:sup>
                    </m:sSup>
                    <m:r>
                      <a:rPr lang="en-US" i="1" baseline="30000">
                        <a:latin typeface="Cambria Math" panose="02040503050406030204" pitchFamily="18" charset="0"/>
                      </a:rPr>
                      <m:t> </m:t>
                    </m:r>
                  </m:oMath>
                </a14:m>
                <a:r>
                  <a:rPr lang="en-US" dirty="0"/>
                  <a:t>T/A)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6800" y="228600"/>
                <a:ext cx="10515600" cy="1981200"/>
              </a:xfrm>
              <a:blipFill>
                <a:blip r:embed="rId2"/>
                <a:stretch>
                  <a:fillRect l="-1043" t="-5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20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0" y="1767310"/>
            <a:ext cx="4553600" cy="24236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1767310"/>
            <a:ext cx="4613211" cy="196648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339" y="3748510"/>
            <a:ext cx="4452713" cy="210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74689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66800" y="13252"/>
                <a:ext cx="10515600" cy="1586948"/>
              </a:xfrm>
            </p:spPr>
            <p:txBody>
              <a:bodyPr/>
              <a:lstStyle/>
              <a:p>
                <a:r>
                  <a:rPr lang="en-US" dirty="0"/>
                  <a:t>In one type of transformer,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greater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= 1000,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= 100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= 240 V, what is 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6800" y="13252"/>
                <a:ext cx="10515600" cy="1586948"/>
              </a:xfrm>
              <a:blipFill>
                <a:blip r:embed="rId2"/>
                <a:stretch>
                  <a:fillRect l="-1043" t="-6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21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38" y="1371600"/>
            <a:ext cx="6209192" cy="29195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131" y="1398350"/>
            <a:ext cx="5117015" cy="289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77519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"/>
            <a:ext cx="10515600" cy="111435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current of 3 A flows in a circular coil of radius 5 cm with 20 turns. Calculate the magnetic dipole moment.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22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96" y="1476447"/>
            <a:ext cx="6162971" cy="25011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266751"/>
            <a:ext cx="5199833" cy="271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70997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304800"/>
            <a:ext cx="10515600" cy="1524000"/>
          </a:xfrm>
        </p:spPr>
        <p:txBody>
          <a:bodyPr/>
          <a:lstStyle/>
          <a:p>
            <a:r>
              <a:rPr lang="en-US" dirty="0"/>
              <a:t>A 240 V step-down transformer is used to light up eight 12 V, 24 W lamps and draws a current of 1 A in the primary.  Calculate its efficiency.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23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52" y="1600200"/>
            <a:ext cx="5325648" cy="32564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05" y="4800600"/>
            <a:ext cx="5356895" cy="16764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600200"/>
            <a:ext cx="6553200" cy="1524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3191995"/>
            <a:ext cx="6553200" cy="272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11228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66800" y="152400"/>
                <a:ext cx="10972800" cy="2590800"/>
              </a:xfrm>
            </p:spPr>
            <p:txBody>
              <a:bodyPr/>
              <a:lstStyle/>
              <a:p>
                <a:r>
                  <a:rPr lang="en-US" dirty="0"/>
                  <a:t>A rectangular current loop placed in a uniform magnetic field experiences a torque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4.8 ×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Nm. If the magnetic field strength is 0.6 T and the angle between the loop's magnetic moment and the field is 30</a:t>
                </a:r>
                <a:r>
                  <a:rPr lang="en-US" baseline="30000" dirty="0"/>
                  <a:t>∘</a:t>
                </a:r>
                <a:r>
                  <a:rPr lang="en-US" dirty="0"/>
                  <a:t>, calculate the magnetic dipole moment of the loop.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6800" y="152400"/>
                <a:ext cx="10972800" cy="2590800"/>
              </a:xfrm>
              <a:blipFill>
                <a:blip r:embed="rId2"/>
                <a:stretch>
                  <a:fillRect l="-1000" t="-4000" r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24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438400"/>
            <a:ext cx="5116151" cy="276128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098" y="2156837"/>
            <a:ext cx="4774603" cy="181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21670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28600"/>
            <a:ext cx="10515600" cy="1143000"/>
          </a:xfrm>
        </p:spPr>
        <p:txBody>
          <a:bodyPr/>
          <a:lstStyle/>
          <a:p>
            <a:r>
              <a:rPr lang="en-US" dirty="0"/>
              <a:t>A 2 H inductor carries 5 A of current. What is the stored energy?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25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77467"/>
            <a:ext cx="5447354" cy="19050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124200"/>
            <a:ext cx="7628755" cy="131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00849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28600"/>
            <a:ext cx="10515600" cy="1524000"/>
          </a:xfrm>
        </p:spPr>
        <p:txBody>
          <a:bodyPr/>
          <a:lstStyle/>
          <a:p>
            <a:r>
              <a:rPr lang="en-US" dirty="0"/>
              <a:t>A solenoid 0.5 m long has 1000 turns and carries 3 A current. Find the energy stored in it (area = 0.001 m²).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26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1524000"/>
            <a:ext cx="5797573" cy="3733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213" y="1143000"/>
            <a:ext cx="5761600" cy="4800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1185" y="5548294"/>
            <a:ext cx="1991168" cy="79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54385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"/>
            <a:ext cx="10515600" cy="1752600"/>
          </a:xfrm>
        </p:spPr>
        <p:txBody>
          <a:bodyPr/>
          <a:lstStyle/>
          <a:p>
            <a:r>
              <a:rPr lang="en-US" dirty="0"/>
              <a:t>A step-up transformer increases the voltage from 120 V to 600 V. If the primary current is 5 A, what is the secondary current assuming 100% efficiency?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  <a:t>27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828800"/>
            <a:ext cx="5271496" cy="4114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786" y="1671552"/>
            <a:ext cx="5802723" cy="221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273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9"/>
  <p:tag name="AS_OS" val="Unix 5.4.0.186"/>
  <p:tag name="AS_RELEASE_DATE" val="2024.02.14"/>
  <p:tag name="AS_TITLE" val="Aspose.Slides for .NET Standard 2.0"/>
  <p:tag name="AS_VERSION" val="24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CODe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1302</TotalTime>
  <Words>638</Words>
  <Application>Microsoft Office PowerPoint</Application>
  <PresentationFormat>Widescreen</PresentationFormat>
  <Paragraphs>80</Paragraphs>
  <Slides>27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Montserrat</vt:lpstr>
      <vt:lpstr>Office Theme</vt:lpstr>
      <vt:lpstr>CCODeL Theme</vt:lpstr>
      <vt:lpstr>Equation.DSMT4</vt:lpstr>
      <vt:lpstr>Dr Kehinde D. OYEYEMI  </vt:lpstr>
      <vt:lpstr>TUTORIAL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 Kehinde D. OYEYEMI</dc:title>
  <dc:creator>HP</dc:creator>
  <cp:lastModifiedBy>HP</cp:lastModifiedBy>
  <cp:revision>54</cp:revision>
  <cp:lastPrinted>2024-06-28T12:21:14Z</cp:lastPrinted>
  <dcterms:created xsi:type="dcterms:W3CDTF">2024-06-28T12:21:14Z</dcterms:created>
  <dcterms:modified xsi:type="dcterms:W3CDTF">2026-07-28T13:03:58Z</dcterms:modified>
</cp:coreProperties>
</file>