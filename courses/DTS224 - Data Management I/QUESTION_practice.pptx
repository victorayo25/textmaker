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Ours\Desktop\flash\c.u..jpg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prstClr val="black"/>
              <a:srgbClr val="C00000">
                <a:alpha val="78824"/>
                <a:tint val="45000"/>
                <a:satMod val="400000"/>
              </a:srgbClr>
            </a:duotone>
          </a:blip>
          <a:srcRect t="-169" b="47036"/>
          <a:stretch/>
        </p:blipFill>
        <p:spPr bwMode="auto">
          <a:xfrm>
            <a:off x="1" y="-54767"/>
            <a:ext cx="12278751" cy="4336836"/>
          </a:xfrm>
          <a:prstGeom prst="rect">
            <a:avLst/>
          </a:prstGeom>
          <a:noFill/>
        </p:spPr>
      </p:pic>
      <p:pic>
        <p:nvPicPr>
          <p:cNvPr id="9" name="Picture 2" descr="C:\Users\Ours\Desktop\my stuffs\1 NTFS_000\LostFiles2\INSPIRATION\PROJECTS\MIND PROJECTS\cu_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339" y="137363"/>
            <a:ext cx="476053" cy="507328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9581030" y="1"/>
            <a:ext cx="2636827" cy="318076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/>
          <a:p>
            <a:r>
              <a:rPr lang="en-US" sz="1467" dirty="0" smtClean="0"/>
              <a:t>www.covenantuniversity.edu.ng</a:t>
            </a:r>
            <a:endParaRPr lang="en-GB" sz="1467" dirty="0"/>
          </a:p>
        </p:txBody>
      </p:sp>
      <p:pic>
        <p:nvPicPr>
          <p:cNvPr id="11" name="Picture 2" descr="C:\Users\Ours\Desktop\Picture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6741" y="137364"/>
            <a:ext cx="2950960" cy="476384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7382" y="1601976"/>
            <a:ext cx="11137237" cy="2403089"/>
          </a:xfrm>
          <a:solidFill>
            <a:srgbClr val="C00000">
              <a:alpha val="16078"/>
            </a:srgbClr>
          </a:solidFill>
        </p:spPr>
        <p:txBody>
          <a:bodyPr>
            <a:noAutofit/>
          </a:bodyPr>
          <a:lstStyle>
            <a:lvl1pPr>
              <a:defRPr sz="5333" b="1">
                <a:solidFill>
                  <a:schemeClr val="bg1"/>
                </a:solidFill>
                <a:latin typeface="Book Antiqua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460709"/>
            <a:ext cx="8534400" cy="17526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3733">
                <a:solidFill>
                  <a:schemeClr val="tx1"/>
                </a:solidFill>
                <a:latin typeface="Book Antiqua" pitchFamily="18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31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39" y="274639"/>
            <a:ext cx="11905323" cy="1143000"/>
          </a:xfrm>
        </p:spPr>
        <p:txBody>
          <a:bodyPr>
            <a:normAutofit/>
          </a:bodyPr>
          <a:lstStyle>
            <a:lvl1pPr>
              <a:defRPr sz="5333" b="1">
                <a:solidFill>
                  <a:srgbClr val="C00000"/>
                </a:solidFill>
                <a:latin typeface="Book Antiqua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339" y="1600201"/>
            <a:ext cx="11905323" cy="4709119"/>
          </a:xfrm>
        </p:spPr>
        <p:txBody>
          <a:bodyPr>
            <a:normAutofit/>
          </a:bodyPr>
          <a:lstStyle>
            <a:lvl1pPr marL="457189" indent="-457189">
              <a:lnSpc>
                <a:spcPct val="100000"/>
              </a:lnSpc>
              <a:spcBef>
                <a:spcPts val="533"/>
              </a:spcBef>
              <a:spcAft>
                <a:spcPts val="667"/>
              </a:spcAft>
              <a:buFont typeface="Wingdings" pitchFamily="2" charset="2"/>
              <a:buChar char="§"/>
              <a:defRPr sz="4267">
                <a:latin typeface="Rockwell" pitchFamily="18" charset="0"/>
              </a:defRPr>
            </a:lvl1pPr>
            <a:lvl2pPr>
              <a:lnSpc>
                <a:spcPct val="100000"/>
              </a:lnSpc>
              <a:spcBef>
                <a:spcPts val="533"/>
              </a:spcBef>
              <a:spcAft>
                <a:spcPts val="667"/>
              </a:spcAft>
              <a:defRPr sz="3733">
                <a:solidFill>
                  <a:srgbClr val="C00000"/>
                </a:solidFill>
                <a:latin typeface="Rockwell" pitchFamily="18" charset="0"/>
              </a:defRPr>
            </a:lvl2pPr>
            <a:lvl3pPr>
              <a:lnSpc>
                <a:spcPct val="100000"/>
              </a:lnSpc>
              <a:spcBef>
                <a:spcPts val="533"/>
              </a:spcBef>
              <a:spcAft>
                <a:spcPts val="667"/>
              </a:spcAft>
              <a:defRPr sz="3200">
                <a:solidFill>
                  <a:srgbClr val="238D23"/>
                </a:solidFill>
                <a:latin typeface="Rockwell" pitchFamily="18" charset="0"/>
              </a:defRPr>
            </a:lvl3pPr>
            <a:lvl4pPr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defRPr sz="2667">
                <a:solidFill>
                  <a:srgbClr val="C00000"/>
                </a:solidFill>
                <a:latin typeface="Rockwell" pitchFamily="18" charset="0"/>
              </a:defRPr>
            </a:lvl4pPr>
            <a:lvl5pPr>
              <a:lnSpc>
                <a:spcPct val="100000"/>
              </a:lnSpc>
              <a:spcBef>
                <a:spcPts val="533"/>
              </a:spcBef>
              <a:spcAft>
                <a:spcPts val="667"/>
              </a:spcAft>
              <a:defRPr sz="2667">
                <a:solidFill>
                  <a:srgbClr val="7030A0"/>
                </a:solidFill>
                <a:latin typeface="Rockwell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73600" y="6424248"/>
            <a:ext cx="2844800" cy="365125"/>
          </a:xfrm>
        </p:spPr>
        <p:txBody>
          <a:bodyPr/>
          <a:lstStyle>
            <a:lvl1pPr algn="ctr">
              <a:defRPr sz="2133" b="1">
                <a:solidFill>
                  <a:schemeClr val="bg1"/>
                </a:solidFill>
                <a:latin typeface="Book Antiqua" pitchFamily="18" charset="0"/>
              </a:defRPr>
            </a:lvl1pPr>
          </a:lstStyle>
          <a:p>
            <a:fld id="{721B1EAD-D7F5-42AC-8C1D-5ABBC56E369C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26064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385407" y="1427644"/>
            <a:ext cx="342118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C:\Users\Ours\Desktop\flash\c.u..jpg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prstClr val="black"/>
              <a:srgbClr val="C00000">
                <a:alpha val="78824"/>
                <a:tint val="45000"/>
                <a:satMod val="400000"/>
              </a:srgbClr>
            </a:duotone>
          </a:blip>
          <a:srcRect t="41078" b="51590"/>
          <a:stretch/>
        </p:blipFill>
        <p:spPr bwMode="auto">
          <a:xfrm>
            <a:off x="-48682" y="6268004"/>
            <a:ext cx="12278751" cy="5984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6595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Ours\Desktop\flash\c.u..jpg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prstClr val="black"/>
              <a:srgbClr val="C00000">
                <a:alpha val="78824"/>
                <a:tint val="45000"/>
                <a:satMod val="400000"/>
              </a:srgbClr>
            </a:duotone>
          </a:blip>
          <a:srcRect t="41078" b="51590"/>
          <a:stretch/>
        </p:blipFill>
        <p:spPr bwMode="auto">
          <a:xfrm>
            <a:off x="-48682" y="6268004"/>
            <a:ext cx="12278751" cy="598491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339" y="1622179"/>
            <a:ext cx="5851061" cy="4591131"/>
          </a:xfrm>
        </p:spPr>
        <p:txBody>
          <a:bodyPr/>
          <a:lstStyle>
            <a:lvl1pPr>
              <a:defRPr sz="3733">
                <a:latin typeface="Rockwell" pitchFamily="18" charset="0"/>
              </a:defRPr>
            </a:lvl1pPr>
            <a:lvl2pPr>
              <a:defRPr sz="3200">
                <a:solidFill>
                  <a:srgbClr val="C00000"/>
                </a:solidFill>
                <a:latin typeface="Rockwell" pitchFamily="18" charset="0"/>
              </a:defRPr>
            </a:lvl2pPr>
            <a:lvl3pPr>
              <a:defRPr sz="2667">
                <a:solidFill>
                  <a:srgbClr val="238D23"/>
                </a:solidFill>
                <a:latin typeface="Rockwell" pitchFamily="18" charset="0"/>
              </a:defRPr>
            </a:lvl3pPr>
            <a:lvl4pPr>
              <a:defRPr sz="2400">
                <a:solidFill>
                  <a:srgbClr val="C00000"/>
                </a:solidFill>
                <a:latin typeface="Rockwell" pitchFamily="18" charset="0"/>
              </a:defRPr>
            </a:lvl4pPr>
            <a:lvl5pPr>
              <a:defRPr sz="2400">
                <a:solidFill>
                  <a:srgbClr val="7030A0"/>
                </a:solidFill>
                <a:latin typeface="Rockwell" pitchFamily="18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67107"/>
            <a:ext cx="5851061" cy="4546203"/>
          </a:xfrm>
        </p:spPr>
        <p:txBody>
          <a:bodyPr/>
          <a:lstStyle>
            <a:lvl1pPr>
              <a:defRPr sz="3733">
                <a:latin typeface="Rockwell" pitchFamily="18" charset="0"/>
              </a:defRPr>
            </a:lvl1pPr>
            <a:lvl2pPr>
              <a:defRPr sz="3200">
                <a:solidFill>
                  <a:srgbClr val="C00000"/>
                </a:solidFill>
                <a:latin typeface="Rockwell" pitchFamily="18" charset="0"/>
              </a:defRPr>
            </a:lvl2pPr>
            <a:lvl3pPr>
              <a:defRPr sz="2667">
                <a:solidFill>
                  <a:srgbClr val="238D23"/>
                </a:solidFill>
                <a:latin typeface="Rockwell" pitchFamily="18" charset="0"/>
              </a:defRPr>
            </a:lvl3pPr>
            <a:lvl4pPr>
              <a:defRPr sz="2400">
                <a:solidFill>
                  <a:srgbClr val="C00000"/>
                </a:solidFill>
                <a:latin typeface="Rockwell" pitchFamily="18" charset="0"/>
              </a:defRPr>
            </a:lvl4pPr>
            <a:lvl5pPr>
              <a:defRPr sz="2400">
                <a:solidFill>
                  <a:srgbClr val="7030A0"/>
                </a:solidFill>
                <a:latin typeface="Rockwell" pitchFamily="18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43339" y="274639"/>
            <a:ext cx="11905323" cy="1143000"/>
          </a:xfrm>
        </p:spPr>
        <p:txBody>
          <a:bodyPr>
            <a:normAutofit/>
          </a:bodyPr>
          <a:lstStyle>
            <a:lvl1pPr>
              <a:defRPr sz="5333" b="1">
                <a:solidFill>
                  <a:srgbClr val="C00000"/>
                </a:solidFill>
                <a:latin typeface="Book Antiqua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260648"/>
            <a:ext cx="1233669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73600" y="6424248"/>
            <a:ext cx="2844800" cy="365125"/>
          </a:xfrm>
        </p:spPr>
        <p:txBody>
          <a:bodyPr/>
          <a:lstStyle>
            <a:lvl1pPr algn="ctr">
              <a:defRPr sz="2133" b="1">
                <a:solidFill>
                  <a:schemeClr val="bg1"/>
                </a:solidFill>
                <a:latin typeface="Book Antiqua" pitchFamily="18" charset="0"/>
              </a:defRPr>
            </a:lvl1pPr>
          </a:lstStyle>
          <a:p>
            <a:fld id="{721B1EAD-D7F5-42AC-8C1D-5ABBC56E369C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/>
          <p:cNvCxnSpPr/>
          <p:nvPr/>
        </p:nvCxnSpPr>
        <p:spPr>
          <a:xfrm>
            <a:off x="4385407" y="1427644"/>
            <a:ext cx="342118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742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Ours\Desktop\flash\c.u..jpg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prstClr val="black"/>
              <a:srgbClr val="C00000">
                <a:alpha val="78824"/>
                <a:tint val="45000"/>
                <a:satMod val="400000"/>
              </a:srgbClr>
            </a:duotone>
          </a:blip>
          <a:srcRect t="41078" b="51590"/>
          <a:stretch/>
        </p:blipFill>
        <p:spPr bwMode="auto">
          <a:xfrm>
            <a:off x="-48682" y="6268004"/>
            <a:ext cx="12278751" cy="598491"/>
          </a:xfrm>
          <a:prstGeom prst="rect">
            <a:avLst/>
          </a:prstGeom>
          <a:noFill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16DE3-503E-4AA5-9477-86F3662761D9}" type="datetimeFigureOut">
              <a:rPr lang="en-GB" smtClean="0"/>
              <a:t>11/03/2021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1EAD-D7F5-42AC-8C1D-5ABBC56E369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4673600" y="6424248"/>
            <a:ext cx="284480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b="1" kern="1200">
                <a:solidFill>
                  <a:schemeClr val="bg1"/>
                </a:solidFill>
                <a:latin typeface="Book Antiqua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2D481B8-F12E-4FB9-A3A8-66EE472E4641}" type="slidenum">
              <a:rPr lang="en-GB" sz="2133" smtClean="0"/>
              <a:pPr/>
              <a:t>‹#›</a:t>
            </a:fld>
            <a:endParaRPr lang="en-GB" sz="2133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43339" y="274639"/>
            <a:ext cx="11905323" cy="1143000"/>
          </a:xfrm>
        </p:spPr>
        <p:txBody>
          <a:bodyPr>
            <a:normAutofit/>
          </a:bodyPr>
          <a:lstStyle>
            <a:lvl1pPr>
              <a:defRPr sz="5333" b="1">
                <a:solidFill>
                  <a:srgbClr val="C00000"/>
                </a:solidFill>
                <a:latin typeface="Book Antiqua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260648"/>
            <a:ext cx="1233669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385407" y="1427644"/>
            <a:ext cx="342118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642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Ours\Desktop\flash\c.u..jpg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prstClr val="black"/>
              <a:srgbClr val="C00000">
                <a:alpha val="78824"/>
                <a:tint val="45000"/>
                <a:satMod val="400000"/>
              </a:srgbClr>
            </a:duotone>
          </a:blip>
          <a:srcRect t="41078" b="51590"/>
          <a:stretch/>
        </p:blipFill>
        <p:spPr bwMode="auto">
          <a:xfrm>
            <a:off x="-48682" y="6268004"/>
            <a:ext cx="12278751" cy="598491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16383" y="6424248"/>
            <a:ext cx="832279" cy="365125"/>
          </a:xfrm>
        </p:spPr>
        <p:txBody>
          <a:bodyPr/>
          <a:lstStyle>
            <a:lvl1pPr algn="ctr">
              <a:defRPr sz="2133" b="1">
                <a:solidFill>
                  <a:schemeClr val="bg1"/>
                </a:solidFill>
                <a:latin typeface="Book Antiqua" pitchFamily="18" charset="0"/>
              </a:defRPr>
            </a:lvl1pPr>
          </a:lstStyle>
          <a:p>
            <a:fld id="{721B1EAD-D7F5-42AC-8C1D-5ABBC56E3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5290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6DE3-503E-4AA5-9477-86F3662761D9}" type="datetimeFigureOut">
              <a:rPr lang="en-GB" smtClean="0"/>
              <a:t>11/03/2021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B1EAD-D7F5-42AC-8C1D-5ABBC56E3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840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QUESTION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NORMALIZATION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4636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to do?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Show the Functional dependency diagram for the table below using the information	</a:t>
            </a:r>
            <a:r>
              <a:rPr lang="en-US" sz="3200" dirty="0" smtClean="0"/>
              <a:t>given.</a:t>
            </a:r>
          </a:p>
          <a:p>
            <a:pPr algn="just"/>
            <a:r>
              <a:rPr lang="en-US" sz="3200" dirty="0" smtClean="0"/>
              <a:t>Describe </a:t>
            </a:r>
            <a:r>
              <a:rPr lang="en-US" sz="3200" dirty="0"/>
              <a:t>and illustrate the process of normalizing the table below to Boyce-</a:t>
            </a:r>
            <a:r>
              <a:rPr lang="en-US" sz="3200" dirty="0" err="1"/>
              <a:t>Codd</a:t>
            </a:r>
            <a:r>
              <a:rPr lang="en-US" sz="3200" dirty="0"/>
              <a:t> Normal form, giving the following </a:t>
            </a:r>
            <a:r>
              <a:rPr lang="en-US" sz="3200" dirty="0" smtClean="0"/>
              <a:t>information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929471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03" y="342899"/>
            <a:ext cx="9896756" cy="424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52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keys…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Candidate </a:t>
            </a:r>
            <a:r>
              <a:rPr lang="en-US" sz="3200" b="1" dirty="0" smtClean="0"/>
              <a:t>keys:</a:t>
            </a:r>
            <a:endParaRPr lang="en-US" sz="3200" dirty="0"/>
          </a:p>
          <a:p>
            <a:pPr lvl="1"/>
            <a:r>
              <a:rPr lang="en-US" sz="2800" dirty="0" err="1" smtClean="0"/>
              <a:t>PNo</a:t>
            </a:r>
            <a:r>
              <a:rPr lang="en-US" sz="2800" dirty="0"/>
              <a:t>, </a:t>
            </a:r>
            <a:r>
              <a:rPr lang="en-US" sz="2800" dirty="0" err="1"/>
              <a:t>ADate</a:t>
            </a:r>
            <a:r>
              <a:rPr lang="en-US" sz="2800" dirty="0"/>
              <a:t>			(Primary </a:t>
            </a:r>
            <a:r>
              <a:rPr lang="en-US" sz="2800" dirty="0" smtClean="0"/>
              <a:t>key)</a:t>
            </a:r>
          </a:p>
          <a:p>
            <a:pPr lvl="1"/>
            <a:r>
              <a:rPr lang="en-US" sz="2800" dirty="0" err="1" smtClean="0"/>
              <a:t>ADate</a:t>
            </a:r>
            <a:r>
              <a:rPr lang="en-US" sz="2800" dirty="0"/>
              <a:t>, </a:t>
            </a:r>
            <a:r>
              <a:rPr lang="en-US" sz="2800" dirty="0" err="1"/>
              <a:t>Atime</a:t>
            </a:r>
            <a:r>
              <a:rPr lang="en-US" sz="2800" dirty="0"/>
              <a:t>, </a:t>
            </a:r>
            <a:r>
              <a:rPr lang="en-US" sz="2800" dirty="0" err="1" smtClean="0"/>
              <a:t>SurgeonNo</a:t>
            </a:r>
            <a:endParaRPr lang="en-US" sz="2800" dirty="0"/>
          </a:p>
          <a:p>
            <a:pPr lvl="1"/>
            <a:r>
              <a:rPr lang="en-US" sz="2800" dirty="0" err="1" smtClean="0"/>
              <a:t>StaffNo</a:t>
            </a:r>
            <a:r>
              <a:rPr lang="en-US" sz="2800" dirty="0"/>
              <a:t>, </a:t>
            </a:r>
            <a:r>
              <a:rPr lang="en-US" sz="2800" dirty="0" err="1"/>
              <a:t>ADate</a:t>
            </a:r>
            <a:r>
              <a:rPr lang="en-US" sz="2800" dirty="0"/>
              <a:t>, </a:t>
            </a:r>
            <a:r>
              <a:rPr lang="en-US" sz="2800" dirty="0" err="1"/>
              <a:t>Atime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27310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Functional Dependencies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PNo</a:t>
            </a:r>
            <a:r>
              <a:rPr lang="en-US" sz="3200" dirty="0"/>
              <a:t>, </a:t>
            </a:r>
            <a:r>
              <a:rPr lang="en-US" sz="3200" dirty="0" err="1"/>
              <a:t>ADate</a:t>
            </a:r>
            <a:r>
              <a:rPr lang="en-US" sz="3200" dirty="0"/>
              <a:t>, → </a:t>
            </a:r>
            <a:r>
              <a:rPr lang="en-US" sz="3200" dirty="0" err="1"/>
              <a:t>StaffNo</a:t>
            </a:r>
            <a:r>
              <a:rPr lang="en-US" sz="3200" dirty="0"/>
              <a:t> ,</a:t>
            </a:r>
            <a:r>
              <a:rPr lang="en-US" sz="3200" dirty="0" err="1"/>
              <a:t>ATime</a:t>
            </a:r>
            <a:r>
              <a:rPr lang="en-US" sz="3200" dirty="0"/>
              <a:t>, </a:t>
            </a:r>
            <a:r>
              <a:rPr lang="en-US" sz="3200" dirty="0" err="1"/>
              <a:t>DentistName</a:t>
            </a:r>
            <a:r>
              <a:rPr lang="en-US" sz="3200" dirty="0"/>
              <a:t>, </a:t>
            </a:r>
            <a:r>
              <a:rPr lang="en-US" sz="3200" dirty="0" err="1"/>
              <a:t>SurgeonNo</a:t>
            </a:r>
            <a:endParaRPr lang="en-US" sz="3200" dirty="0"/>
          </a:p>
          <a:p>
            <a:r>
              <a:rPr lang="en-US" sz="3200" dirty="0" err="1"/>
              <a:t>PNo</a:t>
            </a:r>
            <a:r>
              <a:rPr lang="en-US" sz="3200" dirty="0"/>
              <a:t> → </a:t>
            </a:r>
            <a:r>
              <a:rPr lang="en-US" sz="3200" dirty="0" err="1"/>
              <a:t>PName</a:t>
            </a:r>
            <a:endParaRPr lang="en-US" sz="3200" dirty="0"/>
          </a:p>
          <a:p>
            <a:r>
              <a:rPr lang="en-US" sz="3200" dirty="0" err="1"/>
              <a:t>StaffNo</a:t>
            </a:r>
            <a:r>
              <a:rPr lang="en-US" sz="3200" dirty="0"/>
              <a:t> → </a:t>
            </a:r>
            <a:r>
              <a:rPr lang="en-US" sz="3200" dirty="0" err="1"/>
              <a:t>DentistName</a:t>
            </a:r>
            <a:endParaRPr lang="en-US" sz="3200" dirty="0"/>
          </a:p>
          <a:p>
            <a:r>
              <a:rPr lang="en-US" sz="3200" dirty="0" err="1"/>
              <a:t>StaffNo</a:t>
            </a:r>
            <a:r>
              <a:rPr lang="en-US" sz="3200" dirty="0"/>
              <a:t>, </a:t>
            </a:r>
            <a:r>
              <a:rPr lang="en-US" sz="3200" dirty="0" err="1"/>
              <a:t>ADate</a:t>
            </a:r>
            <a:r>
              <a:rPr lang="en-US" sz="3200" dirty="0"/>
              <a:t> → </a:t>
            </a:r>
            <a:r>
              <a:rPr lang="en-US" sz="3200" dirty="0" err="1"/>
              <a:t>SurgeonNo</a:t>
            </a:r>
            <a:endParaRPr lang="en-US" sz="3200" dirty="0"/>
          </a:p>
          <a:p>
            <a:r>
              <a:rPr lang="en-US" sz="3200" dirty="0" err="1"/>
              <a:t>ADate</a:t>
            </a:r>
            <a:r>
              <a:rPr lang="en-US" sz="3200" dirty="0"/>
              <a:t>, </a:t>
            </a:r>
            <a:r>
              <a:rPr lang="en-US" sz="3200" dirty="0" err="1"/>
              <a:t>ATime</a:t>
            </a:r>
            <a:r>
              <a:rPr lang="en-US" sz="3200" dirty="0"/>
              <a:t>, </a:t>
            </a:r>
            <a:r>
              <a:rPr lang="en-US" sz="3200" dirty="0" err="1"/>
              <a:t>SurgeonNo</a:t>
            </a:r>
            <a:r>
              <a:rPr lang="en-US" sz="3200" dirty="0"/>
              <a:t> → </a:t>
            </a:r>
            <a:r>
              <a:rPr lang="en-US" sz="3200" dirty="0" err="1"/>
              <a:t>PNo</a:t>
            </a:r>
            <a:r>
              <a:rPr lang="en-US" sz="3200" dirty="0"/>
              <a:t>, </a:t>
            </a:r>
            <a:r>
              <a:rPr lang="en-US" sz="3200" dirty="0" err="1"/>
              <a:t>PName</a:t>
            </a:r>
            <a:r>
              <a:rPr lang="en-US" sz="3200" dirty="0"/>
              <a:t>, </a:t>
            </a:r>
            <a:r>
              <a:rPr lang="en-US" sz="3200" dirty="0" err="1"/>
              <a:t>StaffNo</a:t>
            </a:r>
            <a:r>
              <a:rPr lang="en-US" sz="3200" dirty="0"/>
              <a:t>, </a:t>
            </a:r>
            <a:r>
              <a:rPr lang="en-US" sz="3200" dirty="0" err="1"/>
              <a:t>DentistName</a:t>
            </a:r>
            <a:endParaRPr lang="en-US" sz="3200" dirty="0"/>
          </a:p>
          <a:p>
            <a:r>
              <a:rPr lang="en-US" sz="3200" dirty="0" err="1"/>
              <a:t>StaffNo</a:t>
            </a:r>
            <a:r>
              <a:rPr lang="en-US" sz="3200" dirty="0"/>
              <a:t>, </a:t>
            </a:r>
            <a:r>
              <a:rPr lang="en-US" sz="3200" dirty="0" err="1"/>
              <a:t>ADate</a:t>
            </a:r>
            <a:r>
              <a:rPr lang="en-US" sz="3200" dirty="0"/>
              <a:t>, </a:t>
            </a:r>
            <a:r>
              <a:rPr lang="en-US" sz="3200" dirty="0" err="1"/>
              <a:t>ATime</a:t>
            </a:r>
            <a:r>
              <a:rPr lang="en-US" sz="3200" dirty="0"/>
              <a:t> → </a:t>
            </a:r>
            <a:r>
              <a:rPr lang="en-US" sz="3200" dirty="0" err="1"/>
              <a:t>PNo</a:t>
            </a:r>
            <a:r>
              <a:rPr lang="en-US" sz="3200" dirty="0"/>
              <a:t>, </a:t>
            </a:r>
            <a:r>
              <a:rPr lang="en-US" sz="3200" dirty="0" err="1"/>
              <a:t>PName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077769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Question 2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Identify all the entities in the scenario</a:t>
            </a:r>
          </a:p>
          <a:p>
            <a:r>
              <a:rPr lang="en-GB" dirty="0" smtClean="0"/>
              <a:t>Draw the EER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9468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29" y="249890"/>
            <a:ext cx="11322423" cy="546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645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8247" y="257732"/>
            <a:ext cx="11730318" cy="564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Wingdings 2" panose="05020102010507070707" pitchFamily="18" charset="2"/>
              <a:buChar char=""/>
              <a:tabLst>
                <a:tab pos="457200" algn="l"/>
              </a:tabLst>
            </a:pPr>
            <a:r>
              <a:rPr lang="en-GB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Branch_office</a:t>
            </a:r>
            <a:r>
              <a:rPr lang="en-GB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{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branch number, address ,telephone number and manager name}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Wingdings 2" panose="05020102010507070707" pitchFamily="18" charset="2"/>
              <a:buChar char=""/>
              <a:tabLst>
                <a:tab pos="457200" algn="l"/>
              </a:tabLst>
            </a:pPr>
            <a:r>
              <a:rPr lang="en-GB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Staff{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staff no, name, address,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telno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sex, date of  birth,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position,salary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date-of-appointment}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Wingdings 2" panose="05020102010507070707" pitchFamily="18" charset="2"/>
              <a:buChar char=""/>
              <a:tabLst>
                <a:tab pos="457200" algn="l"/>
              </a:tabLst>
            </a:pPr>
            <a:r>
              <a:rPr lang="en-GB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Manager{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staff no, name, address,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telno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sex, date of  birth,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position,salary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date-of-appointment, bonus}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Wingdings 2" panose="05020102010507070707" pitchFamily="18" charset="2"/>
              <a:buChar char=""/>
              <a:tabLst>
                <a:tab pos="457200" algn="l"/>
              </a:tabLst>
            </a:pPr>
            <a:r>
              <a:rPr lang="en-GB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Secretary{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staff no, name, address,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telno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sex, date of  birth,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position,salary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date-of-appointment, typing speed}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Wingdings 2" panose="05020102010507070707" pitchFamily="18" charset="2"/>
              <a:buChar char=""/>
              <a:tabLst>
                <a:tab pos="457200" algn="l"/>
              </a:tabLst>
            </a:pPr>
            <a:r>
              <a:rPr lang="en-GB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sales rep{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staff no, name, address,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telno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sex, date of  birth,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position,salary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date-of-appointment, sales-area, car-allowance.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Wingdings 2" panose="05020102010507070707" pitchFamily="18" charset="2"/>
              <a:buChar char=""/>
              <a:tabLst>
                <a:tab pos="457200" algn="l"/>
              </a:tabLst>
            </a:pPr>
            <a:r>
              <a:rPr lang="en-GB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Full time staff{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staff no, name, address,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telno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sex, date of  birth,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position,salary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date-of-appointment, salary-scale and hourly-allowance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Wingdings 2" panose="05020102010507070707" pitchFamily="18" charset="2"/>
              <a:buChar char=""/>
              <a:tabLst>
                <a:tab pos="457200" algn="l"/>
              </a:tabLst>
            </a:pPr>
            <a:r>
              <a:rPr lang="en-GB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partime</a:t>
            </a:r>
            <a:r>
              <a:rPr lang="en-GB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staff{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staff no, name, address,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telno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sex, date of  birth, </a:t>
            </a:r>
            <a:r>
              <a:rPr lang="en-US" sz="2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position,salary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date-of-appointment, </a:t>
            </a:r>
            <a:r>
              <a:rPr lang="en-US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rated-per-hour</a:t>
            </a:r>
            <a:endParaRPr lang="en-US" sz="22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Wingdings 2" panose="05020102010507070707" pitchFamily="18" charset="2"/>
              <a:buChar char=""/>
              <a:tabLst>
                <a:tab pos="457200" algn="l"/>
              </a:tabLst>
            </a:pPr>
            <a:r>
              <a:rPr lang="en-GB" sz="22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next </a:t>
            </a:r>
            <a:r>
              <a:rPr lang="en-GB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of kin{ 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staff no, name, relationship-to-the-member of staff, address and telephone-number}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792949429"/>
      </p:ext>
    </p:extLst>
  </p:cSld>
  <p:clrMapOvr>
    <a:masterClrMapping/>
  </p:clrMapOvr>
</p:sld>
</file>

<file path=ppt/theme/theme1.xml><?xml version="1.0" encoding="utf-8"?>
<a:theme xmlns:a="http://schemas.openxmlformats.org/drawingml/2006/main" name="CU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template" id="{B38136A2-ED92-4177-87D8-D7CEC478DDBB}" vid="{15FCDA47-658A-4C75-8536-9B6E04FE41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CUtemplate</Template>
  <TotalTime>9</TotalTime>
  <Words>259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Book Antiqua</vt:lpstr>
      <vt:lpstr>Calibri</vt:lpstr>
      <vt:lpstr>Rockwell</vt:lpstr>
      <vt:lpstr>Times New Roman</vt:lpstr>
      <vt:lpstr>Wingdings</vt:lpstr>
      <vt:lpstr>Wingdings 2</vt:lpstr>
      <vt:lpstr>CUtemplate</vt:lpstr>
      <vt:lpstr>QUESTION</vt:lpstr>
      <vt:lpstr>What to do?</vt:lpstr>
      <vt:lpstr>PowerPoint Presentation</vt:lpstr>
      <vt:lpstr>The keys…</vt:lpstr>
      <vt:lpstr>Functional Dependencies</vt:lpstr>
      <vt:lpstr>Question 2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</dc:title>
  <dc:creator>Stephen A.</dc:creator>
  <cp:lastModifiedBy>Stephen A.</cp:lastModifiedBy>
  <cp:revision>2</cp:revision>
  <dcterms:created xsi:type="dcterms:W3CDTF">2021-03-11T13:43:54Z</dcterms:created>
  <dcterms:modified xsi:type="dcterms:W3CDTF">2021-03-11T13:58:11Z</dcterms:modified>
</cp:coreProperties>
</file>